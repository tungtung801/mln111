
<file path=[Content_Types].xml><?xml version="1.0" encoding="utf-8"?>
<Types xmlns="http://schemas.openxmlformats.org/package/2006/content-types">
  <Default Extension="jpeg" ContentType="image/jpeg"/>
  <Default Extension="rels" ContentType="application/vnd.openxmlformats-package.relationships+xml"/>
  <Default Extension="wav" ContentType="audio/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7" d="100"/>
          <a:sy n="97" d="100"/>
        </p:scale>
        <p:origin x="115"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slide" Target="slides/slide8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slide" Target="slide4.xml"/><Relationship Id="rId1" Type="http://schemas.openxmlformats.org/officeDocument/2006/relationships/slideLayout" Target="../slideLayouts/slideLayout7.xml"/><Relationship Id="rId5" Type="http://schemas.openxmlformats.org/officeDocument/2006/relationships/slide" Target="slide7.xml"/><Relationship Id="rId4" Type="http://schemas.openxmlformats.org/officeDocument/2006/relationships/slide" Target="slide6.xml"/></Relationships>
</file>

<file path=ppt/slides/_rels/slide4.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slide" Target="slide18.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slide" Target="slide18.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slide" Target="slide18.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slide" Target="slide9.xml"/><Relationship Id="rId1" Type="http://schemas.openxmlformats.org/officeDocument/2006/relationships/slideLayout" Target="../slideLayouts/slideLayout7.xml"/><Relationship Id="rId5" Type="http://schemas.openxmlformats.org/officeDocument/2006/relationships/slide" Target="slide12.xml"/><Relationship Id="rId4" Type="http://schemas.openxmlformats.org/officeDocument/2006/relationships/slide" Target="slide11.xml"/></Relationships>
</file>

<file path=ppt/slides/_rels/slide9.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slide" Target="slide1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slide" Target="slide1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slide" Target="slide18.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slide" Target="slide15.xml"/><Relationship Id="rId1" Type="http://schemas.openxmlformats.org/officeDocument/2006/relationships/slideLayout" Target="../slideLayouts/slideLayout7.xml"/><Relationship Id="rId5" Type="http://schemas.openxmlformats.org/officeDocument/2006/relationships/slide" Target="slide17.xml"/><Relationship Id="rId4" Type="http://schemas.openxmlformats.org/officeDocument/2006/relationships/slide" Target="slide16.xml"/></Relationships>
</file>

<file path=ppt/slides/_rels/slide14.xml.rels><?xml version="1.0" encoding="UTF-8" standalone="yes"?>
<Relationships xmlns="http://schemas.openxmlformats.org/package/2006/relationships"><Relationship Id="rId3" Type="http://schemas.openxmlformats.org/officeDocument/2006/relationships/slide" Target="slide18.xml"/><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slide" Target="slide18.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slide" Target="slide18.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slide" Target="slide18.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slide" Target="slide19.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slide" Target="slide21.xml"/><Relationship Id="rId1" Type="http://schemas.openxmlformats.org/officeDocument/2006/relationships/slideLayout" Target="../slideLayouts/slideLayout7.xml"/><Relationship Id="rId5" Type="http://schemas.openxmlformats.org/officeDocument/2006/relationships/slide" Target="slide23.xml"/><Relationship Id="rId4" Type="http://schemas.openxmlformats.org/officeDocument/2006/relationships/slide" Target="slide22.xml"/></Relationships>
</file>

<file path=ppt/slides/_rels/slide20.xml.rels><?xml version="1.0" encoding="UTF-8" standalone="yes"?>
<Relationships xmlns="http://schemas.openxmlformats.org/package/2006/relationships"><Relationship Id="rId3" Type="http://schemas.openxmlformats.org/officeDocument/2006/relationships/slide" Target="slide24.xml"/><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slide" Target="slide34.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slide" Target="slide34.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slide" Target="slide34.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slide" Target="slide25.xml"/><Relationship Id="rId1" Type="http://schemas.openxmlformats.org/officeDocument/2006/relationships/slideLayout" Target="../slideLayouts/slideLayout7.xml"/><Relationship Id="rId5" Type="http://schemas.openxmlformats.org/officeDocument/2006/relationships/slide" Target="slide28.xml"/><Relationship Id="rId4" Type="http://schemas.openxmlformats.org/officeDocument/2006/relationships/slide" Target="slide27.xml"/></Relationships>
</file>

<file path=ppt/slides/_rels/slide25.xml.rels><?xml version="1.0" encoding="UTF-8" standalone="yes"?>
<Relationships xmlns="http://schemas.openxmlformats.org/package/2006/relationships"><Relationship Id="rId3" Type="http://schemas.openxmlformats.org/officeDocument/2006/relationships/slide" Target="slide29.xml"/><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slide" Target="slide34.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slide" Target="slide34.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slide" Target="slide34.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slide" Target="slide31.xml"/><Relationship Id="rId2" Type="http://schemas.openxmlformats.org/officeDocument/2006/relationships/slide" Target="slide30.xml"/><Relationship Id="rId1" Type="http://schemas.openxmlformats.org/officeDocument/2006/relationships/slideLayout" Target="../slideLayouts/slideLayout7.xml"/><Relationship Id="rId5" Type="http://schemas.openxmlformats.org/officeDocument/2006/relationships/slide" Target="slide33.xml"/><Relationship Id="rId4" Type="http://schemas.openxmlformats.org/officeDocument/2006/relationships/slide" Target="slide32.xml"/></Relationships>
</file>

<file path=ppt/slides/_rels/slide30.xml.rels><?xml version="1.0" encoding="UTF-8" standalone="yes"?>
<Relationships xmlns="http://schemas.openxmlformats.org/package/2006/relationships"><Relationship Id="rId3" Type="http://schemas.openxmlformats.org/officeDocument/2006/relationships/slide" Target="slide34.xml"/><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slide" Target="slide34.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slide" Target="slide34.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slide" Target="slide34.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slide" Target="slide35.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slide" Target="slide37.xml"/><Relationship Id="rId2" Type="http://schemas.openxmlformats.org/officeDocument/2006/relationships/slide" Target="slide36.xml"/><Relationship Id="rId1" Type="http://schemas.openxmlformats.org/officeDocument/2006/relationships/slideLayout" Target="../slideLayouts/slideLayout7.xml"/><Relationship Id="rId5" Type="http://schemas.openxmlformats.org/officeDocument/2006/relationships/slide" Target="slide39.xml"/><Relationship Id="rId4" Type="http://schemas.openxmlformats.org/officeDocument/2006/relationships/slide" Target="slide38.xml"/></Relationships>
</file>

<file path=ppt/slides/_rels/slide36.xml.rels><?xml version="1.0" encoding="UTF-8" standalone="yes"?>
<Relationships xmlns="http://schemas.openxmlformats.org/package/2006/relationships"><Relationship Id="rId3" Type="http://schemas.openxmlformats.org/officeDocument/2006/relationships/slide" Target="slide40.xml"/><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slide" Target="slide50.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slide" Target="slide50.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slide" Target="slide50.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slide" Target="slide42.xml"/><Relationship Id="rId2" Type="http://schemas.openxmlformats.org/officeDocument/2006/relationships/slide" Target="slide41.xml"/><Relationship Id="rId1" Type="http://schemas.openxmlformats.org/officeDocument/2006/relationships/slideLayout" Target="../slideLayouts/slideLayout7.xml"/><Relationship Id="rId5" Type="http://schemas.openxmlformats.org/officeDocument/2006/relationships/slide" Target="slide44.xml"/><Relationship Id="rId4" Type="http://schemas.openxmlformats.org/officeDocument/2006/relationships/slide" Target="slide43.xml"/></Relationships>
</file>

<file path=ppt/slides/_rels/slide41.xml.rels><?xml version="1.0" encoding="UTF-8" standalone="yes"?>
<Relationships xmlns="http://schemas.openxmlformats.org/package/2006/relationships"><Relationship Id="rId3" Type="http://schemas.openxmlformats.org/officeDocument/2006/relationships/slide" Target="slide45.xml"/><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slide" Target="slide50.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slide" Target="slide50.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slide" Target="slide50.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slide" Target="slide47.xml"/><Relationship Id="rId2" Type="http://schemas.openxmlformats.org/officeDocument/2006/relationships/slide" Target="slide46.xml"/><Relationship Id="rId1" Type="http://schemas.openxmlformats.org/officeDocument/2006/relationships/slideLayout" Target="../slideLayouts/slideLayout7.xml"/><Relationship Id="rId5" Type="http://schemas.openxmlformats.org/officeDocument/2006/relationships/slide" Target="slide49.xml"/><Relationship Id="rId4" Type="http://schemas.openxmlformats.org/officeDocument/2006/relationships/slide" Target="slide48.xml"/></Relationships>
</file>

<file path=ppt/slides/_rels/slide46.xml.rels><?xml version="1.0" encoding="UTF-8" standalone="yes"?>
<Relationships xmlns="http://schemas.openxmlformats.org/package/2006/relationships"><Relationship Id="rId3" Type="http://schemas.openxmlformats.org/officeDocument/2006/relationships/slide" Target="slide50.xml"/><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slide" Target="slide50.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slide" Target="slide50.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slide" Target="slide50.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slide" Target="slide51.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slide" Target="slide52.xml"/><Relationship Id="rId2" Type="http://schemas.openxmlformats.org/officeDocument/2006/relationships/slide" Target="slide53.xml"/><Relationship Id="rId1" Type="http://schemas.openxmlformats.org/officeDocument/2006/relationships/slideLayout" Target="../slideLayouts/slideLayout7.xml"/><Relationship Id="rId5" Type="http://schemas.openxmlformats.org/officeDocument/2006/relationships/slide" Target="slide55.xml"/><Relationship Id="rId4" Type="http://schemas.openxmlformats.org/officeDocument/2006/relationships/slide" Target="slide54.xml"/></Relationships>
</file>

<file path=ppt/slides/_rels/slide52.xml.rels><?xml version="1.0" encoding="UTF-8" standalone="yes"?>
<Relationships xmlns="http://schemas.openxmlformats.org/package/2006/relationships"><Relationship Id="rId3"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slide" Target="slide66.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slide" Target="slide66.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slide" Target="slide66.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slide" Target="slide58.xml"/><Relationship Id="rId2" Type="http://schemas.openxmlformats.org/officeDocument/2006/relationships/slide" Target="slide57.xml"/><Relationship Id="rId1" Type="http://schemas.openxmlformats.org/officeDocument/2006/relationships/slideLayout" Target="../slideLayouts/slideLayout7.xml"/><Relationship Id="rId5" Type="http://schemas.openxmlformats.org/officeDocument/2006/relationships/slide" Target="slide60.xml"/><Relationship Id="rId4" Type="http://schemas.openxmlformats.org/officeDocument/2006/relationships/slide" Target="slide59.xml"/></Relationships>
</file>

<file path=ppt/slides/_rels/slide57.xml.rels><?xml version="1.0" encoding="UTF-8" standalone="yes"?>
<Relationships xmlns="http://schemas.openxmlformats.org/package/2006/relationships"><Relationship Id="rId3" Type="http://schemas.openxmlformats.org/officeDocument/2006/relationships/slide" Target="slide61.xml"/><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slide" Target="slide66.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slide" Target="slide66.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slide" Target="slide66.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slide" Target="slide63.xml"/><Relationship Id="rId2" Type="http://schemas.openxmlformats.org/officeDocument/2006/relationships/slide" Target="slide62.xml"/><Relationship Id="rId1" Type="http://schemas.openxmlformats.org/officeDocument/2006/relationships/slideLayout" Target="../slideLayouts/slideLayout7.xml"/><Relationship Id="rId5" Type="http://schemas.openxmlformats.org/officeDocument/2006/relationships/slide" Target="slide65.xml"/><Relationship Id="rId4" Type="http://schemas.openxmlformats.org/officeDocument/2006/relationships/slide" Target="slide64.xml"/></Relationships>
</file>

<file path=ppt/slides/_rels/slide62.xml.rels><?xml version="1.0" encoding="UTF-8" standalone="yes"?>
<Relationships xmlns="http://schemas.openxmlformats.org/package/2006/relationships"><Relationship Id="rId3" Type="http://schemas.openxmlformats.org/officeDocument/2006/relationships/slide" Target="slide66.xml"/><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slide" Target="slide66.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slide" Target="slide66.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slide" Target="slide66.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slide" Target="slide67.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slide" Target="slide70.xml"/><Relationship Id="rId2" Type="http://schemas.openxmlformats.org/officeDocument/2006/relationships/slide" Target="slide69.xml"/><Relationship Id="rId1" Type="http://schemas.openxmlformats.org/officeDocument/2006/relationships/slideLayout" Target="../slideLayouts/slideLayout7.xml"/><Relationship Id="rId5" Type="http://schemas.openxmlformats.org/officeDocument/2006/relationships/slide" Target="slide71.xml"/><Relationship Id="rId4" Type="http://schemas.openxmlformats.org/officeDocument/2006/relationships/slide" Target="slide68.xml"/></Relationships>
</file>

<file path=ppt/slides/_rels/slide68.xml.rels><?xml version="1.0" encoding="UTF-8" standalone="yes"?>
<Relationships xmlns="http://schemas.openxmlformats.org/package/2006/relationships"><Relationship Id="rId3" Type="http://schemas.openxmlformats.org/officeDocument/2006/relationships/slide" Target="slide72.xml"/><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slide" Target="slide74.xml"/><Relationship Id="rId2" Type="http://schemas.openxmlformats.org/officeDocument/2006/relationships/slide" Target="slide73.xml"/><Relationship Id="rId1" Type="http://schemas.openxmlformats.org/officeDocument/2006/relationships/slideLayout" Target="../slideLayouts/slideLayout7.xml"/><Relationship Id="rId5" Type="http://schemas.openxmlformats.org/officeDocument/2006/relationships/slide" Target="slide76.xml"/><Relationship Id="rId4" Type="http://schemas.openxmlformats.org/officeDocument/2006/relationships/slide" Target="slide75.xml"/></Relationships>
</file>

<file path=ppt/slides/_rels/slide73.xml.rels><?xml version="1.0" encoding="UTF-8" standalone="yes"?>
<Relationships xmlns="http://schemas.openxmlformats.org/package/2006/relationships"><Relationship Id="rId3" Type="http://schemas.openxmlformats.org/officeDocument/2006/relationships/slide" Target="slide77.xml"/><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slide" Target="slide79.xml"/><Relationship Id="rId2" Type="http://schemas.openxmlformats.org/officeDocument/2006/relationships/slide" Target="slide78.xml"/><Relationship Id="rId1" Type="http://schemas.openxmlformats.org/officeDocument/2006/relationships/slideLayout" Target="../slideLayouts/slideLayout7.xml"/><Relationship Id="rId5" Type="http://schemas.openxmlformats.org/officeDocument/2006/relationships/slide" Target="slide81.xml"/><Relationship Id="rId4" Type="http://schemas.openxmlformats.org/officeDocument/2006/relationships/slide" Target="slide80.xml"/></Relationships>
</file>

<file path=ppt/slides/_rels/slide7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Oval 1"/>
          <p:cNvSpPr/>
          <p:nvPr/>
        </p:nvSpPr>
        <p:spPr>
          <a:xfrm>
            <a:off x="-566928" y="-475488"/>
            <a:ext cx="2148840" cy="2148840"/>
          </a:xfrm>
          <a:prstGeom prst="ellipse">
            <a:avLst/>
          </a:prstGeom>
          <a:solidFill>
            <a:srgbClr val="DDE9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771632" y="-384048"/>
            <a:ext cx="1874519" cy="1874519"/>
          </a:xfrm>
          <a:prstGeom prst="ellipse">
            <a:avLst/>
          </a:prstGeom>
          <a:solidFill>
            <a:srgbClr val="E9E3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0698480" y="5532120"/>
            <a:ext cx="2057400" cy="2057400"/>
          </a:xfrm>
          <a:prstGeom prst="ellipse">
            <a:avLst/>
          </a:prstGeom>
          <a:solidFill>
            <a:srgbClr val="DCE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777240" y="5623560"/>
            <a:ext cx="2148840" cy="2148840"/>
          </a:xfrm>
          <a:prstGeom prst="ellipse">
            <a:avLst/>
          </a:prstGeom>
          <a:solidFill>
            <a:srgbClr val="E9E3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347472"/>
            <a:ext cx="11274552" cy="6583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3900" b="1" i="0">
                <a:solidFill>
                  <a:srgbClr val="18324A"/>
                </a:solidFill>
                <a:latin typeface="Trebuchet MS"/>
              </a:rPr>
              <a:t>AI LÀ TRIỆU PHÚ</a:t>
            </a:r>
          </a:p>
        </p:txBody>
      </p:sp>
      <p:sp>
        <p:nvSpPr>
          <p:cNvPr id="7" name="TextBox 6"/>
          <p:cNvSpPr txBox="1"/>
          <p:nvPr/>
        </p:nvSpPr>
        <p:spPr>
          <a:xfrm>
            <a:off x="457200" y="996696"/>
            <a:ext cx="11274552" cy="256032"/>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450" b="1" i="0">
                <a:solidFill>
                  <a:srgbClr val="2E8177"/>
                </a:solidFill>
                <a:latin typeface="Trebuchet MS"/>
              </a:rPr>
              <a:t>PHIÊN BẢN TRIẾT HỌC MÁC – LÊNIN</a:t>
            </a:r>
          </a:p>
        </p:txBody>
      </p:sp>
      <p:sp>
        <p:nvSpPr>
          <p:cNvPr id="8" name="Sân khấu mở đầu"/>
          <p:cNvSpPr/>
          <p:nvPr/>
        </p:nvSpPr>
        <p:spPr>
          <a:xfrm>
            <a:off x="914400" y="1481328"/>
            <a:ext cx="10360152" cy="4846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417320" y="1792224"/>
            <a:ext cx="9354312" cy="438912"/>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050" b="1" i="0">
                <a:solidFill>
                  <a:srgbClr val="FFFFFF"/>
                </a:solidFill>
                <a:latin typeface="Trebuchet MS"/>
              </a:rPr>
              <a:t>5 NGƯỜI CHƠI  ·  3 CÂU / NGƯỜI  ·  3 MỐC QUÀ</a:t>
            </a:r>
          </a:p>
        </p:txBody>
      </p:sp>
      <p:sp>
        <p:nvSpPr>
          <p:cNvPr id="10" name="TextBox 9"/>
          <p:cNvSpPr txBox="1"/>
          <p:nvPr/>
        </p:nvSpPr>
        <p:spPr>
          <a:xfrm>
            <a:off x="1417320" y="2278400"/>
            <a:ext cx="9354312" cy="216367"/>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340" b="0" i="0" dirty="0" err="1">
                <a:solidFill>
                  <a:srgbClr val="D3E0E0"/>
                </a:solidFill>
                <a:latin typeface="Aptos"/>
              </a:rPr>
              <a:t>Mỗi</a:t>
            </a:r>
            <a:r>
              <a:rPr sz="1340" b="0" i="0" dirty="0">
                <a:solidFill>
                  <a:srgbClr val="D3E0E0"/>
                </a:solidFill>
                <a:latin typeface="Aptos"/>
              </a:rPr>
              <a:t> </a:t>
            </a:r>
            <a:r>
              <a:rPr sz="1340" b="0" i="0" dirty="0" err="1">
                <a:solidFill>
                  <a:srgbClr val="D3E0E0"/>
                </a:solidFill>
                <a:latin typeface="Aptos"/>
              </a:rPr>
              <a:t>lượt</a:t>
            </a:r>
            <a:r>
              <a:rPr sz="1340" b="0" i="0" dirty="0">
                <a:solidFill>
                  <a:srgbClr val="D3E0E0"/>
                </a:solidFill>
                <a:latin typeface="Aptos"/>
              </a:rPr>
              <a:t> </a:t>
            </a:r>
            <a:r>
              <a:rPr sz="1340" b="0" i="0" dirty="0" err="1">
                <a:solidFill>
                  <a:srgbClr val="D3E0E0"/>
                </a:solidFill>
                <a:latin typeface="Aptos"/>
              </a:rPr>
              <a:t>có</a:t>
            </a:r>
            <a:r>
              <a:rPr sz="1340" b="0" i="0" dirty="0">
                <a:solidFill>
                  <a:srgbClr val="D3E0E0"/>
                </a:solidFill>
                <a:latin typeface="Aptos"/>
              </a:rPr>
              <a:t> 1 </a:t>
            </a:r>
            <a:r>
              <a:rPr sz="1340" b="0" i="0" dirty="0" err="1">
                <a:solidFill>
                  <a:srgbClr val="D3E0E0"/>
                </a:solidFill>
                <a:latin typeface="Aptos"/>
              </a:rPr>
              <a:t>câu</a:t>
            </a:r>
            <a:r>
              <a:rPr sz="1340" b="0" i="0" dirty="0">
                <a:solidFill>
                  <a:srgbClr val="D3E0E0"/>
                </a:solidFill>
                <a:latin typeface="Aptos"/>
              </a:rPr>
              <a:t> </a:t>
            </a:r>
            <a:r>
              <a:rPr sz="1340" b="0" i="0" dirty="0" err="1">
                <a:solidFill>
                  <a:srgbClr val="D3E0E0"/>
                </a:solidFill>
                <a:latin typeface="Aptos"/>
              </a:rPr>
              <a:t>Dễ</a:t>
            </a:r>
            <a:r>
              <a:rPr sz="1340" b="0" i="0" dirty="0">
                <a:solidFill>
                  <a:srgbClr val="D3E0E0"/>
                </a:solidFill>
                <a:latin typeface="Aptos"/>
              </a:rPr>
              <a:t>, 1 Trung </a:t>
            </a:r>
            <a:r>
              <a:rPr sz="1340" b="0" i="0" dirty="0" err="1">
                <a:solidFill>
                  <a:srgbClr val="D3E0E0"/>
                </a:solidFill>
                <a:latin typeface="Aptos"/>
              </a:rPr>
              <a:t>bình</a:t>
            </a:r>
            <a:r>
              <a:rPr sz="1340" b="0" i="0" dirty="0">
                <a:solidFill>
                  <a:srgbClr val="D3E0E0"/>
                </a:solidFill>
                <a:latin typeface="Aptos"/>
              </a:rPr>
              <a:t>, 1 </a:t>
            </a:r>
            <a:r>
              <a:rPr sz="1340" b="0" i="0" dirty="0" err="1">
                <a:solidFill>
                  <a:srgbClr val="D3E0E0"/>
                </a:solidFill>
                <a:latin typeface="Aptos"/>
              </a:rPr>
              <a:t>Khó</a:t>
            </a:r>
            <a:endParaRPr sz="1340" b="0" i="0" dirty="0">
              <a:solidFill>
                <a:srgbClr val="D3E0E0"/>
              </a:solidFill>
              <a:latin typeface="Aptos"/>
            </a:endParaRPr>
          </a:p>
        </p:txBody>
      </p:sp>
      <p:sp>
        <p:nvSpPr>
          <p:cNvPr id="11" name="Rounded Rectangle 10"/>
          <p:cNvSpPr/>
          <p:nvPr/>
        </p:nvSpPr>
        <p:spPr>
          <a:xfrm>
            <a:off x="1874519" y="2761488"/>
            <a:ext cx="2596896" cy="1170432"/>
          </a:xfrm>
          <a:prstGeom prst="roundRect">
            <a:avLst/>
          </a:prstGeom>
          <a:solidFill>
            <a:srgbClr val="263F53"/>
          </a:solidFill>
          <a:ln w="12700">
            <a:solidFill>
              <a:srgbClr val="4C647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984248" y="2907792"/>
            <a:ext cx="2377440" cy="256032"/>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120" b="1" i="0">
                <a:solidFill>
                  <a:srgbClr val="FFD05A"/>
                </a:solidFill>
                <a:latin typeface="Trebuchet MS"/>
              </a:rPr>
              <a:t>MỐC 1  ·  CÂU 1</a:t>
            </a:r>
          </a:p>
        </p:txBody>
      </p:sp>
      <p:sp>
        <p:nvSpPr>
          <p:cNvPr id="13" name="TextBox 12"/>
          <p:cNvSpPr txBox="1"/>
          <p:nvPr/>
        </p:nvSpPr>
        <p:spPr>
          <a:xfrm>
            <a:off x="1947672" y="3236976"/>
            <a:ext cx="2450592" cy="4572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950" b="1" i="0">
                <a:solidFill>
                  <a:srgbClr val="FFFFFF"/>
                </a:solidFill>
                <a:latin typeface="Trebuchet MS"/>
              </a:rPr>
              <a:t>Quà nhỏ</a:t>
            </a:r>
          </a:p>
        </p:txBody>
      </p:sp>
      <p:sp>
        <p:nvSpPr>
          <p:cNvPr id="14" name="Rounded Rectangle 13"/>
          <p:cNvSpPr/>
          <p:nvPr/>
        </p:nvSpPr>
        <p:spPr>
          <a:xfrm>
            <a:off x="4791456" y="2761488"/>
            <a:ext cx="2596896" cy="1170432"/>
          </a:xfrm>
          <a:prstGeom prst="roundRect">
            <a:avLst/>
          </a:prstGeom>
          <a:solidFill>
            <a:srgbClr val="263F53"/>
          </a:solidFill>
          <a:ln w="12700">
            <a:solidFill>
              <a:srgbClr val="4C647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901184" y="2907792"/>
            <a:ext cx="2377440" cy="256032"/>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120" b="1" i="0">
                <a:solidFill>
                  <a:srgbClr val="FFD05A"/>
                </a:solidFill>
                <a:latin typeface="Trebuchet MS"/>
              </a:rPr>
              <a:t>MỐC 2  ·  CÂU 2</a:t>
            </a:r>
          </a:p>
        </p:txBody>
      </p:sp>
      <p:sp>
        <p:nvSpPr>
          <p:cNvPr id="16" name="TextBox 15"/>
          <p:cNvSpPr txBox="1"/>
          <p:nvPr/>
        </p:nvSpPr>
        <p:spPr>
          <a:xfrm>
            <a:off x="4864608" y="3236976"/>
            <a:ext cx="2450592" cy="4572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950" b="1" i="0">
                <a:solidFill>
                  <a:srgbClr val="FFFFFF"/>
                </a:solidFill>
                <a:latin typeface="Trebuchet MS"/>
              </a:rPr>
              <a:t>Quà vừa</a:t>
            </a:r>
          </a:p>
        </p:txBody>
      </p:sp>
      <p:sp>
        <p:nvSpPr>
          <p:cNvPr id="17" name="Rounded Rectangle 16"/>
          <p:cNvSpPr/>
          <p:nvPr/>
        </p:nvSpPr>
        <p:spPr>
          <a:xfrm>
            <a:off x="7708392" y="2761488"/>
            <a:ext cx="2596896" cy="1170432"/>
          </a:xfrm>
          <a:prstGeom prst="roundRect">
            <a:avLst/>
          </a:prstGeom>
          <a:solidFill>
            <a:srgbClr val="263F53"/>
          </a:solidFill>
          <a:ln w="12700">
            <a:solidFill>
              <a:srgbClr val="4C647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818119" y="2907792"/>
            <a:ext cx="2377440" cy="256032"/>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120" b="1" i="0">
                <a:solidFill>
                  <a:srgbClr val="FFD05A"/>
                </a:solidFill>
                <a:latin typeface="Trebuchet MS"/>
              </a:rPr>
              <a:t>MỐC 3  ·  CÂU 3</a:t>
            </a:r>
          </a:p>
        </p:txBody>
      </p:sp>
      <p:sp>
        <p:nvSpPr>
          <p:cNvPr id="19" name="TextBox 18"/>
          <p:cNvSpPr txBox="1"/>
          <p:nvPr/>
        </p:nvSpPr>
        <p:spPr>
          <a:xfrm>
            <a:off x="7781544" y="3236976"/>
            <a:ext cx="2450592" cy="4572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950" b="1" i="0">
                <a:solidFill>
                  <a:srgbClr val="FFFFFF"/>
                </a:solidFill>
                <a:latin typeface="Trebuchet MS"/>
              </a:rPr>
              <a:t>Quà lớn</a:t>
            </a:r>
          </a:p>
        </p:txBody>
      </p:sp>
      <p:sp>
        <p:nvSpPr>
          <p:cNvPr id="20" name="TextBox 19"/>
          <p:cNvSpPr txBox="1"/>
          <p:nvPr/>
        </p:nvSpPr>
        <p:spPr>
          <a:xfrm>
            <a:off x="1325880" y="4187952"/>
            <a:ext cx="9537192" cy="438912"/>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410" b="0" i="0">
                <a:solidFill>
                  <a:srgbClr val="FFFFFF"/>
                </a:solidFill>
                <a:latin typeface="Aptos"/>
              </a:rPr>
              <a:t>Trả lời đúng để nhận quà của câu đó; trả lời sai thì lượt dừng, giữ quà đã đạt ở câu trước.</a:t>
            </a:r>
          </a:p>
        </p:txBody>
      </p:sp>
      <p:sp>
        <p:nvSpPr>
          <p:cNvPr id="21" name="TextBox 20"/>
          <p:cNvSpPr txBox="1"/>
          <p:nvPr/>
        </p:nvSpPr>
        <p:spPr>
          <a:xfrm>
            <a:off x="1325880" y="4626864"/>
            <a:ext cx="9537192" cy="347472"/>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170" b="0" i="0">
                <a:solidFill>
                  <a:srgbClr val="D3E0E0"/>
                </a:solidFill>
                <a:latin typeface="Aptos"/>
              </a:rPr>
              <a:t>Bấm vào A / B / C / D để trả lời. Đáp án và gợi ý giải thích nằm ở phần cuối bộ trình chiếu.</a:t>
            </a:r>
          </a:p>
        </p:txBody>
      </p:sp>
      <p:sp>
        <p:nvSpPr>
          <p:cNvPr id="22" name="Nút: BẮT ĐẦU LƯỢT 1  →">
            <a:hlinkClick r:id="rId2" action="ppaction://hlinksldjump"/>
          </p:cNvPr>
          <p:cNvSpPr/>
          <p:nvPr/>
        </p:nvSpPr>
        <p:spPr>
          <a:xfrm>
            <a:off x="3794760" y="5248656"/>
            <a:ext cx="4617720" cy="722376"/>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900" b="1" i="0">
                <a:solidFill>
                  <a:srgbClr val="18324A"/>
                </a:solidFill>
                <a:latin typeface="Trebuchet MS"/>
              </a:rPr>
              <a:t>BẮT ĐẦU LƯỢT 1  →</a:t>
            </a:r>
          </a:p>
        </p:txBody>
      </p:sp>
    </p:spTree>
  </p:cSld>
  <p:clrMapOvr>
    <a:masterClrMapping/>
  </p:clrMapOvr>
  <p:transition spd="med" advClick="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Oval 1"/>
          <p:cNvSpPr/>
          <p:nvPr/>
        </p:nvSpPr>
        <p:spPr>
          <a:xfrm>
            <a:off x="-685800" y="-548640"/>
            <a:ext cx="2240280" cy="2240280"/>
          </a:xfrm>
          <a:prstGeom prst="ellipse">
            <a:avLst/>
          </a:prstGeom>
          <a:solidFill>
            <a:srgbClr val="DDE9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881360" y="5468112"/>
            <a:ext cx="2103120" cy="2103120"/>
          </a:xfrm>
          <a:prstGeom prst="ellipse">
            <a:avLst/>
          </a:prstGeom>
          <a:solidFill>
            <a:srgbClr val="E9E3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900" b="1" i="0">
                <a:solidFill>
                  <a:srgbClr val="18324A"/>
                </a:solidFill>
                <a:latin typeface="Trebuchet MS"/>
              </a:rPr>
              <a:t>AI LÀ TRIỆU PHÚ</a:t>
            </a:r>
          </a:p>
        </p:txBody>
      </p:sp>
      <p:sp>
        <p:nvSpPr>
          <p:cNvPr id="5" name="Rounded Rectangle 4"/>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960120" y="1143000"/>
            <a:ext cx="10268712" cy="5120640"/>
          </a:xfrm>
          <a:prstGeom prst="roundRect">
            <a:avLst/>
          </a:prstGeom>
          <a:solidFill>
            <a:srgbClr val="FBFCF9"/>
          </a:solidFill>
          <a:ln w="13970">
            <a:solidFill>
              <a:srgbClr val="D8E0D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919472" y="1490472"/>
            <a:ext cx="2340864" cy="38404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1200" b="1" i="0">
                <a:solidFill>
                  <a:srgbClr val="2E8177"/>
                </a:solidFill>
                <a:latin typeface="Trebuchet MS"/>
              </a:rPr>
              <a:t>LƯỢT 01 / 05</a:t>
            </a:r>
          </a:p>
        </p:txBody>
      </p:sp>
      <p:sp>
        <p:nvSpPr>
          <p:cNvPr id="8" name="TextBox 7"/>
          <p:cNvSpPr txBox="1"/>
          <p:nvPr/>
        </p:nvSpPr>
        <p:spPr>
          <a:xfrm>
            <a:off x="1508760" y="2029968"/>
            <a:ext cx="9171432" cy="713232"/>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3500" b="1" i="0">
                <a:solidFill>
                  <a:srgbClr val="18324A"/>
                </a:solidFill>
                <a:latin typeface="Trebuchet MS"/>
              </a:rPr>
              <a:t>NGƯỜI CHƠI 01</a:t>
            </a:r>
          </a:p>
        </p:txBody>
      </p:sp>
      <p:sp>
        <p:nvSpPr>
          <p:cNvPr id="9" name="TextBox 8"/>
          <p:cNvSpPr txBox="1"/>
          <p:nvPr/>
        </p:nvSpPr>
        <p:spPr>
          <a:xfrm>
            <a:off x="1600200" y="2798064"/>
            <a:ext cx="8988552" cy="347472"/>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20" b="1" i="0">
                <a:solidFill>
                  <a:srgbClr val="2E8177"/>
                </a:solidFill>
                <a:latin typeface="Aptos"/>
              </a:rPr>
              <a:t>Chủ đề: Con người trong triết học Mác – Lênin</a:t>
            </a:r>
          </a:p>
        </p:txBody>
      </p:sp>
      <p:sp>
        <p:nvSpPr>
          <p:cNvPr id="10" name="TextBox 9"/>
          <p:cNvSpPr txBox="1"/>
          <p:nvPr/>
        </p:nvSpPr>
        <p:spPr>
          <a:xfrm>
            <a:off x="1600200" y="3337521"/>
            <a:ext cx="8988552" cy="22867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420" b="0" i="0" dirty="0" err="1">
                <a:solidFill>
                  <a:srgbClr val="18324A"/>
                </a:solidFill>
                <a:latin typeface="Aptos"/>
              </a:rPr>
              <a:t>Lượt</a:t>
            </a:r>
            <a:r>
              <a:rPr sz="1420" b="0" i="0" dirty="0">
                <a:solidFill>
                  <a:srgbClr val="18324A"/>
                </a:solidFill>
                <a:latin typeface="Aptos"/>
              </a:rPr>
              <a:t> </a:t>
            </a:r>
            <a:r>
              <a:rPr sz="1420" b="0" i="0" dirty="0" err="1">
                <a:solidFill>
                  <a:srgbClr val="18324A"/>
                </a:solidFill>
                <a:latin typeface="Aptos"/>
              </a:rPr>
              <a:t>này</a:t>
            </a:r>
            <a:r>
              <a:rPr sz="1420" b="0" i="0" dirty="0">
                <a:solidFill>
                  <a:srgbClr val="18324A"/>
                </a:solidFill>
                <a:latin typeface="Aptos"/>
              </a:rPr>
              <a:t> </a:t>
            </a:r>
            <a:r>
              <a:rPr sz="1420" b="0" i="0" dirty="0" err="1">
                <a:solidFill>
                  <a:srgbClr val="18324A"/>
                </a:solidFill>
                <a:latin typeface="Aptos"/>
              </a:rPr>
              <a:t>có</a:t>
            </a:r>
            <a:r>
              <a:rPr sz="1420" b="0" i="0" dirty="0">
                <a:solidFill>
                  <a:srgbClr val="18324A"/>
                </a:solidFill>
                <a:latin typeface="Aptos"/>
              </a:rPr>
              <a:t> </a:t>
            </a:r>
            <a:r>
              <a:rPr sz="1420" b="0" i="0" dirty="0" err="1">
                <a:solidFill>
                  <a:srgbClr val="18324A"/>
                </a:solidFill>
                <a:latin typeface="Aptos"/>
              </a:rPr>
              <a:t>đúng</a:t>
            </a:r>
            <a:r>
              <a:rPr sz="1420" b="0" i="0" dirty="0">
                <a:solidFill>
                  <a:srgbClr val="18324A"/>
                </a:solidFill>
                <a:latin typeface="Aptos"/>
              </a:rPr>
              <a:t> 3 </a:t>
            </a:r>
            <a:r>
              <a:rPr sz="1420" b="0" i="0" dirty="0" err="1">
                <a:solidFill>
                  <a:srgbClr val="18324A"/>
                </a:solidFill>
                <a:latin typeface="Aptos"/>
              </a:rPr>
              <a:t>câu</a:t>
            </a:r>
            <a:r>
              <a:rPr sz="1420" b="0" i="0" dirty="0">
                <a:solidFill>
                  <a:srgbClr val="18324A"/>
                </a:solidFill>
                <a:latin typeface="Aptos"/>
              </a:rPr>
              <a:t>: 1 </a:t>
            </a:r>
            <a:r>
              <a:rPr sz="1420" b="0" i="0" dirty="0" err="1">
                <a:solidFill>
                  <a:srgbClr val="18324A"/>
                </a:solidFill>
                <a:latin typeface="Aptos"/>
              </a:rPr>
              <a:t>Dễ</a:t>
            </a:r>
            <a:r>
              <a:rPr sz="1420" b="0" i="0" dirty="0">
                <a:solidFill>
                  <a:srgbClr val="18324A"/>
                </a:solidFill>
                <a:latin typeface="Aptos"/>
              </a:rPr>
              <a:t>, 1 Trung </a:t>
            </a:r>
            <a:r>
              <a:rPr sz="1420" b="0" i="0" dirty="0" err="1">
                <a:solidFill>
                  <a:srgbClr val="18324A"/>
                </a:solidFill>
                <a:latin typeface="Aptos"/>
              </a:rPr>
              <a:t>bình</a:t>
            </a:r>
            <a:r>
              <a:rPr sz="1420" b="0" i="0" dirty="0">
                <a:solidFill>
                  <a:srgbClr val="18324A"/>
                </a:solidFill>
                <a:latin typeface="Aptos"/>
              </a:rPr>
              <a:t> </a:t>
            </a:r>
            <a:r>
              <a:rPr sz="1420" b="0" i="0" dirty="0" err="1">
                <a:solidFill>
                  <a:srgbClr val="18324A"/>
                </a:solidFill>
                <a:latin typeface="Aptos"/>
              </a:rPr>
              <a:t>và</a:t>
            </a:r>
            <a:r>
              <a:rPr sz="1420" b="0" i="0" dirty="0">
                <a:solidFill>
                  <a:srgbClr val="18324A"/>
                </a:solidFill>
                <a:latin typeface="Aptos"/>
              </a:rPr>
              <a:t> 1 </a:t>
            </a:r>
            <a:r>
              <a:rPr sz="1420" b="0" i="0" dirty="0" err="1">
                <a:solidFill>
                  <a:srgbClr val="18324A"/>
                </a:solidFill>
                <a:latin typeface="Aptos"/>
              </a:rPr>
              <a:t>Khó</a:t>
            </a:r>
            <a:endParaRPr sz="1420" b="0" i="0" dirty="0">
              <a:solidFill>
                <a:srgbClr val="18324A"/>
              </a:solidFill>
              <a:latin typeface="Aptos"/>
            </a:endParaRPr>
          </a:p>
        </p:txBody>
      </p:sp>
      <p:sp>
        <p:nvSpPr>
          <p:cNvPr id="11" name="TextBox 10"/>
          <p:cNvSpPr txBox="1"/>
          <p:nvPr/>
        </p:nvSpPr>
        <p:spPr>
          <a:xfrm>
            <a:off x="1600200" y="3648456"/>
            <a:ext cx="8988552" cy="42062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350" b="0" i="0">
                <a:solidFill>
                  <a:srgbClr val="657883"/>
                </a:solidFill>
                <a:latin typeface="Aptos"/>
              </a:rPr>
              <a:t>Trả lời đúng để nhận quà của câu và đi tiếp; trả lời sai thì kết thúc lượt, giữ quà đã đạt.</a:t>
            </a:r>
          </a:p>
        </p:txBody>
      </p:sp>
      <p:sp>
        <p:nvSpPr>
          <p:cNvPr id="14" name="TextBox 13"/>
          <p:cNvSpPr txBox="1"/>
          <p:nvPr/>
        </p:nvSpPr>
        <p:spPr>
          <a:xfrm>
            <a:off x="1600200" y="4818888"/>
            <a:ext cx="8988552" cy="31089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330" b="1" i="0">
                <a:solidFill>
                  <a:srgbClr val="18324A"/>
                </a:solidFill>
                <a:latin typeface="Trebuchet MS"/>
              </a:rPr>
              <a:t>CÂU 01  ·  Quà nhỏ     /     CÂU 02  ·  Quà vừa     /     CÂU 03  ·  Quà lớn</a:t>
            </a:r>
          </a:p>
        </p:txBody>
      </p:sp>
      <p:sp>
        <p:nvSpPr>
          <p:cNvPr id="15" name="Nút: VÀO CÂU 01  →">
            <a:hlinkClick r:id="rId2" action="ppaction://hlinksldjump"/>
          </p:cNvPr>
          <p:cNvSpPr/>
          <p:nvPr/>
        </p:nvSpPr>
        <p:spPr>
          <a:xfrm>
            <a:off x="3913632" y="5404104"/>
            <a:ext cx="4370832" cy="6217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720" b="1" i="0">
                <a:solidFill>
                  <a:srgbClr val="18324A"/>
                </a:solidFill>
                <a:latin typeface="Trebuchet MS"/>
              </a:rPr>
              <a:t>VÀO CÂU 01  →</a:t>
            </a:r>
          </a:p>
        </p:txBody>
      </p:sp>
    </p:spTree>
  </p:cSld>
  <p:clrMapOvr>
    <a:masterClrMapping/>
  </p:clrMapOvr>
  <p:transition spd="med" advClick="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01 / 05</a:t>
            </a:r>
          </a:p>
        </p:txBody>
      </p:sp>
      <p:sp>
        <p:nvSpPr>
          <p:cNvPr id="5" name="Rounded Rectangle 4"/>
          <p:cNvSpPr/>
          <p:nvPr/>
        </p:nvSpPr>
        <p:spPr>
          <a:xfrm>
            <a:off x="2240280" y="749808"/>
            <a:ext cx="138988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DỄ</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01 / 03</a:t>
            </a:r>
          </a:p>
        </p:txBody>
      </p:sp>
      <p:sp>
        <p:nvSpPr>
          <p:cNvPr id="7"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0" name="TextBox 9"/>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2100" b="1" i="0">
                <a:solidFill>
                  <a:srgbClr val="FFFFFF"/>
                </a:solidFill>
                <a:latin typeface="Aptos"/>
              </a:rPr>
              <a:t>Theo triết học Mác–Lênin, con người bao gồm sự thống nhất của hai mặt nào?</a:t>
            </a:r>
          </a:p>
        </p:txBody>
      </p:sp>
      <p:sp>
        <p:nvSpPr>
          <p:cNvPr id="11"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3" name="TextBox 12"/>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4" name="Rounded Rectangle 13"/>
          <p:cNvSpPr/>
          <p:nvPr/>
        </p:nvSpPr>
        <p:spPr>
          <a:xfrm>
            <a:off x="9646920" y="1371600"/>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01</a:t>
            </a:r>
          </a:p>
        </p:txBody>
      </p:sp>
      <p:sp>
        <p:nvSpPr>
          <p:cNvPr id="16" name="TextBox 15"/>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nhỏ</a:t>
            </a:r>
          </a:p>
        </p:txBody>
      </p:sp>
      <p:sp>
        <p:nvSpPr>
          <p:cNvPr id="17" name="Rounded Rectangle 16"/>
          <p:cNvSpPr/>
          <p:nvPr/>
        </p:nvSpPr>
        <p:spPr>
          <a:xfrm>
            <a:off x="9646920" y="2487168"/>
            <a:ext cx="1956816" cy="877824"/>
          </a:xfrm>
          <a:prstGeom prst="roundRect">
            <a:avLst/>
          </a:prstGeom>
          <a:solidFill>
            <a:srgbClr val="263F53"/>
          </a:solidFill>
          <a:ln w="12700">
            <a:solidFill>
              <a:srgbClr val="4059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B9C7CC"/>
                </a:solidFill>
                <a:latin typeface="Trebuchet MS"/>
              </a:rPr>
              <a:t>CHƯA MỞ  ·  CÂU 02</a:t>
            </a:r>
          </a:p>
        </p:txBody>
      </p:sp>
      <p:sp>
        <p:nvSpPr>
          <p:cNvPr id="19" name="TextBox 18"/>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B9C7CC"/>
                </a:solidFill>
                <a:latin typeface="Trebuchet MS"/>
              </a:rPr>
              <a:t>Quà vừa</a:t>
            </a:r>
          </a:p>
        </p:txBody>
      </p:sp>
      <p:sp>
        <p:nvSpPr>
          <p:cNvPr id="20" name="Rounded Rectangle 19"/>
          <p:cNvSpPr/>
          <p:nvPr/>
        </p:nvSpPr>
        <p:spPr>
          <a:xfrm>
            <a:off x="9646920" y="3602736"/>
            <a:ext cx="1956816" cy="877824"/>
          </a:xfrm>
          <a:prstGeom prst="roundRect">
            <a:avLst/>
          </a:prstGeom>
          <a:solidFill>
            <a:srgbClr val="263F53"/>
          </a:solidFill>
          <a:ln w="12700">
            <a:solidFill>
              <a:srgbClr val="4059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B9C7CC"/>
                </a:solidFill>
                <a:latin typeface="Trebuchet MS"/>
              </a:rPr>
              <a:t>CHƯA MỞ  ·  CÂU 03</a:t>
            </a:r>
          </a:p>
        </p:txBody>
      </p:sp>
      <p:sp>
        <p:nvSpPr>
          <p:cNvPr id="22" name="TextBox 21"/>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B9C7CC"/>
                </a:solidFill>
                <a:latin typeface="Trebuchet MS"/>
              </a:rPr>
              <a:t>Quà lớn</a:t>
            </a:r>
          </a:p>
        </p:txBody>
      </p:sp>
      <p:sp>
        <p:nvSpPr>
          <p:cNvPr id="23" name="TextBox 22"/>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MỐC AN TOÀN</a:t>
            </a:r>
          </a:p>
        </p:txBody>
      </p:sp>
      <p:sp>
        <p:nvSpPr>
          <p:cNvPr id="24" name="TextBox 23"/>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Chưa có quà</a:t>
            </a:r>
          </a:p>
        </p:txBody>
      </p:sp>
      <p:sp>
        <p:nvSpPr>
          <p:cNvPr id="25" name="TextBox 24"/>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6" name="Đáp án A">
            <a:hlinkClick r:id="rId2" action="ppaction://hlinksldjump"/>
          </p:cNvPr>
          <p:cNvSpPr/>
          <p:nvPr/>
        </p:nvSpPr>
        <p:spPr>
          <a:xfrm>
            <a:off x="530352" y="2770632"/>
            <a:ext cx="4215384" cy="1170432"/>
          </a:xfrm>
          <a:prstGeom prst="roundRect">
            <a:avLst/>
          </a:prstGeom>
          <a:solidFill>
            <a:srgbClr val="FBFCF9"/>
          </a:solidFill>
          <a:ln w="15875">
            <a:solidFill>
              <a:srgbClr val="D7DED8"/>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18324A"/>
                </a:solidFill>
                <a:latin typeface="Aptos"/>
              </a:rPr>
              <a:t>Mặt tự nhiên (sinh học) và mặt xã hội.</a:t>
            </a:r>
          </a:p>
        </p:txBody>
      </p:sp>
      <p:sp>
        <p:nvSpPr>
          <p:cNvPr id="27" name="Oval 26">
            <a:hlinkClick r:id="rId2" action="ppaction://hlinksldjump"/>
          </p:cNvPr>
          <p:cNvSpPr/>
          <p:nvPr/>
        </p:nvSpPr>
        <p:spPr>
          <a:xfrm>
            <a:off x="685800" y="3154679"/>
            <a:ext cx="402336" cy="402336"/>
          </a:xfrm>
          <a:prstGeom prst="ellipse">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E8177"/>
                </a:solidFill>
                <a:latin typeface="Trebuchet MS"/>
              </a:rPr>
              <a:t>A</a:t>
            </a:r>
          </a:p>
        </p:txBody>
      </p:sp>
      <p:sp>
        <p:nvSpPr>
          <p:cNvPr id="28" name="Đáp án B">
            <a:hlinkClick r:id="rId3" action="ppaction://hlinksldjump"/>
          </p:cNvPr>
          <p:cNvSpPr/>
          <p:nvPr/>
        </p:nvSpPr>
        <p:spPr>
          <a:xfrm>
            <a:off x="4937760" y="2770632"/>
            <a:ext cx="4279392" cy="1170432"/>
          </a:xfrm>
          <a:prstGeom prst="roundRect">
            <a:avLst/>
          </a:prstGeom>
          <a:solidFill>
            <a:srgbClr val="FBFCF9"/>
          </a:solidFill>
          <a:ln w="15875">
            <a:solidFill>
              <a:srgbClr val="D7DED8"/>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18324A"/>
                </a:solidFill>
                <a:latin typeface="Aptos"/>
              </a:rPr>
              <a:t>Mặt cá nhân và mặt cộng đồng.</a:t>
            </a:r>
          </a:p>
        </p:txBody>
      </p:sp>
      <p:sp>
        <p:nvSpPr>
          <p:cNvPr id="29" name="Oval 28">
            <a:hlinkClick r:id="rId3" action="ppaction://hlinksldjump"/>
          </p:cNvPr>
          <p:cNvSpPr/>
          <p:nvPr/>
        </p:nvSpPr>
        <p:spPr>
          <a:xfrm>
            <a:off x="5093208" y="3154679"/>
            <a:ext cx="402336" cy="402336"/>
          </a:xfrm>
          <a:prstGeom prst="ellipse">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E8177"/>
                </a:solidFill>
                <a:latin typeface="Trebuchet MS"/>
              </a:rPr>
              <a:t>B</a:t>
            </a:r>
          </a:p>
        </p:txBody>
      </p:sp>
      <p:sp>
        <p:nvSpPr>
          <p:cNvPr id="30" name="Đáp án C">
            <a:hlinkClick r:id="rId4" action="ppaction://hlinksldjump"/>
          </p:cNvPr>
          <p:cNvSpPr/>
          <p:nvPr/>
        </p:nvSpPr>
        <p:spPr>
          <a:xfrm>
            <a:off x="530352" y="4105656"/>
            <a:ext cx="4215384" cy="1170432"/>
          </a:xfrm>
          <a:prstGeom prst="roundRect">
            <a:avLst/>
          </a:prstGeom>
          <a:solidFill>
            <a:srgbClr val="FBFCF9"/>
          </a:solidFill>
          <a:ln w="15875">
            <a:solidFill>
              <a:srgbClr val="D7DED8"/>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18324A"/>
                </a:solidFill>
                <a:latin typeface="Aptos"/>
              </a:rPr>
              <a:t>Mặt vật chất và mặt tinh thần.</a:t>
            </a:r>
          </a:p>
        </p:txBody>
      </p:sp>
      <p:sp>
        <p:nvSpPr>
          <p:cNvPr id="31" name="Oval 30">
            <a:hlinkClick r:id="rId4" action="ppaction://hlinksldjump"/>
          </p:cNvPr>
          <p:cNvSpPr/>
          <p:nvPr/>
        </p:nvSpPr>
        <p:spPr>
          <a:xfrm>
            <a:off x="685800" y="4489704"/>
            <a:ext cx="402336" cy="402336"/>
          </a:xfrm>
          <a:prstGeom prst="ellipse">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E8177"/>
                </a:solidFill>
                <a:latin typeface="Trebuchet MS"/>
              </a:rPr>
              <a:t>C</a:t>
            </a:r>
          </a:p>
        </p:txBody>
      </p:sp>
      <p:sp>
        <p:nvSpPr>
          <p:cNvPr id="32" name="Đáp án D">
            <a:hlinkClick r:id="rId5" action="ppaction://hlinksldjump"/>
          </p:cNvPr>
          <p:cNvSpPr/>
          <p:nvPr/>
        </p:nvSpPr>
        <p:spPr>
          <a:xfrm>
            <a:off x="4937760" y="4105656"/>
            <a:ext cx="4279392" cy="1170432"/>
          </a:xfrm>
          <a:prstGeom prst="roundRect">
            <a:avLst/>
          </a:prstGeom>
          <a:solidFill>
            <a:srgbClr val="FBFCF9"/>
          </a:solidFill>
          <a:ln w="15875">
            <a:solidFill>
              <a:srgbClr val="D7DED8"/>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18324A"/>
                </a:solidFill>
                <a:latin typeface="Aptos"/>
              </a:rPr>
              <a:t>Mặt lý luận và mặt thực tiễn.</a:t>
            </a:r>
          </a:p>
        </p:txBody>
      </p:sp>
      <p:sp>
        <p:nvSpPr>
          <p:cNvPr id="33" name="Oval 32">
            <a:hlinkClick r:id="rId5" action="ppaction://hlinksldjump"/>
          </p:cNvPr>
          <p:cNvSpPr/>
          <p:nvPr/>
        </p:nvSpPr>
        <p:spPr>
          <a:xfrm>
            <a:off x="5093208" y="4489704"/>
            <a:ext cx="402336" cy="402336"/>
          </a:xfrm>
          <a:prstGeom prst="ellipse">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E8177"/>
                </a:solidFill>
                <a:latin typeface="Trebuchet MS"/>
              </a:rPr>
              <a:t>D</a:t>
            </a:r>
          </a:p>
        </p:txBody>
      </p:sp>
      <p:sp>
        <p:nvSpPr>
          <p:cNvPr id="34" name="TextBox 33"/>
          <p:cNvSpPr txBox="1"/>
          <p:nvPr/>
        </p:nvSpPr>
        <p:spPr>
          <a:xfrm>
            <a:off x="621792" y="5431536"/>
            <a:ext cx="8485632" cy="36576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080" b="1" i="0">
                <a:solidFill>
                  <a:srgbClr val="657883"/>
                </a:solidFill>
                <a:latin typeface="Trebuchet MS"/>
              </a:rPr>
              <a:t>CHỌN MỘT ĐÁP ÁN  ·  BẤM TRỰC TIẾP VÀO THẺ A / B / C / D</a:t>
            </a:r>
          </a:p>
        </p:txBody>
      </p:sp>
    </p:spTree>
  </p:cSld>
  <p:clrMapOvr>
    <a:masterClrMapping/>
  </p:clrMapOvr>
  <p:transition spd="med" advClick="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01 / 05</a:t>
            </a:r>
          </a:p>
        </p:txBody>
      </p:sp>
      <p:sp>
        <p:nvSpPr>
          <p:cNvPr id="5" name="Rounded Rectangle 4"/>
          <p:cNvSpPr/>
          <p:nvPr/>
        </p:nvSpPr>
        <p:spPr>
          <a:xfrm>
            <a:off x="2240280" y="749808"/>
            <a:ext cx="138988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DỄ</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01 / 03</a:t>
            </a:r>
          </a:p>
        </p:txBody>
      </p:sp>
      <p:sp>
        <p:nvSpPr>
          <p:cNvPr id="7" name="Rounded Rectangle 6"/>
          <p:cNvSpPr/>
          <p:nvPr/>
        </p:nvSpPr>
        <p:spPr>
          <a:xfrm>
            <a:off x="7562088" y="749808"/>
            <a:ext cx="1581912" cy="292608"/>
          </a:xfrm>
          <a:prstGeom prst="roundRect">
            <a:avLst/>
          </a:prstGeom>
          <a:solidFill>
            <a:srgbClr val="D9F0E3"/>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1000" b="1" i="0">
                <a:solidFill>
                  <a:srgbClr val="2F9C72"/>
                </a:solidFill>
                <a:latin typeface="Trebuchet MS"/>
              </a:rPr>
              <a:t>CHÍNH XÁC!</a:t>
            </a:r>
          </a:p>
        </p:txBody>
      </p:sp>
      <p:sp>
        <p:nvSpPr>
          <p:cNvPr id="8"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1" name="TextBox 10"/>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2100" b="1" i="0">
                <a:solidFill>
                  <a:srgbClr val="FFFFFF"/>
                </a:solidFill>
                <a:latin typeface="Aptos"/>
              </a:rPr>
              <a:t>Theo triết học Mác–Lênin, con người bao gồm sự thống nhất của hai mặt nào?</a:t>
            </a:r>
          </a:p>
        </p:txBody>
      </p:sp>
      <p:sp>
        <p:nvSpPr>
          <p:cNvPr id="12"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4" name="TextBox 13"/>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5" name="Rounded Rectangle 14"/>
          <p:cNvSpPr/>
          <p:nvPr/>
        </p:nvSpPr>
        <p:spPr>
          <a:xfrm>
            <a:off x="9646920" y="1371600"/>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01</a:t>
            </a:r>
          </a:p>
        </p:txBody>
      </p:sp>
      <p:sp>
        <p:nvSpPr>
          <p:cNvPr id="17" name="TextBox 16"/>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nhỏ</a:t>
            </a:r>
          </a:p>
        </p:txBody>
      </p:sp>
      <p:sp>
        <p:nvSpPr>
          <p:cNvPr id="18" name="Rounded Rectangle 17"/>
          <p:cNvSpPr/>
          <p:nvPr/>
        </p:nvSpPr>
        <p:spPr>
          <a:xfrm>
            <a:off x="9646920" y="2487168"/>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02</a:t>
            </a:r>
          </a:p>
        </p:txBody>
      </p:sp>
      <p:sp>
        <p:nvSpPr>
          <p:cNvPr id="20" name="TextBox 19"/>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vừa</a:t>
            </a:r>
          </a:p>
        </p:txBody>
      </p:sp>
      <p:sp>
        <p:nvSpPr>
          <p:cNvPr id="21" name="Rounded Rectangle 20"/>
          <p:cNvSpPr/>
          <p:nvPr/>
        </p:nvSpPr>
        <p:spPr>
          <a:xfrm>
            <a:off x="9646920" y="3602736"/>
            <a:ext cx="1956816" cy="877824"/>
          </a:xfrm>
          <a:prstGeom prst="roundRect">
            <a:avLst/>
          </a:prstGeom>
          <a:solidFill>
            <a:srgbClr val="263F53"/>
          </a:solidFill>
          <a:ln w="12700">
            <a:solidFill>
              <a:srgbClr val="4059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B9C7CC"/>
                </a:solidFill>
                <a:latin typeface="Trebuchet MS"/>
              </a:rPr>
              <a:t>CHƯA MỞ  ·  CÂU 03</a:t>
            </a:r>
          </a:p>
        </p:txBody>
      </p:sp>
      <p:sp>
        <p:nvSpPr>
          <p:cNvPr id="23" name="TextBox 22"/>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B9C7CC"/>
                </a:solidFill>
                <a:latin typeface="Trebuchet MS"/>
              </a:rPr>
              <a:t>Quà lớn</a:t>
            </a:r>
          </a:p>
        </p:txBody>
      </p:sp>
      <p:sp>
        <p:nvSpPr>
          <p:cNvPr id="24" name="TextBox 23"/>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MỐC VỪA CHẠM</a:t>
            </a:r>
          </a:p>
        </p:txBody>
      </p:sp>
      <p:sp>
        <p:nvSpPr>
          <p:cNvPr id="25" name="TextBox 24"/>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Quà nhỏ</a:t>
            </a:r>
          </a:p>
        </p:txBody>
      </p:sp>
      <p:sp>
        <p:nvSpPr>
          <p:cNvPr id="26" name="TextBox 25"/>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7" name="Đáp án A"/>
          <p:cNvSpPr/>
          <p:nvPr/>
        </p:nvSpPr>
        <p:spPr>
          <a:xfrm>
            <a:off x="530352" y="2770632"/>
            <a:ext cx="4215384" cy="1170432"/>
          </a:xfrm>
          <a:prstGeom prst="roundRect">
            <a:avLst/>
          </a:prstGeom>
          <a:solidFill>
            <a:srgbClr val="FFD05A"/>
          </a:solidFill>
          <a:ln w="15875">
            <a:solidFill>
              <a:srgbClr val="D9A92E"/>
            </a:solidFill>
          </a:ln>
          <a:effectLst>
            <a:glow rad="190000">
              <a:srgbClr val="FFD05A">
                <a:alpha val="52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1" i="0">
                <a:solidFill>
                  <a:srgbClr val="18324A"/>
                </a:solidFill>
                <a:latin typeface="Aptos"/>
              </a:rPr>
              <a:t>Mặt tự nhiên (sinh học) và mặt xã hội.</a:t>
            </a:r>
          </a:p>
        </p:txBody>
      </p:sp>
      <p:sp>
        <p:nvSpPr>
          <p:cNvPr id="28" name="Oval 27"/>
          <p:cNvSpPr/>
          <p:nvPr/>
        </p:nvSpPr>
        <p:spPr>
          <a:xfrm>
            <a:off x="685800" y="3154679"/>
            <a:ext cx="402336" cy="402336"/>
          </a:xfrm>
          <a:prstGeom prst="ellipse">
            <a:avLst/>
          </a:prstGeom>
          <a:solidFill>
            <a:srgbClr val="18324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FFD05A"/>
                </a:solidFill>
                <a:latin typeface="Trebuchet MS"/>
              </a:rPr>
              <a:t>A</a:t>
            </a:r>
          </a:p>
        </p:txBody>
      </p:sp>
      <p:sp>
        <p:nvSpPr>
          <p:cNvPr id="29" name="Đáp án B"/>
          <p:cNvSpPr/>
          <p:nvPr/>
        </p:nvSpPr>
        <p:spPr>
          <a:xfrm>
            <a:off x="4937760" y="2770632"/>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Mặt cá nhân và mặt cộng đồng.</a:t>
            </a:r>
          </a:p>
        </p:txBody>
      </p:sp>
      <p:sp>
        <p:nvSpPr>
          <p:cNvPr id="30" name="Oval 29"/>
          <p:cNvSpPr/>
          <p:nvPr/>
        </p:nvSpPr>
        <p:spPr>
          <a:xfrm>
            <a:off x="5093208" y="3154679"/>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B</a:t>
            </a:r>
          </a:p>
        </p:txBody>
      </p:sp>
      <p:sp>
        <p:nvSpPr>
          <p:cNvPr id="31" name="Đáp án C"/>
          <p:cNvSpPr/>
          <p:nvPr/>
        </p:nvSpPr>
        <p:spPr>
          <a:xfrm>
            <a:off x="530352" y="4105656"/>
            <a:ext cx="4215384"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Mặt vật chất và mặt tinh thần.</a:t>
            </a:r>
          </a:p>
        </p:txBody>
      </p:sp>
      <p:sp>
        <p:nvSpPr>
          <p:cNvPr id="32" name="Oval 31"/>
          <p:cNvSpPr/>
          <p:nvPr/>
        </p:nvSpPr>
        <p:spPr>
          <a:xfrm>
            <a:off x="685800"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C</a:t>
            </a:r>
          </a:p>
        </p:txBody>
      </p:sp>
      <p:sp>
        <p:nvSpPr>
          <p:cNvPr id="33" name="Đáp án D"/>
          <p:cNvSpPr/>
          <p:nvPr/>
        </p:nvSpPr>
        <p:spPr>
          <a:xfrm>
            <a:off x="4937760" y="4105656"/>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Mặt lý luận và mặt thực tiễn.</a:t>
            </a:r>
          </a:p>
        </p:txBody>
      </p:sp>
      <p:sp>
        <p:nvSpPr>
          <p:cNvPr id="34" name="Oval 33"/>
          <p:cNvSpPr/>
          <p:nvPr/>
        </p:nvSpPr>
        <p:spPr>
          <a:xfrm>
            <a:off x="5093208"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D</a:t>
            </a:r>
          </a:p>
        </p:txBody>
      </p:sp>
      <p:sp>
        <p:nvSpPr>
          <p:cNvPr id="35" name="Rounded Rectangle 34"/>
          <p:cNvSpPr/>
          <p:nvPr/>
        </p:nvSpPr>
        <p:spPr>
          <a:xfrm>
            <a:off x="530352" y="5431536"/>
            <a:ext cx="5989320" cy="868680"/>
          </a:xfrm>
          <a:prstGeom prst="roundRect">
            <a:avLst/>
          </a:prstGeom>
          <a:solidFill>
            <a:srgbClr val="D9F0E3"/>
          </a:solidFill>
          <a:ln w="12700">
            <a:solidFill>
              <a:srgbClr val="D7E6DC"/>
            </a:solidFill>
          </a:ln>
        </p:spPr>
        <p:style>
          <a:lnRef idx="1">
            <a:schemeClr val="accent1"/>
          </a:lnRef>
          <a:fillRef idx="3">
            <a:schemeClr val="accent1"/>
          </a:fillRef>
          <a:effectRef idx="2">
            <a:schemeClr val="accent1"/>
          </a:effectRef>
          <a:fontRef idx="minor">
            <a:schemeClr val="lt1"/>
          </a:fontRef>
        </p:style>
        <p:txBody>
          <a:bodyPr wrap="square" lIns="109728" tIns="60350" rIns="109728" bIns="60350" rtlCol="0" anchor="ctr"/>
          <a:lstStyle/>
          <a:p>
            <a:pPr algn="l">
              <a:lnSpc>
                <a:spcPct val="100000"/>
              </a:lnSpc>
              <a:spcBef>
                <a:spcPts val="0"/>
              </a:spcBef>
              <a:spcAft>
                <a:spcPts val="0"/>
              </a:spcAft>
            </a:pPr>
            <a:r>
              <a:rPr sz="1130" b="0" i="0">
                <a:solidFill>
                  <a:srgbClr val="18324A"/>
                </a:solidFill>
                <a:latin typeface="Aptos"/>
              </a:rPr>
              <a:t>MỐC 1 ĐÃ CHINH PHỤC  ·  Quà nhỏ
Con người là một thực thể sinh học – xã hội: tự nhiên là nền tảng, còn xã hội là đặc trưng bản chất.</a:t>
            </a:r>
          </a:p>
        </p:txBody>
      </p:sp>
      <p:sp>
        <p:nvSpPr>
          <p:cNvPr id="36" name="Nút: CÂU TIẾP THEO  →">
            <a:hlinkClick r:id="rId3" action="ppaction://hlinksldjump"/>
          </p:cNvPr>
          <p:cNvSpPr/>
          <p:nvPr/>
        </p:nvSpPr>
        <p:spPr>
          <a:xfrm>
            <a:off x="6711696" y="5431536"/>
            <a:ext cx="2505456" cy="868680"/>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240" b="1" i="0">
                <a:solidFill>
                  <a:srgbClr val="18324A"/>
                </a:solidFill>
                <a:latin typeface="Trebuchet MS"/>
              </a:rPr>
              <a:t>CÂU TIẾP THEO  →</a:t>
            </a:r>
          </a:p>
        </p:txBody>
      </p:sp>
    </p:spTree>
  </p:cSld>
  <p:clrMapOvr>
    <a:masterClrMapping/>
  </p:clrMapOvr>
  <p:transition spd="med" advClick="0">
    <p:sndAc>
      <p:stSnd>
        <p:snd r:embed="rId2" name="Correct answer chime"/>
      </p:stSnd>
    </p:sndAc>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01 / 05</a:t>
            </a:r>
          </a:p>
        </p:txBody>
      </p:sp>
      <p:sp>
        <p:nvSpPr>
          <p:cNvPr id="5" name="Rounded Rectangle 4"/>
          <p:cNvSpPr/>
          <p:nvPr/>
        </p:nvSpPr>
        <p:spPr>
          <a:xfrm>
            <a:off x="2240280" y="749808"/>
            <a:ext cx="138988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DỄ</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01 / 03</a:t>
            </a:r>
          </a:p>
        </p:txBody>
      </p:sp>
      <p:sp>
        <p:nvSpPr>
          <p:cNvPr id="7" name="Rounded Rectangle 6"/>
          <p:cNvSpPr/>
          <p:nvPr/>
        </p:nvSpPr>
        <p:spPr>
          <a:xfrm>
            <a:off x="7562088" y="749808"/>
            <a:ext cx="1581912" cy="292608"/>
          </a:xfrm>
          <a:prstGeom prst="roundRect">
            <a:avLst/>
          </a:prstGeom>
          <a:solidFill>
            <a:srgbClr val="FBE3E3"/>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1000" b="1" i="0">
                <a:solidFill>
                  <a:srgbClr val="B8424C"/>
                </a:solidFill>
                <a:latin typeface="Trebuchet MS"/>
              </a:rPr>
              <a:t>RẤT TIẾC!</a:t>
            </a:r>
          </a:p>
        </p:txBody>
      </p:sp>
      <p:sp>
        <p:nvSpPr>
          <p:cNvPr id="8"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1" name="TextBox 10"/>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2100" b="1" i="0">
                <a:solidFill>
                  <a:srgbClr val="FFFFFF"/>
                </a:solidFill>
                <a:latin typeface="Aptos"/>
              </a:rPr>
              <a:t>Theo triết học Mác–Lênin, con người bao gồm sự thống nhất của hai mặt nào?</a:t>
            </a:r>
          </a:p>
        </p:txBody>
      </p:sp>
      <p:sp>
        <p:nvSpPr>
          <p:cNvPr id="12"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4" name="TextBox 13"/>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5" name="Rounded Rectangle 14"/>
          <p:cNvSpPr/>
          <p:nvPr/>
        </p:nvSpPr>
        <p:spPr>
          <a:xfrm>
            <a:off x="9646920" y="1371600"/>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01</a:t>
            </a:r>
          </a:p>
        </p:txBody>
      </p:sp>
      <p:sp>
        <p:nvSpPr>
          <p:cNvPr id="17" name="TextBox 16"/>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nhỏ</a:t>
            </a:r>
          </a:p>
        </p:txBody>
      </p:sp>
      <p:sp>
        <p:nvSpPr>
          <p:cNvPr id="18" name="Rounded Rectangle 17"/>
          <p:cNvSpPr/>
          <p:nvPr/>
        </p:nvSpPr>
        <p:spPr>
          <a:xfrm>
            <a:off x="9646920" y="2487168"/>
            <a:ext cx="1956816" cy="877824"/>
          </a:xfrm>
          <a:prstGeom prst="roundRect">
            <a:avLst/>
          </a:prstGeom>
          <a:solidFill>
            <a:srgbClr val="263F53"/>
          </a:solidFill>
          <a:ln w="12700">
            <a:solidFill>
              <a:srgbClr val="4059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B9C7CC"/>
                </a:solidFill>
                <a:latin typeface="Trebuchet MS"/>
              </a:rPr>
              <a:t>CHƯA MỞ  ·  CÂU 02</a:t>
            </a:r>
          </a:p>
        </p:txBody>
      </p:sp>
      <p:sp>
        <p:nvSpPr>
          <p:cNvPr id="20" name="TextBox 19"/>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B9C7CC"/>
                </a:solidFill>
                <a:latin typeface="Trebuchet MS"/>
              </a:rPr>
              <a:t>Quà vừa</a:t>
            </a:r>
          </a:p>
        </p:txBody>
      </p:sp>
      <p:sp>
        <p:nvSpPr>
          <p:cNvPr id="21" name="Rounded Rectangle 20"/>
          <p:cNvSpPr/>
          <p:nvPr/>
        </p:nvSpPr>
        <p:spPr>
          <a:xfrm>
            <a:off x="9646920" y="3602736"/>
            <a:ext cx="1956816" cy="877824"/>
          </a:xfrm>
          <a:prstGeom prst="roundRect">
            <a:avLst/>
          </a:prstGeom>
          <a:solidFill>
            <a:srgbClr val="263F53"/>
          </a:solidFill>
          <a:ln w="12700">
            <a:solidFill>
              <a:srgbClr val="4059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B9C7CC"/>
                </a:solidFill>
                <a:latin typeface="Trebuchet MS"/>
              </a:rPr>
              <a:t>CHƯA MỞ  ·  CÂU 03</a:t>
            </a:r>
          </a:p>
        </p:txBody>
      </p:sp>
      <p:sp>
        <p:nvSpPr>
          <p:cNvPr id="23" name="TextBox 22"/>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B9C7CC"/>
                </a:solidFill>
                <a:latin typeface="Trebuchet MS"/>
              </a:rPr>
              <a:t>Quà lớn</a:t>
            </a:r>
          </a:p>
        </p:txBody>
      </p:sp>
      <p:sp>
        <p:nvSpPr>
          <p:cNvPr id="24" name="TextBox 23"/>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QUÀ GIỮ LẠI</a:t>
            </a:r>
          </a:p>
        </p:txBody>
      </p:sp>
      <p:sp>
        <p:nvSpPr>
          <p:cNvPr id="25" name="TextBox 24"/>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Chưa có quà</a:t>
            </a:r>
          </a:p>
        </p:txBody>
      </p:sp>
      <p:sp>
        <p:nvSpPr>
          <p:cNvPr id="26" name="TextBox 25"/>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7" name="Đáp án A"/>
          <p:cNvSpPr/>
          <p:nvPr/>
        </p:nvSpPr>
        <p:spPr>
          <a:xfrm>
            <a:off x="530352" y="2770632"/>
            <a:ext cx="4215384" cy="1170432"/>
          </a:xfrm>
          <a:prstGeom prst="roundRect">
            <a:avLst/>
          </a:prstGeom>
          <a:solidFill>
            <a:srgbClr val="2F9C72"/>
          </a:solidFill>
          <a:ln w="15875">
            <a:solidFill>
              <a:srgbClr val="2F9C72"/>
            </a:solidFill>
          </a:ln>
          <a:effectLst>
            <a:glow rad="190000">
              <a:srgbClr val="73D9A5">
                <a:alpha val="52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1" i="0">
                <a:solidFill>
                  <a:srgbClr val="FFFFFF"/>
                </a:solidFill>
                <a:latin typeface="Aptos"/>
              </a:rPr>
              <a:t>Mặt tự nhiên (sinh học) và mặt xã hội.</a:t>
            </a:r>
          </a:p>
        </p:txBody>
      </p:sp>
      <p:sp>
        <p:nvSpPr>
          <p:cNvPr id="28" name="Oval 27"/>
          <p:cNvSpPr/>
          <p:nvPr/>
        </p:nvSpPr>
        <p:spPr>
          <a:xfrm>
            <a:off x="685800" y="3154679"/>
            <a:ext cx="402336" cy="402336"/>
          </a:xfrm>
          <a:prstGeom prst="ellipse">
            <a:avLst/>
          </a:prstGeom>
          <a:solidFill>
            <a:srgbClr val="FFFFFF"/>
          </a:solidFill>
          <a:ln w="12700">
            <a:solidFill>
              <a:srgbClr val="2F9C72"/>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F9C72"/>
                </a:solidFill>
                <a:latin typeface="Trebuchet MS"/>
              </a:rPr>
              <a:t>A</a:t>
            </a:r>
          </a:p>
        </p:txBody>
      </p:sp>
      <p:sp>
        <p:nvSpPr>
          <p:cNvPr id="29" name="Đáp án B"/>
          <p:cNvSpPr/>
          <p:nvPr/>
        </p:nvSpPr>
        <p:spPr>
          <a:xfrm>
            <a:off x="4937760" y="2770632"/>
            <a:ext cx="4279392" cy="1170432"/>
          </a:xfrm>
          <a:prstGeom prst="roundRect">
            <a:avLst/>
          </a:prstGeom>
          <a:solidFill>
            <a:srgbClr val="E45C64"/>
          </a:solidFill>
          <a:ln w="15875">
            <a:solidFill>
              <a:srgbClr val="B8424C"/>
            </a:solidFill>
          </a:ln>
          <a:effectLst>
            <a:glow rad="110000">
              <a:srgbClr val="E45C64">
                <a:alpha val="35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1" i="0">
                <a:solidFill>
                  <a:srgbClr val="FFFFFF"/>
                </a:solidFill>
                <a:latin typeface="Aptos"/>
              </a:rPr>
              <a:t>Mặt cá nhân và mặt cộng đồng.</a:t>
            </a:r>
          </a:p>
        </p:txBody>
      </p:sp>
      <p:sp>
        <p:nvSpPr>
          <p:cNvPr id="30" name="Oval 29"/>
          <p:cNvSpPr/>
          <p:nvPr/>
        </p:nvSpPr>
        <p:spPr>
          <a:xfrm>
            <a:off x="5093208" y="3154679"/>
            <a:ext cx="402336" cy="402336"/>
          </a:xfrm>
          <a:prstGeom prst="ellipse">
            <a:avLst/>
          </a:prstGeom>
          <a:solidFill>
            <a:srgbClr val="FFFFFF"/>
          </a:solidFill>
          <a:ln w="12700">
            <a:solidFill>
              <a:srgbClr val="B8424C"/>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B8424C"/>
                </a:solidFill>
                <a:latin typeface="Trebuchet MS"/>
              </a:rPr>
              <a:t>B</a:t>
            </a:r>
          </a:p>
        </p:txBody>
      </p:sp>
      <p:cxnSp>
        <p:nvCxnSpPr>
          <p:cNvPr id="31" name="Connector 30"/>
          <p:cNvCxnSpPr/>
          <p:nvPr/>
        </p:nvCxnSpPr>
        <p:spPr>
          <a:xfrm>
            <a:off x="4846320" y="297180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4846320" y="3264408"/>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846320" y="3557016"/>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9235440" y="297180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235440" y="3264408"/>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9235440" y="3557016"/>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sp>
        <p:nvSpPr>
          <p:cNvPr id="37" name="Đáp án C"/>
          <p:cNvSpPr/>
          <p:nvPr/>
        </p:nvSpPr>
        <p:spPr>
          <a:xfrm>
            <a:off x="530352" y="4105656"/>
            <a:ext cx="4215384"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Mặt vật chất và mặt tinh thần.</a:t>
            </a:r>
          </a:p>
        </p:txBody>
      </p:sp>
      <p:sp>
        <p:nvSpPr>
          <p:cNvPr id="38" name="Oval 37"/>
          <p:cNvSpPr/>
          <p:nvPr/>
        </p:nvSpPr>
        <p:spPr>
          <a:xfrm>
            <a:off x="685800"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C</a:t>
            </a:r>
          </a:p>
        </p:txBody>
      </p:sp>
      <p:sp>
        <p:nvSpPr>
          <p:cNvPr id="39" name="Đáp án D"/>
          <p:cNvSpPr/>
          <p:nvPr/>
        </p:nvSpPr>
        <p:spPr>
          <a:xfrm>
            <a:off x="4937760" y="4105656"/>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Mặt lý luận và mặt thực tiễn.</a:t>
            </a:r>
          </a:p>
        </p:txBody>
      </p:sp>
      <p:sp>
        <p:nvSpPr>
          <p:cNvPr id="40" name="Oval 39"/>
          <p:cNvSpPr/>
          <p:nvPr/>
        </p:nvSpPr>
        <p:spPr>
          <a:xfrm>
            <a:off x="5093208"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D</a:t>
            </a:r>
          </a:p>
        </p:txBody>
      </p:sp>
      <p:sp>
        <p:nvSpPr>
          <p:cNvPr id="41" name="Rounded Rectangle 40"/>
          <p:cNvSpPr/>
          <p:nvPr/>
        </p:nvSpPr>
        <p:spPr>
          <a:xfrm>
            <a:off x="530352" y="5431536"/>
            <a:ext cx="5989320" cy="868680"/>
          </a:xfrm>
          <a:prstGeom prst="roundRect">
            <a:avLst/>
          </a:prstGeom>
          <a:solidFill>
            <a:srgbClr val="FBE5E3"/>
          </a:solidFill>
          <a:ln w="12700">
            <a:solidFill>
              <a:srgbClr val="F0C7C4"/>
            </a:solid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l">
              <a:lnSpc>
                <a:spcPct val="100000"/>
              </a:lnSpc>
              <a:spcBef>
                <a:spcPts val="0"/>
              </a:spcBef>
              <a:spcAft>
                <a:spcPts val="0"/>
              </a:spcAft>
            </a:pPr>
            <a:r>
              <a:rPr sz="980" b="1" i="0">
                <a:solidFill>
                  <a:srgbClr val="18324A"/>
                </a:solidFill>
                <a:latin typeface="Aptos"/>
              </a:rPr>
              <a:t>BẠN CHỌN: B  ·  ĐÁP ÁN ĐÚNG: A
Mặt tự nhiên (sinh học) và mặt xã hội.
QUÀ ĐẠT ĐƯỢC LƯỢT NÀY: Chưa có quà</a:t>
            </a:r>
          </a:p>
        </p:txBody>
      </p:sp>
      <p:sp>
        <p:nvSpPr>
          <p:cNvPr id="42" name="Nút: NGƯỜI CHƠI TIẾP THEO  →">
            <a:hlinkClick r:id="rId2" action="ppaction://hlinksldjump"/>
          </p:cNvPr>
          <p:cNvSpPr/>
          <p:nvPr/>
        </p:nvSpPr>
        <p:spPr>
          <a:xfrm>
            <a:off x="6711696" y="5431536"/>
            <a:ext cx="2505456" cy="86868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240" b="1" i="0">
                <a:solidFill>
                  <a:srgbClr val="FFFFFF"/>
                </a:solidFill>
                <a:latin typeface="Trebuchet MS"/>
              </a:rPr>
              <a:t>NGƯỜI CHƠI TIẾP THEO  →</a:t>
            </a:r>
          </a:p>
        </p:txBody>
      </p:sp>
    </p:spTree>
  </p:cSld>
  <p:clrMapOvr>
    <a:masterClrMapping/>
  </p:clrMapOvr>
  <p:transition spd="med" advClick="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01 / 05</a:t>
            </a:r>
          </a:p>
        </p:txBody>
      </p:sp>
      <p:sp>
        <p:nvSpPr>
          <p:cNvPr id="5" name="Rounded Rectangle 4"/>
          <p:cNvSpPr/>
          <p:nvPr/>
        </p:nvSpPr>
        <p:spPr>
          <a:xfrm>
            <a:off x="2240280" y="749808"/>
            <a:ext cx="138988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DỄ</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01 / 03</a:t>
            </a:r>
          </a:p>
        </p:txBody>
      </p:sp>
      <p:sp>
        <p:nvSpPr>
          <p:cNvPr id="7" name="Rounded Rectangle 6"/>
          <p:cNvSpPr/>
          <p:nvPr/>
        </p:nvSpPr>
        <p:spPr>
          <a:xfrm>
            <a:off x="7562088" y="749808"/>
            <a:ext cx="1581912" cy="292608"/>
          </a:xfrm>
          <a:prstGeom prst="roundRect">
            <a:avLst/>
          </a:prstGeom>
          <a:solidFill>
            <a:srgbClr val="FBE3E3"/>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1000" b="1" i="0">
                <a:solidFill>
                  <a:srgbClr val="B8424C"/>
                </a:solidFill>
                <a:latin typeface="Trebuchet MS"/>
              </a:rPr>
              <a:t>RẤT TIẾC!</a:t>
            </a:r>
          </a:p>
        </p:txBody>
      </p:sp>
      <p:sp>
        <p:nvSpPr>
          <p:cNvPr id="8"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1" name="TextBox 10"/>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2100" b="1" i="0">
                <a:solidFill>
                  <a:srgbClr val="FFFFFF"/>
                </a:solidFill>
                <a:latin typeface="Aptos"/>
              </a:rPr>
              <a:t>Theo triết học Mác–Lênin, con người bao gồm sự thống nhất của hai mặt nào?</a:t>
            </a:r>
          </a:p>
        </p:txBody>
      </p:sp>
      <p:sp>
        <p:nvSpPr>
          <p:cNvPr id="12"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4" name="TextBox 13"/>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5" name="Rounded Rectangle 14"/>
          <p:cNvSpPr/>
          <p:nvPr/>
        </p:nvSpPr>
        <p:spPr>
          <a:xfrm>
            <a:off x="9646920" y="1371600"/>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01</a:t>
            </a:r>
          </a:p>
        </p:txBody>
      </p:sp>
      <p:sp>
        <p:nvSpPr>
          <p:cNvPr id="17" name="TextBox 16"/>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nhỏ</a:t>
            </a:r>
          </a:p>
        </p:txBody>
      </p:sp>
      <p:sp>
        <p:nvSpPr>
          <p:cNvPr id="18" name="Rounded Rectangle 17"/>
          <p:cNvSpPr/>
          <p:nvPr/>
        </p:nvSpPr>
        <p:spPr>
          <a:xfrm>
            <a:off x="9646920" y="2487168"/>
            <a:ext cx="1956816" cy="877824"/>
          </a:xfrm>
          <a:prstGeom prst="roundRect">
            <a:avLst/>
          </a:prstGeom>
          <a:solidFill>
            <a:srgbClr val="263F53"/>
          </a:solidFill>
          <a:ln w="12700">
            <a:solidFill>
              <a:srgbClr val="4059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B9C7CC"/>
                </a:solidFill>
                <a:latin typeface="Trebuchet MS"/>
              </a:rPr>
              <a:t>CHƯA MỞ  ·  CÂU 02</a:t>
            </a:r>
          </a:p>
        </p:txBody>
      </p:sp>
      <p:sp>
        <p:nvSpPr>
          <p:cNvPr id="20" name="TextBox 19"/>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B9C7CC"/>
                </a:solidFill>
                <a:latin typeface="Trebuchet MS"/>
              </a:rPr>
              <a:t>Quà vừa</a:t>
            </a:r>
          </a:p>
        </p:txBody>
      </p:sp>
      <p:sp>
        <p:nvSpPr>
          <p:cNvPr id="21" name="Rounded Rectangle 20"/>
          <p:cNvSpPr/>
          <p:nvPr/>
        </p:nvSpPr>
        <p:spPr>
          <a:xfrm>
            <a:off x="9646920" y="3602736"/>
            <a:ext cx="1956816" cy="877824"/>
          </a:xfrm>
          <a:prstGeom prst="roundRect">
            <a:avLst/>
          </a:prstGeom>
          <a:solidFill>
            <a:srgbClr val="263F53"/>
          </a:solidFill>
          <a:ln w="12700">
            <a:solidFill>
              <a:srgbClr val="4059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B9C7CC"/>
                </a:solidFill>
                <a:latin typeface="Trebuchet MS"/>
              </a:rPr>
              <a:t>CHƯA MỞ  ·  CÂU 03</a:t>
            </a:r>
          </a:p>
        </p:txBody>
      </p:sp>
      <p:sp>
        <p:nvSpPr>
          <p:cNvPr id="23" name="TextBox 22"/>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B9C7CC"/>
                </a:solidFill>
                <a:latin typeface="Trebuchet MS"/>
              </a:rPr>
              <a:t>Quà lớn</a:t>
            </a:r>
          </a:p>
        </p:txBody>
      </p:sp>
      <p:sp>
        <p:nvSpPr>
          <p:cNvPr id="24" name="TextBox 23"/>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QUÀ GIỮ LẠI</a:t>
            </a:r>
          </a:p>
        </p:txBody>
      </p:sp>
      <p:sp>
        <p:nvSpPr>
          <p:cNvPr id="25" name="TextBox 24"/>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Chưa có quà</a:t>
            </a:r>
          </a:p>
        </p:txBody>
      </p:sp>
      <p:sp>
        <p:nvSpPr>
          <p:cNvPr id="26" name="TextBox 25"/>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7" name="Đáp án A"/>
          <p:cNvSpPr/>
          <p:nvPr/>
        </p:nvSpPr>
        <p:spPr>
          <a:xfrm>
            <a:off x="530352" y="2770632"/>
            <a:ext cx="4215384" cy="1170432"/>
          </a:xfrm>
          <a:prstGeom prst="roundRect">
            <a:avLst/>
          </a:prstGeom>
          <a:solidFill>
            <a:srgbClr val="2F9C72"/>
          </a:solidFill>
          <a:ln w="15875">
            <a:solidFill>
              <a:srgbClr val="2F9C72"/>
            </a:solidFill>
          </a:ln>
          <a:effectLst>
            <a:glow rad="190000">
              <a:srgbClr val="73D9A5">
                <a:alpha val="52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1" i="0">
                <a:solidFill>
                  <a:srgbClr val="FFFFFF"/>
                </a:solidFill>
                <a:latin typeface="Aptos"/>
              </a:rPr>
              <a:t>Mặt tự nhiên (sinh học) và mặt xã hội.</a:t>
            </a:r>
          </a:p>
        </p:txBody>
      </p:sp>
      <p:sp>
        <p:nvSpPr>
          <p:cNvPr id="28" name="Oval 27"/>
          <p:cNvSpPr/>
          <p:nvPr/>
        </p:nvSpPr>
        <p:spPr>
          <a:xfrm>
            <a:off x="685800" y="3154679"/>
            <a:ext cx="402336" cy="402336"/>
          </a:xfrm>
          <a:prstGeom prst="ellipse">
            <a:avLst/>
          </a:prstGeom>
          <a:solidFill>
            <a:srgbClr val="FFFFFF"/>
          </a:solidFill>
          <a:ln w="12700">
            <a:solidFill>
              <a:srgbClr val="2F9C72"/>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F9C72"/>
                </a:solidFill>
                <a:latin typeface="Trebuchet MS"/>
              </a:rPr>
              <a:t>A</a:t>
            </a:r>
          </a:p>
        </p:txBody>
      </p:sp>
      <p:sp>
        <p:nvSpPr>
          <p:cNvPr id="29" name="Đáp án B"/>
          <p:cNvSpPr/>
          <p:nvPr/>
        </p:nvSpPr>
        <p:spPr>
          <a:xfrm>
            <a:off x="4937760" y="2770632"/>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Mặt cá nhân và mặt cộng đồng.</a:t>
            </a:r>
          </a:p>
        </p:txBody>
      </p:sp>
      <p:sp>
        <p:nvSpPr>
          <p:cNvPr id="30" name="Oval 29"/>
          <p:cNvSpPr/>
          <p:nvPr/>
        </p:nvSpPr>
        <p:spPr>
          <a:xfrm>
            <a:off x="5093208" y="3154679"/>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B</a:t>
            </a:r>
          </a:p>
        </p:txBody>
      </p:sp>
      <p:sp>
        <p:nvSpPr>
          <p:cNvPr id="31" name="Đáp án C"/>
          <p:cNvSpPr/>
          <p:nvPr/>
        </p:nvSpPr>
        <p:spPr>
          <a:xfrm>
            <a:off x="530352" y="4105656"/>
            <a:ext cx="4215384" cy="1170432"/>
          </a:xfrm>
          <a:prstGeom prst="roundRect">
            <a:avLst/>
          </a:prstGeom>
          <a:solidFill>
            <a:srgbClr val="E45C64"/>
          </a:solidFill>
          <a:ln w="15875">
            <a:solidFill>
              <a:srgbClr val="B8424C"/>
            </a:solidFill>
          </a:ln>
          <a:effectLst>
            <a:glow rad="110000">
              <a:srgbClr val="E45C64">
                <a:alpha val="35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1" i="0">
                <a:solidFill>
                  <a:srgbClr val="FFFFFF"/>
                </a:solidFill>
                <a:latin typeface="Aptos"/>
              </a:rPr>
              <a:t>Mặt vật chất và mặt tinh thần.</a:t>
            </a:r>
          </a:p>
        </p:txBody>
      </p:sp>
      <p:sp>
        <p:nvSpPr>
          <p:cNvPr id="32" name="Oval 31"/>
          <p:cNvSpPr/>
          <p:nvPr/>
        </p:nvSpPr>
        <p:spPr>
          <a:xfrm>
            <a:off x="685800" y="4489704"/>
            <a:ext cx="402336" cy="402336"/>
          </a:xfrm>
          <a:prstGeom prst="ellipse">
            <a:avLst/>
          </a:prstGeom>
          <a:solidFill>
            <a:srgbClr val="FFFFFF"/>
          </a:solidFill>
          <a:ln w="12700">
            <a:solidFill>
              <a:srgbClr val="B8424C"/>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B8424C"/>
                </a:solidFill>
                <a:latin typeface="Trebuchet MS"/>
              </a:rPr>
              <a:t>C</a:t>
            </a:r>
          </a:p>
        </p:txBody>
      </p:sp>
      <p:cxnSp>
        <p:nvCxnSpPr>
          <p:cNvPr id="33" name="Connector 32"/>
          <p:cNvCxnSpPr/>
          <p:nvPr/>
        </p:nvCxnSpPr>
        <p:spPr>
          <a:xfrm>
            <a:off x="438912" y="4306824"/>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38912" y="4599432"/>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38912" y="489204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4764024" y="4306824"/>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764024" y="4599432"/>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764024" y="489204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sp>
        <p:nvSpPr>
          <p:cNvPr id="39" name="Đáp án D"/>
          <p:cNvSpPr/>
          <p:nvPr/>
        </p:nvSpPr>
        <p:spPr>
          <a:xfrm>
            <a:off x="4937760" y="4105656"/>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Mặt lý luận và mặt thực tiễn.</a:t>
            </a:r>
          </a:p>
        </p:txBody>
      </p:sp>
      <p:sp>
        <p:nvSpPr>
          <p:cNvPr id="40" name="Oval 39"/>
          <p:cNvSpPr/>
          <p:nvPr/>
        </p:nvSpPr>
        <p:spPr>
          <a:xfrm>
            <a:off x="5093208"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D</a:t>
            </a:r>
          </a:p>
        </p:txBody>
      </p:sp>
      <p:sp>
        <p:nvSpPr>
          <p:cNvPr id="41" name="Rounded Rectangle 40"/>
          <p:cNvSpPr/>
          <p:nvPr/>
        </p:nvSpPr>
        <p:spPr>
          <a:xfrm>
            <a:off x="530352" y="5431536"/>
            <a:ext cx="5989320" cy="868680"/>
          </a:xfrm>
          <a:prstGeom prst="roundRect">
            <a:avLst/>
          </a:prstGeom>
          <a:solidFill>
            <a:srgbClr val="FBE5E3"/>
          </a:solidFill>
          <a:ln w="12700">
            <a:solidFill>
              <a:srgbClr val="F0C7C4"/>
            </a:solid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l">
              <a:lnSpc>
                <a:spcPct val="100000"/>
              </a:lnSpc>
              <a:spcBef>
                <a:spcPts val="0"/>
              </a:spcBef>
              <a:spcAft>
                <a:spcPts val="0"/>
              </a:spcAft>
            </a:pPr>
            <a:r>
              <a:rPr sz="980" b="1" i="0">
                <a:solidFill>
                  <a:srgbClr val="18324A"/>
                </a:solidFill>
                <a:latin typeface="Aptos"/>
              </a:rPr>
              <a:t>BẠN CHỌN: C  ·  ĐÁP ÁN ĐÚNG: A
Mặt tự nhiên (sinh học) và mặt xã hội.
QUÀ ĐẠT ĐƯỢC LƯỢT NÀY: Chưa có quà</a:t>
            </a:r>
          </a:p>
        </p:txBody>
      </p:sp>
      <p:sp>
        <p:nvSpPr>
          <p:cNvPr id="42" name="Nút: NGƯỜI CHƠI TIẾP THEO  →">
            <a:hlinkClick r:id="rId2" action="ppaction://hlinksldjump"/>
          </p:cNvPr>
          <p:cNvSpPr/>
          <p:nvPr/>
        </p:nvSpPr>
        <p:spPr>
          <a:xfrm>
            <a:off x="6711696" y="5431536"/>
            <a:ext cx="2505456" cy="86868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240" b="1" i="0">
                <a:solidFill>
                  <a:srgbClr val="FFFFFF"/>
                </a:solidFill>
                <a:latin typeface="Trebuchet MS"/>
              </a:rPr>
              <a:t>NGƯỜI CHƠI TIẾP THEO  →</a:t>
            </a:r>
          </a:p>
        </p:txBody>
      </p:sp>
    </p:spTree>
  </p:cSld>
  <p:clrMapOvr>
    <a:masterClrMapping/>
  </p:clrMapOvr>
  <p:transition spd="med" advClick="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01 / 05</a:t>
            </a:r>
          </a:p>
        </p:txBody>
      </p:sp>
      <p:sp>
        <p:nvSpPr>
          <p:cNvPr id="5" name="Rounded Rectangle 4"/>
          <p:cNvSpPr/>
          <p:nvPr/>
        </p:nvSpPr>
        <p:spPr>
          <a:xfrm>
            <a:off x="2240280" y="749808"/>
            <a:ext cx="138988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DỄ</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01 / 03</a:t>
            </a:r>
          </a:p>
        </p:txBody>
      </p:sp>
      <p:sp>
        <p:nvSpPr>
          <p:cNvPr id="7" name="Rounded Rectangle 6"/>
          <p:cNvSpPr/>
          <p:nvPr/>
        </p:nvSpPr>
        <p:spPr>
          <a:xfrm>
            <a:off x="7562088" y="749808"/>
            <a:ext cx="1581912" cy="292608"/>
          </a:xfrm>
          <a:prstGeom prst="roundRect">
            <a:avLst/>
          </a:prstGeom>
          <a:solidFill>
            <a:srgbClr val="FBE3E3"/>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1000" b="1" i="0">
                <a:solidFill>
                  <a:srgbClr val="B8424C"/>
                </a:solidFill>
                <a:latin typeface="Trebuchet MS"/>
              </a:rPr>
              <a:t>RẤT TIẾC!</a:t>
            </a:r>
          </a:p>
        </p:txBody>
      </p:sp>
      <p:sp>
        <p:nvSpPr>
          <p:cNvPr id="8"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1" name="TextBox 10"/>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2100" b="1" i="0">
                <a:solidFill>
                  <a:srgbClr val="FFFFFF"/>
                </a:solidFill>
                <a:latin typeface="Aptos"/>
              </a:rPr>
              <a:t>Theo triết học Mác–Lênin, con người bao gồm sự thống nhất của hai mặt nào?</a:t>
            </a:r>
          </a:p>
        </p:txBody>
      </p:sp>
      <p:sp>
        <p:nvSpPr>
          <p:cNvPr id="12"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4" name="TextBox 13"/>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5" name="Rounded Rectangle 14"/>
          <p:cNvSpPr/>
          <p:nvPr/>
        </p:nvSpPr>
        <p:spPr>
          <a:xfrm>
            <a:off x="9646920" y="1371600"/>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01</a:t>
            </a:r>
          </a:p>
        </p:txBody>
      </p:sp>
      <p:sp>
        <p:nvSpPr>
          <p:cNvPr id="17" name="TextBox 16"/>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nhỏ</a:t>
            </a:r>
          </a:p>
        </p:txBody>
      </p:sp>
      <p:sp>
        <p:nvSpPr>
          <p:cNvPr id="18" name="Rounded Rectangle 17"/>
          <p:cNvSpPr/>
          <p:nvPr/>
        </p:nvSpPr>
        <p:spPr>
          <a:xfrm>
            <a:off x="9646920" y="2487168"/>
            <a:ext cx="1956816" cy="877824"/>
          </a:xfrm>
          <a:prstGeom prst="roundRect">
            <a:avLst/>
          </a:prstGeom>
          <a:solidFill>
            <a:srgbClr val="263F53"/>
          </a:solidFill>
          <a:ln w="12700">
            <a:solidFill>
              <a:srgbClr val="4059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B9C7CC"/>
                </a:solidFill>
                <a:latin typeface="Trebuchet MS"/>
              </a:rPr>
              <a:t>CHƯA MỞ  ·  CÂU 02</a:t>
            </a:r>
          </a:p>
        </p:txBody>
      </p:sp>
      <p:sp>
        <p:nvSpPr>
          <p:cNvPr id="20" name="TextBox 19"/>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B9C7CC"/>
                </a:solidFill>
                <a:latin typeface="Trebuchet MS"/>
              </a:rPr>
              <a:t>Quà vừa</a:t>
            </a:r>
          </a:p>
        </p:txBody>
      </p:sp>
      <p:sp>
        <p:nvSpPr>
          <p:cNvPr id="21" name="Rounded Rectangle 20"/>
          <p:cNvSpPr/>
          <p:nvPr/>
        </p:nvSpPr>
        <p:spPr>
          <a:xfrm>
            <a:off x="9646920" y="3602736"/>
            <a:ext cx="1956816" cy="877824"/>
          </a:xfrm>
          <a:prstGeom prst="roundRect">
            <a:avLst/>
          </a:prstGeom>
          <a:solidFill>
            <a:srgbClr val="263F53"/>
          </a:solidFill>
          <a:ln w="12700">
            <a:solidFill>
              <a:srgbClr val="4059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B9C7CC"/>
                </a:solidFill>
                <a:latin typeface="Trebuchet MS"/>
              </a:rPr>
              <a:t>CHƯA MỞ  ·  CÂU 03</a:t>
            </a:r>
          </a:p>
        </p:txBody>
      </p:sp>
      <p:sp>
        <p:nvSpPr>
          <p:cNvPr id="23" name="TextBox 22"/>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B9C7CC"/>
                </a:solidFill>
                <a:latin typeface="Trebuchet MS"/>
              </a:rPr>
              <a:t>Quà lớn</a:t>
            </a:r>
          </a:p>
        </p:txBody>
      </p:sp>
      <p:sp>
        <p:nvSpPr>
          <p:cNvPr id="24" name="TextBox 23"/>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QUÀ GIỮ LẠI</a:t>
            </a:r>
          </a:p>
        </p:txBody>
      </p:sp>
      <p:sp>
        <p:nvSpPr>
          <p:cNvPr id="25" name="TextBox 24"/>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Chưa có quà</a:t>
            </a:r>
          </a:p>
        </p:txBody>
      </p:sp>
      <p:sp>
        <p:nvSpPr>
          <p:cNvPr id="26" name="TextBox 25"/>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7" name="Đáp án A"/>
          <p:cNvSpPr/>
          <p:nvPr/>
        </p:nvSpPr>
        <p:spPr>
          <a:xfrm>
            <a:off x="530352" y="2770632"/>
            <a:ext cx="4215384" cy="1170432"/>
          </a:xfrm>
          <a:prstGeom prst="roundRect">
            <a:avLst/>
          </a:prstGeom>
          <a:solidFill>
            <a:srgbClr val="2F9C72"/>
          </a:solidFill>
          <a:ln w="15875">
            <a:solidFill>
              <a:srgbClr val="2F9C72"/>
            </a:solidFill>
          </a:ln>
          <a:effectLst>
            <a:glow rad="190000">
              <a:srgbClr val="73D9A5">
                <a:alpha val="52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1" i="0">
                <a:solidFill>
                  <a:srgbClr val="FFFFFF"/>
                </a:solidFill>
                <a:latin typeface="Aptos"/>
              </a:rPr>
              <a:t>Mặt tự nhiên (sinh học) và mặt xã hội.</a:t>
            </a:r>
          </a:p>
        </p:txBody>
      </p:sp>
      <p:sp>
        <p:nvSpPr>
          <p:cNvPr id="28" name="Oval 27"/>
          <p:cNvSpPr/>
          <p:nvPr/>
        </p:nvSpPr>
        <p:spPr>
          <a:xfrm>
            <a:off x="685800" y="3154679"/>
            <a:ext cx="402336" cy="402336"/>
          </a:xfrm>
          <a:prstGeom prst="ellipse">
            <a:avLst/>
          </a:prstGeom>
          <a:solidFill>
            <a:srgbClr val="FFFFFF"/>
          </a:solidFill>
          <a:ln w="12700">
            <a:solidFill>
              <a:srgbClr val="2F9C72"/>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F9C72"/>
                </a:solidFill>
                <a:latin typeface="Trebuchet MS"/>
              </a:rPr>
              <a:t>A</a:t>
            </a:r>
          </a:p>
        </p:txBody>
      </p:sp>
      <p:sp>
        <p:nvSpPr>
          <p:cNvPr id="29" name="Đáp án B"/>
          <p:cNvSpPr/>
          <p:nvPr/>
        </p:nvSpPr>
        <p:spPr>
          <a:xfrm>
            <a:off x="4937760" y="2770632"/>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Mặt cá nhân và mặt cộng đồng.</a:t>
            </a:r>
          </a:p>
        </p:txBody>
      </p:sp>
      <p:sp>
        <p:nvSpPr>
          <p:cNvPr id="30" name="Oval 29"/>
          <p:cNvSpPr/>
          <p:nvPr/>
        </p:nvSpPr>
        <p:spPr>
          <a:xfrm>
            <a:off x="5093208" y="3154679"/>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B</a:t>
            </a:r>
          </a:p>
        </p:txBody>
      </p:sp>
      <p:sp>
        <p:nvSpPr>
          <p:cNvPr id="31" name="Đáp án C"/>
          <p:cNvSpPr/>
          <p:nvPr/>
        </p:nvSpPr>
        <p:spPr>
          <a:xfrm>
            <a:off x="530352" y="4105656"/>
            <a:ext cx="4215384"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Mặt vật chất và mặt tinh thần.</a:t>
            </a:r>
          </a:p>
        </p:txBody>
      </p:sp>
      <p:sp>
        <p:nvSpPr>
          <p:cNvPr id="32" name="Oval 31"/>
          <p:cNvSpPr/>
          <p:nvPr/>
        </p:nvSpPr>
        <p:spPr>
          <a:xfrm>
            <a:off x="685800"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C</a:t>
            </a:r>
          </a:p>
        </p:txBody>
      </p:sp>
      <p:sp>
        <p:nvSpPr>
          <p:cNvPr id="33" name="Đáp án D"/>
          <p:cNvSpPr/>
          <p:nvPr/>
        </p:nvSpPr>
        <p:spPr>
          <a:xfrm>
            <a:off x="4937760" y="4105656"/>
            <a:ext cx="4279392" cy="1170432"/>
          </a:xfrm>
          <a:prstGeom prst="roundRect">
            <a:avLst/>
          </a:prstGeom>
          <a:solidFill>
            <a:srgbClr val="E45C64"/>
          </a:solidFill>
          <a:ln w="15875">
            <a:solidFill>
              <a:srgbClr val="B8424C"/>
            </a:solidFill>
          </a:ln>
          <a:effectLst>
            <a:glow rad="110000">
              <a:srgbClr val="E45C64">
                <a:alpha val="35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1" i="0">
                <a:solidFill>
                  <a:srgbClr val="FFFFFF"/>
                </a:solidFill>
                <a:latin typeface="Aptos"/>
              </a:rPr>
              <a:t>Mặt lý luận và mặt thực tiễn.</a:t>
            </a:r>
          </a:p>
        </p:txBody>
      </p:sp>
      <p:sp>
        <p:nvSpPr>
          <p:cNvPr id="34" name="Oval 33"/>
          <p:cNvSpPr/>
          <p:nvPr/>
        </p:nvSpPr>
        <p:spPr>
          <a:xfrm>
            <a:off x="5093208" y="4489704"/>
            <a:ext cx="402336" cy="402336"/>
          </a:xfrm>
          <a:prstGeom prst="ellipse">
            <a:avLst/>
          </a:prstGeom>
          <a:solidFill>
            <a:srgbClr val="FFFFFF"/>
          </a:solidFill>
          <a:ln w="12700">
            <a:solidFill>
              <a:srgbClr val="B8424C"/>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B8424C"/>
                </a:solidFill>
                <a:latin typeface="Trebuchet MS"/>
              </a:rPr>
              <a:t>D</a:t>
            </a:r>
          </a:p>
        </p:txBody>
      </p:sp>
      <p:cxnSp>
        <p:nvCxnSpPr>
          <p:cNvPr id="35" name="Connector 34"/>
          <p:cNvCxnSpPr/>
          <p:nvPr/>
        </p:nvCxnSpPr>
        <p:spPr>
          <a:xfrm>
            <a:off x="4846320" y="4306824"/>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4846320" y="4599432"/>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846320" y="489204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9235440" y="4306824"/>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9235440" y="4599432"/>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9235440" y="489204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530352" y="5431536"/>
            <a:ext cx="5989320" cy="868680"/>
          </a:xfrm>
          <a:prstGeom prst="roundRect">
            <a:avLst/>
          </a:prstGeom>
          <a:solidFill>
            <a:srgbClr val="FBE5E3"/>
          </a:solidFill>
          <a:ln w="12700">
            <a:solidFill>
              <a:srgbClr val="F0C7C4"/>
            </a:solid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l">
              <a:lnSpc>
                <a:spcPct val="100000"/>
              </a:lnSpc>
              <a:spcBef>
                <a:spcPts val="0"/>
              </a:spcBef>
              <a:spcAft>
                <a:spcPts val="0"/>
              </a:spcAft>
            </a:pPr>
            <a:r>
              <a:rPr sz="980" b="1" i="0">
                <a:solidFill>
                  <a:srgbClr val="18324A"/>
                </a:solidFill>
                <a:latin typeface="Aptos"/>
              </a:rPr>
              <a:t>BẠN CHỌN: D  ·  ĐÁP ÁN ĐÚNG: A
Mặt tự nhiên (sinh học) và mặt xã hội.
QUÀ ĐẠT ĐƯỢC LƯỢT NÀY: Chưa có quà</a:t>
            </a:r>
          </a:p>
        </p:txBody>
      </p:sp>
      <p:sp>
        <p:nvSpPr>
          <p:cNvPr id="42" name="Nút: NGƯỜI CHƠI TIẾP THEO  →">
            <a:hlinkClick r:id="rId2" action="ppaction://hlinksldjump"/>
          </p:cNvPr>
          <p:cNvSpPr/>
          <p:nvPr/>
        </p:nvSpPr>
        <p:spPr>
          <a:xfrm>
            <a:off x="6711696" y="5431536"/>
            <a:ext cx="2505456" cy="86868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240" b="1" i="0">
                <a:solidFill>
                  <a:srgbClr val="FFFFFF"/>
                </a:solidFill>
                <a:latin typeface="Trebuchet MS"/>
              </a:rPr>
              <a:t>NGƯỜI CHƠI TIẾP THEO  →</a:t>
            </a:r>
          </a:p>
        </p:txBody>
      </p:sp>
    </p:spTree>
  </p:cSld>
  <p:clrMapOvr>
    <a:masterClrMapping/>
  </p:clrMapOvr>
  <p:transition spd="med" advClick="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01 / 05</a:t>
            </a:r>
          </a:p>
        </p:txBody>
      </p:sp>
      <p:sp>
        <p:nvSpPr>
          <p:cNvPr id="5" name="Rounded Rectangle 4"/>
          <p:cNvSpPr/>
          <p:nvPr/>
        </p:nvSpPr>
        <p:spPr>
          <a:xfrm>
            <a:off x="2240280" y="749808"/>
            <a:ext cx="1389888" cy="292608"/>
          </a:xfrm>
          <a:prstGeom prst="roundRect">
            <a:avLst/>
          </a:prstGeom>
          <a:solidFill>
            <a:srgbClr val="FFF0C2"/>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18324A"/>
                </a:solidFill>
                <a:latin typeface="Trebuchet MS"/>
              </a:rPr>
              <a:t>TRUNG BÌNH</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02 / 03</a:t>
            </a:r>
          </a:p>
        </p:txBody>
      </p:sp>
      <p:sp>
        <p:nvSpPr>
          <p:cNvPr id="7"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0" name="TextBox 9"/>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1860" b="1" i="0">
                <a:solidFill>
                  <a:srgbClr val="FFFFFF"/>
                </a:solidFill>
                <a:latin typeface="Aptos"/>
              </a:rPr>
              <a:t>Người kiến trúc sư hình dung công trình trước khi xây; con ong xây tổ chủ yếu theo bản năng. Vì sao lao động có ý thức và mặt xã hội phân biệt con người với động vật?</a:t>
            </a:r>
          </a:p>
        </p:txBody>
      </p:sp>
      <p:sp>
        <p:nvSpPr>
          <p:cNvPr id="11"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3" name="TextBox 12"/>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4" name="Rounded Rectangle 13"/>
          <p:cNvSpPr/>
          <p:nvPr/>
        </p:nvSpPr>
        <p:spPr>
          <a:xfrm>
            <a:off x="9646920" y="1371600"/>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01</a:t>
            </a:r>
          </a:p>
        </p:txBody>
      </p:sp>
      <p:sp>
        <p:nvSpPr>
          <p:cNvPr id="16" name="TextBox 15"/>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nhỏ</a:t>
            </a:r>
          </a:p>
        </p:txBody>
      </p:sp>
      <p:sp>
        <p:nvSpPr>
          <p:cNvPr id="17" name="Rounded Rectangle 16"/>
          <p:cNvSpPr/>
          <p:nvPr/>
        </p:nvSpPr>
        <p:spPr>
          <a:xfrm>
            <a:off x="9646920" y="2487168"/>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02</a:t>
            </a:r>
          </a:p>
        </p:txBody>
      </p:sp>
      <p:sp>
        <p:nvSpPr>
          <p:cNvPr id="19" name="TextBox 18"/>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vừa</a:t>
            </a:r>
          </a:p>
        </p:txBody>
      </p:sp>
      <p:sp>
        <p:nvSpPr>
          <p:cNvPr id="20" name="Rounded Rectangle 19"/>
          <p:cNvSpPr/>
          <p:nvPr/>
        </p:nvSpPr>
        <p:spPr>
          <a:xfrm>
            <a:off x="9646920" y="3602736"/>
            <a:ext cx="1956816" cy="877824"/>
          </a:xfrm>
          <a:prstGeom prst="roundRect">
            <a:avLst/>
          </a:prstGeom>
          <a:solidFill>
            <a:srgbClr val="263F53"/>
          </a:solidFill>
          <a:ln w="12700">
            <a:solidFill>
              <a:srgbClr val="4059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B9C7CC"/>
                </a:solidFill>
                <a:latin typeface="Trebuchet MS"/>
              </a:rPr>
              <a:t>CHƯA MỞ  ·  CÂU 03</a:t>
            </a:r>
          </a:p>
        </p:txBody>
      </p:sp>
      <p:sp>
        <p:nvSpPr>
          <p:cNvPr id="22" name="TextBox 21"/>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B9C7CC"/>
                </a:solidFill>
                <a:latin typeface="Trebuchet MS"/>
              </a:rPr>
              <a:t>Quà lớn</a:t>
            </a:r>
          </a:p>
        </p:txBody>
      </p:sp>
      <p:sp>
        <p:nvSpPr>
          <p:cNvPr id="23" name="TextBox 22"/>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MỐC AN TOÀN</a:t>
            </a:r>
          </a:p>
        </p:txBody>
      </p:sp>
      <p:sp>
        <p:nvSpPr>
          <p:cNvPr id="24" name="TextBox 23"/>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Quà nhỏ</a:t>
            </a:r>
          </a:p>
        </p:txBody>
      </p:sp>
      <p:sp>
        <p:nvSpPr>
          <p:cNvPr id="25" name="TextBox 24"/>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6" name="Đáp án A">
            <a:hlinkClick r:id="rId2" action="ppaction://hlinksldjump"/>
          </p:cNvPr>
          <p:cNvSpPr/>
          <p:nvPr/>
        </p:nvSpPr>
        <p:spPr>
          <a:xfrm>
            <a:off x="530352" y="2770632"/>
            <a:ext cx="4215384" cy="1170432"/>
          </a:xfrm>
          <a:prstGeom prst="roundRect">
            <a:avLst/>
          </a:prstGeom>
          <a:solidFill>
            <a:srgbClr val="FBFCF9"/>
          </a:solidFill>
          <a:ln w="15875">
            <a:solidFill>
              <a:srgbClr val="D7DED8"/>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380" b="0" i="0">
                <a:solidFill>
                  <a:srgbClr val="18324A"/>
                </a:solidFill>
                <a:latin typeface="Aptos"/>
              </a:rPr>
              <a:t>Con người đặt mục đích, dự kiến kết quả, dùng công cụ và học hỏi trong quan hệ xã hội; ong chủ yếu làm theo bản năng.</a:t>
            </a:r>
          </a:p>
        </p:txBody>
      </p:sp>
      <p:sp>
        <p:nvSpPr>
          <p:cNvPr id="27" name="Oval 26">
            <a:hlinkClick r:id="rId2" action="ppaction://hlinksldjump"/>
          </p:cNvPr>
          <p:cNvSpPr/>
          <p:nvPr/>
        </p:nvSpPr>
        <p:spPr>
          <a:xfrm>
            <a:off x="685800" y="3154679"/>
            <a:ext cx="402336" cy="402336"/>
          </a:xfrm>
          <a:prstGeom prst="ellipse">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E8177"/>
                </a:solidFill>
                <a:latin typeface="Trebuchet MS"/>
              </a:rPr>
              <a:t>A</a:t>
            </a:r>
          </a:p>
        </p:txBody>
      </p:sp>
      <p:sp>
        <p:nvSpPr>
          <p:cNvPr id="28" name="Đáp án B">
            <a:hlinkClick r:id="rId3" action="ppaction://hlinksldjump"/>
          </p:cNvPr>
          <p:cNvSpPr/>
          <p:nvPr/>
        </p:nvSpPr>
        <p:spPr>
          <a:xfrm>
            <a:off x="4937760" y="2770632"/>
            <a:ext cx="4279392" cy="1170432"/>
          </a:xfrm>
          <a:prstGeom prst="roundRect">
            <a:avLst/>
          </a:prstGeom>
          <a:solidFill>
            <a:srgbClr val="FBFCF9"/>
          </a:solidFill>
          <a:ln w="15875">
            <a:solidFill>
              <a:srgbClr val="D7DED8"/>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18324A"/>
                </a:solidFill>
                <a:latin typeface="Aptos"/>
              </a:rPr>
              <a:t>Động vật không thể tạo ra bất kỳ sản phẩm nào.</a:t>
            </a:r>
          </a:p>
        </p:txBody>
      </p:sp>
      <p:sp>
        <p:nvSpPr>
          <p:cNvPr id="29" name="Oval 28">
            <a:hlinkClick r:id="rId3" action="ppaction://hlinksldjump"/>
          </p:cNvPr>
          <p:cNvSpPr/>
          <p:nvPr/>
        </p:nvSpPr>
        <p:spPr>
          <a:xfrm>
            <a:off x="5093208" y="3154679"/>
            <a:ext cx="402336" cy="402336"/>
          </a:xfrm>
          <a:prstGeom prst="ellipse">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E8177"/>
                </a:solidFill>
                <a:latin typeface="Trebuchet MS"/>
              </a:rPr>
              <a:t>B</a:t>
            </a:r>
          </a:p>
        </p:txBody>
      </p:sp>
      <p:sp>
        <p:nvSpPr>
          <p:cNvPr id="30" name="Đáp án C">
            <a:hlinkClick r:id="rId4" action="ppaction://hlinksldjump"/>
          </p:cNvPr>
          <p:cNvSpPr/>
          <p:nvPr/>
        </p:nvSpPr>
        <p:spPr>
          <a:xfrm>
            <a:off x="530352" y="4105656"/>
            <a:ext cx="4215384" cy="1170432"/>
          </a:xfrm>
          <a:prstGeom prst="roundRect">
            <a:avLst/>
          </a:prstGeom>
          <a:solidFill>
            <a:srgbClr val="FBFCF9"/>
          </a:solidFill>
          <a:ln w="15875">
            <a:solidFill>
              <a:srgbClr val="D7DED8"/>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18324A"/>
                </a:solidFill>
                <a:latin typeface="Aptos"/>
              </a:rPr>
              <a:t>Con người hoàn toàn không có bản năng sinh học.</a:t>
            </a:r>
          </a:p>
        </p:txBody>
      </p:sp>
      <p:sp>
        <p:nvSpPr>
          <p:cNvPr id="31" name="Oval 30">
            <a:hlinkClick r:id="rId4" action="ppaction://hlinksldjump"/>
          </p:cNvPr>
          <p:cNvSpPr/>
          <p:nvPr/>
        </p:nvSpPr>
        <p:spPr>
          <a:xfrm>
            <a:off x="685800" y="4489704"/>
            <a:ext cx="402336" cy="402336"/>
          </a:xfrm>
          <a:prstGeom prst="ellipse">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E8177"/>
                </a:solidFill>
                <a:latin typeface="Trebuchet MS"/>
              </a:rPr>
              <a:t>C</a:t>
            </a:r>
          </a:p>
        </p:txBody>
      </p:sp>
      <p:sp>
        <p:nvSpPr>
          <p:cNvPr id="32" name="Đáp án D">
            <a:hlinkClick r:id="rId5" action="ppaction://hlinksldjump"/>
          </p:cNvPr>
          <p:cNvSpPr/>
          <p:nvPr/>
        </p:nvSpPr>
        <p:spPr>
          <a:xfrm>
            <a:off x="4937760" y="4105656"/>
            <a:ext cx="4279392" cy="1170432"/>
          </a:xfrm>
          <a:prstGeom prst="roundRect">
            <a:avLst/>
          </a:prstGeom>
          <a:solidFill>
            <a:srgbClr val="FBFCF9"/>
          </a:solidFill>
          <a:ln w="15875">
            <a:solidFill>
              <a:srgbClr val="D7DED8"/>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18324A"/>
                </a:solidFill>
                <a:latin typeface="Aptos"/>
              </a:rPr>
              <a:t>Con người làm việc đơn lẻ, còn mọi động vật đều sống theo bầy.</a:t>
            </a:r>
          </a:p>
        </p:txBody>
      </p:sp>
      <p:sp>
        <p:nvSpPr>
          <p:cNvPr id="33" name="Oval 32">
            <a:hlinkClick r:id="rId5" action="ppaction://hlinksldjump"/>
          </p:cNvPr>
          <p:cNvSpPr/>
          <p:nvPr/>
        </p:nvSpPr>
        <p:spPr>
          <a:xfrm>
            <a:off x="5093208" y="4489704"/>
            <a:ext cx="402336" cy="402336"/>
          </a:xfrm>
          <a:prstGeom prst="ellipse">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E8177"/>
                </a:solidFill>
                <a:latin typeface="Trebuchet MS"/>
              </a:rPr>
              <a:t>D</a:t>
            </a:r>
          </a:p>
        </p:txBody>
      </p:sp>
      <p:sp>
        <p:nvSpPr>
          <p:cNvPr id="34" name="TextBox 33"/>
          <p:cNvSpPr txBox="1"/>
          <p:nvPr/>
        </p:nvSpPr>
        <p:spPr>
          <a:xfrm>
            <a:off x="621792" y="5431536"/>
            <a:ext cx="8485632" cy="36576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080" b="1" i="0">
                <a:solidFill>
                  <a:srgbClr val="657883"/>
                </a:solidFill>
                <a:latin typeface="Trebuchet MS"/>
              </a:rPr>
              <a:t>CHỌN MỘT ĐÁP ÁN  ·  BẤM TRỰC TIẾP VÀO THẺ A / B / C / D</a:t>
            </a:r>
          </a:p>
        </p:txBody>
      </p:sp>
    </p:spTree>
  </p:cSld>
  <p:clrMapOvr>
    <a:masterClrMapping/>
  </p:clrMapOvr>
  <p:transition spd="med" advClick="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01 / 05</a:t>
            </a:r>
          </a:p>
        </p:txBody>
      </p:sp>
      <p:sp>
        <p:nvSpPr>
          <p:cNvPr id="5" name="Rounded Rectangle 4"/>
          <p:cNvSpPr/>
          <p:nvPr/>
        </p:nvSpPr>
        <p:spPr>
          <a:xfrm>
            <a:off x="2240280" y="749808"/>
            <a:ext cx="1389888" cy="292608"/>
          </a:xfrm>
          <a:prstGeom prst="roundRect">
            <a:avLst/>
          </a:prstGeom>
          <a:solidFill>
            <a:srgbClr val="FFF0C2"/>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18324A"/>
                </a:solidFill>
                <a:latin typeface="Trebuchet MS"/>
              </a:rPr>
              <a:t>TRUNG BÌNH</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02 / 03</a:t>
            </a:r>
          </a:p>
        </p:txBody>
      </p:sp>
      <p:sp>
        <p:nvSpPr>
          <p:cNvPr id="7" name="Rounded Rectangle 6"/>
          <p:cNvSpPr/>
          <p:nvPr/>
        </p:nvSpPr>
        <p:spPr>
          <a:xfrm>
            <a:off x="7562088" y="749808"/>
            <a:ext cx="1581912" cy="292608"/>
          </a:xfrm>
          <a:prstGeom prst="roundRect">
            <a:avLst/>
          </a:prstGeom>
          <a:solidFill>
            <a:srgbClr val="D9F0E3"/>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1000" b="1" i="0">
                <a:solidFill>
                  <a:srgbClr val="2F9C72"/>
                </a:solidFill>
                <a:latin typeface="Trebuchet MS"/>
              </a:rPr>
              <a:t>CHÍNH XÁC!</a:t>
            </a:r>
          </a:p>
        </p:txBody>
      </p:sp>
      <p:sp>
        <p:nvSpPr>
          <p:cNvPr id="8"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1" name="TextBox 10"/>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1860" b="1" i="0">
                <a:solidFill>
                  <a:srgbClr val="FFFFFF"/>
                </a:solidFill>
                <a:latin typeface="Aptos"/>
              </a:rPr>
              <a:t>Người kiến trúc sư hình dung công trình trước khi xây; con ong xây tổ chủ yếu theo bản năng. Vì sao lao động có ý thức và mặt xã hội phân biệt con người với động vật?</a:t>
            </a:r>
          </a:p>
        </p:txBody>
      </p:sp>
      <p:sp>
        <p:nvSpPr>
          <p:cNvPr id="12"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4" name="TextBox 13"/>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5" name="Rounded Rectangle 14"/>
          <p:cNvSpPr/>
          <p:nvPr/>
        </p:nvSpPr>
        <p:spPr>
          <a:xfrm>
            <a:off x="9646920" y="1371600"/>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01</a:t>
            </a:r>
          </a:p>
        </p:txBody>
      </p:sp>
      <p:sp>
        <p:nvSpPr>
          <p:cNvPr id="17" name="TextBox 16"/>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nhỏ</a:t>
            </a:r>
          </a:p>
        </p:txBody>
      </p:sp>
      <p:sp>
        <p:nvSpPr>
          <p:cNvPr id="18" name="Rounded Rectangle 17"/>
          <p:cNvSpPr/>
          <p:nvPr/>
        </p:nvSpPr>
        <p:spPr>
          <a:xfrm>
            <a:off x="9646920" y="2487168"/>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02</a:t>
            </a:r>
          </a:p>
        </p:txBody>
      </p:sp>
      <p:sp>
        <p:nvSpPr>
          <p:cNvPr id="20" name="TextBox 19"/>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vừa</a:t>
            </a:r>
          </a:p>
        </p:txBody>
      </p:sp>
      <p:sp>
        <p:nvSpPr>
          <p:cNvPr id="21" name="Rounded Rectangle 20"/>
          <p:cNvSpPr/>
          <p:nvPr/>
        </p:nvSpPr>
        <p:spPr>
          <a:xfrm>
            <a:off x="9646920" y="3602736"/>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03</a:t>
            </a:r>
          </a:p>
        </p:txBody>
      </p:sp>
      <p:sp>
        <p:nvSpPr>
          <p:cNvPr id="23" name="TextBox 22"/>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lớn</a:t>
            </a:r>
          </a:p>
        </p:txBody>
      </p:sp>
      <p:sp>
        <p:nvSpPr>
          <p:cNvPr id="24" name="TextBox 23"/>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MỐC VỪA CHẠM</a:t>
            </a:r>
          </a:p>
        </p:txBody>
      </p:sp>
      <p:sp>
        <p:nvSpPr>
          <p:cNvPr id="25" name="TextBox 24"/>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Quà vừa</a:t>
            </a:r>
          </a:p>
        </p:txBody>
      </p:sp>
      <p:sp>
        <p:nvSpPr>
          <p:cNvPr id="26" name="TextBox 25"/>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7" name="Đáp án A"/>
          <p:cNvSpPr/>
          <p:nvPr/>
        </p:nvSpPr>
        <p:spPr>
          <a:xfrm>
            <a:off x="530352" y="2770632"/>
            <a:ext cx="4215384" cy="1170432"/>
          </a:xfrm>
          <a:prstGeom prst="roundRect">
            <a:avLst/>
          </a:prstGeom>
          <a:solidFill>
            <a:srgbClr val="FFD05A"/>
          </a:solidFill>
          <a:ln w="15875">
            <a:solidFill>
              <a:srgbClr val="D9A92E"/>
            </a:solidFill>
          </a:ln>
          <a:effectLst>
            <a:glow rad="190000">
              <a:srgbClr val="FFD05A">
                <a:alpha val="52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380" b="1" i="0">
                <a:solidFill>
                  <a:srgbClr val="18324A"/>
                </a:solidFill>
                <a:latin typeface="Aptos"/>
              </a:rPr>
              <a:t>Con người đặt mục đích, dự kiến kết quả, dùng công cụ và học hỏi trong quan hệ xã hội; ong chủ yếu làm theo bản năng.</a:t>
            </a:r>
          </a:p>
        </p:txBody>
      </p:sp>
      <p:sp>
        <p:nvSpPr>
          <p:cNvPr id="28" name="Oval 27"/>
          <p:cNvSpPr/>
          <p:nvPr/>
        </p:nvSpPr>
        <p:spPr>
          <a:xfrm>
            <a:off x="685800" y="3154679"/>
            <a:ext cx="402336" cy="402336"/>
          </a:xfrm>
          <a:prstGeom prst="ellipse">
            <a:avLst/>
          </a:prstGeom>
          <a:solidFill>
            <a:srgbClr val="18324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FFD05A"/>
                </a:solidFill>
                <a:latin typeface="Trebuchet MS"/>
              </a:rPr>
              <a:t>A</a:t>
            </a:r>
          </a:p>
        </p:txBody>
      </p:sp>
      <p:sp>
        <p:nvSpPr>
          <p:cNvPr id="29" name="Đáp án B"/>
          <p:cNvSpPr/>
          <p:nvPr/>
        </p:nvSpPr>
        <p:spPr>
          <a:xfrm>
            <a:off x="4937760" y="2770632"/>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Động vật không thể tạo ra bất kỳ sản phẩm nào.</a:t>
            </a:r>
          </a:p>
        </p:txBody>
      </p:sp>
      <p:sp>
        <p:nvSpPr>
          <p:cNvPr id="30" name="Oval 29"/>
          <p:cNvSpPr/>
          <p:nvPr/>
        </p:nvSpPr>
        <p:spPr>
          <a:xfrm>
            <a:off x="5093208" y="3154679"/>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B</a:t>
            </a:r>
          </a:p>
        </p:txBody>
      </p:sp>
      <p:sp>
        <p:nvSpPr>
          <p:cNvPr id="31" name="Đáp án C"/>
          <p:cNvSpPr/>
          <p:nvPr/>
        </p:nvSpPr>
        <p:spPr>
          <a:xfrm>
            <a:off x="530352" y="4105656"/>
            <a:ext cx="4215384"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Con người hoàn toàn không có bản năng sinh học.</a:t>
            </a:r>
          </a:p>
        </p:txBody>
      </p:sp>
      <p:sp>
        <p:nvSpPr>
          <p:cNvPr id="32" name="Oval 31"/>
          <p:cNvSpPr/>
          <p:nvPr/>
        </p:nvSpPr>
        <p:spPr>
          <a:xfrm>
            <a:off x="685800"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C</a:t>
            </a:r>
          </a:p>
        </p:txBody>
      </p:sp>
      <p:sp>
        <p:nvSpPr>
          <p:cNvPr id="33" name="Đáp án D"/>
          <p:cNvSpPr/>
          <p:nvPr/>
        </p:nvSpPr>
        <p:spPr>
          <a:xfrm>
            <a:off x="4937760" y="4105656"/>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Con người làm việc đơn lẻ, còn mọi động vật đều sống theo bầy.</a:t>
            </a:r>
          </a:p>
        </p:txBody>
      </p:sp>
      <p:sp>
        <p:nvSpPr>
          <p:cNvPr id="34" name="Oval 33"/>
          <p:cNvSpPr/>
          <p:nvPr/>
        </p:nvSpPr>
        <p:spPr>
          <a:xfrm>
            <a:off x="5093208"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D</a:t>
            </a:r>
          </a:p>
        </p:txBody>
      </p:sp>
      <p:sp>
        <p:nvSpPr>
          <p:cNvPr id="35" name="Rounded Rectangle 34"/>
          <p:cNvSpPr/>
          <p:nvPr/>
        </p:nvSpPr>
        <p:spPr>
          <a:xfrm>
            <a:off x="530352" y="5431536"/>
            <a:ext cx="5989320" cy="868680"/>
          </a:xfrm>
          <a:prstGeom prst="roundRect">
            <a:avLst/>
          </a:prstGeom>
          <a:solidFill>
            <a:srgbClr val="D9F0E3"/>
          </a:solidFill>
          <a:ln w="12700">
            <a:solidFill>
              <a:srgbClr val="D7E6DC"/>
            </a:solidFill>
          </a:ln>
        </p:spPr>
        <p:style>
          <a:lnRef idx="1">
            <a:schemeClr val="accent1"/>
          </a:lnRef>
          <a:fillRef idx="3">
            <a:schemeClr val="accent1"/>
          </a:fillRef>
          <a:effectRef idx="2">
            <a:schemeClr val="accent1"/>
          </a:effectRef>
          <a:fontRef idx="minor">
            <a:schemeClr val="lt1"/>
          </a:fontRef>
        </p:style>
        <p:txBody>
          <a:bodyPr wrap="square" lIns="109728" tIns="60350" rIns="109728" bIns="60350" rtlCol="0" anchor="ctr"/>
          <a:lstStyle/>
          <a:p>
            <a:pPr algn="l">
              <a:lnSpc>
                <a:spcPct val="100000"/>
              </a:lnSpc>
              <a:spcBef>
                <a:spcPts val="0"/>
              </a:spcBef>
              <a:spcAft>
                <a:spcPts val="0"/>
              </a:spcAft>
            </a:pPr>
            <a:r>
              <a:rPr sz="1130" b="0" i="0">
                <a:solidFill>
                  <a:srgbClr val="18324A"/>
                </a:solidFill>
                <a:latin typeface="Aptos"/>
              </a:rPr>
              <a:t>MỐC 2 ĐÃ CHINH PHỤC  ·  Quà vừa
Con người lao động có ý thức và sống trong các quan hệ xã hội; đây là cơ sở để tích lũy kinh nghiệm, ngôn ngữ và lịch sử.</a:t>
            </a:r>
          </a:p>
        </p:txBody>
      </p:sp>
      <p:sp>
        <p:nvSpPr>
          <p:cNvPr id="36" name="Nút: CÂU TIẾP THEO  →">
            <a:hlinkClick r:id="rId3" action="ppaction://hlinksldjump"/>
          </p:cNvPr>
          <p:cNvSpPr/>
          <p:nvPr/>
        </p:nvSpPr>
        <p:spPr>
          <a:xfrm>
            <a:off x="6711696" y="5431536"/>
            <a:ext cx="2505456" cy="868680"/>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240" b="1" i="0">
                <a:solidFill>
                  <a:srgbClr val="18324A"/>
                </a:solidFill>
                <a:latin typeface="Trebuchet MS"/>
              </a:rPr>
              <a:t>CÂU TIẾP THEO  →</a:t>
            </a:r>
          </a:p>
        </p:txBody>
      </p:sp>
    </p:spTree>
  </p:cSld>
  <p:clrMapOvr>
    <a:masterClrMapping/>
  </p:clrMapOvr>
  <p:transition spd="med" advClick="0">
    <p:sndAc>
      <p:stSnd>
        <p:snd r:embed="rId2" name="Correct answer chime"/>
      </p:stSnd>
    </p:sndAc>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01 / 05</a:t>
            </a:r>
          </a:p>
        </p:txBody>
      </p:sp>
      <p:sp>
        <p:nvSpPr>
          <p:cNvPr id="5" name="Rounded Rectangle 4"/>
          <p:cNvSpPr/>
          <p:nvPr/>
        </p:nvSpPr>
        <p:spPr>
          <a:xfrm>
            <a:off x="2240280" y="749808"/>
            <a:ext cx="1389888" cy="292608"/>
          </a:xfrm>
          <a:prstGeom prst="roundRect">
            <a:avLst/>
          </a:prstGeom>
          <a:solidFill>
            <a:srgbClr val="FFF0C2"/>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18324A"/>
                </a:solidFill>
                <a:latin typeface="Trebuchet MS"/>
              </a:rPr>
              <a:t>TRUNG BÌNH</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02 / 03</a:t>
            </a:r>
          </a:p>
        </p:txBody>
      </p:sp>
      <p:sp>
        <p:nvSpPr>
          <p:cNvPr id="7" name="Rounded Rectangle 6"/>
          <p:cNvSpPr/>
          <p:nvPr/>
        </p:nvSpPr>
        <p:spPr>
          <a:xfrm>
            <a:off x="7562088" y="749808"/>
            <a:ext cx="1581912" cy="292608"/>
          </a:xfrm>
          <a:prstGeom prst="roundRect">
            <a:avLst/>
          </a:prstGeom>
          <a:solidFill>
            <a:srgbClr val="FBE3E3"/>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1000" b="1" i="0">
                <a:solidFill>
                  <a:srgbClr val="B8424C"/>
                </a:solidFill>
                <a:latin typeface="Trebuchet MS"/>
              </a:rPr>
              <a:t>RẤT TIẾC!</a:t>
            </a:r>
          </a:p>
        </p:txBody>
      </p:sp>
      <p:sp>
        <p:nvSpPr>
          <p:cNvPr id="8"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1" name="TextBox 10"/>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1860" b="1" i="0">
                <a:solidFill>
                  <a:srgbClr val="FFFFFF"/>
                </a:solidFill>
                <a:latin typeface="Aptos"/>
              </a:rPr>
              <a:t>Người kiến trúc sư hình dung công trình trước khi xây; con ong xây tổ chủ yếu theo bản năng. Vì sao lao động có ý thức và mặt xã hội phân biệt con người với động vật?</a:t>
            </a:r>
          </a:p>
        </p:txBody>
      </p:sp>
      <p:sp>
        <p:nvSpPr>
          <p:cNvPr id="12"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4" name="TextBox 13"/>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5" name="Rounded Rectangle 14"/>
          <p:cNvSpPr/>
          <p:nvPr/>
        </p:nvSpPr>
        <p:spPr>
          <a:xfrm>
            <a:off x="9646920" y="1371600"/>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01</a:t>
            </a:r>
          </a:p>
        </p:txBody>
      </p:sp>
      <p:sp>
        <p:nvSpPr>
          <p:cNvPr id="17" name="TextBox 16"/>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nhỏ</a:t>
            </a:r>
          </a:p>
        </p:txBody>
      </p:sp>
      <p:sp>
        <p:nvSpPr>
          <p:cNvPr id="18" name="Rounded Rectangle 17"/>
          <p:cNvSpPr/>
          <p:nvPr/>
        </p:nvSpPr>
        <p:spPr>
          <a:xfrm>
            <a:off x="9646920" y="2487168"/>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02</a:t>
            </a:r>
          </a:p>
        </p:txBody>
      </p:sp>
      <p:sp>
        <p:nvSpPr>
          <p:cNvPr id="20" name="TextBox 19"/>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vừa</a:t>
            </a:r>
          </a:p>
        </p:txBody>
      </p:sp>
      <p:sp>
        <p:nvSpPr>
          <p:cNvPr id="21" name="Rounded Rectangle 20"/>
          <p:cNvSpPr/>
          <p:nvPr/>
        </p:nvSpPr>
        <p:spPr>
          <a:xfrm>
            <a:off x="9646920" y="3602736"/>
            <a:ext cx="1956816" cy="877824"/>
          </a:xfrm>
          <a:prstGeom prst="roundRect">
            <a:avLst/>
          </a:prstGeom>
          <a:solidFill>
            <a:srgbClr val="263F53"/>
          </a:solidFill>
          <a:ln w="12700">
            <a:solidFill>
              <a:srgbClr val="4059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B9C7CC"/>
                </a:solidFill>
                <a:latin typeface="Trebuchet MS"/>
              </a:rPr>
              <a:t>CHƯA MỞ  ·  CÂU 03</a:t>
            </a:r>
          </a:p>
        </p:txBody>
      </p:sp>
      <p:sp>
        <p:nvSpPr>
          <p:cNvPr id="23" name="TextBox 22"/>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B9C7CC"/>
                </a:solidFill>
                <a:latin typeface="Trebuchet MS"/>
              </a:rPr>
              <a:t>Quà lớn</a:t>
            </a:r>
          </a:p>
        </p:txBody>
      </p:sp>
      <p:sp>
        <p:nvSpPr>
          <p:cNvPr id="24" name="TextBox 23"/>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QUÀ GIỮ LẠI</a:t>
            </a:r>
          </a:p>
        </p:txBody>
      </p:sp>
      <p:sp>
        <p:nvSpPr>
          <p:cNvPr id="25" name="TextBox 24"/>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Quà nhỏ</a:t>
            </a:r>
          </a:p>
        </p:txBody>
      </p:sp>
      <p:sp>
        <p:nvSpPr>
          <p:cNvPr id="26" name="TextBox 25"/>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7" name="Đáp án A"/>
          <p:cNvSpPr/>
          <p:nvPr/>
        </p:nvSpPr>
        <p:spPr>
          <a:xfrm>
            <a:off x="530352" y="2770632"/>
            <a:ext cx="4215384" cy="1170432"/>
          </a:xfrm>
          <a:prstGeom prst="roundRect">
            <a:avLst/>
          </a:prstGeom>
          <a:solidFill>
            <a:srgbClr val="2F9C72"/>
          </a:solidFill>
          <a:ln w="15875">
            <a:solidFill>
              <a:srgbClr val="2F9C72"/>
            </a:solidFill>
          </a:ln>
          <a:effectLst>
            <a:glow rad="190000">
              <a:srgbClr val="73D9A5">
                <a:alpha val="52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380" b="1" i="0">
                <a:solidFill>
                  <a:srgbClr val="FFFFFF"/>
                </a:solidFill>
                <a:latin typeface="Aptos"/>
              </a:rPr>
              <a:t>Con người đặt mục đích, dự kiến kết quả, dùng công cụ và học hỏi trong quan hệ xã hội; ong chủ yếu làm theo bản năng.</a:t>
            </a:r>
          </a:p>
        </p:txBody>
      </p:sp>
      <p:sp>
        <p:nvSpPr>
          <p:cNvPr id="28" name="Oval 27"/>
          <p:cNvSpPr/>
          <p:nvPr/>
        </p:nvSpPr>
        <p:spPr>
          <a:xfrm>
            <a:off x="685800" y="3154679"/>
            <a:ext cx="402336" cy="402336"/>
          </a:xfrm>
          <a:prstGeom prst="ellipse">
            <a:avLst/>
          </a:prstGeom>
          <a:solidFill>
            <a:srgbClr val="FFFFFF"/>
          </a:solidFill>
          <a:ln w="12700">
            <a:solidFill>
              <a:srgbClr val="2F9C72"/>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F9C72"/>
                </a:solidFill>
                <a:latin typeface="Trebuchet MS"/>
              </a:rPr>
              <a:t>A</a:t>
            </a:r>
          </a:p>
        </p:txBody>
      </p:sp>
      <p:sp>
        <p:nvSpPr>
          <p:cNvPr id="29" name="Đáp án B"/>
          <p:cNvSpPr/>
          <p:nvPr/>
        </p:nvSpPr>
        <p:spPr>
          <a:xfrm>
            <a:off x="4937760" y="2770632"/>
            <a:ext cx="4279392" cy="1170432"/>
          </a:xfrm>
          <a:prstGeom prst="roundRect">
            <a:avLst/>
          </a:prstGeom>
          <a:solidFill>
            <a:srgbClr val="E45C64"/>
          </a:solidFill>
          <a:ln w="15875">
            <a:solidFill>
              <a:srgbClr val="B8424C"/>
            </a:solidFill>
          </a:ln>
          <a:effectLst>
            <a:glow rad="110000">
              <a:srgbClr val="E45C64">
                <a:alpha val="35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1" i="0">
                <a:solidFill>
                  <a:srgbClr val="FFFFFF"/>
                </a:solidFill>
                <a:latin typeface="Aptos"/>
              </a:rPr>
              <a:t>Động vật không thể tạo ra bất kỳ sản phẩm nào.</a:t>
            </a:r>
          </a:p>
        </p:txBody>
      </p:sp>
      <p:sp>
        <p:nvSpPr>
          <p:cNvPr id="30" name="Oval 29"/>
          <p:cNvSpPr/>
          <p:nvPr/>
        </p:nvSpPr>
        <p:spPr>
          <a:xfrm>
            <a:off x="5093208" y="3154679"/>
            <a:ext cx="402336" cy="402336"/>
          </a:xfrm>
          <a:prstGeom prst="ellipse">
            <a:avLst/>
          </a:prstGeom>
          <a:solidFill>
            <a:srgbClr val="FFFFFF"/>
          </a:solidFill>
          <a:ln w="12700">
            <a:solidFill>
              <a:srgbClr val="B8424C"/>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B8424C"/>
                </a:solidFill>
                <a:latin typeface="Trebuchet MS"/>
              </a:rPr>
              <a:t>B</a:t>
            </a:r>
          </a:p>
        </p:txBody>
      </p:sp>
      <p:cxnSp>
        <p:nvCxnSpPr>
          <p:cNvPr id="31" name="Connector 30"/>
          <p:cNvCxnSpPr/>
          <p:nvPr/>
        </p:nvCxnSpPr>
        <p:spPr>
          <a:xfrm>
            <a:off x="4846320" y="297180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4846320" y="3264408"/>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846320" y="3557016"/>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9235440" y="297180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235440" y="3264408"/>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9235440" y="3557016"/>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sp>
        <p:nvSpPr>
          <p:cNvPr id="37" name="Đáp án C"/>
          <p:cNvSpPr/>
          <p:nvPr/>
        </p:nvSpPr>
        <p:spPr>
          <a:xfrm>
            <a:off x="530352" y="4105656"/>
            <a:ext cx="4215384"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Con người hoàn toàn không có bản năng sinh học.</a:t>
            </a:r>
          </a:p>
        </p:txBody>
      </p:sp>
      <p:sp>
        <p:nvSpPr>
          <p:cNvPr id="38" name="Oval 37"/>
          <p:cNvSpPr/>
          <p:nvPr/>
        </p:nvSpPr>
        <p:spPr>
          <a:xfrm>
            <a:off x="685800"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C</a:t>
            </a:r>
          </a:p>
        </p:txBody>
      </p:sp>
      <p:sp>
        <p:nvSpPr>
          <p:cNvPr id="39" name="Đáp án D"/>
          <p:cNvSpPr/>
          <p:nvPr/>
        </p:nvSpPr>
        <p:spPr>
          <a:xfrm>
            <a:off x="4937760" y="4105656"/>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Con người làm việc đơn lẻ, còn mọi động vật đều sống theo bầy.</a:t>
            </a:r>
          </a:p>
        </p:txBody>
      </p:sp>
      <p:sp>
        <p:nvSpPr>
          <p:cNvPr id="40" name="Oval 39"/>
          <p:cNvSpPr/>
          <p:nvPr/>
        </p:nvSpPr>
        <p:spPr>
          <a:xfrm>
            <a:off x="5093208"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D</a:t>
            </a:r>
          </a:p>
        </p:txBody>
      </p:sp>
      <p:sp>
        <p:nvSpPr>
          <p:cNvPr id="41" name="Rounded Rectangle 40"/>
          <p:cNvSpPr/>
          <p:nvPr/>
        </p:nvSpPr>
        <p:spPr>
          <a:xfrm>
            <a:off x="530352" y="5431536"/>
            <a:ext cx="5989320" cy="868680"/>
          </a:xfrm>
          <a:prstGeom prst="roundRect">
            <a:avLst/>
          </a:prstGeom>
          <a:solidFill>
            <a:srgbClr val="FBE5E3"/>
          </a:solidFill>
          <a:ln w="12700">
            <a:solidFill>
              <a:srgbClr val="F0C7C4"/>
            </a:solid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l">
              <a:lnSpc>
                <a:spcPct val="100000"/>
              </a:lnSpc>
              <a:spcBef>
                <a:spcPts val="0"/>
              </a:spcBef>
              <a:spcAft>
                <a:spcPts val="0"/>
              </a:spcAft>
            </a:pPr>
            <a:r>
              <a:rPr sz="980" b="1" i="0">
                <a:solidFill>
                  <a:srgbClr val="18324A"/>
                </a:solidFill>
                <a:latin typeface="Aptos"/>
              </a:rPr>
              <a:t>BẠN CHỌN: B  ·  ĐÁP ÁN ĐÚNG: A
Con người đặt mục đích, dự kiến kết quả, dùng công cụ và học hỏi trong quan hệ xã hội; ong chủ yếu làm theo bản năng.
QUÀ ĐẠT ĐƯỢC LƯỢT NÀY: Quà nhỏ</a:t>
            </a:r>
          </a:p>
        </p:txBody>
      </p:sp>
      <p:sp>
        <p:nvSpPr>
          <p:cNvPr id="42" name="Nút: NGƯỜI CHƠI TIẾP THEO  →">
            <a:hlinkClick r:id="rId2" action="ppaction://hlinksldjump"/>
          </p:cNvPr>
          <p:cNvSpPr/>
          <p:nvPr/>
        </p:nvSpPr>
        <p:spPr>
          <a:xfrm>
            <a:off x="6711696" y="5431536"/>
            <a:ext cx="2505456" cy="86868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240" b="1" i="0">
                <a:solidFill>
                  <a:srgbClr val="FFFFFF"/>
                </a:solidFill>
                <a:latin typeface="Trebuchet MS"/>
              </a:rPr>
              <a:t>NGƯỜI CHƠI TIẾP THEO  →</a:t>
            </a:r>
          </a:p>
        </p:txBody>
      </p:sp>
    </p:spTree>
  </p:cSld>
  <p:clrMapOvr>
    <a:masterClrMapping/>
  </p:clrMapOvr>
  <p:transition spd="med" advClick="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01 / 05</a:t>
            </a:r>
          </a:p>
        </p:txBody>
      </p:sp>
      <p:sp>
        <p:nvSpPr>
          <p:cNvPr id="5" name="Rounded Rectangle 4"/>
          <p:cNvSpPr/>
          <p:nvPr/>
        </p:nvSpPr>
        <p:spPr>
          <a:xfrm>
            <a:off x="2240280" y="749808"/>
            <a:ext cx="1389888" cy="292608"/>
          </a:xfrm>
          <a:prstGeom prst="roundRect">
            <a:avLst/>
          </a:prstGeom>
          <a:solidFill>
            <a:srgbClr val="FFF0C2"/>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18324A"/>
                </a:solidFill>
                <a:latin typeface="Trebuchet MS"/>
              </a:rPr>
              <a:t>TRUNG BÌNH</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02 / 03</a:t>
            </a:r>
          </a:p>
        </p:txBody>
      </p:sp>
      <p:sp>
        <p:nvSpPr>
          <p:cNvPr id="7" name="Rounded Rectangle 6"/>
          <p:cNvSpPr/>
          <p:nvPr/>
        </p:nvSpPr>
        <p:spPr>
          <a:xfrm>
            <a:off x="7562088" y="749808"/>
            <a:ext cx="1581912" cy="292608"/>
          </a:xfrm>
          <a:prstGeom prst="roundRect">
            <a:avLst/>
          </a:prstGeom>
          <a:solidFill>
            <a:srgbClr val="FBE3E3"/>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1000" b="1" i="0">
                <a:solidFill>
                  <a:srgbClr val="B8424C"/>
                </a:solidFill>
                <a:latin typeface="Trebuchet MS"/>
              </a:rPr>
              <a:t>RẤT TIẾC!</a:t>
            </a:r>
          </a:p>
        </p:txBody>
      </p:sp>
      <p:sp>
        <p:nvSpPr>
          <p:cNvPr id="8"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1" name="TextBox 10"/>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1860" b="1" i="0">
                <a:solidFill>
                  <a:srgbClr val="FFFFFF"/>
                </a:solidFill>
                <a:latin typeface="Aptos"/>
              </a:rPr>
              <a:t>Người kiến trúc sư hình dung công trình trước khi xây; con ong xây tổ chủ yếu theo bản năng. Vì sao lao động có ý thức và mặt xã hội phân biệt con người với động vật?</a:t>
            </a:r>
          </a:p>
        </p:txBody>
      </p:sp>
      <p:sp>
        <p:nvSpPr>
          <p:cNvPr id="12"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4" name="TextBox 13"/>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5" name="Rounded Rectangle 14"/>
          <p:cNvSpPr/>
          <p:nvPr/>
        </p:nvSpPr>
        <p:spPr>
          <a:xfrm>
            <a:off x="9646920" y="1371600"/>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01</a:t>
            </a:r>
          </a:p>
        </p:txBody>
      </p:sp>
      <p:sp>
        <p:nvSpPr>
          <p:cNvPr id="17" name="TextBox 16"/>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nhỏ</a:t>
            </a:r>
          </a:p>
        </p:txBody>
      </p:sp>
      <p:sp>
        <p:nvSpPr>
          <p:cNvPr id="18" name="Rounded Rectangle 17"/>
          <p:cNvSpPr/>
          <p:nvPr/>
        </p:nvSpPr>
        <p:spPr>
          <a:xfrm>
            <a:off x="9646920" y="2487168"/>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02</a:t>
            </a:r>
          </a:p>
        </p:txBody>
      </p:sp>
      <p:sp>
        <p:nvSpPr>
          <p:cNvPr id="20" name="TextBox 19"/>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vừa</a:t>
            </a:r>
          </a:p>
        </p:txBody>
      </p:sp>
      <p:sp>
        <p:nvSpPr>
          <p:cNvPr id="21" name="Rounded Rectangle 20"/>
          <p:cNvSpPr/>
          <p:nvPr/>
        </p:nvSpPr>
        <p:spPr>
          <a:xfrm>
            <a:off x="9646920" y="3602736"/>
            <a:ext cx="1956816" cy="877824"/>
          </a:xfrm>
          <a:prstGeom prst="roundRect">
            <a:avLst/>
          </a:prstGeom>
          <a:solidFill>
            <a:srgbClr val="263F53"/>
          </a:solidFill>
          <a:ln w="12700">
            <a:solidFill>
              <a:srgbClr val="4059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B9C7CC"/>
                </a:solidFill>
                <a:latin typeface="Trebuchet MS"/>
              </a:rPr>
              <a:t>CHƯA MỞ  ·  CÂU 03</a:t>
            </a:r>
          </a:p>
        </p:txBody>
      </p:sp>
      <p:sp>
        <p:nvSpPr>
          <p:cNvPr id="23" name="TextBox 22"/>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B9C7CC"/>
                </a:solidFill>
                <a:latin typeface="Trebuchet MS"/>
              </a:rPr>
              <a:t>Quà lớn</a:t>
            </a:r>
          </a:p>
        </p:txBody>
      </p:sp>
      <p:sp>
        <p:nvSpPr>
          <p:cNvPr id="24" name="TextBox 23"/>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QUÀ GIỮ LẠI</a:t>
            </a:r>
          </a:p>
        </p:txBody>
      </p:sp>
      <p:sp>
        <p:nvSpPr>
          <p:cNvPr id="25" name="TextBox 24"/>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Quà nhỏ</a:t>
            </a:r>
          </a:p>
        </p:txBody>
      </p:sp>
      <p:sp>
        <p:nvSpPr>
          <p:cNvPr id="26" name="TextBox 25"/>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7" name="Đáp án A"/>
          <p:cNvSpPr/>
          <p:nvPr/>
        </p:nvSpPr>
        <p:spPr>
          <a:xfrm>
            <a:off x="530352" y="2770632"/>
            <a:ext cx="4215384" cy="1170432"/>
          </a:xfrm>
          <a:prstGeom prst="roundRect">
            <a:avLst/>
          </a:prstGeom>
          <a:solidFill>
            <a:srgbClr val="2F9C72"/>
          </a:solidFill>
          <a:ln w="15875">
            <a:solidFill>
              <a:srgbClr val="2F9C72"/>
            </a:solidFill>
          </a:ln>
          <a:effectLst>
            <a:glow rad="190000">
              <a:srgbClr val="73D9A5">
                <a:alpha val="52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380" b="1" i="0">
                <a:solidFill>
                  <a:srgbClr val="FFFFFF"/>
                </a:solidFill>
                <a:latin typeface="Aptos"/>
              </a:rPr>
              <a:t>Con người đặt mục đích, dự kiến kết quả, dùng công cụ và học hỏi trong quan hệ xã hội; ong chủ yếu làm theo bản năng.</a:t>
            </a:r>
          </a:p>
        </p:txBody>
      </p:sp>
      <p:sp>
        <p:nvSpPr>
          <p:cNvPr id="28" name="Oval 27"/>
          <p:cNvSpPr/>
          <p:nvPr/>
        </p:nvSpPr>
        <p:spPr>
          <a:xfrm>
            <a:off x="685800" y="3154679"/>
            <a:ext cx="402336" cy="402336"/>
          </a:xfrm>
          <a:prstGeom prst="ellipse">
            <a:avLst/>
          </a:prstGeom>
          <a:solidFill>
            <a:srgbClr val="FFFFFF"/>
          </a:solidFill>
          <a:ln w="12700">
            <a:solidFill>
              <a:srgbClr val="2F9C72"/>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F9C72"/>
                </a:solidFill>
                <a:latin typeface="Trebuchet MS"/>
              </a:rPr>
              <a:t>A</a:t>
            </a:r>
          </a:p>
        </p:txBody>
      </p:sp>
      <p:sp>
        <p:nvSpPr>
          <p:cNvPr id="29" name="Đáp án B"/>
          <p:cNvSpPr/>
          <p:nvPr/>
        </p:nvSpPr>
        <p:spPr>
          <a:xfrm>
            <a:off x="4937760" y="2770632"/>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Động vật không thể tạo ra bất kỳ sản phẩm nào.</a:t>
            </a:r>
          </a:p>
        </p:txBody>
      </p:sp>
      <p:sp>
        <p:nvSpPr>
          <p:cNvPr id="30" name="Oval 29"/>
          <p:cNvSpPr/>
          <p:nvPr/>
        </p:nvSpPr>
        <p:spPr>
          <a:xfrm>
            <a:off x="5093208" y="3154679"/>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B</a:t>
            </a:r>
          </a:p>
        </p:txBody>
      </p:sp>
      <p:sp>
        <p:nvSpPr>
          <p:cNvPr id="31" name="Đáp án C"/>
          <p:cNvSpPr/>
          <p:nvPr/>
        </p:nvSpPr>
        <p:spPr>
          <a:xfrm>
            <a:off x="530352" y="4105656"/>
            <a:ext cx="4215384" cy="1170432"/>
          </a:xfrm>
          <a:prstGeom prst="roundRect">
            <a:avLst/>
          </a:prstGeom>
          <a:solidFill>
            <a:srgbClr val="E45C64"/>
          </a:solidFill>
          <a:ln w="15875">
            <a:solidFill>
              <a:srgbClr val="B8424C"/>
            </a:solidFill>
          </a:ln>
          <a:effectLst>
            <a:glow rad="110000">
              <a:srgbClr val="E45C64">
                <a:alpha val="35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1" i="0">
                <a:solidFill>
                  <a:srgbClr val="FFFFFF"/>
                </a:solidFill>
                <a:latin typeface="Aptos"/>
              </a:rPr>
              <a:t>Con người hoàn toàn không có bản năng sinh học.</a:t>
            </a:r>
          </a:p>
        </p:txBody>
      </p:sp>
      <p:sp>
        <p:nvSpPr>
          <p:cNvPr id="32" name="Oval 31"/>
          <p:cNvSpPr/>
          <p:nvPr/>
        </p:nvSpPr>
        <p:spPr>
          <a:xfrm>
            <a:off x="685800" y="4489704"/>
            <a:ext cx="402336" cy="402336"/>
          </a:xfrm>
          <a:prstGeom prst="ellipse">
            <a:avLst/>
          </a:prstGeom>
          <a:solidFill>
            <a:srgbClr val="FFFFFF"/>
          </a:solidFill>
          <a:ln w="12700">
            <a:solidFill>
              <a:srgbClr val="B8424C"/>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B8424C"/>
                </a:solidFill>
                <a:latin typeface="Trebuchet MS"/>
              </a:rPr>
              <a:t>C</a:t>
            </a:r>
          </a:p>
        </p:txBody>
      </p:sp>
      <p:cxnSp>
        <p:nvCxnSpPr>
          <p:cNvPr id="33" name="Connector 32"/>
          <p:cNvCxnSpPr/>
          <p:nvPr/>
        </p:nvCxnSpPr>
        <p:spPr>
          <a:xfrm>
            <a:off x="438912" y="4306824"/>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38912" y="4599432"/>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38912" y="489204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4764024" y="4306824"/>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764024" y="4599432"/>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764024" y="489204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sp>
        <p:nvSpPr>
          <p:cNvPr id="39" name="Đáp án D"/>
          <p:cNvSpPr/>
          <p:nvPr/>
        </p:nvSpPr>
        <p:spPr>
          <a:xfrm>
            <a:off x="4937760" y="4105656"/>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Con người làm việc đơn lẻ, còn mọi động vật đều sống theo bầy.</a:t>
            </a:r>
          </a:p>
        </p:txBody>
      </p:sp>
      <p:sp>
        <p:nvSpPr>
          <p:cNvPr id="40" name="Oval 39"/>
          <p:cNvSpPr/>
          <p:nvPr/>
        </p:nvSpPr>
        <p:spPr>
          <a:xfrm>
            <a:off x="5093208"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D</a:t>
            </a:r>
          </a:p>
        </p:txBody>
      </p:sp>
      <p:sp>
        <p:nvSpPr>
          <p:cNvPr id="41" name="Rounded Rectangle 40"/>
          <p:cNvSpPr/>
          <p:nvPr/>
        </p:nvSpPr>
        <p:spPr>
          <a:xfrm>
            <a:off x="530352" y="5431536"/>
            <a:ext cx="5989320" cy="868680"/>
          </a:xfrm>
          <a:prstGeom prst="roundRect">
            <a:avLst/>
          </a:prstGeom>
          <a:solidFill>
            <a:srgbClr val="FBE5E3"/>
          </a:solidFill>
          <a:ln w="12700">
            <a:solidFill>
              <a:srgbClr val="F0C7C4"/>
            </a:solid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l">
              <a:lnSpc>
                <a:spcPct val="100000"/>
              </a:lnSpc>
              <a:spcBef>
                <a:spcPts val="0"/>
              </a:spcBef>
              <a:spcAft>
                <a:spcPts val="0"/>
              </a:spcAft>
            </a:pPr>
            <a:r>
              <a:rPr sz="980" b="1" i="0">
                <a:solidFill>
                  <a:srgbClr val="18324A"/>
                </a:solidFill>
                <a:latin typeface="Aptos"/>
              </a:rPr>
              <a:t>BẠN CHỌN: C  ·  ĐÁP ÁN ĐÚNG: A
Con người đặt mục đích, dự kiến kết quả, dùng công cụ và học hỏi trong quan hệ xã hội; ong chủ yếu làm theo bản năng.
QUÀ ĐẠT ĐƯỢC LƯỢT NÀY: Quà nhỏ</a:t>
            </a:r>
          </a:p>
        </p:txBody>
      </p:sp>
      <p:sp>
        <p:nvSpPr>
          <p:cNvPr id="42" name="Nút: NGƯỜI CHƠI TIẾP THEO  →">
            <a:hlinkClick r:id="rId2" action="ppaction://hlinksldjump"/>
          </p:cNvPr>
          <p:cNvSpPr/>
          <p:nvPr/>
        </p:nvSpPr>
        <p:spPr>
          <a:xfrm>
            <a:off x="6711696" y="5431536"/>
            <a:ext cx="2505456" cy="86868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240" b="1" i="0">
                <a:solidFill>
                  <a:srgbClr val="FFFFFF"/>
                </a:solidFill>
                <a:latin typeface="Trebuchet MS"/>
              </a:rPr>
              <a:t>NGƯỜI CHƠI TIẾP THEO  →</a:t>
            </a:r>
          </a:p>
        </p:txBody>
      </p:sp>
    </p:spTree>
  </p:cSld>
  <p:clrMapOvr>
    <a:masterClrMapping/>
  </p:clrMapOvr>
  <p:transition spd="med" advClick="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01 / 05</a:t>
            </a:r>
          </a:p>
        </p:txBody>
      </p:sp>
      <p:sp>
        <p:nvSpPr>
          <p:cNvPr id="5" name="Rounded Rectangle 4"/>
          <p:cNvSpPr/>
          <p:nvPr/>
        </p:nvSpPr>
        <p:spPr>
          <a:xfrm>
            <a:off x="2240280" y="749808"/>
            <a:ext cx="1389888" cy="292608"/>
          </a:xfrm>
          <a:prstGeom prst="roundRect">
            <a:avLst/>
          </a:prstGeom>
          <a:solidFill>
            <a:srgbClr val="FFF0C2"/>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18324A"/>
                </a:solidFill>
                <a:latin typeface="Trebuchet MS"/>
              </a:rPr>
              <a:t>TRUNG BÌNH</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02 / 03</a:t>
            </a:r>
          </a:p>
        </p:txBody>
      </p:sp>
      <p:sp>
        <p:nvSpPr>
          <p:cNvPr id="7" name="Rounded Rectangle 6"/>
          <p:cNvSpPr/>
          <p:nvPr/>
        </p:nvSpPr>
        <p:spPr>
          <a:xfrm>
            <a:off x="7562088" y="749808"/>
            <a:ext cx="1581912" cy="292608"/>
          </a:xfrm>
          <a:prstGeom prst="roundRect">
            <a:avLst/>
          </a:prstGeom>
          <a:solidFill>
            <a:srgbClr val="FBE3E3"/>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1000" b="1" i="0">
                <a:solidFill>
                  <a:srgbClr val="B8424C"/>
                </a:solidFill>
                <a:latin typeface="Trebuchet MS"/>
              </a:rPr>
              <a:t>RẤT TIẾC!</a:t>
            </a:r>
          </a:p>
        </p:txBody>
      </p:sp>
      <p:sp>
        <p:nvSpPr>
          <p:cNvPr id="8"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1" name="TextBox 10"/>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1860" b="1" i="0">
                <a:solidFill>
                  <a:srgbClr val="FFFFFF"/>
                </a:solidFill>
                <a:latin typeface="Aptos"/>
              </a:rPr>
              <a:t>Người kiến trúc sư hình dung công trình trước khi xây; con ong xây tổ chủ yếu theo bản năng. Vì sao lao động có ý thức và mặt xã hội phân biệt con người với động vật?</a:t>
            </a:r>
          </a:p>
        </p:txBody>
      </p:sp>
      <p:sp>
        <p:nvSpPr>
          <p:cNvPr id="12"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4" name="TextBox 13"/>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5" name="Rounded Rectangle 14"/>
          <p:cNvSpPr/>
          <p:nvPr/>
        </p:nvSpPr>
        <p:spPr>
          <a:xfrm>
            <a:off x="9646920" y="1371600"/>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01</a:t>
            </a:r>
          </a:p>
        </p:txBody>
      </p:sp>
      <p:sp>
        <p:nvSpPr>
          <p:cNvPr id="17" name="TextBox 16"/>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nhỏ</a:t>
            </a:r>
          </a:p>
        </p:txBody>
      </p:sp>
      <p:sp>
        <p:nvSpPr>
          <p:cNvPr id="18" name="Rounded Rectangle 17"/>
          <p:cNvSpPr/>
          <p:nvPr/>
        </p:nvSpPr>
        <p:spPr>
          <a:xfrm>
            <a:off x="9646920" y="2487168"/>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02</a:t>
            </a:r>
          </a:p>
        </p:txBody>
      </p:sp>
      <p:sp>
        <p:nvSpPr>
          <p:cNvPr id="20" name="TextBox 19"/>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vừa</a:t>
            </a:r>
          </a:p>
        </p:txBody>
      </p:sp>
      <p:sp>
        <p:nvSpPr>
          <p:cNvPr id="21" name="Rounded Rectangle 20"/>
          <p:cNvSpPr/>
          <p:nvPr/>
        </p:nvSpPr>
        <p:spPr>
          <a:xfrm>
            <a:off x="9646920" y="3602736"/>
            <a:ext cx="1956816" cy="877824"/>
          </a:xfrm>
          <a:prstGeom prst="roundRect">
            <a:avLst/>
          </a:prstGeom>
          <a:solidFill>
            <a:srgbClr val="263F53"/>
          </a:solidFill>
          <a:ln w="12700">
            <a:solidFill>
              <a:srgbClr val="4059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B9C7CC"/>
                </a:solidFill>
                <a:latin typeface="Trebuchet MS"/>
              </a:rPr>
              <a:t>CHƯA MỞ  ·  CÂU 03</a:t>
            </a:r>
          </a:p>
        </p:txBody>
      </p:sp>
      <p:sp>
        <p:nvSpPr>
          <p:cNvPr id="23" name="TextBox 22"/>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B9C7CC"/>
                </a:solidFill>
                <a:latin typeface="Trebuchet MS"/>
              </a:rPr>
              <a:t>Quà lớn</a:t>
            </a:r>
          </a:p>
        </p:txBody>
      </p:sp>
      <p:sp>
        <p:nvSpPr>
          <p:cNvPr id="24" name="TextBox 23"/>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QUÀ GIỮ LẠI</a:t>
            </a:r>
          </a:p>
        </p:txBody>
      </p:sp>
      <p:sp>
        <p:nvSpPr>
          <p:cNvPr id="25" name="TextBox 24"/>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Quà nhỏ</a:t>
            </a:r>
          </a:p>
        </p:txBody>
      </p:sp>
      <p:sp>
        <p:nvSpPr>
          <p:cNvPr id="26" name="TextBox 25"/>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7" name="Đáp án A"/>
          <p:cNvSpPr/>
          <p:nvPr/>
        </p:nvSpPr>
        <p:spPr>
          <a:xfrm>
            <a:off x="530352" y="2770632"/>
            <a:ext cx="4215384" cy="1170432"/>
          </a:xfrm>
          <a:prstGeom prst="roundRect">
            <a:avLst/>
          </a:prstGeom>
          <a:solidFill>
            <a:srgbClr val="2F9C72"/>
          </a:solidFill>
          <a:ln w="15875">
            <a:solidFill>
              <a:srgbClr val="2F9C72"/>
            </a:solidFill>
          </a:ln>
          <a:effectLst>
            <a:glow rad="190000">
              <a:srgbClr val="73D9A5">
                <a:alpha val="52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380" b="1" i="0">
                <a:solidFill>
                  <a:srgbClr val="FFFFFF"/>
                </a:solidFill>
                <a:latin typeface="Aptos"/>
              </a:rPr>
              <a:t>Con người đặt mục đích, dự kiến kết quả, dùng công cụ và học hỏi trong quan hệ xã hội; ong chủ yếu làm theo bản năng.</a:t>
            </a:r>
          </a:p>
        </p:txBody>
      </p:sp>
      <p:sp>
        <p:nvSpPr>
          <p:cNvPr id="28" name="Oval 27"/>
          <p:cNvSpPr/>
          <p:nvPr/>
        </p:nvSpPr>
        <p:spPr>
          <a:xfrm>
            <a:off x="685800" y="3154679"/>
            <a:ext cx="402336" cy="402336"/>
          </a:xfrm>
          <a:prstGeom prst="ellipse">
            <a:avLst/>
          </a:prstGeom>
          <a:solidFill>
            <a:srgbClr val="FFFFFF"/>
          </a:solidFill>
          <a:ln w="12700">
            <a:solidFill>
              <a:srgbClr val="2F9C72"/>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F9C72"/>
                </a:solidFill>
                <a:latin typeface="Trebuchet MS"/>
              </a:rPr>
              <a:t>A</a:t>
            </a:r>
          </a:p>
        </p:txBody>
      </p:sp>
      <p:sp>
        <p:nvSpPr>
          <p:cNvPr id="29" name="Đáp án B"/>
          <p:cNvSpPr/>
          <p:nvPr/>
        </p:nvSpPr>
        <p:spPr>
          <a:xfrm>
            <a:off x="4937760" y="2770632"/>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Động vật không thể tạo ra bất kỳ sản phẩm nào.</a:t>
            </a:r>
          </a:p>
        </p:txBody>
      </p:sp>
      <p:sp>
        <p:nvSpPr>
          <p:cNvPr id="30" name="Oval 29"/>
          <p:cNvSpPr/>
          <p:nvPr/>
        </p:nvSpPr>
        <p:spPr>
          <a:xfrm>
            <a:off x="5093208" y="3154679"/>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B</a:t>
            </a:r>
          </a:p>
        </p:txBody>
      </p:sp>
      <p:sp>
        <p:nvSpPr>
          <p:cNvPr id="31" name="Đáp án C"/>
          <p:cNvSpPr/>
          <p:nvPr/>
        </p:nvSpPr>
        <p:spPr>
          <a:xfrm>
            <a:off x="530352" y="4105656"/>
            <a:ext cx="4215384"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Con người hoàn toàn không có bản năng sinh học.</a:t>
            </a:r>
          </a:p>
        </p:txBody>
      </p:sp>
      <p:sp>
        <p:nvSpPr>
          <p:cNvPr id="32" name="Oval 31"/>
          <p:cNvSpPr/>
          <p:nvPr/>
        </p:nvSpPr>
        <p:spPr>
          <a:xfrm>
            <a:off x="685800"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C</a:t>
            </a:r>
          </a:p>
        </p:txBody>
      </p:sp>
      <p:sp>
        <p:nvSpPr>
          <p:cNvPr id="33" name="Đáp án D"/>
          <p:cNvSpPr/>
          <p:nvPr/>
        </p:nvSpPr>
        <p:spPr>
          <a:xfrm>
            <a:off x="4937760" y="4105656"/>
            <a:ext cx="4279392" cy="1170432"/>
          </a:xfrm>
          <a:prstGeom prst="roundRect">
            <a:avLst/>
          </a:prstGeom>
          <a:solidFill>
            <a:srgbClr val="E45C64"/>
          </a:solidFill>
          <a:ln w="15875">
            <a:solidFill>
              <a:srgbClr val="B8424C"/>
            </a:solidFill>
          </a:ln>
          <a:effectLst>
            <a:glow rad="110000">
              <a:srgbClr val="E45C64">
                <a:alpha val="35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1" i="0">
                <a:solidFill>
                  <a:srgbClr val="FFFFFF"/>
                </a:solidFill>
                <a:latin typeface="Aptos"/>
              </a:rPr>
              <a:t>Con người làm việc đơn lẻ, còn mọi động vật đều sống theo bầy.</a:t>
            </a:r>
          </a:p>
        </p:txBody>
      </p:sp>
      <p:sp>
        <p:nvSpPr>
          <p:cNvPr id="34" name="Oval 33"/>
          <p:cNvSpPr/>
          <p:nvPr/>
        </p:nvSpPr>
        <p:spPr>
          <a:xfrm>
            <a:off x="5093208" y="4489704"/>
            <a:ext cx="402336" cy="402336"/>
          </a:xfrm>
          <a:prstGeom prst="ellipse">
            <a:avLst/>
          </a:prstGeom>
          <a:solidFill>
            <a:srgbClr val="FFFFFF"/>
          </a:solidFill>
          <a:ln w="12700">
            <a:solidFill>
              <a:srgbClr val="B8424C"/>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B8424C"/>
                </a:solidFill>
                <a:latin typeface="Trebuchet MS"/>
              </a:rPr>
              <a:t>D</a:t>
            </a:r>
          </a:p>
        </p:txBody>
      </p:sp>
      <p:cxnSp>
        <p:nvCxnSpPr>
          <p:cNvPr id="35" name="Connector 34"/>
          <p:cNvCxnSpPr/>
          <p:nvPr/>
        </p:nvCxnSpPr>
        <p:spPr>
          <a:xfrm>
            <a:off x="4846320" y="4306824"/>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4846320" y="4599432"/>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846320" y="489204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9235440" y="4306824"/>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9235440" y="4599432"/>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9235440" y="489204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530352" y="5431536"/>
            <a:ext cx="5989320" cy="868680"/>
          </a:xfrm>
          <a:prstGeom prst="roundRect">
            <a:avLst/>
          </a:prstGeom>
          <a:solidFill>
            <a:srgbClr val="FBE5E3"/>
          </a:solidFill>
          <a:ln w="12700">
            <a:solidFill>
              <a:srgbClr val="F0C7C4"/>
            </a:solid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l">
              <a:lnSpc>
                <a:spcPct val="100000"/>
              </a:lnSpc>
              <a:spcBef>
                <a:spcPts val="0"/>
              </a:spcBef>
              <a:spcAft>
                <a:spcPts val="0"/>
              </a:spcAft>
            </a:pPr>
            <a:r>
              <a:rPr sz="980" b="1" i="0">
                <a:solidFill>
                  <a:srgbClr val="18324A"/>
                </a:solidFill>
                <a:latin typeface="Aptos"/>
              </a:rPr>
              <a:t>BẠN CHỌN: D  ·  ĐÁP ÁN ĐÚNG: A
Con người đặt mục đích, dự kiến kết quả, dùng công cụ và học hỏi trong quan hệ xã hội; ong chủ yếu làm theo bản năng.
QUÀ ĐẠT ĐƯỢC LƯỢT NÀY: Quà nhỏ</a:t>
            </a:r>
          </a:p>
        </p:txBody>
      </p:sp>
      <p:sp>
        <p:nvSpPr>
          <p:cNvPr id="42" name="Nút: NGƯỜI CHƠI TIẾP THEO  →">
            <a:hlinkClick r:id="rId2" action="ppaction://hlinksldjump"/>
          </p:cNvPr>
          <p:cNvSpPr/>
          <p:nvPr/>
        </p:nvSpPr>
        <p:spPr>
          <a:xfrm>
            <a:off x="6711696" y="5431536"/>
            <a:ext cx="2505456" cy="86868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240" b="1" i="0">
                <a:solidFill>
                  <a:srgbClr val="FFFFFF"/>
                </a:solidFill>
                <a:latin typeface="Trebuchet MS"/>
              </a:rPr>
              <a:t>NGƯỜI CHƠI TIẾP THEO  →</a:t>
            </a:r>
          </a:p>
        </p:txBody>
      </p:sp>
    </p:spTree>
  </p:cSld>
  <p:clrMapOvr>
    <a:masterClrMapping/>
  </p:clrMapOvr>
  <p:transition spd="med" advClick="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01 / 05</a:t>
            </a:r>
          </a:p>
        </p:txBody>
      </p:sp>
      <p:sp>
        <p:nvSpPr>
          <p:cNvPr id="5" name="Rounded Rectangle 4"/>
          <p:cNvSpPr/>
          <p:nvPr/>
        </p:nvSpPr>
        <p:spPr>
          <a:xfrm>
            <a:off x="2240280" y="749808"/>
            <a:ext cx="1389888" cy="292608"/>
          </a:xfrm>
          <a:prstGeom prst="roundRect">
            <a:avLst/>
          </a:prstGeom>
          <a:solidFill>
            <a:srgbClr val="F7E2DD"/>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B8424C"/>
                </a:solidFill>
                <a:latin typeface="Trebuchet MS"/>
              </a:rPr>
              <a:t>KHÓ</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03 / 03</a:t>
            </a:r>
          </a:p>
        </p:txBody>
      </p:sp>
      <p:sp>
        <p:nvSpPr>
          <p:cNvPr id="7"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0" name="TextBox 9"/>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1860" b="1" i="0">
                <a:solidFill>
                  <a:srgbClr val="FFFFFF"/>
                </a:solidFill>
                <a:latin typeface="Aptos"/>
              </a:rPr>
              <a:t>Dựa vào luận điểm “bản chất con người là tổng hòa các quan hệ xã hội”, lập luận nào phản bác tốt nhất quan điểm bản chất con người bẩm sinh, cố định?</a:t>
            </a:r>
          </a:p>
        </p:txBody>
      </p:sp>
      <p:sp>
        <p:nvSpPr>
          <p:cNvPr id="11"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3" name="TextBox 12"/>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4" name="Rounded Rectangle 13"/>
          <p:cNvSpPr/>
          <p:nvPr/>
        </p:nvSpPr>
        <p:spPr>
          <a:xfrm>
            <a:off x="9646920" y="1371600"/>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01</a:t>
            </a:r>
          </a:p>
        </p:txBody>
      </p:sp>
      <p:sp>
        <p:nvSpPr>
          <p:cNvPr id="16" name="TextBox 15"/>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nhỏ</a:t>
            </a:r>
          </a:p>
        </p:txBody>
      </p:sp>
      <p:sp>
        <p:nvSpPr>
          <p:cNvPr id="17" name="Rounded Rectangle 16"/>
          <p:cNvSpPr/>
          <p:nvPr/>
        </p:nvSpPr>
        <p:spPr>
          <a:xfrm>
            <a:off x="9646920" y="2487168"/>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02</a:t>
            </a:r>
          </a:p>
        </p:txBody>
      </p:sp>
      <p:sp>
        <p:nvSpPr>
          <p:cNvPr id="19" name="TextBox 18"/>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vừa</a:t>
            </a:r>
          </a:p>
        </p:txBody>
      </p:sp>
      <p:sp>
        <p:nvSpPr>
          <p:cNvPr id="20" name="Rounded Rectangle 19"/>
          <p:cNvSpPr/>
          <p:nvPr/>
        </p:nvSpPr>
        <p:spPr>
          <a:xfrm>
            <a:off x="9646920" y="3602736"/>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03</a:t>
            </a:r>
          </a:p>
        </p:txBody>
      </p:sp>
      <p:sp>
        <p:nvSpPr>
          <p:cNvPr id="22" name="TextBox 21"/>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lớn</a:t>
            </a:r>
          </a:p>
        </p:txBody>
      </p:sp>
      <p:sp>
        <p:nvSpPr>
          <p:cNvPr id="23" name="TextBox 22"/>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MỐC AN TOÀN</a:t>
            </a:r>
          </a:p>
        </p:txBody>
      </p:sp>
      <p:sp>
        <p:nvSpPr>
          <p:cNvPr id="24" name="TextBox 23"/>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Quà vừa</a:t>
            </a:r>
          </a:p>
        </p:txBody>
      </p:sp>
      <p:sp>
        <p:nvSpPr>
          <p:cNvPr id="25" name="TextBox 24"/>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6" name="Đáp án A">
            <a:hlinkClick r:id="rId2" action="ppaction://hlinksldjump"/>
          </p:cNvPr>
          <p:cNvSpPr/>
          <p:nvPr/>
        </p:nvSpPr>
        <p:spPr>
          <a:xfrm>
            <a:off x="530352" y="2770632"/>
            <a:ext cx="4215384" cy="1170432"/>
          </a:xfrm>
          <a:prstGeom prst="roundRect">
            <a:avLst/>
          </a:prstGeom>
          <a:solidFill>
            <a:srgbClr val="FBFCF9"/>
          </a:solidFill>
          <a:ln w="15875">
            <a:solidFill>
              <a:srgbClr val="D7DED8"/>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18324A"/>
                </a:solidFill>
                <a:latin typeface="Aptos"/>
              </a:rPr>
              <a:t>Di truyền quy định toàn bộ phẩm chất; giáo dục chỉ làm lộ ra bản chất đã có sẵn.</a:t>
            </a:r>
          </a:p>
        </p:txBody>
      </p:sp>
      <p:sp>
        <p:nvSpPr>
          <p:cNvPr id="27" name="Oval 26">
            <a:hlinkClick r:id="rId2" action="ppaction://hlinksldjump"/>
          </p:cNvPr>
          <p:cNvSpPr/>
          <p:nvPr/>
        </p:nvSpPr>
        <p:spPr>
          <a:xfrm>
            <a:off x="685800" y="3154679"/>
            <a:ext cx="402336" cy="402336"/>
          </a:xfrm>
          <a:prstGeom prst="ellipse">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E8177"/>
                </a:solidFill>
                <a:latin typeface="Trebuchet MS"/>
              </a:rPr>
              <a:t>A</a:t>
            </a:r>
          </a:p>
        </p:txBody>
      </p:sp>
      <p:sp>
        <p:nvSpPr>
          <p:cNvPr id="28" name="Đáp án B">
            <a:hlinkClick r:id="rId3" action="ppaction://hlinksldjump"/>
          </p:cNvPr>
          <p:cNvSpPr/>
          <p:nvPr/>
        </p:nvSpPr>
        <p:spPr>
          <a:xfrm>
            <a:off x="4937760" y="2770632"/>
            <a:ext cx="4279392" cy="1170432"/>
          </a:xfrm>
          <a:prstGeom prst="roundRect">
            <a:avLst/>
          </a:prstGeom>
          <a:solidFill>
            <a:srgbClr val="FBFCF9"/>
          </a:solidFill>
          <a:ln w="15875">
            <a:solidFill>
              <a:srgbClr val="D7DED8"/>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380" b="0" i="0">
                <a:solidFill>
                  <a:srgbClr val="18324A"/>
                </a:solidFill>
                <a:latin typeface="Aptos"/>
              </a:rPr>
              <a:t>Quan hệ lịch sử, gia đình, giáo dục và hoạt động định hình, biến đổi nhân cách; con người cũng có thể tác động trở lại hoàn cảnh.</a:t>
            </a:r>
          </a:p>
        </p:txBody>
      </p:sp>
      <p:sp>
        <p:nvSpPr>
          <p:cNvPr id="29" name="Oval 28">
            <a:hlinkClick r:id="rId3" action="ppaction://hlinksldjump"/>
          </p:cNvPr>
          <p:cNvSpPr/>
          <p:nvPr/>
        </p:nvSpPr>
        <p:spPr>
          <a:xfrm>
            <a:off x="5093208" y="3154679"/>
            <a:ext cx="402336" cy="402336"/>
          </a:xfrm>
          <a:prstGeom prst="ellipse">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E8177"/>
                </a:solidFill>
                <a:latin typeface="Trebuchet MS"/>
              </a:rPr>
              <a:t>B</a:t>
            </a:r>
          </a:p>
        </p:txBody>
      </p:sp>
      <p:sp>
        <p:nvSpPr>
          <p:cNvPr id="30" name="Đáp án C">
            <a:hlinkClick r:id="rId4" action="ppaction://hlinksldjump"/>
          </p:cNvPr>
          <p:cNvSpPr/>
          <p:nvPr/>
        </p:nvSpPr>
        <p:spPr>
          <a:xfrm>
            <a:off x="530352" y="4105656"/>
            <a:ext cx="4215384" cy="1170432"/>
          </a:xfrm>
          <a:prstGeom prst="roundRect">
            <a:avLst/>
          </a:prstGeom>
          <a:solidFill>
            <a:srgbClr val="FBFCF9"/>
          </a:solidFill>
          <a:ln w="15875">
            <a:solidFill>
              <a:srgbClr val="D7DED8"/>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18324A"/>
                </a:solidFill>
                <a:latin typeface="Aptos"/>
              </a:rPr>
              <a:t>Môi trường quyết định hoàn toàn, vì vậy cá nhân không thể thay đổi mình hay xã hội.</a:t>
            </a:r>
          </a:p>
        </p:txBody>
      </p:sp>
      <p:sp>
        <p:nvSpPr>
          <p:cNvPr id="31" name="Oval 30">
            <a:hlinkClick r:id="rId4" action="ppaction://hlinksldjump"/>
          </p:cNvPr>
          <p:cNvSpPr/>
          <p:nvPr/>
        </p:nvSpPr>
        <p:spPr>
          <a:xfrm>
            <a:off x="685800" y="4489704"/>
            <a:ext cx="402336" cy="402336"/>
          </a:xfrm>
          <a:prstGeom prst="ellipse">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E8177"/>
                </a:solidFill>
                <a:latin typeface="Trebuchet MS"/>
              </a:rPr>
              <a:t>C</a:t>
            </a:r>
          </a:p>
        </p:txBody>
      </p:sp>
      <p:sp>
        <p:nvSpPr>
          <p:cNvPr id="32" name="Đáp án D">
            <a:hlinkClick r:id="rId5" action="ppaction://hlinksldjump"/>
          </p:cNvPr>
          <p:cNvSpPr/>
          <p:nvPr/>
        </p:nvSpPr>
        <p:spPr>
          <a:xfrm>
            <a:off x="4937760" y="4105656"/>
            <a:ext cx="4279392" cy="1170432"/>
          </a:xfrm>
          <a:prstGeom prst="roundRect">
            <a:avLst/>
          </a:prstGeom>
          <a:solidFill>
            <a:srgbClr val="FBFCF9"/>
          </a:solidFill>
          <a:ln w="15875">
            <a:solidFill>
              <a:srgbClr val="D7DED8"/>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18324A"/>
                </a:solidFill>
                <a:latin typeface="Aptos"/>
              </a:rPr>
              <a:t>Bản chất chỉ đổi theo tuổi tác, không chịu ảnh hưởng của môi trường xã hội.</a:t>
            </a:r>
          </a:p>
        </p:txBody>
      </p:sp>
      <p:sp>
        <p:nvSpPr>
          <p:cNvPr id="33" name="Oval 32">
            <a:hlinkClick r:id="rId5" action="ppaction://hlinksldjump"/>
          </p:cNvPr>
          <p:cNvSpPr/>
          <p:nvPr/>
        </p:nvSpPr>
        <p:spPr>
          <a:xfrm>
            <a:off x="5093208" y="4489704"/>
            <a:ext cx="402336" cy="402336"/>
          </a:xfrm>
          <a:prstGeom prst="ellipse">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E8177"/>
                </a:solidFill>
                <a:latin typeface="Trebuchet MS"/>
              </a:rPr>
              <a:t>D</a:t>
            </a:r>
          </a:p>
        </p:txBody>
      </p:sp>
      <p:sp>
        <p:nvSpPr>
          <p:cNvPr id="34" name="TextBox 33"/>
          <p:cNvSpPr txBox="1"/>
          <p:nvPr/>
        </p:nvSpPr>
        <p:spPr>
          <a:xfrm>
            <a:off x="621792" y="5431536"/>
            <a:ext cx="8485632" cy="36576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080" b="1" i="0">
                <a:solidFill>
                  <a:srgbClr val="657883"/>
                </a:solidFill>
                <a:latin typeface="Trebuchet MS"/>
              </a:rPr>
              <a:t>CHỌN MỘT ĐÁP ÁN  ·  BẤM TRỰC TIẾP VÀO THẺ A / B / C / D</a:t>
            </a:r>
          </a:p>
        </p:txBody>
      </p:sp>
    </p:spTree>
  </p:cSld>
  <p:clrMapOvr>
    <a:masterClrMapping/>
  </p:clrMapOvr>
  <p:transition spd="med" advClick="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01 / 05</a:t>
            </a:r>
          </a:p>
        </p:txBody>
      </p:sp>
      <p:sp>
        <p:nvSpPr>
          <p:cNvPr id="5" name="Rounded Rectangle 4"/>
          <p:cNvSpPr/>
          <p:nvPr/>
        </p:nvSpPr>
        <p:spPr>
          <a:xfrm>
            <a:off x="2240280" y="749808"/>
            <a:ext cx="1389888" cy="292608"/>
          </a:xfrm>
          <a:prstGeom prst="roundRect">
            <a:avLst/>
          </a:prstGeom>
          <a:solidFill>
            <a:srgbClr val="F7E2DD"/>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B8424C"/>
                </a:solidFill>
                <a:latin typeface="Trebuchet MS"/>
              </a:rPr>
              <a:t>KHÓ</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03 / 03</a:t>
            </a:r>
          </a:p>
        </p:txBody>
      </p:sp>
      <p:sp>
        <p:nvSpPr>
          <p:cNvPr id="7" name="Rounded Rectangle 6"/>
          <p:cNvSpPr/>
          <p:nvPr/>
        </p:nvSpPr>
        <p:spPr>
          <a:xfrm>
            <a:off x="7562088" y="749808"/>
            <a:ext cx="1581912" cy="292608"/>
          </a:xfrm>
          <a:prstGeom prst="roundRect">
            <a:avLst/>
          </a:prstGeom>
          <a:solidFill>
            <a:srgbClr val="D9F0E3"/>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1000" b="1" i="0">
                <a:solidFill>
                  <a:srgbClr val="2F9C72"/>
                </a:solidFill>
                <a:latin typeface="Trebuchet MS"/>
              </a:rPr>
              <a:t>CHÍNH XÁC!</a:t>
            </a:r>
          </a:p>
        </p:txBody>
      </p:sp>
      <p:sp>
        <p:nvSpPr>
          <p:cNvPr id="8"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1" name="TextBox 10"/>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1860" b="1" i="0">
                <a:solidFill>
                  <a:srgbClr val="FFFFFF"/>
                </a:solidFill>
                <a:latin typeface="Aptos"/>
              </a:rPr>
              <a:t>Dựa vào luận điểm “bản chất con người là tổng hòa các quan hệ xã hội”, lập luận nào phản bác tốt nhất quan điểm bản chất con người bẩm sinh, cố định?</a:t>
            </a:r>
          </a:p>
        </p:txBody>
      </p:sp>
      <p:sp>
        <p:nvSpPr>
          <p:cNvPr id="12"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4" name="TextBox 13"/>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5" name="Rounded Rectangle 14"/>
          <p:cNvSpPr/>
          <p:nvPr/>
        </p:nvSpPr>
        <p:spPr>
          <a:xfrm>
            <a:off x="9646920" y="1371600"/>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01</a:t>
            </a:r>
          </a:p>
        </p:txBody>
      </p:sp>
      <p:sp>
        <p:nvSpPr>
          <p:cNvPr id="17" name="TextBox 16"/>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nhỏ</a:t>
            </a:r>
          </a:p>
        </p:txBody>
      </p:sp>
      <p:sp>
        <p:nvSpPr>
          <p:cNvPr id="18" name="Rounded Rectangle 17"/>
          <p:cNvSpPr/>
          <p:nvPr/>
        </p:nvSpPr>
        <p:spPr>
          <a:xfrm>
            <a:off x="9646920" y="2487168"/>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02</a:t>
            </a:r>
          </a:p>
        </p:txBody>
      </p:sp>
      <p:sp>
        <p:nvSpPr>
          <p:cNvPr id="20" name="TextBox 19"/>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vừa</a:t>
            </a:r>
          </a:p>
        </p:txBody>
      </p:sp>
      <p:sp>
        <p:nvSpPr>
          <p:cNvPr id="21" name="Rounded Rectangle 20"/>
          <p:cNvSpPr/>
          <p:nvPr/>
        </p:nvSpPr>
        <p:spPr>
          <a:xfrm>
            <a:off x="9646920" y="3602736"/>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03</a:t>
            </a:r>
          </a:p>
        </p:txBody>
      </p:sp>
      <p:sp>
        <p:nvSpPr>
          <p:cNvPr id="23" name="TextBox 22"/>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lớn</a:t>
            </a:r>
          </a:p>
        </p:txBody>
      </p:sp>
      <p:sp>
        <p:nvSpPr>
          <p:cNvPr id="24" name="TextBox 23"/>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PHẦN QUÀ CUỐI</a:t>
            </a:r>
          </a:p>
        </p:txBody>
      </p:sp>
      <p:sp>
        <p:nvSpPr>
          <p:cNvPr id="25" name="TextBox 24"/>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Quà lớn</a:t>
            </a:r>
          </a:p>
        </p:txBody>
      </p:sp>
      <p:sp>
        <p:nvSpPr>
          <p:cNvPr id="26" name="TextBox 25"/>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7" name="Đáp án A"/>
          <p:cNvSpPr/>
          <p:nvPr/>
        </p:nvSpPr>
        <p:spPr>
          <a:xfrm>
            <a:off x="530352" y="2770632"/>
            <a:ext cx="4215384"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8A979B"/>
                </a:solidFill>
                <a:latin typeface="Aptos"/>
              </a:rPr>
              <a:t>Di truyền quy định toàn bộ phẩm chất; giáo dục chỉ làm lộ ra bản chất đã có sẵn.</a:t>
            </a:r>
          </a:p>
        </p:txBody>
      </p:sp>
      <p:sp>
        <p:nvSpPr>
          <p:cNvPr id="28" name="Oval 27"/>
          <p:cNvSpPr/>
          <p:nvPr/>
        </p:nvSpPr>
        <p:spPr>
          <a:xfrm>
            <a:off x="685800" y="3154679"/>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A</a:t>
            </a:r>
          </a:p>
        </p:txBody>
      </p:sp>
      <p:sp>
        <p:nvSpPr>
          <p:cNvPr id="29" name="Đáp án B"/>
          <p:cNvSpPr/>
          <p:nvPr/>
        </p:nvSpPr>
        <p:spPr>
          <a:xfrm>
            <a:off x="4937760" y="2770632"/>
            <a:ext cx="4279392" cy="1170432"/>
          </a:xfrm>
          <a:prstGeom prst="roundRect">
            <a:avLst/>
          </a:prstGeom>
          <a:solidFill>
            <a:srgbClr val="FFD05A"/>
          </a:solidFill>
          <a:ln w="15875">
            <a:solidFill>
              <a:srgbClr val="D9A92E"/>
            </a:solidFill>
          </a:ln>
          <a:effectLst>
            <a:glow rad="190000">
              <a:srgbClr val="FFD05A">
                <a:alpha val="52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380" b="1" i="0">
                <a:solidFill>
                  <a:srgbClr val="18324A"/>
                </a:solidFill>
                <a:latin typeface="Aptos"/>
              </a:rPr>
              <a:t>Quan hệ lịch sử, gia đình, giáo dục và hoạt động định hình, biến đổi nhân cách; con người cũng có thể tác động trở lại hoàn cảnh.</a:t>
            </a:r>
          </a:p>
        </p:txBody>
      </p:sp>
      <p:sp>
        <p:nvSpPr>
          <p:cNvPr id="30" name="Oval 29"/>
          <p:cNvSpPr/>
          <p:nvPr/>
        </p:nvSpPr>
        <p:spPr>
          <a:xfrm>
            <a:off x="5093208" y="3154679"/>
            <a:ext cx="402336" cy="402336"/>
          </a:xfrm>
          <a:prstGeom prst="ellipse">
            <a:avLst/>
          </a:prstGeom>
          <a:solidFill>
            <a:srgbClr val="18324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FFD05A"/>
                </a:solidFill>
                <a:latin typeface="Trebuchet MS"/>
              </a:rPr>
              <a:t>B</a:t>
            </a:r>
          </a:p>
        </p:txBody>
      </p:sp>
      <p:sp>
        <p:nvSpPr>
          <p:cNvPr id="31" name="Đáp án C"/>
          <p:cNvSpPr/>
          <p:nvPr/>
        </p:nvSpPr>
        <p:spPr>
          <a:xfrm>
            <a:off x="530352" y="4105656"/>
            <a:ext cx="4215384"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8A979B"/>
                </a:solidFill>
                <a:latin typeface="Aptos"/>
              </a:rPr>
              <a:t>Môi trường quyết định hoàn toàn, vì vậy cá nhân không thể thay đổi mình hay xã hội.</a:t>
            </a:r>
          </a:p>
        </p:txBody>
      </p:sp>
      <p:sp>
        <p:nvSpPr>
          <p:cNvPr id="32" name="Oval 31"/>
          <p:cNvSpPr/>
          <p:nvPr/>
        </p:nvSpPr>
        <p:spPr>
          <a:xfrm>
            <a:off x="685800"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C</a:t>
            </a:r>
          </a:p>
        </p:txBody>
      </p:sp>
      <p:sp>
        <p:nvSpPr>
          <p:cNvPr id="33" name="Đáp án D"/>
          <p:cNvSpPr/>
          <p:nvPr/>
        </p:nvSpPr>
        <p:spPr>
          <a:xfrm>
            <a:off x="4937760" y="4105656"/>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8A979B"/>
                </a:solidFill>
                <a:latin typeface="Aptos"/>
              </a:rPr>
              <a:t>Bản chất chỉ đổi theo tuổi tác, không chịu ảnh hưởng của môi trường xã hội.</a:t>
            </a:r>
          </a:p>
        </p:txBody>
      </p:sp>
      <p:sp>
        <p:nvSpPr>
          <p:cNvPr id="34" name="Oval 33"/>
          <p:cNvSpPr/>
          <p:nvPr/>
        </p:nvSpPr>
        <p:spPr>
          <a:xfrm>
            <a:off x="5093208"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D</a:t>
            </a:r>
          </a:p>
        </p:txBody>
      </p:sp>
      <p:sp>
        <p:nvSpPr>
          <p:cNvPr id="35" name="Rounded Rectangle 34"/>
          <p:cNvSpPr/>
          <p:nvPr/>
        </p:nvSpPr>
        <p:spPr>
          <a:xfrm>
            <a:off x="530352" y="5431536"/>
            <a:ext cx="5989320" cy="868680"/>
          </a:xfrm>
          <a:prstGeom prst="roundRect">
            <a:avLst/>
          </a:prstGeom>
          <a:solidFill>
            <a:srgbClr val="D9F0E3"/>
          </a:solidFill>
          <a:ln w="12700">
            <a:solidFill>
              <a:srgbClr val="D7E6DC"/>
            </a:solidFill>
          </a:ln>
        </p:spPr>
        <p:style>
          <a:lnRef idx="1">
            <a:schemeClr val="accent1"/>
          </a:lnRef>
          <a:fillRef idx="3">
            <a:schemeClr val="accent1"/>
          </a:fillRef>
          <a:effectRef idx="2">
            <a:schemeClr val="accent1"/>
          </a:effectRef>
          <a:fontRef idx="minor">
            <a:schemeClr val="lt1"/>
          </a:fontRef>
        </p:style>
        <p:txBody>
          <a:bodyPr wrap="square" lIns="109728" tIns="60350" rIns="109728" bIns="60350" rtlCol="0" anchor="ctr"/>
          <a:lstStyle/>
          <a:p>
            <a:pPr algn="l">
              <a:lnSpc>
                <a:spcPct val="100000"/>
              </a:lnSpc>
              <a:spcBef>
                <a:spcPts val="0"/>
              </a:spcBef>
              <a:spcAft>
                <a:spcPts val="0"/>
              </a:spcAft>
            </a:pPr>
            <a:r>
              <a:rPr sz="1130" b="0" i="0">
                <a:solidFill>
                  <a:srgbClr val="18324A"/>
                </a:solidFill>
                <a:latin typeface="Aptos"/>
              </a:rPr>
              <a:t>MỐC 3 ĐÃ CHINH PHỤC  ·  Quà lớn
Quan điểm này nhấn mạnh tính lịch sử – xã hội và khả năng biến đổi; không phủ nhận nền tảng sinh học hay vai trò chủ động của con người.</a:t>
            </a:r>
          </a:p>
        </p:txBody>
      </p:sp>
      <p:sp>
        <p:nvSpPr>
          <p:cNvPr id="36" name="Nút: NGƯỜI CHƠI TIẾP THEO  →">
            <a:hlinkClick r:id="rId3" action="ppaction://hlinksldjump"/>
          </p:cNvPr>
          <p:cNvSpPr/>
          <p:nvPr/>
        </p:nvSpPr>
        <p:spPr>
          <a:xfrm>
            <a:off x="6711696" y="5431536"/>
            <a:ext cx="2505456" cy="868680"/>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240" b="1" i="0">
                <a:solidFill>
                  <a:srgbClr val="18324A"/>
                </a:solidFill>
                <a:latin typeface="Trebuchet MS"/>
              </a:rPr>
              <a:t>NGƯỜI CHƠI TIẾP THEO  →</a:t>
            </a:r>
          </a:p>
        </p:txBody>
      </p:sp>
    </p:spTree>
  </p:cSld>
  <p:clrMapOvr>
    <a:masterClrMapping/>
  </p:clrMapOvr>
  <p:transition spd="med" advClick="0">
    <p:sndAc>
      <p:stSnd>
        <p:snd r:embed="rId2" name="Correct answer chime"/>
      </p:stSnd>
    </p:sndAc>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01 / 05</a:t>
            </a:r>
          </a:p>
        </p:txBody>
      </p:sp>
      <p:sp>
        <p:nvSpPr>
          <p:cNvPr id="5" name="Rounded Rectangle 4"/>
          <p:cNvSpPr/>
          <p:nvPr/>
        </p:nvSpPr>
        <p:spPr>
          <a:xfrm>
            <a:off x="2240280" y="749808"/>
            <a:ext cx="1389888" cy="292608"/>
          </a:xfrm>
          <a:prstGeom prst="roundRect">
            <a:avLst/>
          </a:prstGeom>
          <a:solidFill>
            <a:srgbClr val="F7E2DD"/>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B8424C"/>
                </a:solidFill>
                <a:latin typeface="Trebuchet MS"/>
              </a:rPr>
              <a:t>KHÓ</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03 / 03</a:t>
            </a:r>
          </a:p>
        </p:txBody>
      </p:sp>
      <p:sp>
        <p:nvSpPr>
          <p:cNvPr id="7" name="Rounded Rectangle 6"/>
          <p:cNvSpPr/>
          <p:nvPr/>
        </p:nvSpPr>
        <p:spPr>
          <a:xfrm>
            <a:off x="7562088" y="749808"/>
            <a:ext cx="1581912" cy="292608"/>
          </a:xfrm>
          <a:prstGeom prst="roundRect">
            <a:avLst/>
          </a:prstGeom>
          <a:solidFill>
            <a:srgbClr val="FBE3E3"/>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1000" b="1" i="0">
                <a:solidFill>
                  <a:srgbClr val="B8424C"/>
                </a:solidFill>
                <a:latin typeface="Trebuchet MS"/>
              </a:rPr>
              <a:t>RẤT TIẾC!</a:t>
            </a:r>
          </a:p>
        </p:txBody>
      </p:sp>
      <p:sp>
        <p:nvSpPr>
          <p:cNvPr id="8"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1" name="TextBox 10"/>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1860" b="1" i="0">
                <a:solidFill>
                  <a:srgbClr val="FFFFFF"/>
                </a:solidFill>
                <a:latin typeface="Aptos"/>
              </a:rPr>
              <a:t>Dựa vào luận điểm “bản chất con người là tổng hòa các quan hệ xã hội”, lập luận nào phản bác tốt nhất quan điểm bản chất con người bẩm sinh, cố định?</a:t>
            </a:r>
          </a:p>
        </p:txBody>
      </p:sp>
      <p:sp>
        <p:nvSpPr>
          <p:cNvPr id="12"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4" name="TextBox 13"/>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5" name="Rounded Rectangle 14"/>
          <p:cNvSpPr/>
          <p:nvPr/>
        </p:nvSpPr>
        <p:spPr>
          <a:xfrm>
            <a:off x="9646920" y="1371600"/>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01</a:t>
            </a:r>
          </a:p>
        </p:txBody>
      </p:sp>
      <p:sp>
        <p:nvSpPr>
          <p:cNvPr id="17" name="TextBox 16"/>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nhỏ</a:t>
            </a:r>
          </a:p>
        </p:txBody>
      </p:sp>
      <p:sp>
        <p:nvSpPr>
          <p:cNvPr id="18" name="Rounded Rectangle 17"/>
          <p:cNvSpPr/>
          <p:nvPr/>
        </p:nvSpPr>
        <p:spPr>
          <a:xfrm>
            <a:off x="9646920" y="2487168"/>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02</a:t>
            </a:r>
          </a:p>
        </p:txBody>
      </p:sp>
      <p:sp>
        <p:nvSpPr>
          <p:cNvPr id="20" name="TextBox 19"/>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vừa</a:t>
            </a:r>
          </a:p>
        </p:txBody>
      </p:sp>
      <p:sp>
        <p:nvSpPr>
          <p:cNvPr id="21" name="Rounded Rectangle 20"/>
          <p:cNvSpPr/>
          <p:nvPr/>
        </p:nvSpPr>
        <p:spPr>
          <a:xfrm>
            <a:off x="9646920" y="3602736"/>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03</a:t>
            </a:r>
          </a:p>
        </p:txBody>
      </p:sp>
      <p:sp>
        <p:nvSpPr>
          <p:cNvPr id="23" name="TextBox 22"/>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lớn</a:t>
            </a:r>
          </a:p>
        </p:txBody>
      </p:sp>
      <p:sp>
        <p:nvSpPr>
          <p:cNvPr id="24" name="TextBox 23"/>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QUÀ GIỮ LẠI</a:t>
            </a:r>
          </a:p>
        </p:txBody>
      </p:sp>
      <p:sp>
        <p:nvSpPr>
          <p:cNvPr id="25" name="TextBox 24"/>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Quà vừa</a:t>
            </a:r>
          </a:p>
        </p:txBody>
      </p:sp>
      <p:sp>
        <p:nvSpPr>
          <p:cNvPr id="26" name="TextBox 25"/>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7" name="Đáp án A"/>
          <p:cNvSpPr/>
          <p:nvPr/>
        </p:nvSpPr>
        <p:spPr>
          <a:xfrm>
            <a:off x="530352" y="2770632"/>
            <a:ext cx="4215384" cy="1170432"/>
          </a:xfrm>
          <a:prstGeom prst="roundRect">
            <a:avLst/>
          </a:prstGeom>
          <a:solidFill>
            <a:srgbClr val="E45C64"/>
          </a:solidFill>
          <a:ln w="15875">
            <a:solidFill>
              <a:srgbClr val="B8424C"/>
            </a:solidFill>
          </a:ln>
          <a:effectLst>
            <a:glow rad="110000">
              <a:srgbClr val="E45C64">
                <a:alpha val="35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1" i="0">
                <a:solidFill>
                  <a:srgbClr val="FFFFFF"/>
                </a:solidFill>
                <a:latin typeface="Aptos"/>
              </a:rPr>
              <a:t>Di truyền quy định toàn bộ phẩm chất; giáo dục chỉ làm lộ ra bản chất đã có sẵn.</a:t>
            </a:r>
          </a:p>
        </p:txBody>
      </p:sp>
      <p:sp>
        <p:nvSpPr>
          <p:cNvPr id="28" name="Oval 27"/>
          <p:cNvSpPr/>
          <p:nvPr/>
        </p:nvSpPr>
        <p:spPr>
          <a:xfrm>
            <a:off x="685800" y="3154679"/>
            <a:ext cx="402336" cy="402336"/>
          </a:xfrm>
          <a:prstGeom prst="ellipse">
            <a:avLst/>
          </a:prstGeom>
          <a:solidFill>
            <a:srgbClr val="FFFFFF"/>
          </a:solidFill>
          <a:ln w="12700">
            <a:solidFill>
              <a:srgbClr val="B8424C"/>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B8424C"/>
                </a:solidFill>
                <a:latin typeface="Trebuchet MS"/>
              </a:rPr>
              <a:t>A</a:t>
            </a:r>
          </a:p>
        </p:txBody>
      </p:sp>
      <p:cxnSp>
        <p:nvCxnSpPr>
          <p:cNvPr id="29" name="Connector 28"/>
          <p:cNvCxnSpPr/>
          <p:nvPr/>
        </p:nvCxnSpPr>
        <p:spPr>
          <a:xfrm>
            <a:off x="438912" y="297180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38912" y="3264408"/>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38912" y="3557016"/>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4764024" y="297180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764024" y="3264408"/>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764024" y="3557016"/>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sp>
        <p:nvSpPr>
          <p:cNvPr id="35" name="Đáp án B"/>
          <p:cNvSpPr/>
          <p:nvPr/>
        </p:nvSpPr>
        <p:spPr>
          <a:xfrm>
            <a:off x="4937760" y="2770632"/>
            <a:ext cx="4279392" cy="1170432"/>
          </a:xfrm>
          <a:prstGeom prst="roundRect">
            <a:avLst/>
          </a:prstGeom>
          <a:solidFill>
            <a:srgbClr val="2F9C72"/>
          </a:solidFill>
          <a:ln w="15875">
            <a:solidFill>
              <a:srgbClr val="2F9C72"/>
            </a:solidFill>
          </a:ln>
          <a:effectLst>
            <a:glow rad="190000">
              <a:srgbClr val="73D9A5">
                <a:alpha val="52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380" b="1" i="0">
                <a:solidFill>
                  <a:srgbClr val="FFFFFF"/>
                </a:solidFill>
                <a:latin typeface="Aptos"/>
              </a:rPr>
              <a:t>Quan hệ lịch sử, gia đình, giáo dục và hoạt động định hình, biến đổi nhân cách; con người cũng có thể tác động trở lại hoàn cảnh.</a:t>
            </a:r>
          </a:p>
        </p:txBody>
      </p:sp>
      <p:sp>
        <p:nvSpPr>
          <p:cNvPr id="36" name="Oval 35"/>
          <p:cNvSpPr/>
          <p:nvPr/>
        </p:nvSpPr>
        <p:spPr>
          <a:xfrm>
            <a:off x="5093208" y="3154679"/>
            <a:ext cx="402336" cy="402336"/>
          </a:xfrm>
          <a:prstGeom prst="ellipse">
            <a:avLst/>
          </a:prstGeom>
          <a:solidFill>
            <a:srgbClr val="FFFFFF"/>
          </a:solidFill>
          <a:ln w="12700">
            <a:solidFill>
              <a:srgbClr val="2F9C72"/>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F9C72"/>
                </a:solidFill>
                <a:latin typeface="Trebuchet MS"/>
              </a:rPr>
              <a:t>B</a:t>
            </a:r>
          </a:p>
        </p:txBody>
      </p:sp>
      <p:sp>
        <p:nvSpPr>
          <p:cNvPr id="37" name="Đáp án C"/>
          <p:cNvSpPr/>
          <p:nvPr/>
        </p:nvSpPr>
        <p:spPr>
          <a:xfrm>
            <a:off x="530352" y="4105656"/>
            <a:ext cx="4215384"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8A979B"/>
                </a:solidFill>
                <a:latin typeface="Aptos"/>
              </a:rPr>
              <a:t>Môi trường quyết định hoàn toàn, vì vậy cá nhân không thể thay đổi mình hay xã hội.</a:t>
            </a:r>
          </a:p>
        </p:txBody>
      </p:sp>
      <p:sp>
        <p:nvSpPr>
          <p:cNvPr id="38" name="Oval 37"/>
          <p:cNvSpPr/>
          <p:nvPr/>
        </p:nvSpPr>
        <p:spPr>
          <a:xfrm>
            <a:off x="685800"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C</a:t>
            </a:r>
          </a:p>
        </p:txBody>
      </p:sp>
      <p:sp>
        <p:nvSpPr>
          <p:cNvPr id="39" name="Đáp án D"/>
          <p:cNvSpPr/>
          <p:nvPr/>
        </p:nvSpPr>
        <p:spPr>
          <a:xfrm>
            <a:off x="4937760" y="4105656"/>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8A979B"/>
                </a:solidFill>
                <a:latin typeface="Aptos"/>
              </a:rPr>
              <a:t>Bản chất chỉ đổi theo tuổi tác, không chịu ảnh hưởng của môi trường xã hội.</a:t>
            </a:r>
          </a:p>
        </p:txBody>
      </p:sp>
      <p:sp>
        <p:nvSpPr>
          <p:cNvPr id="40" name="Oval 39"/>
          <p:cNvSpPr/>
          <p:nvPr/>
        </p:nvSpPr>
        <p:spPr>
          <a:xfrm>
            <a:off x="5093208"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D</a:t>
            </a:r>
          </a:p>
        </p:txBody>
      </p:sp>
      <p:sp>
        <p:nvSpPr>
          <p:cNvPr id="41" name="Rounded Rectangle 40"/>
          <p:cNvSpPr/>
          <p:nvPr/>
        </p:nvSpPr>
        <p:spPr>
          <a:xfrm>
            <a:off x="530352" y="5431536"/>
            <a:ext cx="5989320" cy="868680"/>
          </a:xfrm>
          <a:prstGeom prst="roundRect">
            <a:avLst/>
          </a:prstGeom>
          <a:solidFill>
            <a:srgbClr val="FBE5E3"/>
          </a:solidFill>
          <a:ln w="12700">
            <a:solidFill>
              <a:srgbClr val="F0C7C4"/>
            </a:solid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l">
              <a:lnSpc>
                <a:spcPct val="100000"/>
              </a:lnSpc>
              <a:spcBef>
                <a:spcPts val="0"/>
              </a:spcBef>
              <a:spcAft>
                <a:spcPts val="0"/>
              </a:spcAft>
            </a:pPr>
            <a:r>
              <a:rPr sz="980" b="1" i="0">
                <a:solidFill>
                  <a:srgbClr val="18324A"/>
                </a:solidFill>
                <a:latin typeface="Aptos"/>
              </a:rPr>
              <a:t>BẠN CHỌN: A  ·  ĐÁP ÁN ĐÚNG: B
Quan hệ lịch sử, gia đình, giáo dục và hoạt động định hình, biến đổi nhân cách; con người cũng có thể tác động trở lại hoàn cảnh.
QUÀ ĐẠT ĐƯỢC LƯỢT NÀY: Quà vừa</a:t>
            </a:r>
          </a:p>
        </p:txBody>
      </p:sp>
      <p:sp>
        <p:nvSpPr>
          <p:cNvPr id="42" name="Nút: NGƯỜI CHƠI TIẾP THEO  →">
            <a:hlinkClick r:id="rId2" action="ppaction://hlinksldjump"/>
          </p:cNvPr>
          <p:cNvSpPr/>
          <p:nvPr/>
        </p:nvSpPr>
        <p:spPr>
          <a:xfrm>
            <a:off x="6711696" y="5431536"/>
            <a:ext cx="2505456" cy="86868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240" b="1" i="0">
                <a:solidFill>
                  <a:srgbClr val="FFFFFF"/>
                </a:solidFill>
                <a:latin typeface="Trebuchet MS"/>
              </a:rPr>
              <a:t>NGƯỜI CHƠI TIẾP THEO  →</a:t>
            </a:r>
          </a:p>
        </p:txBody>
      </p:sp>
    </p:spTree>
  </p:cSld>
  <p:clrMapOvr>
    <a:masterClrMapping/>
  </p:clrMapOvr>
  <p:transition spd="med" advClick="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01 / 05</a:t>
            </a:r>
          </a:p>
        </p:txBody>
      </p:sp>
      <p:sp>
        <p:nvSpPr>
          <p:cNvPr id="5" name="Rounded Rectangle 4"/>
          <p:cNvSpPr/>
          <p:nvPr/>
        </p:nvSpPr>
        <p:spPr>
          <a:xfrm>
            <a:off x="2240280" y="749808"/>
            <a:ext cx="1389888" cy="292608"/>
          </a:xfrm>
          <a:prstGeom prst="roundRect">
            <a:avLst/>
          </a:prstGeom>
          <a:solidFill>
            <a:srgbClr val="F7E2DD"/>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B8424C"/>
                </a:solidFill>
                <a:latin typeface="Trebuchet MS"/>
              </a:rPr>
              <a:t>KHÓ</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03 / 03</a:t>
            </a:r>
          </a:p>
        </p:txBody>
      </p:sp>
      <p:sp>
        <p:nvSpPr>
          <p:cNvPr id="7" name="Rounded Rectangle 6"/>
          <p:cNvSpPr/>
          <p:nvPr/>
        </p:nvSpPr>
        <p:spPr>
          <a:xfrm>
            <a:off x="7562088" y="749808"/>
            <a:ext cx="1581912" cy="292608"/>
          </a:xfrm>
          <a:prstGeom prst="roundRect">
            <a:avLst/>
          </a:prstGeom>
          <a:solidFill>
            <a:srgbClr val="FBE3E3"/>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1000" b="1" i="0">
                <a:solidFill>
                  <a:srgbClr val="B8424C"/>
                </a:solidFill>
                <a:latin typeface="Trebuchet MS"/>
              </a:rPr>
              <a:t>RẤT TIẾC!</a:t>
            </a:r>
          </a:p>
        </p:txBody>
      </p:sp>
      <p:sp>
        <p:nvSpPr>
          <p:cNvPr id="8"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1" name="TextBox 10"/>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1860" b="1" i="0">
                <a:solidFill>
                  <a:srgbClr val="FFFFFF"/>
                </a:solidFill>
                <a:latin typeface="Aptos"/>
              </a:rPr>
              <a:t>Dựa vào luận điểm “bản chất con người là tổng hòa các quan hệ xã hội”, lập luận nào phản bác tốt nhất quan điểm bản chất con người bẩm sinh, cố định?</a:t>
            </a:r>
          </a:p>
        </p:txBody>
      </p:sp>
      <p:sp>
        <p:nvSpPr>
          <p:cNvPr id="12"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4" name="TextBox 13"/>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5" name="Rounded Rectangle 14"/>
          <p:cNvSpPr/>
          <p:nvPr/>
        </p:nvSpPr>
        <p:spPr>
          <a:xfrm>
            <a:off x="9646920" y="1371600"/>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01</a:t>
            </a:r>
          </a:p>
        </p:txBody>
      </p:sp>
      <p:sp>
        <p:nvSpPr>
          <p:cNvPr id="17" name="TextBox 16"/>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nhỏ</a:t>
            </a:r>
          </a:p>
        </p:txBody>
      </p:sp>
      <p:sp>
        <p:nvSpPr>
          <p:cNvPr id="18" name="Rounded Rectangle 17"/>
          <p:cNvSpPr/>
          <p:nvPr/>
        </p:nvSpPr>
        <p:spPr>
          <a:xfrm>
            <a:off x="9646920" y="2487168"/>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02</a:t>
            </a:r>
          </a:p>
        </p:txBody>
      </p:sp>
      <p:sp>
        <p:nvSpPr>
          <p:cNvPr id="20" name="TextBox 19"/>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vừa</a:t>
            </a:r>
          </a:p>
        </p:txBody>
      </p:sp>
      <p:sp>
        <p:nvSpPr>
          <p:cNvPr id="21" name="Rounded Rectangle 20"/>
          <p:cNvSpPr/>
          <p:nvPr/>
        </p:nvSpPr>
        <p:spPr>
          <a:xfrm>
            <a:off x="9646920" y="3602736"/>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03</a:t>
            </a:r>
          </a:p>
        </p:txBody>
      </p:sp>
      <p:sp>
        <p:nvSpPr>
          <p:cNvPr id="23" name="TextBox 22"/>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lớn</a:t>
            </a:r>
          </a:p>
        </p:txBody>
      </p:sp>
      <p:sp>
        <p:nvSpPr>
          <p:cNvPr id="24" name="TextBox 23"/>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QUÀ GIỮ LẠI</a:t>
            </a:r>
          </a:p>
        </p:txBody>
      </p:sp>
      <p:sp>
        <p:nvSpPr>
          <p:cNvPr id="25" name="TextBox 24"/>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Quà vừa</a:t>
            </a:r>
          </a:p>
        </p:txBody>
      </p:sp>
      <p:sp>
        <p:nvSpPr>
          <p:cNvPr id="26" name="TextBox 25"/>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7" name="Đáp án A"/>
          <p:cNvSpPr/>
          <p:nvPr/>
        </p:nvSpPr>
        <p:spPr>
          <a:xfrm>
            <a:off x="530352" y="2770632"/>
            <a:ext cx="4215384"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8A979B"/>
                </a:solidFill>
                <a:latin typeface="Aptos"/>
              </a:rPr>
              <a:t>Di truyền quy định toàn bộ phẩm chất; giáo dục chỉ làm lộ ra bản chất đã có sẵn.</a:t>
            </a:r>
          </a:p>
        </p:txBody>
      </p:sp>
      <p:sp>
        <p:nvSpPr>
          <p:cNvPr id="28" name="Oval 27"/>
          <p:cNvSpPr/>
          <p:nvPr/>
        </p:nvSpPr>
        <p:spPr>
          <a:xfrm>
            <a:off x="685800" y="3154679"/>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A</a:t>
            </a:r>
          </a:p>
        </p:txBody>
      </p:sp>
      <p:sp>
        <p:nvSpPr>
          <p:cNvPr id="29" name="Đáp án B"/>
          <p:cNvSpPr/>
          <p:nvPr/>
        </p:nvSpPr>
        <p:spPr>
          <a:xfrm>
            <a:off x="4937760" y="2770632"/>
            <a:ext cx="4279392" cy="1170432"/>
          </a:xfrm>
          <a:prstGeom prst="roundRect">
            <a:avLst/>
          </a:prstGeom>
          <a:solidFill>
            <a:srgbClr val="2F9C72"/>
          </a:solidFill>
          <a:ln w="15875">
            <a:solidFill>
              <a:srgbClr val="2F9C72"/>
            </a:solidFill>
          </a:ln>
          <a:effectLst>
            <a:glow rad="190000">
              <a:srgbClr val="73D9A5">
                <a:alpha val="52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380" b="1" i="0">
                <a:solidFill>
                  <a:srgbClr val="FFFFFF"/>
                </a:solidFill>
                <a:latin typeface="Aptos"/>
              </a:rPr>
              <a:t>Quan hệ lịch sử, gia đình, giáo dục và hoạt động định hình, biến đổi nhân cách; con người cũng có thể tác động trở lại hoàn cảnh.</a:t>
            </a:r>
          </a:p>
        </p:txBody>
      </p:sp>
      <p:sp>
        <p:nvSpPr>
          <p:cNvPr id="30" name="Oval 29"/>
          <p:cNvSpPr/>
          <p:nvPr/>
        </p:nvSpPr>
        <p:spPr>
          <a:xfrm>
            <a:off x="5093208" y="3154679"/>
            <a:ext cx="402336" cy="402336"/>
          </a:xfrm>
          <a:prstGeom prst="ellipse">
            <a:avLst/>
          </a:prstGeom>
          <a:solidFill>
            <a:srgbClr val="FFFFFF"/>
          </a:solidFill>
          <a:ln w="12700">
            <a:solidFill>
              <a:srgbClr val="2F9C72"/>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F9C72"/>
                </a:solidFill>
                <a:latin typeface="Trebuchet MS"/>
              </a:rPr>
              <a:t>B</a:t>
            </a:r>
          </a:p>
        </p:txBody>
      </p:sp>
      <p:sp>
        <p:nvSpPr>
          <p:cNvPr id="31" name="Đáp án C"/>
          <p:cNvSpPr/>
          <p:nvPr/>
        </p:nvSpPr>
        <p:spPr>
          <a:xfrm>
            <a:off x="530352" y="4105656"/>
            <a:ext cx="4215384" cy="1170432"/>
          </a:xfrm>
          <a:prstGeom prst="roundRect">
            <a:avLst/>
          </a:prstGeom>
          <a:solidFill>
            <a:srgbClr val="E45C64"/>
          </a:solidFill>
          <a:ln w="15875">
            <a:solidFill>
              <a:srgbClr val="B8424C"/>
            </a:solidFill>
          </a:ln>
          <a:effectLst>
            <a:glow rad="110000">
              <a:srgbClr val="E45C64">
                <a:alpha val="35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1" i="0">
                <a:solidFill>
                  <a:srgbClr val="FFFFFF"/>
                </a:solidFill>
                <a:latin typeface="Aptos"/>
              </a:rPr>
              <a:t>Môi trường quyết định hoàn toàn, vì vậy cá nhân không thể thay đổi mình hay xã hội.</a:t>
            </a:r>
          </a:p>
        </p:txBody>
      </p:sp>
      <p:sp>
        <p:nvSpPr>
          <p:cNvPr id="32" name="Oval 31"/>
          <p:cNvSpPr/>
          <p:nvPr/>
        </p:nvSpPr>
        <p:spPr>
          <a:xfrm>
            <a:off x="685800" y="4489704"/>
            <a:ext cx="402336" cy="402336"/>
          </a:xfrm>
          <a:prstGeom prst="ellipse">
            <a:avLst/>
          </a:prstGeom>
          <a:solidFill>
            <a:srgbClr val="FFFFFF"/>
          </a:solidFill>
          <a:ln w="12700">
            <a:solidFill>
              <a:srgbClr val="B8424C"/>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B8424C"/>
                </a:solidFill>
                <a:latin typeface="Trebuchet MS"/>
              </a:rPr>
              <a:t>C</a:t>
            </a:r>
          </a:p>
        </p:txBody>
      </p:sp>
      <p:cxnSp>
        <p:nvCxnSpPr>
          <p:cNvPr id="33" name="Connector 32"/>
          <p:cNvCxnSpPr/>
          <p:nvPr/>
        </p:nvCxnSpPr>
        <p:spPr>
          <a:xfrm>
            <a:off x="438912" y="4306824"/>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38912" y="4599432"/>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38912" y="489204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4764024" y="4306824"/>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764024" y="4599432"/>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764024" y="489204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sp>
        <p:nvSpPr>
          <p:cNvPr id="39" name="Đáp án D"/>
          <p:cNvSpPr/>
          <p:nvPr/>
        </p:nvSpPr>
        <p:spPr>
          <a:xfrm>
            <a:off x="4937760" y="4105656"/>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8A979B"/>
                </a:solidFill>
                <a:latin typeface="Aptos"/>
              </a:rPr>
              <a:t>Bản chất chỉ đổi theo tuổi tác, không chịu ảnh hưởng của môi trường xã hội.</a:t>
            </a:r>
          </a:p>
        </p:txBody>
      </p:sp>
      <p:sp>
        <p:nvSpPr>
          <p:cNvPr id="40" name="Oval 39"/>
          <p:cNvSpPr/>
          <p:nvPr/>
        </p:nvSpPr>
        <p:spPr>
          <a:xfrm>
            <a:off x="5093208"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D</a:t>
            </a:r>
          </a:p>
        </p:txBody>
      </p:sp>
      <p:sp>
        <p:nvSpPr>
          <p:cNvPr id="41" name="Rounded Rectangle 40"/>
          <p:cNvSpPr/>
          <p:nvPr/>
        </p:nvSpPr>
        <p:spPr>
          <a:xfrm>
            <a:off x="530352" y="5431536"/>
            <a:ext cx="5989320" cy="868680"/>
          </a:xfrm>
          <a:prstGeom prst="roundRect">
            <a:avLst/>
          </a:prstGeom>
          <a:solidFill>
            <a:srgbClr val="FBE5E3"/>
          </a:solidFill>
          <a:ln w="12700">
            <a:solidFill>
              <a:srgbClr val="F0C7C4"/>
            </a:solid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l">
              <a:lnSpc>
                <a:spcPct val="100000"/>
              </a:lnSpc>
              <a:spcBef>
                <a:spcPts val="0"/>
              </a:spcBef>
              <a:spcAft>
                <a:spcPts val="0"/>
              </a:spcAft>
            </a:pPr>
            <a:r>
              <a:rPr sz="980" b="1" i="0">
                <a:solidFill>
                  <a:srgbClr val="18324A"/>
                </a:solidFill>
                <a:latin typeface="Aptos"/>
              </a:rPr>
              <a:t>BẠN CHỌN: C  ·  ĐÁP ÁN ĐÚNG: B
Quan hệ lịch sử, gia đình, giáo dục và hoạt động định hình, biến đổi nhân cách; con người cũng có thể tác động trở lại hoàn cảnh.
QUÀ ĐẠT ĐƯỢC LƯỢT NÀY: Quà vừa</a:t>
            </a:r>
          </a:p>
        </p:txBody>
      </p:sp>
      <p:sp>
        <p:nvSpPr>
          <p:cNvPr id="42" name="Nút: NGƯỜI CHƠI TIẾP THEO  →">
            <a:hlinkClick r:id="rId2" action="ppaction://hlinksldjump"/>
          </p:cNvPr>
          <p:cNvSpPr/>
          <p:nvPr/>
        </p:nvSpPr>
        <p:spPr>
          <a:xfrm>
            <a:off x="6711696" y="5431536"/>
            <a:ext cx="2505456" cy="86868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240" b="1" i="0">
                <a:solidFill>
                  <a:srgbClr val="FFFFFF"/>
                </a:solidFill>
                <a:latin typeface="Trebuchet MS"/>
              </a:rPr>
              <a:t>NGƯỜI CHƠI TIẾP THEO  →</a:t>
            </a:r>
          </a:p>
        </p:txBody>
      </p:sp>
    </p:spTree>
  </p:cSld>
  <p:clrMapOvr>
    <a:masterClrMapping/>
  </p:clrMapOvr>
  <p:transition spd="med" advClick="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01 / 05</a:t>
            </a:r>
          </a:p>
        </p:txBody>
      </p:sp>
      <p:sp>
        <p:nvSpPr>
          <p:cNvPr id="5" name="Rounded Rectangle 4"/>
          <p:cNvSpPr/>
          <p:nvPr/>
        </p:nvSpPr>
        <p:spPr>
          <a:xfrm>
            <a:off x="2240280" y="749808"/>
            <a:ext cx="1389888" cy="292608"/>
          </a:xfrm>
          <a:prstGeom prst="roundRect">
            <a:avLst/>
          </a:prstGeom>
          <a:solidFill>
            <a:srgbClr val="F7E2DD"/>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B8424C"/>
                </a:solidFill>
                <a:latin typeface="Trebuchet MS"/>
              </a:rPr>
              <a:t>KHÓ</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03 / 03</a:t>
            </a:r>
          </a:p>
        </p:txBody>
      </p:sp>
      <p:sp>
        <p:nvSpPr>
          <p:cNvPr id="7" name="Rounded Rectangle 6"/>
          <p:cNvSpPr/>
          <p:nvPr/>
        </p:nvSpPr>
        <p:spPr>
          <a:xfrm>
            <a:off x="7562088" y="749808"/>
            <a:ext cx="1581912" cy="292608"/>
          </a:xfrm>
          <a:prstGeom prst="roundRect">
            <a:avLst/>
          </a:prstGeom>
          <a:solidFill>
            <a:srgbClr val="FBE3E3"/>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1000" b="1" i="0">
                <a:solidFill>
                  <a:srgbClr val="B8424C"/>
                </a:solidFill>
                <a:latin typeface="Trebuchet MS"/>
              </a:rPr>
              <a:t>RẤT TIẾC!</a:t>
            </a:r>
          </a:p>
        </p:txBody>
      </p:sp>
      <p:sp>
        <p:nvSpPr>
          <p:cNvPr id="8"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1" name="TextBox 10"/>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1860" b="1" i="0">
                <a:solidFill>
                  <a:srgbClr val="FFFFFF"/>
                </a:solidFill>
                <a:latin typeface="Aptos"/>
              </a:rPr>
              <a:t>Dựa vào luận điểm “bản chất con người là tổng hòa các quan hệ xã hội”, lập luận nào phản bác tốt nhất quan điểm bản chất con người bẩm sinh, cố định?</a:t>
            </a:r>
          </a:p>
        </p:txBody>
      </p:sp>
      <p:sp>
        <p:nvSpPr>
          <p:cNvPr id="12"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4" name="TextBox 13"/>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5" name="Rounded Rectangle 14"/>
          <p:cNvSpPr/>
          <p:nvPr/>
        </p:nvSpPr>
        <p:spPr>
          <a:xfrm>
            <a:off x="9646920" y="1371600"/>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01</a:t>
            </a:r>
          </a:p>
        </p:txBody>
      </p:sp>
      <p:sp>
        <p:nvSpPr>
          <p:cNvPr id="17" name="TextBox 16"/>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nhỏ</a:t>
            </a:r>
          </a:p>
        </p:txBody>
      </p:sp>
      <p:sp>
        <p:nvSpPr>
          <p:cNvPr id="18" name="Rounded Rectangle 17"/>
          <p:cNvSpPr/>
          <p:nvPr/>
        </p:nvSpPr>
        <p:spPr>
          <a:xfrm>
            <a:off x="9646920" y="2487168"/>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02</a:t>
            </a:r>
          </a:p>
        </p:txBody>
      </p:sp>
      <p:sp>
        <p:nvSpPr>
          <p:cNvPr id="20" name="TextBox 19"/>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vừa</a:t>
            </a:r>
          </a:p>
        </p:txBody>
      </p:sp>
      <p:sp>
        <p:nvSpPr>
          <p:cNvPr id="21" name="Rounded Rectangle 20"/>
          <p:cNvSpPr/>
          <p:nvPr/>
        </p:nvSpPr>
        <p:spPr>
          <a:xfrm>
            <a:off x="9646920" y="3602736"/>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03</a:t>
            </a:r>
          </a:p>
        </p:txBody>
      </p:sp>
      <p:sp>
        <p:nvSpPr>
          <p:cNvPr id="23" name="TextBox 22"/>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lớn</a:t>
            </a:r>
          </a:p>
        </p:txBody>
      </p:sp>
      <p:sp>
        <p:nvSpPr>
          <p:cNvPr id="24" name="TextBox 23"/>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QUÀ GIỮ LẠI</a:t>
            </a:r>
          </a:p>
        </p:txBody>
      </p:sp>
      <p:sp>
        <p:nvSpPr>
          <p:cNvPr id="25" name="TextBox 24"/>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Quà vừa</a:t>
            </a:r>
          </a:p>
        </p:txBody>
      </p:sp>
      <p:sp>
        <p:nvSpPr>
          <p:cNvPr id="26" name="TextBox 25"/>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7" name="Đáp án A"/>
          <p:cNvSpPr/>
          <p:nvPr/>
        </p:nvSpPr>
        <p:spPr>
          <a:xfrm>
            <a:off x="530352" y="2770632"/>
            <a:ext cx="4215384"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8A979B"/>
                </a:solidFill>
                <a:latin typeface="Aptos"/>
              </a:rPr>
              <a:t>Di truyền quy định toàn bộ phẩm chất; giáo dục chỉ làm lộ ra bản chất đã có sẵn.</a:t>
            </a:r>
          </a:p>
        </p:txBody>
      </p:sp>
      <p:sp>
        <p:nvSpPr>
          <p:cNvPr id="28" name="Oval 27"/>
          <p:cNvSpPr/>
          <p:nvPr/>
        </p:nvSpPr>
        <p:spPr>
          <a:xfrm>
            <a:off x="685800" y="3154679"/>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A</a:t>
            </a:r>
          </a:p>
        </p:txBody>
      </p:sp>
      <p:sp>
        <p:nvSpPr>
          <p:cNvPr id="29" name="Đáp án B"/>
          <p:cNvSpPr/>
          <p:nvPr/>
        </p:nvSpPr>
        <p:spPr>
          <a:xfrm>
            <a:off x="4937760" y="2770632"/>
            <a:ext cx="4279392" cy="1170432"/>
          </a:xfrm>
          <a:prstGeom prst="roundRect">
            <a:avLst/>
          </a:prstGeom>
          <a:solidFill>
            <a:srgbClr val="2F9C72"/>
          </a:solidFill>
          <a:ln w="15875">
            <a:solidFill>
              <a:srgbClr val="2F9C72"/>
            </a:solidFill>
          </a:ln>
          <a:effectLst>
            <a:glow rad="190000">
              <a:srgbClr val="73D9A5">
                <a:alpha val="52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380" b="1" i="0">
                <a:solidFill>
                  <a:srgbClr val="FFFFFF"/>
                </a:solidFill>
                <a:latin typeface="Aptos"/>
              </a:rPr>
              <a:t>Quan hệ lịch sử, gia đình, giáo dục và hoạt động định hình, biến đổi nhân cách; con người cũng có thể tác động trở lại hoàn cảnh.</a:t>
            </a:r>
          </a:p>
        </p:txBody>
      </p:sp>
      <p:sp>
        <p:nvSpPr>
          <p:cNvPr id="30" name="Oval 29"/>
          <p:cNvSpPr/>
          <p:nvPr/>
        </p:nvSpPr>
        <p:spPr>
          <a:xfrm>
            <a:off x="5093208" y="3154679"/>
            <a:ext cx="402336" cy="402336"/>
          </a:xfrm>
          <a:prstGeom prst="ellipse">
            <a:avLst/>
          </a:prstGeom>
          <a:solidFill>
            <a:srgbClr val="FFFFFF"/>
          </a:solidFill>
          <a:ln w="12700">
            <a:solidFill>
              <a:srgbClr val="2F9C72"/>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F9C72"/>
                </a:solidFill>
                <a:latin typeface="Trebuchet MS"/>
              </a:rPr>
              <a:t>B</a:t>
            </a:r>
          </a:p>
        </p:txBody>
      </p:sp>
      <p:sp>
        <p:nvSpPr>
          <p:cNvPr id="31" name="Đáp án C"/>
          <p:cNvSpPr/>
          <p:nvPr/>
        </p:nvSpPr>
        <p:spPr>
          <a:xfrm>
            <a:off x="530352" y="4105656"/>
            <a:ext cx="4215384"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8A979B"/>
                </a:solidFill>
                <a:latin typeface="Aptos"/>
              </a:rPr>
              <a:t>Môi trường quyết định hoàn toàn, vì vậy cá nhân không thể thay đổi mình hay xã hội.</a:t>
            </a:r>
          </a:p>
        </p:txBody>
      </p:sp>
      <p:sp>
        <p:nvSpPr>
          <p:cNvPr id="32" name="Oval 31"/>
          <p:cNvSpPr/>
          <p:nvPr/>
        </p:nvSpPr>
        <p:spPr>
          <a:xfrm>
            <a:off x="685800"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C</a:t>
            </a:r>
          </a:p>
        </p:txBody>
      </p:sp>
      <p:sp>
        <p:nvSpPr>
          <p:cNvPr id="33" name="Đáp án D"/>
          <p:cNvSpPr/>
          <p:nvPr/>
        </p:nvSpPr>
        <p:spPr>
          <a:xfrm>
            <a:off x="4937760" y="4105656"/>
            <a:ext cx="4279392" cy="1170432"/>
          </a:xfrm>
          <a:prstGeom prst="roundRect">
            <a:avLst/>
          </a:prstGeom>
          <a:solidFill>
            <a:srgbClr val="E45C64"/>
          </a:solidFill>
          <a:ln w="15875">
            <a:solidFill>
              <a:srgbClr val="B8424C"/>
            </a:solidFill>
          </a:ln>
          <a:effectLst>
            <a:glow rad="110000">
              <a:srgbClr val="E45C64">
                <a:alpha val="35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1" i="0">
                <a:solidFill>
                  <a:srgbClr val="FFFFFF"/>
                </a:solidFill>
                <a:latin typeface="Aptos"/>
              </a:rPr>
              <a:t>Bản chất chỉ đổi theo tuổi tác, không chịu ảnh hưởng của môi trường xã hội.</a:t>
            </a:r>
          </a:p>
        </p:txBody>
      </p:sp>
      <p:sp>
        <p:nvSpPr>
          <p:cNvPr id="34" name="Oval 33"/>
          <p:cNvSpPr/>
          <p:nvPr/>
        </p:nvSpPr>
        <p:spPr>
          <a:xfrm>
            <a:off x="5093208" y="4489704"/>
            <a:ext cx="402336" cy="402336"/>
          </a:xfrm>
          <a:prstGeom prst="ellipse">
            <a:avLst/>
          </a:prstGeom>
          <a:solidFill>
            <a:srgbClr val="FFFFFF"/>
          </a:solidFill>
          <a:ln w="12700">
            <a:solidFill>
              <a:srgbClr val="B8424C"/>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B8424C"/>
                </a:solidFill>
                <a:latin typeface="Trebuchet MS"/>
              </a:rPr>
              <a:t>D</a:t>
            </a:r>
          </a:p>
        </p:txBody>
      </p:sp>
      <p:cxnSp>
        <p:nvCxnSpPr>
          <p:cNvPr id="35" name="Connector 34"/>
          <p:cNvCxnSpPr/>
          <p:nvPr/>
        </p:nvCxnSpPr>
        <p:spPr>
          <a:xfrm>
            <a:off x="4846320" y="4306824"/>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4846320" y="4599432"/>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846320" y="489204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9235440" y="4306824"/>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9235440" y="4599432"/>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9235440" y="489204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530352" y="5431536"/>
            <a:ext cx="5989320" cy="868680"/>
          </a:xfrm>
          <a:prstGeom prst="roundRect">
            <a:avLst/>
          </a:prstGeom>
          <a:solidFill>
            <a:srgbClr val="FBE5E3"/>
          </a:solidFill>
          <a:ln w="12700">
            <a:solidFill>
              <a:srgbClr val="F0C7C4"/>
            </a:solid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l">
              <a:lnSpc>
                <a:spcPct val="100000"/>
              </a:lnSpc>
              <a:spcBef>
                <a:spcPts val="0"/>
              </a:spcBef>
              <a:spcAft>
                <a:spcPts val="0"/>
              </a:spcAft>
            </a:pPr>
            <a:r>
              <a:rPr sz="980" b="1" i="0">
                <a:solidFill>
                  <a:srgbClr val="18324A"/>
                </a:solidFill>
                <a:latin typeface="Aptos"/>
              </a:rPr>
              <a:t>BẠN CHỌN: D  ·  ĐÁP ÁN ĐÚNG: B
Quan hệ lịch sử, gia đình, giáo dục và hoạt động định hình, biến đổi nhân cách; con người cũng có thể tác động trở lại hoàn cảnh.
QUÀ ĐẠT ĐƯỢC LƯỢT NÀY: Quà vừa</a:t>
            </a:r>
          </a:p>
        </p:txBody>
      </p:sp>
      <p:sp>
        <p:nvSpPr>
          <p:cNvPr id="42" name="Nút: NGƯỜI CHƠI TIẾP THEO  →">
            <a:hlinkClick r:id="rId2" action="ppaction://hlinksldjump"/>
          </p:cNvPr>
          <p:cNvSpPr/>
          <p:nvPr/>
        </p:nvSpPr>
        <p:spPr>
          <a:xfrm>
            <a:off x="6711696" y="5431536"/>
            <a:ext cx="2505456" cy="86868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240" b="1" i="0">
                <a:solidFill>
                  <a:srgbClr val="FFFFFF"/>
                </a:solidFill>
                <a:latin typeface="Trebuchet MS"/>
              </a:rPr>
              <a:t>NGƯỜI CHƠI TIẾP THEO  →</a:t>
            </a:r>
          </a:p>
        </p:txBody>
      </p:sp>
    </p:spTree>
  </p:cSld>
  <p:clrMapOvr>
    <a:masterClrMapping/>
  </p:clrMapOvr>
  <p:transition spd="med" advClick="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Oval 1"/>
          <p:cNvSpPr/>
          <p:nvPr/>
        </p:nvSpPr>
        <p:spPr>
          <a:xfrm>
            <a:off x="-685800" y="-548640"/>
            <a:ext cx="2240280" cy="2240280"/>
          </a:xfrm>
          <a:prstGeom prst="ellipse">
            <a:avLst/>
          </a:prstGeom>
          <a:solidFill>
            <a:srgbClr val="DDE9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881360" y="5468112"/>
            <a:ext cx="2103120" cy="2103120"/>
          </a:xfrm>
          <a:prstGeom prst="ellipse">
            <a:avLst/>
          </a:prstGeom>
          <a:solidFill>
            <a:srgbClr val="E9E3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900" b="1" i="0">
                <a:solidFill>
                  <a:srgbClr val="18324A"/>
                </a:solidFill>
                <a:latin typeface="Trebuchet MS"/>
              </a:rPr>
              <a:t>AI LÀ TRIỆU PHÚ</a:t>
            </a:r>
          </a:p>
        </p:txBody>
      </p:sp>
      <p:sp>
        <p:nvSpPr>
          <p:cNvPr id="5" name="Rounded Rectangle 4"/>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960120" y="1143000"/>
            <a:ext cx="10268712" cy="5120640"/>
          </a:xfrm>
          <a:prstGeom prst="roundRect">
            <a:avLst/>
          </a:prstGeom>
          <a:solidFill>
            <a:srgbClr val="FBFCF9"/>
          </a:solidFill>
          <a:ln w="13970">
            <a:solidFill>
              <a:srgbClr val="D8E0D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919472" y="1490472"/>
            <a:ext cx="2340864" cy="38404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1200" b="1" i="0">
                <a:solidFill>
                  <a:srgbClr val="2E8177"/>
                </a:solidFill>
                <a:latin typeface="Trebuchet MS"/>
              </a:rPr>
              <a:t>LƯỢT 02 / 05</a:t>
            </a:r>
          </a:p>
        </p:txBody>
      </p:sp>
      <p:sp>
        <p:nvSpPr>
          <p:cNvPr id="8" name="TextBox 7"/>
          <p:cNvSpPr txBox="1"/>
          <p:nvPr/>
        </p:nvSpPr>
        <p:spPr>
          <a:xfrm>
            <a:off x="1508760" y="2029968"/>
            <a:ext cx="9171432" cy="713232"/>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3500" b="1" i="0">
                <a:solidFill>
                  <a:srgbClr val="18324A"/>
                </a:solidFill>
                <a:latin typeface="Trebuchet MS"/>
              </a:rPr>
              <a:t>NGƯỜI CHƠI 02</a:t>
            </a:r>
          </a:p>
        </p:txBody>
      </p:sp>
      <p:sp>
        <p:nvSpPr>
          <p:cNvPr id="9" name="TextBox 8"/>
          <p:cNvSpPr txBox="1"/>
          <p:nvPr/>
        </p:nvSpPr>
        <p:spPr>
          <a:xfrm>
            <a:off x="1600200" y="2798064"/>
            <a:ext cx="8988552" cy="347472"/>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20" b="1" i="0">
                <a:solidFill>
                  <a:srgbClr val="2E8177"/>
                </a:solidFill>
                <a:latin typeface="Aptos"/>
              </a:rPr>
              <a:t>Chủ đề: Con người trong triết học Mác – Lênin</a:t>
            </a:r>
          </a:p>
        </p:txBody>
      </p:sp>
      <p:sp>
        <p:nvSpPr>
          <p:cNvPr id="10" name="TextBox 9"/>
          <p:cNvSpPr txBox="1"/>
          <p:nvPr/>
        </p:nvSpPr>
        <p:spPr>
          <a:xfrm>
            <a:off x="1600200" y="3337521"/>
            <a:ext cx="8988552" cy="22867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420" b="0" i="0" dirty="0" err="1">
                <a:solidFill>
                  <a:srgbClr val="18324A"/>
                </a:solidFill>
                <a:latin typeface="Aptos"/>
              </a:rPr>
              <a:t>Lượt</a:t>
            </a:r>
            <a:r>
              <a:rPr sz="1420" b="0" i="0" dirty="0">
                <a:solidFill>
                  <a:srgbClr val="18324A"/>
                </a:solidFill>
                <a:latin typeface="Aptos"/>
              </a:rPr>
              <a:t> </a:t>
            </a:r>
            <a:r>
              <a:rPr sz="1420" b="0" i="0" dirty="0" err="1">
                <a:solidFill>
                  <a:srgbClr val="18324A"/>
                </a:solidFill>
                <a:latin typeface="Aptos"/>
              </a:rPr>
              <a:t>này</a:t>
            </a:r>
            <a:r>
              <a:rPr sz="1420" b="0" i="0" dirty="0">
                <a:solidFill>
                  <a:srgbClr val="18324A"/>
                </a:solidFill>
                <a:latin typeface="Aptos"/>
              </a:rPr>
              <a:t> </a:t>
            </a:r>
            <a:r>
              <a:rPr sz="1420" b="0" i="0" dirty="0" err="1">
                <a:solidFill>
                  <a:srgbClr val="18324A"/>
                </a:solidFill>
                <a:latin typeface="Aptos"/>
              </a:rPr>
              <a:t>có</a:t>
            </a:r>
            <a:r>
              <a:rPr sz="1420" b="0" i="0" dirty="0">
                <a:solidFill>
                  <a:srgbClr val="18324A"/>
                </a:solidFill>
                <a:latin typeface="Aptos"/>
              </a:rPr>
              <a:t> </a:t>
            </a:r>
            <a:r>
              <a:rPr sz="1420" b="0" i="0" dirty="0" err="1">
                <a:solidFill>
                  <a:srgbClr val="18324A"/>
                </a:solidFill>
                <a:latin typeface="Aptos"/>
              </a:rPr>
              <a:t>đúng</a:t>
            </a:r>
            <a:r>
              <a:rPr sz="1420" b="0" i="0" dirty="0">
                <a:solidFill>
                  <a:srgbClr val="18324A"/>
                </a:solidFill>
                <a:latin typeface="Aptos"/>
              </a:rPr>
              <a:t> 3 </a:t>
            </a:r>
            <a:r>
              <a:rPr sz="1420" b="0" i="0" dirty="0" err="1">
                <a:solidFill>
                  <a:srgbClr val="18324A"/>
                </a:solidFill>
                <a:latin typeface="Aptos"/>
              </a:rPr>
              <a:t>câu</a:t>
            </a:r>
            <a:r>
              <a:rPr sz="1420" b="0" i="0" dirty="0">
                <a:solidFill>
                  <a:srgbClr val="18324A"/>
                </a:solidFill>
                <a:latin typeface="Aptos"/>
              </a:rPr>
              <a:t>: 1 </a:t>
            </a:r>
            <a:r>
              <a:rPr sz="1420" b="0" i="0" dirty="0" err="1">
                <a:solidFill>
                  <a:srgbClr val="18324A"/>
                </a:solidFill>
                <a:latin typeface="Aptos"/>
              </a:rPr>
              <a:t>Dễ</a:t>
            </a:r>
            <a:r>
              <a:rPr sz="1420" b="0" i="0" dirty="0">
                <a:solidFill>
                  <a:srgbClr val="18324A"/>
                </a:solidFill>
                <a:latin typeface="Aptos"/>
              </a:rPr>
              <a:t>, 1 Trung </a:t>
            </a:r>
            <a:r>
              <a:rPr sz="1420" b="0" i="0" dirty="0" err="1">
                <a:solidFill>
                  <a:srgbClr val="18324A"/>
                </a:solidFill>
                <a:latin typeface="Aptos"/>
              </a:rPr>
              <a:t>bình</a:t>
            </a:r>
            <a:r>
              <a:rPr sz="1420" b="0" i="0" dirty="0">
                <a:solidFill>
                  <a:srgbClr val="18324A"/>
                </a:solidFill>
                <a:latin typeface="Aptos"/>
              </a:rPr>
              <a:t> </a:t>
            </a:r>
            <a:r>
              <a:rPr sz="1420" b="0" i="0" dirty="0" err="1">
                <a:solidFill>
                  <a:srgbClr val="18324A"/>
                </a:solidFill>
                <a:latin typeface="Aptos"/>
              </a:rPr>
              <a:t>và</a:t>
            </a:r>
            <a:r>
              <a:rPr sz="1420" b="0" i="0" dirty="0">
                <a:solidFill>
                  <a:srgbClr val="18324A"/>
                </a:solidFill>
                <a:latin typeface="Aptos"/>
              </a:rPr>
              <a:t> 1 </a:t>
            </a:r>
            <a:r>
              <a:rPr sz="1420" b="0" i="0" dirty="0" err="1">
                <a:solidFill>
                  <a:srgbClr val="18324A"/>
                </a:solidFill>
                <a:latin typeface="Aptos"/>
              </a:rPr>
              <a:t>Khó</a:t>
            </a:r>
            <a:endParaRPr sz="1420" b="0" i="0" dirty="0">
              <a:solidFill>
                <a:srgbClr val="18324A"/>
              </a:solidFill>
              <a:latin typeface="Aptos"/>
            </a:endParaRPr>
          </a:p>
        </p:txBody>
      </p:sp>
      <p:sp>
        <p:nvSpPr>
          <p:cNvPr id="11" name="TextBox 10"/>
          <p:cNvSpPr txBox="1"/>
          <p:nvPr/>
        </p:nvSpPr>
        <p:spPr>
          <a:xfrm>
            <a:off x="1600200" y="3648456"/>
            <a:ext cx="8988552" cy="42062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350" b="0" i="0" dirty="0" err="1">
                <a:solidFill>
                  <a:srgbClr val="657883"/>
                </a:solidFill>
                <a:latin typeface="Aptos"/>
              </a:rPr>
              <a:t>Trả</a:t>
            </a:r>
            <a:r>
              <a:rPr sz="1350" b="0" i="0" dirty="0">
                <a:solidFill>
                  <a:srgbClr val="657883"/>
                </a:solidFill>
                <a:latin typeface="Aptos"/>
              </a:rPr>
              <a:t> </a:t>
            </a:r>
            <a:r>
              <a:rPr sz="1350" b="0" i="0" dirty="0" err="1">
                <a:solidFill>
                  <a:srgbClr val="657883"/>
                </a:solidFill>
                <a:latin typeface="Aptos"/>
              </a:rPr>
              <a:t>lời</a:t>
            </a:r>
            <a:r>
              <a:rPr sz="1350" b="0" i="0" dirty="0">
                <a:solidFill>
                  <a:srgbClr val="657883"/>
                </a:solidFill>
                <a:latin typeface="Aptos"/>
              </a:rPr>
              <a:t> </a:t>
            </a:r>
            <a:r>
              <a:rPr sz="1350" b="0" i="0" dirty="0" err="1">
                <a:solidFill>
                  <a:srgbClr val="657883"/>
                </a:solidFill>
                <a:latin typeface="Aptos"/>
              </a:rPr>
              <a:t>đúng</a:t>
            </a:r>
            <a:r>
              <a:rPr sz="1350" b="0" i="0" dirty="0">
                <a:solidFill>
                  <a:srgbClr val="657883"/>
                </a:solidFill>
                <a:latin typeface="Aptos"/>
              </a:rPr>
              <a:t> </a:t>
            </a:r>
            <a:r>
              <a:rPr sz="1350" b="0" i="0" dirty="0" err="1">
                <a:solidFill>
                  <a:srgbClr val="657883"/>
                </a:solidFill>
                <a:latin typeface="Aptos"/>
              </a:rPr>
              <a:t>để</a:t>
            </a:r>
            <a:r>
              <a:rPr sz="1350" b="0" i="0" dirty="0">
                <a:solidFill>
                  <a:srgbClr val="657883"/>
                </a:solidFill>
                <a:latin typeface="Aptos"/>
              </a:rPr>
              <a:t> </a:t>
            </a:r>
            <a:r>
              <a:rPr sz="1350" b="0" i="0" dirty="0" err="1">
                <a:solidFill>
                  <a:srgbClr val="657883"/>
                </a:solidFill>
                <a:latin typeface="Aptos"/>
              </a:rPr>
              <a:t>nhận</a:t>
            </a:r>
            <a:r>
              <a:rPr sz="1350" b="0" i="0" dirty="0">
                <a:solidFill>
                  <a:srgbClr val="657883"/>
                </a:solidFill>
                <a:latin typeface="Aptos"/>
              </a:rPr>
              <a:t> </a:t>
            </a:r>
            <a:r>
              <a:rPr sz="1350" b="0" i="0" dirty="0" err="1">
                <a:solidFill>
                  <a:srgbClr val="657883"/>
                </a:solidFill>
                <a:latin typeface="Aptos"/>
              </a:rPr>
              <a:t>quà</a:t>
            </a:r>
            <a:r>
              <a:rPr sz="1350" b="0" i="0" dirty="0">
                <a:solidFill>
                  <a:srgbClr val="657883"/>
                </a:solidFill>
                <a:latin typeface="Aptos"/>
              </a:rPr>
              <a:t> </a:t>
            </a:r>
            <a:r>
              <a:rPr sz="1350" b="0" i="0" dirty="0" err="1">
                <a:solidFill>
                  <a:srgbClr val="657883"/>
                </a:solidFill>
                <a:latin typeface="Aptos"/>
              </a:rPr>
              <a:t>của</a:t>
            </a:r>
            <a:r>
              <a:rPr sz="1350" b="0" i="0" dirty="0">
                <a:solidFill>
                  <a:srgbClr val="657883"/>
                </a:solidFill>
                <a:latin typeface="Aptos"/>
              </a:rPr>
              <a:t> </a:t>
            </a:r>
            <a:r>
              <a:rPr sz="1350" b="0" i="0" dirty="0" err="1">
                <a:solidFill>
                  <a:srgbClr val="657883"/>
                </a:solidFill>
                <a:latin typeface="Aptos"/>
              </a:rPr>
              <a:t>câu</a:t>
            </a:r>
            <a:r>
              <a:rPr sz="1350" b="0" i="0" dirty="0">
                <a:solidFill>
                  <a:srgbClr val="657883"/>
                </a:solidFill>
                <a:latin typeface="Aptos"/>
              </a:rPr>
              <a:t> </a:t>
            </a:r>
            <a:r>
              <a:rPr sz="1350" b="0" i="0" dirty="0" err="1">
                <a:solidFill>
                  <a:srgbClr val="657883"/>
                </a:solidFill>
                <a:latin typeface="Aptos"/>
              </a:rPr>
              <a:t>và</a:t>
            </a:r>
            <a:r>
              <a:rPr sz="1350" b="0" i="0" dirty="0">
                <a:solidFill>
                  <a:srgbClr val="657883"/>
                </a:solidFill>
                <a:latin typeface="Aptos"/>
              </a:rPr>
              <a:t> </a:t>
            </a:r>
            <a:r>
              <a:rPr sz="1350" b="0" i="0" dirty="0" err="1">
                <a:solidFill>
                  <a:srgbClr val="657883"/>
                </a:solidFill>
                <a:latin typeface="Aptos"/>
              </a:rPr>
              <a:t>đi</a:t>
            </a:r>
            <a:r>
              <a:rPr sz="1350" b="0" i="0" dirty="0">
                <a:solidFill>
                  <a:srgbClr val="657883"/>
                </a:solidFill>
                <a:latin typeface="Aptos"/>
              </a:rPr>
              <a:t> </a:t>
            </a:r>
            <a:r>
              <a:rPr sz="1350" b="0" i="0" dirty="0" err="1">
                <a:solidFill>
                  <a:srgbClr val="657883"/>
                </a:solidFill>
                <a:latin typeface="Aptos"/>
              </a:rPr>
              <a:t>tiếp</a:t>
            </a:r>
            <a:r>
              <a:rPr sz="1350" b="0" i="0" dirty="0">
                <a:solidFill>
                  <a:srgbClr val="657883"/>
                </a:solidFill>
                <a:latin typeface="Aptos"/>
              </a:rPr>
              <a:t>; </a:t>
            </a:r>
            <a:r>
              <a:rPr sz="1350" b="0" i="0" dirty="0" err="1">
                <a:solidFill>
                  <a:srgbClr val="657883"/>
                </a:solidFill>
                <a:latin typeface="Aptos"/>
              </a:rPr>
              <a:t>trả</a:t>
            </a:r>
            <a:r>
              <a:rPr sz="1350" b="0" i="0" dirty="0">
                <a:solidFill>
                  <a:srgbClr val="657883"/>
                </a:solidFill>
                <a:latin typeface="Aptos"/>
              </a:rPr>
              <a:t> </a:t>
            </a:r>
            <a:r>
              <a:rPr sz="1350" b="0" i="0" dirty="0" err="1">
                <a:solidFill>
                  <a:srgbClr val="657883"/>
                </a:solidFill>
                <a:latin typeface="Aptos"/>
              </a:rPr>
              <a:t>lời</a:t>
            </a:r>
            <a:r>
              <a:rPr sz="1350" b="0" i="0" dirty="0">
                <a:solidFill>
                  <a:srgbClr val="657883"/>
                </a:solidFill>
                <a:latin typeface="Aptos"/>
              </a:rPr>
              <a:t> </a:t>
            </a:r>
            <a:r>
              <a:rPr sz="1350" b="0" i="0" dirty="0" err="1">
                <a:solidFill>
                  <a:srgbClr val="657883"/>
                </a:solidFill>
                <a:latin typeface="Aptos"/>
              </a:rPr>
              <a:t>sai</a:t>
            </a:r>
            <a:r>
              <a:rPr sz="1350" b="0" i="0" dirty="0">
                <a:solidFill>
                  <a:srgbClr val="657883"/>
                </a:solidFill>
                <a:latin typeface="Aptos"/>
              </a:rPr>
              <a:t> </a:t>
            </a:r>
            <a:r>
              <a:rPr sz="1350" b="0" i="0" dirty="0" err="1">
                <a:solidFill>
                  <a:srgbClr val="657883"/>
                </a:solidFill>
                <a:latin typeface="Aptos"/>
              </a:rPr>
              <a:t>thì</a:t>
            </a:r>
            <a:r>
              <a:rPr sz="1350" b="0" i="0" dirty="0">
                <a:solidFill>
                  <a:srgbClr val="657883"/>
                </a:solidFill>
                <a:latin typeface="Aptos"/>
              </a:rPr>
              <a:t> </a:t>
            </a:r>
            <a:r>
              <a:rPr sz="1350" b="0" i="0" dirty="0" err="1">
                <a:solidFill>
                  <a:srgbClr val="657883"/>
                </a:solidFill>
                <a:latin typeface="Aptos"/>
              </a:rPr>
              <a:t>kết</a:t>
            </a:r>
            <a:r>
              <a:rPr sz="1350" b="0" i="0" dirty="0">
                <a:solidFill>
                  <a:srgbClr val="657883"/>
                </a:solidFill>
                <a:latin typeface="Aptos"/>
              </a:rPr>
              <a:t> </a:t>
            </a:r>
            <a:r>
              <a:rPr sz="1350" b="0" i="0" dirty="0" err="1">
                <a:solidFill>
                  <a:srgbClr val="657883"/>
                </a:solidFill>
                <a:latin typeface="Aptos"/>
              </a:rPr>
              <a:t>thúc</a:t>
            </a:r>
            <a:r>
              <a:rPr sz="1350" b="0" i="0" dirty="0">
                <a:solidFill>
                  <a:srgbClr val="657883"/>
                </a:solidFill>
                <a:latin typeface="Aptos"/>
              </a:rPr>
              <a:t> </a:t>
            </a:r>
            <a:r>
              <a:rPr sz="1350" b="0" i="0" dirty="0" err="1">
                <a:solidFill>
                  <a:srgbClr val="657883"/>
                </a:solidFill>
                <a:latin typeface="Aptos"/>
              </a:rPr>
              <a:t>lượt</a:t>
            </a:r>
            <a:r>
              <a:rPr sz="1350" b="0" i="0" dirty="0">
                <a:solidFill>
                  <a:srgbClr val="657883"/>
                </a:solidFill>
                <a:latin typeface="Aptos"/>
              </a:rPr>
              <a:t>, </a:t>
            </a:r>
            <a:r>
              <a:rPr sz="1350" b="0" i="0" dirty="0" err="1">
                <a:solidFill>
                  <a:srgbClr val="657883"/>
                </a:solidFill>
                <a:latin typeface="Aptos"/>
              </a:rPr>
              <a:t>giữ</a:t>
            </a:r>
            <a:r>
              <a:rPr sz="1350" b="0" i="0" dirty="0">
                <a:solidFill>
                  <a:srgbClr val="657883"/>
                </a:solidFill>
                <a:latin typeface="Aptos"/>
              </a:rPr>
              <a:t> </a:t>
            </a:r>
            <a:r>
              <a:rPr sz="1350" b="0" i="0" dirty="0" err="1">
                <a:solidFill>
                  <a:srgbClr val="657883"/>
                </a:solidFill>
                <a:latin typeface="Aptos"/>
              </a:rPr>
              <a:t>quà</a:t>
            </a:r>
            <a:r>
              <a:rPr sz="1350" b="0" i="0" dirty="0">
                <a:solidFill>
                  <a:srgbClr val="657883"/>
                </a:solidFill>
                <a:latin typeface="Aptos"/>
              </a:rPr>
              <a:t> </a:t>
            </a:r>
            <a:r>
              <a:rPr sz="1350" b="0" i="0" dirty="0" err="1">
                <a:solidFill>
                  <a:srgbClr val="657883"/>
                </a:solidFill>
                <a:latin typeface="Aptos"/>
              </a:rPr>
              <a:t>đã</a:t>
            </a:r>
            <a:r>
              <a:rPr sz="1350" b="0" i="0" dirty="0">
                <a:solidFill>
                  <a:srgbClr val="657883"/>
                </a:solidFill>
                <a:latin typeface="Aptos"/>
              </a:rPr>
              <a:t> </a:t>
            </a:r>
            <a:r>
              <a:rPr sz="1350" b="0" i="0" dirty="0" err="1">
                <a:solidFill>
                  <a:srgbClr val="657883"/>
                </a:solidFill>
                <a:latin typeface="Aptos"/>
              </a:rPr>
              <a:t>đạt</a:t>
            </a:r>
            <a:r>
              <a:rPr sz="1350" b="0" i="0" dirty="0">
                <a:solidFill>
                  <a:srgbClr val="657883"/>
                </a:solidFill>
                <a:latin typeface="Aptos"/>
              </a:rPr>
              <a:t>.</a:t>
            </a:r>
          </a:p>
        </p:txBody>
      </p:sp>
      <p:sp>
        <p:nvSpPr>
          <p:cNvPr id="14" name="TextBox 13"/>
          <p:cNvSpPr txBox="1"/>
          <p:nvPr/>
        </p:nvSpPr>
        <p:spPr>
          <a:xfrm>
            <a:off x="1600200" y="4818888"/>
            <a:ext cx="8988552" cy="31089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330" b="1" i="0">
                <a:solidFill>
                  <a:srgbClr val="18324A"/>
                </a:solidFill>
                <a:latin typeface="Trebuchet MS"/>
              </a:rPr>
              <a:t>CÂU 01  ·  Quà nhỏ     /     CÂU 02  ·  Quà vừa     /     CÂU 03  ·  Quà lớn</a:t>
            </a:r>
          </a:p>
        </p:txBody>
      </p:sp>
      <p:sp>
        <p:nvSpPr>
          <p:cNvPr id="15" name="Nút: VÀO CÂU 01  →">
            <a:hlinkClick r:id="rId2" action="ppaction://hlinksldjump"/>
          </p:cNvPr>
          <p:cNvSpPr/>
          <p:nvPr/>
        </p:nvSpPr>
        <p:spPr>
          <a:xfrm>
            <a:off x="3913632" y="5404104"/>
            <a:ext cx="4370832" cy="6217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720" b="1" i="0">
                <a:solidFill>
                  <a:srgbClr val="18324A"/>
                </a:solidFill>
                <a:latin typeface="Trebuchet MS"/>
              </a:rPr>
              <a:t>VÀO CÂU 01  →</a:t>
            </a:r>
          </a:p>
        </p:txBody>
      </p:sp>
    </p:spTree>
  </p:cSld>
  <p:clrMapOvr>
    <a:masterClrMapping/>
  </p:clrMapOvr>
  <p:transition spd="med" advClick="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02 / 05</a:t>
            </a:r>
          </a:p>
        </p:txBody>
      </p:sp>
      <p:sp>
        <p:nvSpPr>
          <p:cNvPr id="5" name="Rounded Rectangle 4"/>
          <p:cNvSpPr/>
          <p:nvPr/>
        </p:nvSpPr>
        <p:spPr>
          <a:xfrm>
            <a:off x="2240280" y="749808"/>
            <a:ext cx="138988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DỄ</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01 / 03</a:t>
            </a:r>
          </a:p>
        </p:txBody>
      </p:sp>
      <p:sp>
        <p:nvSpPr>
          <p:cNvPr id="7"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0" name="TextBox 9"/>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2100" b="1" i="0">
                <a:solidFill>
                  <a:srgbClr val="FFFFFF"/>
                </a:solidFill>
                <a:latin typeface="Aptos"/>
              </a:rPr>
              <a:t>Luận điểm “Trong tính hiện thực của nó, bản chất con người là tổng hòa các quan hệ xã hội” được C. Mác viết trong tác phẩm nào?</a:t>
            </a:r>
          </a:p>
        </p:txBody>
      </p:sp>
      <p:sp>
        <p:nvSpPr>
          <p:cNvPr id="11"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3" name="TextBox 12"/>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4" name="Rounded Rectangle 13"/>
          <p:cNvSpPr/>
          <p:nvPr/>
        </p:nvSpPr>
        <p:spPr>
          <a:xfrm>
            <a:off x="9646920" y="1371600"/>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01</a:t>
            </a:r>
          </a:p>
        </p:txBody>
      </p:sp>
      <p:sp>
        <p:nvSpPr>
          <p:cNvPr id="16" name="TextBox 15"/>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nhỏ</a:t>
            </a:r>
          </a:p>
        </p:txBody>
      </p:sp>
      <p:sp>
        <p:nvSpPr>
          <p:cNvPr id="17" name="Rounded Rectangle 16"/>
          <p:cNvSpPr/>
          <p:nvPr/>
        </p:nvSpPr>
        <p:spPr>
          <a:xfrm>
            <a:off x="9646920" y="2487168"/>
            <a:ext cx="1956816" cy="877824"/>
          </a:xfrm>
          <a:prstGeom prst="roundRect">
            <a:avLst/>
          </a:prstGeom>
          <a:solidFill>
            <a:srgbClr val="263F53"/>
          </a:solidFill>
          <a:ln w="12700">
            <a:solidFill>
              <a:srgbClr val="4059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B9C7CC"/>
                </a:solidFill>
                <a:latin typeface="Trebuchet MS"/>
              </a:rPr>
              <a:t>CHƯA MỞ  ·  CÂU 02</a:t>
            </a:r>
          </a:p>
        </p:txBody>
      </p:sp>
      <p:sp>
        <p:nvSpPr>
          <p:cNvPr id="19" name="TextBox 18"/>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B9C7CC"/>
                </a:solidFill>
                <a:latin typeface="Trebuchet MS"/>
              </a:rPr>
              <a:t>Quà vừa</a:t>
            </a:r>
          </a:p>
        </p:txBody>
      </p:sp>
      <p:sp>
        <p:nvSpPr>
          <p:cNvPr id="20" name="Rounded Rectangle 19"/>
          <p:cNvSpPr/>
          <p:nvPr/>
        </p:nvSpPr>
        <p:spPr>
          <a:xfrm>
            <a:off x="9646920" y="3602736"/>
            <a:ext cx="1956816" cy="877824"/>
          </a:xfrm>
          <a:prstGeom prst="roundRect">
            <a:avLst/>
          </a:prstGeom>
          <a:solidFill>
            <a:srgbClr val="263F53"/>
          </a:solidFill>
          <a:ln w="12700">
            <a:solidFill>
              <a:srgbClr val="4059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B9C7CC"/>
                </a:solidFill>
                <a:latin typeface="Trebuchet MS"/>
              </a:rPr>
              <a:t>CHƯA MỞ  ·  CÂU 03</a:t>
            </a:r>
          </a:p>
        </p:txBody>
      </p:sp>
      <p:sp>
        <p:nvSpPr>
          <p:cNvPr id="22" name="TextBox 21"/>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B9C7CC"/>
                </a:solidFill>
                <a:latin typeface="Trebuchet MS"/>
              </a:rPr>
              <a:t>Quà lớn</a:t>
            </a:r>
          </a:p>
        </p:txBody>
      </p:sp>
      <p:sp>
        <p:nvSpPr>
          <p:cNvPr id="23" name="TextBox 22"/>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MỐC AN TOÀN</a:t>
            </a:r>
          </a:p>
        </p:txBody>
      </p:sp>
      <p:sp>
        <p:nvSpPr>
          <p:cNvPr id="24" name="TextBox 23"/>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Chưa có quà</a:t>
            </a:r>
          </a:p>
        </p:txBody>
      </p:sp>
      <p:sp>
        <p:nvSpPr>
          <p:cNvPr id="25" name="TextBox 24"/>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6" name="Đáp án A">
            <a:hlinkClick r:id="rId2" action="ppaction://hlinksldjump"/>
          </p:cNvPr>
          <p:cNvSpPr/>
          <p:nvPr/>
        </p:nvSpPr>
        <p:spPr>
          <a:xfrm>
            <a:off x="530352" y="2770632"/>
            <a:ext cx="4215384" cy="1170432"/>
          </a:xfrm>
          <a:prstGeom prst="roundRect">
            <a:avLst/>
          </a:prstGeom>
          <a:solidFill>
            <a:srgbClr val="FBFCF9"/>
          </a:solidFill>
          <a:ln w="15875">
            <a:solidFill>
              <a:srgbClr val="D7DED8"/>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18324A"/>
                </a:solidFill>
                <a:latin typeface="Aptos"/>
              </a:rPr>
              <a:t>Bản thảo kinh tế – triết học năm 1844.</a:t>
            </a:r>
          </a:p>
        </p:txBody>
      </p:sp>
      <p:sp>
        <p:nvSpPr>
          <p:cNvPr id="27" name="Oval 26">
            <a:hlinkClick r:id="rId2" action="ppaction://hlinksldjump"/>
          </p:cNvPr>
          <p:cNvSpPr/>
          <p:nvPr/>
        </p:nvSpPr>
        <p:spPr>
          <a:xfrm>
            <a:off x="685800" y="3154679"/>
            <a:ext cx="402336" cy="402336"/>
          </a:xfrm>
          <a:prstGeom prst="ellipse">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E8177"/>
                </a:solidFill>
                <a:latin typeface="Trebuchet MS"/>
              </a:rPr>
              <a:t>A</a:t>
            </a:r>
          </a:p>
        </p:txBody>
      </p:sp>
      <p:sp>
        <p:nvSpPr>
          <p:cNvPr id="28" name="Đáp án B">
            <a:hlinkClick r:id="rId3" action="ppaction://hlinksldjump"/>
          </p:cNvPr>
          <p:cNvSpPr/>
          <p:nvPr/>
        </p:nvSpPr>
        <p:spPr>
          <a:xfrm>
            <a:off x="4937760" y="2770632"/>
            <a:ext cx="4279392" cy="1170432"/>
          </a:xfrm>
          <a:prstGeom prst="roundRect">
            <a:avLst/>
          </a:prstGeom>
          <a:solidFill>
            <a:srgbClr val="FBFCF9"/>
          </a:solidFill>
          <a:ln w="15875">
            <a:solidFill>
              <a:srgbClr val="D7DED8"/>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18324A"/>
                </a:solidFill>
                <a:latin typeface="Aptos"/>
              </a:rPr>
              <a:t>Luận cương về Phoiơbắc (luận đề VI).</a:t>
            </a:r>
          </a:p>
        </p:txBody>
      </p:sp>
      <p:sp>
        <p:nvSpPr>
          <p:cNvPr id="29" name="Oval 28">
            <a:hlinkClick r:id="rId3" action="ppaction://hlinksldjump"/>
          </p:cNvPr>
          <p:cNvSpPr/>
          <p:nvPr/>
        </p:nvSpPr>
        <p:spPr>
          <a:xfrm>
            <a:off x="5093208" y="3154679"/>
            <a:ext cx="402336" cy="402336"/>
          </a:xfrm>
          <a:prstGeom prst="ellipse">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E8177"/>
                </a:solidFill>
                <a:latin typeface="Trebuchet MS"/>
              </a:rPr>
              <a:t>B</a:t>
            </a:r>
          </a:p>
        </p:txBody>
      </p:sp>
      <p:sp>
        <p:nvSpPr>
          <p:cNvPr id="30" name="Đáp án C">
            <a:hlinkClick r:id="rId4" action="ppaction://hlinksldjump"/>
          </p:cNvPr>
          <p:cNvSpPr/>
          <p:nvPr/>
        </p:nvSpPr>
        <p:spPr>
          <a:xfrm>
            <a:off x="530352" y="4105656"/>
            <a:ext cx="4215384" cy="1170432"/>
          </a:xfrm>
          <a:prstGeom prst="roundRect">
            <a:avLst/>
          </a:prstGeom>
          <a:solidFill>
            <a:srgbClr val="FBFCF9"/>
          </a:solidFill>
          <a:ln w="15875">
            <a:solidFill>
              <a:srgbClr val="D7DED8"/>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18324A"/>
                </a:solidFill>
                <a:latin typeface="Aptos"/>
              </a:rPr>
              <a:t>Tư bản, quyển thứ nhất.</a:t>
            </a:r>
          </a:p>
        </p:txBody>
      </p:sp>
      <p:sp>
        <p:nvSpPr>
          <p:cNvPr id="31" name="Oval 30">
            <a:hlinkClick r:id="rId4" action="ppaction://hlinksldjump"/>
          </p:cNvPr>
          <p:cNvSpPr/>
          <p:nvPr/>
        </p:nvSpPr>
        <p:spPr>
          <a:xfrm>
            <a:off x="685800" y="4489704"/>
            <a:ext cx="402336" cy="402336"/>
          </a:xfrm>
          <a:prstGeom prst="ellipse">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E8177"/>
                </a:solidFill>
                <a:latin typeface="Trebuchet MS"/>
              </a:rPr>
              <a:t>C</a:t>
            </a:r>
          </a:p>
        </p:txBody>
      </p:sp>
      <p:sp>
        <p:nvSpPr>
          <p:cNvPr id="32" name="Đáp án D">
            <a:hlinkClick r:id="rId5" action="ppaction://hlinksldjump"/>
          </p:cNvPr>
          <p:cNvSpPr/>
          <p:nvPr/>
        </p:nvSpPr>
        <p:spPr>
          <a:xfrm>
            <a:off x="4937760" y="4105656"/>
            <a:ext cx="4279392" cy="1170432"/>
          </a:xfrm>
          <a:prstGeom prst="roundRect">
            <a:avLst/>
          </a:prstGeom>
          <a:solidFill>
            <a:srgbClr val="FBFCF9"/>
          </a:solidFill>
          <a:ln w="15875">
            <a:solidFill>
              <a:srgbClr val="D7DED8"/>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18324A"/>
                </a:solidFill>
                <a:latin typeface="Aptos"/>
              </a:rPr>
              <a:t>Tuyên ngôn của Đảng Cộng sản.</a:t>
            </a:r>
          </a:p>
        </p:txBody>
      </p:sp>
      <p:sp>
        <p:nvSpPr>
          <p:cNvPr id="33" name="Oval 32">
            <a:hlinkClick r:id="rId5" action="ppaction://hlinksldjump"/>
          </p:cNvPr>
          <p:cNvSpPr/>
          <p:nvPr/>
        </p:nvSpPr>
        <p:spPr>
          <a:xfrm>
            <a:off x="5093208" y="4489704"/>
            <a:ext cx="402336" cy="402336"/>
          </a:xfrm>
          <a:prstGeom prst="ellipse">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E8177"/>
                </a:solidFill>
                <a:latin typeface="Trebuchet MS"/>
              </a:rPr>
              <a:t>D</a:t>
            </a:r>
          </a:p>
        </p:txBody>
      </p:sp>
      <p:sp>
        <p:nvSpPr>
          <p:cNvPr id="34" name="TextBox 33"/>
          <p:cNvSpPr txBox="1"/>
          <p:nvPr/>
        </p:nvSpPr>
        <p:spPr>
          <a:xfrm>
            <a:off x="621792" y="5431536"/>
            <a:ext cx="8485632" cy="36576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080" b="1" i="0">
                <a:solidFill>
                  <a:srgbClr val="657883"/>
                </a:solidFill>
                <a:latin typeface="Trebuchet MS"/>
              </a:rPr>
              <a:t>CHỌN MỘT ĐÁP ÁN  ·  BẤM TRỰC TIẾP VÀO THẺ A / B / C / D</a:t>
            </a:r>
          </a:p>
        </p:txBody>
      </p:sp>
    </p:spTree>
  </p:cSld>
  <p:clrMapOvr>
    <a:masterClrMapping/>
  </p:clrMapOvr>
  <p:transition spd="med" advClick="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02 / 05</a:t>
            </a:r>
          </a:p>
        </p:txBody>
      </p:sp>
      <p:sp>
        <p:nvSpPr>
          <p:cNvPr id="5" name="Rounded Rectangle 4"/>
          <p:cNvSpPr/>
          <p:nvPr/>
        </p:nvSpPr>
        <p:spPr>
          <a:xfrm>
            <a:off x="2240280" y="749808"/>
            <a:ext cx="138988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DỄ</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01 / 03</a:t>
            </a:r>
          </a:p>
        </p:txBody>
      </p:sp>
      <p:sp>
        <p:nvSpPr>
          <p:cNvPr id="7" name="Rounded Rectangle 6"/>
          <p:cNvSpPr/>
          <p:nvPr/>
        </p:nvSpPr>
        <p:spPr>
          <a:xfrm>
            <a:off x="7562088" y="749808"/>
            <a:ext cx="1581912" cy="292608"/>
          </a:xfrm>
          <a:prstGeom prst="roundRect">
            <a:avLst/>
          </a:prstGeom>
          <a:solidFill>
            <a:srgbClr val="D9F0E3"/>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1000" b="1" i="0">
                <a:solidFill>
                  <a:srgbClr val="2F9C72"/>
                </a:solidFill>
                <a:latin typeface="Trebuchet MS"/>
              </a:rPr>
              <a:t>CHÍNH XÁC!</a:t>
            </a:r>
          </a:p>
        </p:txBody>
      </p:sp>
      <p:sp>
        <p:nvSpPr>
          <p:cNvPr id="8"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1" name="TextBox 10"/>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2100" b="1" i="0">
                <a:solidFill>
                  <a:srgbClr val="FFFFFF"/>
                </a:solidFill>
                <a:latin typeface="Aptos"/>
              </a:rPr>
              <a:t>Luận điểm “Trong tính hiện thực của nó, bản chất con người là tổng hòa các quan hệ xã hội” được C. Mác viết trong tác phẩm nào?</a:t>
            </a:r>
          </a:p>
        </p:txBody>
      </p:sp>
      <p:sp>
        <p:nvSpPr>
          <p:cNvPr id="12"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4" name="TextBox 13"/>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5" name="Rounded Rectangle 14"/>
          <p:cNvSpPr/>
          <p:nvPr/>
        </p:nvSpPr>
        <p:spPr>
          <a:xfrm>
            <a:off x="9646920" y="1371600"/>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01</a:t>
            </a:r>
          </a:p>
        </p:txBody>
      </p:sp>
      <p:sp>
        <p:nvSpPr>
          <p:cNvPr id="17" name="TextBox 16"/>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nhỏ</a:t>
            </a:r>
          </a:p>
        </p:txBody>
      </p:sp>
      <p:sp>
        <p:nvSpPr>
          <p:cNvPr id="18" name="Rounded Rectangle 17"/>
          <p:cNvSpPr/>
          <p:nvPr/>
        </p:nvSpPr>
        <p:spPr>
          <a:xfrm>
            <a:off x="9646920" y="2487168"/>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02</a:t>
            </a:r>
          </a:p>
        </p:txBody>
      </p:sp>
      <p:sp>
        <p:nvSpPr>
          <p:cNvPr id="20" name="TextBox 19"/>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vừa</a:t>
            </a:r>
          </a:p>
        </p:txBody>
      </p:sp>
      <p:sp>
        <p:nvSpPr>
          <p:cNvPr id="21" name="Rounded Rectangle 20"/>
          <p:cNvSpPr/>
          <p:nvPr/>
        </p:nvSpPr>
        <p:spPr>
          <a:xfrm>
            <a:off x="9646920" y="3602736"/>
            <a:ext cx="1956816" cy="877824"/>
          </a:xfrm>
          <a:prstGeom prst="roundRect">
            <a:avLst/>
          </a:prstGeom>
          <a:solidFill>
            <a:srgbClr val="263F53"/>
          </a:solidFill>
          <a:ln w="12700">
            <a:solidFill>
              <a:srgbClr val="4059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B9C7CC"/>
                </a:solidFill>
                <a:latin typeface="Trebuchet MS"/>
              </a:rPr>
              <a:t>CHƯA MỞ  ·  CÂU 03</a:t>
            </a:r>
          </a:p>
        </p:txBody>
      </p:sp>
      <p:sp>
        <p:nvSpPr>
          <p:cNvPr id="23" name="TextBox 22"/>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B9C7CC"/>
                </a:solidFill>
                <a:latin typeface="Trebuchet MS"/>
              </a:rPr>
              <a:t>Quà lớn</a:t>
            </a:r>
          </a:p>
        </p:txBody>
      </p:sp>
      <p:sp>
        <p:nvSpPr>
          <p:cNvPr id="24" name="TextBox 23"/>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MỐC VỪA CHẠM</a:t>
            </a:r>
          </a:p>
        </p:txBody>
      </p:sp>
      <p:sp>
        <p:nvSpPr>
          <p:cNvPr id="25" name="TextBox 24"/>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Quà nhỏ</a:t>
            </a:r>
          </a:p>
        </p:txBody>
      </p:sp>
      <p:sp>
        <p:nvSpPr>
          <p:cNvPr id="26" name="TextBox 25"/>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7" name="Đáp án A"/>
          <p:cNvSpPr/>
          <p:nvPr/>
        </p:nvSpPr>
        <p:spPr>
          <a:xfrm>
            <a:off x="530352" y="2770632"/>
            <a:ext cx="4215384"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Bản thảo kinh tế – triết học năm 1844.</a:t>
            </a:r>
          </a:p>
        </p:txBody>
      </p:sp>
      <p:sp>
        <p:nvSpPr>
          <p:cNvPr id="28" name="Oval 27"/>
          <p:cNvSpPr/>
          <p:nvPr/>
        </p:nvSpPr>
        <p:spPr>
          <a:xfrm>
            <a:off x="685800" y="3154679"/>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A</a:t>
            </a:r>
          </a:p>
        </p:txBody>
      </p:sp>
      <p:sp>
        <p:nvSpPr>
          <p:cNvPr id="29" name="Đáp án B"/>
          <p:cNvSpPr/>
          <p:nvPr/>
        </p:nvSpPr>
        <p:spPr>
          <a:xfrm>
            <a:off x="4937760" y="2770632"/>
            <a:ext cx="4279392" cy="1170432"/>
          </a:xfrm>
          <a:prstGeom prst="roundRect">
            <a:avLst/>
          </a:prstGeom>
          <a:solidFill>
            <a:srgbClr val="FFD05A"/>
          </a:solidFill>
          <a:ln w="15875">
            <a:solidFill>
              <a:srgbClr val="D9A92E"/>
            </a:solidFill>
          </a:ln>
          <a:effectLst>
            <a:glow rad="190000">
              <a:srgbClr val="FFD05A">
                <a:alpha val="52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1" i="0">
                <a:solidFill>
                  <a:srgbClr val="18324A"/>
                </a:solidFill>
                <a:latin typeface="Aptos"/>
              </a:rPr>
              <a:t>Luận cương về Phoiơbắc (luận đề VI).</a:t>
            </a:r>
          </a:p>
        </p:txBody>
      </p:sp>
      <p:sp>
        <p:nvSpPr>
          <p:cNvPr id="30" name="Oval 29"/>
          <p:cNvSpPr/>
          <p:nvPr/>
        </p:nvSpPr>
        <p:spPr>
          <a:xfrm>
            <a:off x="5093208" y="3154679"/>
            <a:ext cx="402336" cy="402336"/>
          </a:xfrm>
          <a:prstGeom prst="ellipse">
            <a:avLst/>
          </a:prstGeom>
          <a:solidFill>
            <a:srgbClr val="18324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FFD05A"/>
                </a:solidFill>
                <a:latin typeface="Trebuchet MS"/>
              </a:rPr>
              <a:t>B</a:t>
            </a:r>
          </a:p>
        </p:txBody>
      </p:sp>
      <p:sp>
        <p:nvSpPr>
          <p:cNvPr id="31" name="Đáp án C"/>
          <p:cNvSpPr/>
          <p:nvPr/>
        </p:nvSpPr>
        <p:spPr>
          <a:xfrm>
            <a:off x="530352" y="4105656"/>
            <a:ext cx="4215384"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Tư bản, quyển thứ nhất.</a:t>
            </a:r>
          </a:p>
        </p:txBody>
      </p:sp>
      <p:sp>
        <p:nvSpPr>
          <p:cNvPr id="32" name="Oval 31"/>
          <p:cNvSpPr/>
          <p:nvPr/>
        </p:nvSpPr>
        <p:spPr>
          <a:xfrm>
            <a:off x="685800"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C</a:t>
            </a:r>
          </a:p>
        </p:txBody>
      </p:sp>
      <p:sp>
        <p:nvSpPr>
          <p:cNvPr id="33" name="Đáp án D"/>
          <p:cNvSpPr/>
          <p:nvPr/>
        </p:nvSpPr>
        <p:spPr>
          <a:xfrm>
            <a:off x="4937760" y="4105656"/>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Tuyên ngôn của Đảng Cộng sản.</a:t>
            </a:r>
          </a:p>
        </p:txBody>
      </p:sp>
      <p:sp>
        <p:nvSpPr>
          <p:cNvPr id="34" name="Oval 33"/>
          <p:cNvSpPr/>
          <p:nvPr/>
        </p:nvSpPr>
        <p:spPr>
          <a:xfrm>
            <a:off x="5093208"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D</a:t>
            </a:r>
          </a:p>
        </p:txBody>
      </p:sp>
      <p:sp>
        <p:nvSpPr>
          <p:cNvPr id="35" name="Rounded Rectangle 34"/>
          <p:cNvSpPr/>
          <p:nvPr/>
        </p:nvSpPr>
        <p:spPr>
          <a:xfrm>
            <a:off x="530352" y="5431536"/>
            <a:ext cx="5989320" cy="868680"/>
          </a:xfrm>
          <a:prstGeom prst="roundRect">
            <a:avLst/>
          </a:prstGeom>
          <a:solidFill>
            <a:srgbClr val="D9F0E3"/>
          </a:solidFill>
          <a:ln w="12700">
            <a:solidFill>
              <a:srgbClr val="D7E6DC"/>
            </a:solidFill>
          </a:ln>
        </p:spPr>
        <p:style>
          <a:lnRef idx="1">
            <a:schemeClr val="accent1"/>
          </a:lnRef>
          <a:fillRef idx="3">
            <a:schemeClr val="accent1"/>
          </a:fillRef>
          <a:effectRef idx="2">
            <a:schemeClr val="accent1"/>
          </a:effectRef>
          <a:fontRef idx="minor">
            <a:schemeClr val="lt1"/>
          </a:fontRef>
        </p:style>
        <p:txBody>
          <a:bodyPr wrap="square" lIns="109728" tIns="60350" rIns="109728" bIns="60350" rtlCol="0" anchor="ctr"/>
          <a:lstStyle/>
          <a:p>
            <a:pPr algn="l">
              <a:lnSpc>
                <a:spcPct val="100000"/>
              </a:lnSpc>
              <a:spcBef>
                <a:spcPts val="0"/>
              </a:spcBef>
              <a:spcAft>
                <a:spcPts val="0"/>
              </a:spcAft>
            </a:pPr>
            <a:r>
              <a:rPr sz="1130" b="0" i="0">
                <a:solidFill>
                  <a:srgbClr val="18324A"/>
                </a:solidFill>
                <a:latin typeface="Aptos"/>
              </a:rPr>
              <a:t>MỐC 1 ĐÃ CHINH PHỤC  ·  Quà nhỏ
Luận điểm này nằm trong Luận cương về Phoiơbắc, luận đề VI, viết năm 1845.</a:t>
            </a:r>
          </a:p>
        </p:txBody>
      </p:sp>
      <p:sp>
        <p:nvSpPr>
          <p:cNvPr id="36" name="Nút: CÂU TIẾP THEO  →">
            <a:hlinkClick r:id="rId3" action="ppaction://hlinksldjump"/>
          </p:cNvPr>
          <p:cNvSpPr/>
          <p:nvPr/>
        </p:nvSpPr>
        <p:spPr>
          <a:xfrm>
            <a:off x="6711696" y="5431536"/>
            <a:ext cx="2505456" cy="868680"/>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240" b="1" i="0">
                <a:solidFill>
                  <a:srgbClr val="18324A"/>
                </a:solidFill>
                <a:latin typeface="Trebuchet MS"/>
              </a:rPr>
              <a:t>CÂU TIẾP THEO  →</a:t>
            </a:r>
          </a:p>
        </p:txBody>
      </p:sp>
    </p:spTree>
  </p:cSld>
  <p:clrMapOvr>
    <a:masterClrMapping/>
  </p:clrMapOvr>
  <p:transition spd="med" advClick="0">
    <p:sndAc>
      <p:stSnd>
        <p:snd r:embed="rId2" name="Correct answer chime"/>
      </p:stSnd>
    </p:sndAc>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02 / 05</a:t>
            </a:r>
          </a:p>
        </p:txBody>
      </p:sp>
      <p:sp>
        <p:nvSpPr>
          <p:cNvPr id="5" name="Rounded Rectangle 4"/>
          <p:cNvSpPr/>
          <p:nvPr/>
        </p:nvSpPr>
        <p:spPr>
          <a:xfrm>
            <a:off x="2240280" y="749808"/>
            <a:ext cx="138988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DỄ</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01 / 03</a:t>
            </a:r>
          </a:p>
        </p:txBody>
      </p:sp>
      <p:sp>
        <p:nvSpPr>
          <p:cNvPr id="7" name="Rounded Rectangle 6"/>
          <p:cNvSpPr/>
          <p:nvPr/>
        </p:nvSpPr>
        <p:spPr>
          <a:xfrm>
            <a:off x="7562088" y="749808"/>
            <a:ext cx="1581912" cy="292608"/>
          </a:xfrm>
          <a:prstGeom prst="roundRect">
            <a:avLst/>
          </a:prstGeom>
          <a:solidFill>
            <a:srgbClr val="FBE3E3"/>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1000" b="1" i="0">
                <a:solidFill>
                  <a:srgbClr val="B8424C"/>
                </a:solidFill>
                <a:latin typeface="Trebuchet MS"/>
              </a:rPr>
              <a:t>RẤT TIẾC!</a:t>
            </a:r>
          </a:p>
        </p:txBody>
      </p:sp>
      <p:sp>
        <p:nvSpPr>
          <p:cNvPr id="8"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1" name="TextBox 10"/>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2100" b="1" i="0">
                <a:solidFill>
                  <a:srgbClr val="FFFFFF"/>
                </a:solidFill>
                <a:latin typeface="Aptos"/>
              </a:rPr>
              <a:t>Luận điểm “Trong tính hiện thực của nó, bản chất con người là tổng hòa các quan hệ xã hội” được C. Mác viết trong tác phẩm nào?</a:t>
            </a:r>
          </a:p>
        </p:txBody>
      </p:sp>
      <p:sp>
        <p:nvSpPr>
          <p:cNvPr id="12"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4" name="TextBox 13"/>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5" name="Rounded Rectangle 14"/>
          <p:cNvSpPr/>
          <p:nvPr/>
        </p:nvSpPr>
        <p:spPr>
          <a:xfrm>
            <a:off x="9646920" y="1371600"/>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01</a:t>
            </a:r>
          </a:p>
        </p:txBody>
      </p:sp>
      <p:sp>
        <p:nvSpPr>
          <p:cNvPr id="17" name="TextBox 16"/>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nhỏ</a:t>
            </a:r>
          </a:p>
        </p:txBody>
      </p:sp>
      <p:sp>
        <p:nvSpPr>
          <p:cNvPr id="18" name="Rounded Rectangle 17"/>
          <p:cNvSpPr/>
          <p:nvPr/>
        </p:nvSpPr>
        <p:spPr>
          <a:xfrm>
            <a:off x="9646920" y="2487168"/>
            <a:ext cx="1956816" cy="877824"/>
          </a:xfrm>
          <a:prstGeom prst="roundRect">
            <a:avLst/>
          </a:prstGeom>
          <a:solidFill>
            <a:srgbClr val="263F53"/>
          </a:solidFill>
          <a:ln w="12700">
            <a:solidFill>
              <a:srgbClr val="4059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B9C7CC"/>
                </a:solidFill>
                <a:latin typeface="Trebuchet MS"/>
              </a:rPr>
              <a:t>CHƯA MỞ  ·  CÂU 02</a:t>
            </a:r>
          </a:p>
        </p:txBody>
      </p:sp>
      <p:sp>
        <p:nvSpPr>
          <p:cNvPr id="20" name="TextBox 19"/>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B9C7CC"/>
                </a:solidFill>
                <a:latin typeface="Trebuchet MS"/>
              </a:rPr>
              <a:t>Quà vừa</a:t>
            </a:r>
          </a:p>
        </p:txBody>
      </p:sp>
      <p:sp>
        <p:nvSpPr>
          <p:cNvPr id="21" name="Rounded Rectangle 20"/>
          <p:cNvSpPr/>
          <p:nvPr/>
        </p:nvSpPr>
        <p:spPr>
          <a:xfrm>
            <a:off x="9646920" y="3602736"/>
            <a:ext cx="1956816" cy="877824"/>
          </a:xfrm>
          <a:prstGeom prst="roundRect">
            <a:avLst/>
          </a:prstGeom>
          <a:solidFill>
            <a:srgbClr val="263F53"/>
          </a:solidFill>
          <a:ln w="12700">
            <a:solidFill>
              <a:srgbClr val="4059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B9C7CC"/>
                </a:solidFill>
                <a:latin typeface="Trebuchet MS"/>
              </a:rPr>
              <a:t>CHƯA MỞ  ·  CÂU 03</a:t>
            </a:r>
          </a:p>
        </p:txBody>
      </p:sp>
      <p:sp>
        <p:nvSpPr>
          <p:cNvPr id="23" name="TextBox 22"/>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B9C7CC"/>
                </a:solidFill>
                <a:latin typeface="Trebuchet MS"/>
              </a:rPr>
              <a:t>Quà lớn</a:t>
            </a:r>
          </a:p>
        </p:txBody>
      </p:sp>
      <p:sp>
        <p:nvSpPr>
          <p:cNvPr id="24" name="TextBox 23"/>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QUÀ GIỮ LẠI</a:t>
            </a:r>
          </a:p>
        </p:txBody>
      </p:sp>
      <p:sp>
        <p:nvSpPr>
          <p:cNvPr id="25" name="TextBox 24"/>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Chưa có quà</a:t>
            </a:r>
          </a:p>
        </p:txBody>
      </p:sp>
      <p:sp>
        <p:nvSpPr>
          <p:cNvPr id="26" name="TextBox 25"/>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7" name="Đáp án A"/>
          <p:cNvSpPr/>
          <p:nvPr/>
        </p:nvSpPr>
        <p:spPr>
          <a:xfrm>
            <a:off x="530352" y="2770632"/>
            <a:ext cx="4215384" cy="1170432"/>
          </a:xfrm>
          <a:prstGeom prst="roundRect">
            <a:avLst/>
          </a:prstGeom>
          <a:solidFill>
            <a:srgbClr val="E45C64"/>
          </a:solidFill>
          <a:ln w="15875">
            <a:solidFill>
              <a:srgbClr val="B8424C"/>
            </a:solidFill>
          </a:ln>
          <a:effectLst>
            <a:glow rad="110000">
              <a:srgbClr val="E45C64">
                <a:alpha val="35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1" i="0">
                <a:solidFill>
                  <a:srgbClr val="FFFFFF"/>
                </a:solidFill>
                <a:latin typeface="Aptos"/>
              </a:rPr>
              <a:t>Bản thảo kinh tế – triết học năm 1844.</a:t>
            </a:r>
          </a:p>
        </p:txBody>
      </p:sp>
      <p:sp>
        <p:nvSpPr>
          <p:cNvPr id="28" name="Oval 27"/>
          <p:cNvSpPr/>
          <p:nvPr/>
        </p:nvSpPr>
        <p:spPr>
          <a:xfrm>
            <a:off x="685800" y="3154679"/>
            <a:ext cx="402336" cy="402336"/>
          </a:xfrm>
          <a:prstGeom prst="ellipse">
            <a:avLst/>
          </a:prstGeom>
          <a:solidFill>
            <a:srgbClr val="FFFFFF"/>
          </a:solidFill>
          <a:ln w="12700">
            <a:solidFill>
              <a:srgbClr val="B8424C"/>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B8424C"/>
                </a:solidFill>
                <a:latin typeface="Trebuchet MS"/>
              </a:rPr>
              <a:t>A</a:t>
            </a:r>
          </a:p>
        </p:txBody>
      </p:sp>
      <p:cxnSp>
        <p:nvCxnSpPr>
          <p:cNvPr id="29" name="Connector 28"/>
          <p:cNvCxnSpPr/>
          <p:nvPr/>
        </p:nvCxnSpPr>
        <p:spPr>
          <a:xfrm>
            <a:off x="438912" y="297180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38912" y="3264408"/>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38912" y="3557016"/>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4764024" y="297180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764024" y="3264408"/>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764024" y="3557016"/>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sp>
        <p:nvSpPr>
          <p:cNvPr id="35" name="Đáp án B"/>
          <p:cNvSpPr/>
          <p:nvPr/>
        </p:nvSpPr>
        <p:spPr>
          <a:xfrm>
            <a:off x="4937760" y="2770632"/>
            <a:ext cx="4279392" cy="1170432"/>
          </a:xfrm>
          <a:prstGeom prst="roundRect">
            <a:avLst/>
          </a:prstGeom>
          <a:solidFill>
            <a:srgbClr val="2F9C72"/>
          </a:solidFill>
          <a:ln w="15875">
            <a:solidFill>
              <a:srgbClr val="2F9C72"/>
            </a:solidFill>
          </a:ln>
          <a:effectLst>
            <a:glow rad="190000">
              <a:srgbClr val="73D9A5">
                <a:alpha val="52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1" i="0">
                <a:solidFill>
                  <a:srgbClr val="FFFFFF"/>
                </a:solidFill>
                <a:latin typeface="Aptos"/>
              </a:rPr>
              <a:t>Luận cương về Phoiơbắc (luận đề VI).</a:t>
            </a:r>
          </a:p>
        </p:txBody>
      </p:sp>
      <p:sp>
        <p:nvSpPr>
          <p:cNvPr id="36" name="Oval 35"/>
          <p:cNvSpPr/>
          <p:nvPr/>
        </p:nvSpPr>
        <p:spPr>
          <a:xfrm>
            <a:off x="5093208" y="3154679"/>
            <a:ext cx="402336" cy="402336"/>
          </a:xfrm>
          <a:prstGeom prst="ellipse">
            <a:avLst/>
          </a:prstGeom>
          <a:solidFill>
            <a:srgbClr val="FFFFFF"/>
          </a:solidFill>
          <a:ln w="12700">
            <a:solidFill>
              <a:srgbClr val="2F9C72"/>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F9C72"/>
                </a:solidFill>
                <a:latin typeface="Trebuchet MS"/>
              </a:rPr>
              <a:t>B</a:t>
            </a:r>
          </a:p>
        </p:txBody>
      </p:sp>
      <p:sp>
        <p:nvSpPr>
          <p:cNvPr id="37" name="Đáp án C"/>
          <p:cNvSpPr/>
          <p:nvPr/>
        </p:nvSpPr>
        <p:spPr>
          <a:xfrm>
            <a:off x="530352" y="4105656"/>
            <a:ext cx="4215384"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Tư bản, quyển thứ nhất.</a:t>
            </a:r>
          </a:p>
        </p:txBody>
      </p:sp>
      <p:sp>
        <p:nvSpPr>
          <p:cNvPr id="38" name="Oval 37"/>
          <p:cNvSpPr/>
          <p:nvPr/>
        </p:nvSpPr>
        <p:spPr>
          <a:xfrm>
            <a:off x="685800"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C</a:t>
            </a:r>
          </a:p>
        </p:txBody>
      </p:sp>
      <p:sp>
        <p:nvSpPr>
          <p:cNvPr id="39" name="Đáp án D"/>
          <p:cNvSpPr/>
          <p:nvPr/>
        </p:nvSpPr>
        <p:spPr>
          <a:xfrm>
            <a:off x="4937760" y="4105656"/>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Tuyên ngôn của Đảng Cộng sản.</a:t>
            </a:r>
          </a:p>
        </p:txBody>
      </p:sp>
      <p:sp>
        <p:nvSpPr>
          <p:cNvPr id="40" name="Oval 39"/>
          <p:cNvSpPr/>
          <p:nvPr/>
        </p:nvSpPr>
        <p:spPr>
          <a:xfrm>
            <a:off x="5093208"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D</a:t>
            </a:r>
          </a:p>
        </p:txBody>
      </p:sp>
      <p:sp>
        <p:nvSpPr>
          <p:cNvPr id="41" name="Rounded Rectangle 40"/>
          <p:cNvSpPr/>
          <p:nvPr/>
        </p:nvSpPr>
        <p:spPr>
          <a:xfrm>
            <a:off x="530352" y="5431536"/>
            <a:ext cx="5989320" cy="868680"/>
          </a:xfrm>
          <a:prstGeom prst="roundRect">
            <a:avLst/>
          </a:prstGeom>
          <a:solidFill>
            <a:srgbClr val="FBE5E3"/>
          </a:solidFill>
          <a:ln w="12700">
            <a:solidFill>
              <a:srgbClr val="F0C7C4"/>
            </a:solid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l">
              <a:lnSpc>
                <a:spcPct val="100000"/>
              </a:lnSpc>
              <a:spcBef>
                <a:spcPts val="0"/>
              </a:spcBef>
              <a:spcAft>
                <a:spcPts val="0"/>
              </a:spcAft>
            </a:pPr>
            <a:r>
              <a:rPr sz="980" b="1" i="0">
                <a:solidFill>
                  <a:srgbClr val="18324A"/>
                </a:solidFill>
                <a:latin typeface="Aptos"/>
              </a:rPr>
              <a:t>BẠN CHỌN: A  ·  ĐÁP ÁN ĐÚNG: B
Luận cương về Phoiơbắc (luận đề VI).
QUÀ ĐẠT ĐƯỢC LƯỢT NÀY: Chưa có quà</a:t>
            </a:r>
          </a:p>
        </p:txBody>
      </p:sp>
      <p:sp>
        <p:nvSpPr>
          <p:cNvPr id="42" name="Nút: NGƯỜI CHƠI TIẾP THEO  →">
            <a:hlinkClick r:id="rId2" action="ppaction://hlinksldjump"/>
          </p:cNvPr>
          <p:cNvSpPr/>
          <p:nvPr/>
        </p:nvSpPr>
        <p:spPr>
          <a:xfrm>
            <a:off x="6711696" y="5431536"/>
            <a:ext cx="2505456" cy="86868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240" b="1" i="0">
                <a:solidFill>
                  <a:srgbClr val="FFFFFF"/>
                </a:solidFill>
                <a:latin typeface="Trebuchet MS"/>
              </a:rPr>
              <a:t>NGƯỜI CHƠI TIẾP THEO  →</a:t>
            </a:r>
          </a:p>
        </p:txBody>
      </p:sp>
    </p:spTree>
  </p:cSld>
  <p:clrMapOvr>
    <a:masterClrMapping/>
  </p:clrMapOvr>
  <p:transition spd="med" advClick="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02 / 05</a:t>
            </a:r>
          </a:p>
        </p:txBody>
      </p:sp>
      <p:sp>
        <p:nvSpPr>
          <p:cNvPr id="5" name="Rounded Rectangle 4"/>
          <p:cNvSpPr/>
          <p:nvPr/>
        </p:nvSpPr>
        <p:spPr>
          <a:xfrm>
            <a:off x="2240280" y="749808"/>
            <a:ext cx="138988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DỄ</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01 / 03</a:t>
            </a:r>
          </a:p>
        </p:txBody>
      </p:sp>
      <p:sp>
        <p:nvSpPr>
          <p:cNvPr id="7" name="Rounded Rectangle 6"/>
          <p:cNvSpPr/>
          <p:nvPr/>
        </p:nvSpPr>
        <p:spPr>
          <a:xfrm>
            <a:off x="7562088" y="749808"/>
            <a:ext cx="1581912" cy="292608"/>
          </a:xfrm>
          <a:prstGeom prst="roundRect">
            <a:avLst/>
          </a:prstGeom>
          <a:solidFill>
            <a:srgbClr val="FBE3E3"/>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1000" b="1" i="0">
                <a:solidFill>
                  <a:srgbClr val="B8424C"/>
                </a:solidFill>
                <a:latin typeface="Trebuchet MS"/>
              </a:rPr>
              <a:t>RẤT TIẾC!</a:t>
            </a:r>
          </a:p>
        </p:txBody>
      </p:sp>
      <p:sp>
        <p:nvSpPr>
          <p:cNvPr id="8"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1" name="TextBox 10"/>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2100" b="1" i="0">
                <a:solidFill>
                  <a:srgbClr val="FFFFFF"/>
                </a:solidFill>
                <a:latin typeface="Aptos"/>
              </a:rPr>
              <a:t>Luận điểm “Trong tính hiện thực của nó, bản chất con người là tổng hòa các quan hệ xã hội” được C. Mác viết trong tác phẩm nào?</a:t>
            </a:r>
          </a:p>
        </p:txBody>
      </p:sp>
      <p:sp>
        <p:nvSpPr>
          <p:cNvPr id="12"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4" name="TextBox 13"/>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5" name="Rounded Rectangle 14"/>
          <p:cNvSpPr/>
          <p:nvPr/>
        </p:nvSpPr>
        <p:spPr>
          <a:xfrm>
            <a:off x="9646920" y="1371600"/>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01</a:t>
            </a:r>
          </a:p>
        </p:txBody>
      </p:sp>
      <p:sp>
        <p:nvSpPr>
          <p:cNvPr id="17" name="TextBox 16"/>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nhỏ</a:t>
            </a:r>
          </a:p>
        </p:txBody>
      </p:sp>
      <p:sp>
        <p:nvSpPr>
          <p:cNvPr id="18" name="Rounded Rectangle 17"/>
          <p:cNvSpPr/>
          <p:nvPr/>
        </p:nvSpPr>
        <p:spPr>
          <a:xfrm>
            <a:off x="9646920" y="2487168"/>
            <a:ext cx="1956816" cy="877824"/>
          </a:xfrm>
          <a:prstGeom prst="roundRect">
            <a:avLst/>
          </a:prstGeom>
          <a:solidFill>
            <a:srgbClr val="263F53"/>
          </a:solidFill>
          <a:ln w="12700">
            <a:solidFill>
              <a:srgbClr val="4059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B9C7CC"/>
                </a:solidFill>
                <a:latin typeface="Trebuchet MS"/>
              </a:rPr>
              <a:t>CHƯA MỞ  ·  CÂU 02</a:t>
            </a:r>
          </a:p>
        </p:txBody>
      </p:sp>
      <p:sp>
        <p:nvSpPr>
          <p:cNvPr id="20" name="TextBox 19"/>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B9C7CC"/>
                </a:solidFill>
                <a:latin typeface="Trebuchet MS"/>
              </a:rPr>
              <a:t>Quà vừa</a:t>
            </a:r>
          </a:p>
        </p:txBody>
      </p:sp>
      <p:sp>
        <p:nvSpPr>
          <p:cNvPr id="21" name="Rounded Rectangle 20"/>
          <p:cNvSpPr/>
          <p:nvPr/>
        </p:nvSpPr>
        <p:spPr>
          <a:xfrm>
            <a:off x="9646920" y="3602736"/>
            <a:ext cx="1956816" cy="877824"/>
          </a:xfrm>
          <a:prstGeom prst="roundRect">
            <a:avLst/>
          </a:prstGeom>
          <a:solidFill>
            <a:srgbClr val="263F53"/>
          </a:solidFill>
          <a:ln w="12700">
            <a:solidFill>
              <a:srgbClr val="4059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B9C7CC"/>
                </a:solidFill>
                <a:latin typeface="Trebuchet MS"/>
              </a:rPr>
              <a:t>CHƯA MỞ  ·  CÂU 03</a:t>
            </a:r>
          </a:p>
        </p:txBody>
      </p:sp>
      <p:sp>
        <p:nvSpPr>
          <p:cNvPr id="23" name="TextBox 22"/>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B9C7CC"/>
                </a:solidFill>
                <a:latin typeface="Trebuchet MS"/>
              </a:rPr>
              <a:t>Quà lớn</a:t>
            </a:r>
          </a:p>
        </p:txBody>
      </p:sp>
      <p:sp>
        <p:nvSpPr>
          <p:cNvPr id="24" name="TextBox 23"/>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QUÀ GIỮ LẠI</a:t>
            </a:r>
          </a:p>
        </p:txBody>
      </p:sp>
      <p:sp>
        <p:nvSpPr>
          <p:cNvPr id="25" name="TextBox 24"/>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Chưa có quà</a:t>
            </a:r>
          </a:p>
        </p:txBody>
      </p:sp>
      <p:sp>
        <p:nvSpPr>
          <p:cNvPr id="26" name="TextBox 25"/>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7" name="Đáp án A"/>
          <p:cNvSpPr/>
          <p:nvPr/>
        </p:nvSpPr>
        <p:spPr>
          <a:xfrm>
            <a:off x="530352" y="2770632"/>
            <a:ext cx="4215384"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Bản thảo kinh tế – triết học năm 1844.</a:t>
            </a:r>
          </a:p>
        </p:txBody>
      </p:sp>
      <p:sp>
        <p:nvSpPr>
          <p:cNvPr id="28" name="Oval 27"/>
          <p:cNvSpPr/>
          <p:nvPr/>
        </p:nvSpPr>
        <p:spPr>
          <a:xfrm>
            <a:off x="685800" y="3154679"/>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A</a:t>
            </a:r>
          </a:p>
        </p:txBody>
      </p:sp>
      <p:sp>
        <p:nvSpPr>
          <p:cNvPr id="29" name="Đáp án B"/>
          <p:cNvSpPr/>
          <p:nvPr/>
        </p:nvSpPr>
        <p:spPr>
          <a:xfrm>
            <a:off x="4937760" y="2770632"/>
            <a:ext cx="4279392" cy="1170432"/>
          </a:xfrm>
          <a:prstGeom prst="roundRect">
            <a:avLst/>
          </a:prstGeom>
          <a:solidFill>
            <a:srgbClr val="2F9C72"/>
          </a:solidFill>
          <a:ln w="15875">
            <a:solidFill>
              <a:srgbClr val="2F9C72"/>
            </a:solidFill>
          </a:ln>
          <a:effectLst>
            <a:glow rad="190000">
              <a:srgbClr val="73D9A5">
                <a:alpha val="52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1" i="0">
                <a:solidFill>
                  <a:srgbClr val="FFFFFF"/>
                </a:solidFill>
                <a:latin typeface="Aptos"/>
              </a:rPr>
              <a:t>Luận cương về Phoiơbắc (luận đề VI).</a:t>
            </a:r>
          </a:p>
        </p:txBody>
      </p:sp>
      <p:sp>
        <p:nvSpPr>
          <p:cNvPr id="30" name="Oval 29"/>
          <p:cNvSpPr/>
          <p:nvPr/>
        </p:nvSpPr>
        <p:spPr>
          <a:xfrm>
            <a:off x="5093208" y="3154679"/>
            <a:ext cx="402336" cy="402336"/>
          </a:xfrm>
          <a:prstGeom prst="ellipse">
            <a:avLst/>
          </a:prstGeom>
          <a:solidFill>
            <a:srgbClr val="FFFFFF"/>
          </a:solidFill>
          <a:ln w="12700">
            <a:solidFill>
              <a:srgbClr val="2F9C72"/>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F9C72"/>
                </a:solidFill>
                <a:latin typeface="Trebuchet MS"/>
              </a:rPr>
              <a:t>B</a:t>
            </a:r>
          </a:p>
        </p:txBody>
      </p:sp>
      <p:sp>
        <p:nvSpPr>
          <p:cNvPr id="31" name="Đáp án C"/>
          <p:cNvSpPr/>
          <p:nvPr/>
        </p:nvSpPr>
        <p:spPr>
          <a:xfrm>
            <a:off x="530352" y="4105656"/>
            <a:ext cx="4215384" cy="1170432"/>
          </a:xfrm>
          <a:prstGeom prst="roundRect">
            <a:avLst/>
          </a:prstGeom>
          <a:solidFill>
            <a:srgbClr val="E45C64"/>
          </a:solidFill>
          <a:ln w="15875">
            <a:solidFill>
              <a:srgbClr val="B8424C"/>
            </a:solidFill>
          </a:ln>
          <a:effectLst>
            <a:glow rad="110000">
              <a:srgbClr val="E45C64">
                <a:alpha val="35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1" i="0">
                <a:solidFill>
                  <a:srgbClr val="FFFFFF"/>
                </a:solidFill>
                <a:latin typeface="Aptos"/>
              </a:rPr>
              <a:t>Tư bản, quyển thứ nhất.</a:t>
            </a:r>
          </a:p>
        </p:txBody>
      </p:sp>
      <p:sp>
        <p:nvSpPr>
          <p:cNvPr id="32" name="Oval 31"/>
          <p:cNvSpPr/>
          <p:nvPr/>
        </p:nvSpPr>
        <p:spPr>
          <a:xfrm>
            <a:off x="685800" y="4489704"/>
            <a:ext cx="402336" cy="402336"/>
          </a:xfrm>
          <a:prstGeom prst="ellipse">
            <a:avLst/>
          </a:prstGeom>
          <a:solidFill>
            <a:srgbClr val="FFFFFF"/>
          </a:solidFill>
          <a:ln w="12700">
            <a:solidFill>
              <a:srgbClr val="B8424C"/>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B8424C"/>
                </a:solidFill>
                <a:latin typeface="Trebuchet MS"/>
              </a:rPr>
              <a:t>C</a:t>
            </a:r>
          </a:p>
        </p:txBody>
      </p:sp>
      <p:cxnSp>
        <p:nvCxnSpPr>
          <p:cNvPr id="33" name="Connector 32"/>
          <p:cNvCxnSpPr/>
          <p:nvPr/>
        </p:nvCxnSpPr>
        <p:spPr>
          <a:xfrm>
            <a:off x="438912" y="4306824"/>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38912" y="4599432"/>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38912" y="489204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4764024" y="4306824"/>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764024" y="4599432"/>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764024" y="489204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sp>
        <p:nvSpPr>
          <p:cNvPr id="39" name="Đáp án D"/>
          <p:cNvSpPr/>
          <p:nvPr/>
        </p:nvSpPr>
        <p:spPr>
          <a:xfrm>
            <a:off x="4937760" y="4105656"/>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Tuyên ngôn của Đảng Cộng sản.</a:t>
            </a:r>
          </a:p>
        </p:txBody>
      </p:sp>
      <p:sp>
        <p:nvSpPr>
          <p:cNvPr id="40" name="Oval 39"/>
          <p:cNvSpPr/>
          <p:nvPr/>
        </p:nvSpPr>
        <p:spPr>
          <a:xfrm>
            <a:off x="5093208"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D</a:t>
            </a:r>
          </a:p>
        </p:txBody>
      </p:sp>
      <p:sp>
        <p:nvSpPr>
          <p:cNvPr id="41" name="Rounded Rectangle 40"/>
          <p:cNvSpPr/>
          <p:nvPr/>
        </p:nvSpPr>
        <p:spPr>
          <a:xfrm>
            <a:off x="530352" y="5431536"/>
            <a:ext cx="5989320" cy="868680"/>
          </a:xfrm>
          <a:prstGeom prst="roundRect">
            <a:avLst/>
          </a:prstGeom>
          <a:solidFill>
            <a:srgbClr val="FBE5E3"/>
          </a:solidFill>
          <a:ln w="12700">
            <a:solidFill>
              <a:srgbClr val="F0C7C4"/>
            </a:solid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l">
              <a:lnSpc>
                <a:spcPct val="100000"/>
              </a:lnSpc>
              <a:spcBef>
                <a:spcPts val="0"/>
              </a:spcBef>
              <a:spcAft>
                <a:spcPts val="0"/>
              </a:spcAft>
            </a:pPr>
            <a:r>
              <a:rPr sz="980" b="1" i="0">
                <a:solidFill>
                  <a:srgbClr val="18324A"/>
                </a:solidFill>
                <a:latin typeface="Aptos"/>
              </a:rPr>
              <a:t>BẠN CHỌN: C  ·  ĐÁP ÁN ĐÚNG: B
Luận cương về Phoiơbắc (luận đề VI).
QUÀ ĐẠT ĐƯỢC LƯỢT NÀY: Chưa có quà</a:t>
            </a:r>
          </a:p>
        </p:txBody>
      </p:sp>
      <p:sp>
        <p:nvSpPr>
          <p:cNvPr id="42" name="Nút: NGƯỜI CHƠI TIẾP THEO  →">
            <a:hlinkClick r:id="rId2" action="ppaction://hlinksldjump"/>
          </p:cNvPr>
          <p:cNvSpPr/>
          <p:nvPr/>
        </p:nvSpPr>
        <p:spPr>
          <a:xfrm>
            <a:off x="6711696" y="5431536"/>
            <a:ext cx="2505456" cy="86868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240" b="1" i="0">
                <a:solidFill>
                  <a:srgbClr val="FFFFFF"/>
                </a:solidFill>
                <a:latin typeface="Trebuchet MS"/>
              </a:rPr>
              <a:t>NGƯỜI CHƠI TIẾP THEO  →</a:t>
            </a:r>
          </a:p>
        </p:txBody>
      </p:sp>
    </p:spTree>
  </p:cSld>
  <p:clrMapOvr>
    <a:masterClrMapping/>
  </p:clrMapOvr>
  <p:transition spd="med" advClick="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02 / 05</a:t>
            </a:r>
          </a:p>
        </p:txBody>
      </p:sp>
      <p:sp>
        <p:nvSpPr>
          <p:cNvPr id="5" name="Rounded Rectangle 4"/>
          <p:cNvSpPr/>
          <p:nvPr/>
        </p:nvSpPr>
        <p:spPr>
          <a:xfrm>
            <a:off x="2240280" y="749808"/>
            <a:ext cx="138988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DỄ</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01 / 03</a:t>
            </a:r>
          </a:p>
        </p:txBody>
      </p:sp>
      <p:sp>
        <p:nvSpPr>
          <p:cNvPr id="7" name="Rounded Rectangle 6"/>
          <p:cNvSpPr/>
          <p:nvPr/>
        </p:nvSpPr>
        <p:spPr>
          <a:xfrm>
            <a:off x="7562088" y="749808"/>
            <a:ext cx="1581912" cy="292608"/>
          </a:xfrm>
          <a:prstGeom prst="roundRect">
            <a:avLst/>
          </a:prstGeom>
          <a:solidFill>
            <a:srgbClr val="FBE3E3"/>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1000" b="1" i="0">
                <a:solidFill>
                  <a:srgbClr val="B8424C"/>
                </a:solidFill>
                <a:latin typeface="Trebuchet MS"/>
              </a:rPr>
              <a:t>RẤT TIẾC!</a:t>
            </a:r>
          </a:p>
        </p:txBody>
      </p:sp>
      <p:sp>
        <p:nvSpPr>
          <p:cNvPr id="8"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1" name="TextBox 10"/>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2100" b="1" i="0">
                <a:solidFill>
                  <a:srgbClr val="FFFFFF"/>
                </a:solidFill>
                <a:latin typeface="Aptos"/>
              </a:rPr>
              <a:t>Luận điểm “Trong tính hiện thực của nó, bản chất con người là tổng hòa các quan hệ xã hội” được C. Mác viết trong tác phẩm nào?</a:t>
            </a:r>
          </a:p>
        </p:txBody>
      </p:sp>
      <p:sp>
        <p:nvSpPr>
          <p:cNvPr id="12"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4" name="TextBox 13"/>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5" name="Rounded Rectangle 14"/>
          <p:cNvSpPr/>
          <p:nvPr/>
        </p:nvSpPr>
        <p:spPr>
          <a:xfrm>
            <a:off x="9646920" y="1371600"/>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01</a:t>
            </a:r>
          </a:p>
        </p:txBody>
      </p:sp>
      <p:sp>
        <p:nvSpPr>
          <p:cNvPr id="17" name="TextBox 16"/>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nhỏ</a:t>
            </a:r>
          </a:p>
        </p:txBody>
      </p:sp>
      <p:sp>
        <p:nvSpPr>
          <p:cNvPr id="18" name="Rounded Rectangle 17"/>
          <p:cNvSpPr/>
          <p:nvPr/>
        </p:nvSpPr>
        <p:spPr>
          <a:xfrm>
            <a:off x="9646920" y="2487168"/>
            <a:ext cx="1956816" cy="877824"/>
          </a:xfrm>
          <a:prstGeom prst="roundRect">
            <a:avLst/>
          </a:prstGeom>
          <a:solidFill>
            <a:srgbClr val="263F53"/>
          </a:solidFill>
          <a:ln w="12700">
            <a:solidFill>
              <a:srgbClr val="4059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B9C7CC"/>
                </a:solidFill>
                <a:latin typeface="Trebuchet MS"/>
              </a:rPr>
              <a:t>CHƯA MỞ  ·  CÂU 02</a:t>
            </a:r>
          </a:p>
        </p:txBody>
      </p:sp>
      <p:sp>
        <p:nvSpPr>
          <p:cNvPr id="20" name="TextBox 19"/>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B9C7CC"/>
                </a:solidFill>
                <a:latin typeface="Trebuchet MS"/>
              </a:rPr>
              <a:t>Quà vừa</a:t>
            </a:r>
          </a:p>
        </p:txBody>
      </p:sp>
      <p:sp>
        <p:nvSpPr>
          <p:cNvPr id="21" name="Rounded Rectangle 20"/>
          <p:cNvSpPr/>
          <p:nvPr/>
        </p:nvSpPr>
        <p:spPr>
          <a:xfrm>
            <a:off x="9646920" y="3602736"/>
            <a:ext cx="1956816" cy="877824"/>
          </a:xfrm>
          <a:prstGeom prst="roundRect">
            <a:avLst/>
          </a:prstGeom>
          <a:solidFill>
            <a:srgbClr val="263F53"/>
          </a:solidFill>
          <a:ln w="12700">
            <a:solidFill>
              <a:srgbClr val="4059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B9C7CC"/>
                </a:solidFill>
                <a:latin typeface="Trebuchet MS"/>
              </a:rPr>
              <a:t>CHƯA MỞ  ·  CÂU 03</a:t>
            </a:r>
          </a:p>
        </p:txBody>
      </p:sp>
      <p:sp>
        <p:nvSpPr>
          <p:cNvPr id="23" name="TextBox 22"/>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B9C7CC"/>
                </a:solidFill>
                <a:latin typeface="Trebuchet MS"/>
              </a:rPr>
              <a:t>Quà lớn</a:t>
            </a:r>
          </a:p>
        </p:txBody>
      </p:sp>
      <p:sp>
        <p:nvSpPr>
          <p:cNvPr id="24" name="TextBox 23"/>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QUÀ GIỮ LẠI</a:t>
            </a:r>
          </a:p>
        </p:txBody>
      </p:sp>
      <p:sp>
        <p:nvSpPr>
          <p:cNvPr id="25" name="TextBox 24"/>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Chưa có quà</a:t>
            </a:r>
          </a:p>
        </p:txBody>
      </p:sp>
      <p:sp>
        <p:nvSpPr>
          <p:cNvPr id="26" name="TextBox 25"/>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7" name="Đáp án A"/>
          <p:cNvSpPr/>
          <p:nvPr/>
        </p:nvSpPr>
        <p:spPr>
          <a:xfrm>
            <a:off x="530352" y="2770632"/>
            <a:ext cx="4215384"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Bản thảo kinh tế – triết học năm 1844.</a:t>
            </a:r>
          </a:p>
        </p:txBody>
      </p:sp>
      <p:sp>
        <p:nvSpPr>
          <p:cNvPr id="28" name="Oval 27"/>
          <p:cNvSpPr/>
          <p:nvPr/>
        </p:nvSpPr>
        <p:spPr>
          <a:xfrm>
            <a:off x="685800" y="3154679"/>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A</a:t>
            </a:r>
          </a:p>
        </p:txBody>
      </p:sp>
      <p:sp>
        <p:nvSpPr>
          <p:cNvPr id="29" name="Đáp án B"/>
          <p:cNvSpPr/>
          <p:nvPr/>
        </p:nvSpPr>
        <p:spPr>
          <a:xfrm>
            <a:off x="4937760" y="2770632"/>
            <a:ext cx="4279392" cy="1170432"/>
          </a:xfrm>
          <a:prstGeom prst="roundRect">
            <a:avLst/>
          </a:prstGeom>
          <a:solidFill>
            <a:srgbClr val="2F9C72"/>
          </a:solidFill>
          <a:ln w="15875">
            <a:solidFill>
              <a:srgbClr val="2F9C72"/>
            </a:solidFill>
          </a:ln>
          <a:effectLst>
            <a:glow rad="190000">
              <a:srgbClr val="73D9A5">
                <a:alpha val="52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1" i="0">
                <a:solidFill>
                  <a:srgbClr val="FFFFFF"/>
                </a:solidFill>
                <a:latin typeface="Aptos"/>
              </a:rPr>
              <a:t>Luận cương về Phoiơbắc (luận đề VI).</a:t>
            </a:r>
          </a:p>
        </p:txBody>
      </p:sp>
      <p:sp>
        <p:nvSpPr>
          <p:cNvPr id="30" name="Oval 29"/>
          <p:cNvSpPr/>
          <p:nvPr/>
        </p:nvSpPr>
        <p:spPr>
          <a:xfrm>
            <a:off x="5093208" y="3154679"/>
            <a:ext cx="402336" cy="402336"/>
          </a:xfrm>
          <a:prstGeom prst="ellipse">
            <a:avLst/>
          </a:prstGeom>
          <a:solidFill>
            <a:srgbClr val="FFFFFF"/>
          </a:solidFill>
          <a:ln w="12700">
            <a:solidFill>
              <a:srgbClr val="2F9C72"/>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F9C72"/>
                </a:solidFill>
                <a:latin typeface="Trebuchet MS"/>
              </a:rPr>
              <a:t>B</a:t>
            </a:r>
          </a:p>
        </p:txBody>
      </p:sp>
      <p:sp>
        <p:nvSpPr>
          <p:cNvPr id="31" name="Đáp án C"/>
          <p:cNvSpPr/>
          <p:nvPr/>
        </p:nvSpPr>
        <p:spPr>
          <a:xfrm>
            <a:off x="530352" y="4105656"/>
            <a:ext cx="4215384"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Tư bản, quyển thứ nhất.</a:t>
            </a:r>
          </a:p>
        </p:txBody>
      </p:sp>
      <p:sp>
        <p:nvSpPr>
          <p:cNvPr id="32" name="Oval 31"/>
          <p:cNvSpPr/>
          <p:nvPr/>
        </p:nvSpPr>
        <p:spPr>
          <a:xfrm>
            <a:off x="685800"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C</a:t>
            </a:r>
          </a:p>
        </p:txBody>
      </p:sp>
      <p:sp>
        <p:nvSpPr>
          <p:cNvPr id="33" name="Đáp án D"/>
          <p:cNvSpPr/>
          <p:nvPr/>
        </p:nvSpPr>
        <p:spPr>
          <a:xfrm>
            <a:off x="4937760" y="4105656"/>
            <a:ext cx="4279392" cy="1170432"/>
          </a:xfrm>
          <a:prstGeom prst="roundRect">
            <a:avLst/>
          </a:prstGeom>
          <a:solidFill>
            <a:srgbClr val="E45C64"/>
          </a:solidFill>
          <a:ln w="15875">
            <a:solidFill>
              <a:srgbClr val="B8424C"/>
            </a:solidFill>
          </a:ln>
          <a:effectLst>
            <a:glow rad="110000">
              <a:srgbClr val="E45C64">
                <a:alpha val="35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1" i="0">
                <a:solidFill>
                  <a:srgbClr val="FFFFFF"/>
                </a:solidFill>
                <a:latin typeface="Aptos"/>
              </a:rPr>
              <a:t>Tuyên ngôn của Đảng Cộng sản.</a:t>
            </a:r>
          </a:p>
        </p:txBody>
      </p:sp>
      <p:sp>
        <p:nvSpPr>
          <p:cNvPr id="34" name="Oval 33"/>
          <p:cNvSpPr/>
          <p:nvPr/>
        </p:nvSpPr>
        <p:spPr>
          <a:xfrm>
            <a:off x="5093208" y="4489704"/>
            <a:ext cx="402336" cy="402336"/>
          </a:xfrm>
          <a:prstGeom prst="ellipse">
            <a:avLst/>
          </a:prstGeom>
          <a:solidFill>
            <a:srgbClr val="FFFFFF"/>
          </a:solidFill>
          <a:ln w="12700">
            <a:solidFill>
              <a:srgbClr val="B8424C"/>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B8424C"/>
                </a:solidFill>
                <a:latin typeface="Trebuchet MS"/>
              </a:rPr>
              <a:t>D</a:t>
            </a:r>
          </a:p>
        </p:txBody>
      </p:sp>
      <p:cxnSp>
        <p:nvCxnSpPr>
          <p:cNvPr id="35" name="Connector 34"/>
          <p:cNvCxnSpPr/>
          <p:nvPr/>
        </p:nvCxnSpPr>
        <p:spPr>
          <a:xfrm>
            <a:off x="4846320" y="4306824"/>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4846320" y="4599432"/>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846320" y="489204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9235440" y="4306824"/>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9235440" y="4599432"/>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9235440" y="489204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530352" y="5431536"/>
            <a:ext cx="5989320" cy="868680"/>
          </a:xfrm>
          <a:prstGeom prst="roundRect">
            <a:avLst/>
          </a:prstGeom>
          <a:solidFill>
            <a:srgbClr val="FBE5E3"/>
          </a:solidFill>
          <a:ln w="12700">
            <a:solidFill>
              <a:srgbClr val="F0C7C4"/>
            </a:solid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l">
              <a:lnSpc>
                <a:spcPct val="100000"/>
              </a:lnSpc>
              <a:spcBef>
                <a:spcPts val="0"/>
              </a:spcBef>
              <a:spcAft>
                <a:spcPts val="0"/>
              </a:spcAft>
            </a:pPr>
            <a:r>
              <a:rPr sz="980" b="1" i="0">
                <a:solidFill>
                  <a:srgbClr val="18324A"/>
                </a:solidFill>
                <a:latin typeface="Aptos"/>
              </a:rPr>
              <a:t>BẠN CHỌN: D  ·  ĐÁP ÁN ĐÚNG: B
Luận cương về Phoiơbắc (luận đề VI).
QUÀ ĐẠT ĐƯỢC LƯỢT NÀY: Chưa có quà</a:t>
            </a:r>
          </a:p>
        </p:txBody>
      </p:sp>
      <p:sp>
        <p:nvSpPr>
          <p:cNvPr id="42" name="Nút: NGƯỜI CHƠI TIẾP THEO  →">
            <a:hlinkClick r:id="rId2" action="ppaction://hlinksldjump"/>
          </p:cNvPr>
          <p:cNvSpPr/>
          <p:nvPr/>
        </p:nvSpPr>
        <p:spPr>
          <a:xfrm>
            <a:off x="6711696" y="5431536"/>
            <a:ext cx="2505456" cy="86868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240" b="1" i="0">
                <a:solidFill>
                  <a:srgbClr val="FFFFFF"/>
                </a:solidFill>
                <a:latin typeface="Trebuchet MS"/>
              </a:rPr>
              <a:t>NGƯỜI CHƠI TIẾP THEO  →</a:t>
            </a:r>
          </a:p>
        </p:txBody>
      </p:sp>
    </p:spTree>
  </p:cSld>
  <p:clrMapOvr>
    <a:masterClrMapping/>
  </p:clrMapOvr>
  <p:transition spd="med" advClick="0">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02 / 05</a:t>
            </a:r>
          </a:p>
        </p:txBody>
      </p:sp>
      <p:sp>
        <p:nvSpPr>
          <p:cNvPr id="5" name="Rounded Rectangle 4"/>
          <p:cNvSpPr/>
          <p:nvPr/>
        </p:nvSpPr>
        <p:spPr>
          <a:xfrm>
            <a:off x="2240280" y="749808"/>
            <a:ext cx="1389888" cy="292608"/>
          </a:xfrm>
          <a:prstGeom prst="roundRect">
            <a:avLst/>
          </a:prstGeom>
          <a:solidFill>
            <a:srgbClr val="FFF0C2"/>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18324A"/>
                </a:solidFill>
                <a:latin typeface="Trebuchet MS"/>
              </a:rPr>
              <a:t>TRUNG BÌNH</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02 / 03</a:t>
            </a:r>
          </a:p>
        </p:txBody>
      </p:sp>
      <p:sp>
        <p:nvSpPr>
          <p:cNvPr id="7"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0" name="TextBox 9"/>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2100" b="1" i="0">
                <a:solidFill>
                  <a:srgbClr val="FFFFFF"/>
                </a:solidFill>
                <a:latin typeface="Aptos"/>
              </a:rPr>
              <a:t>Chuỗi bốn bước nào giải thích hợp lý nguyên nhân sâu xa khiến tư hữu tư liệu sản xuất sinh ra tha hóa con người?</a:t>
            </a:r>
          </a:p>
        </p:txBody>
      </p:sp>
      <p:sp>
        <p:nvSpPr>
          <p:cNvPr id="11"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3" name="TextBox 12"/>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4" name="Rounded Rectangle 13"/>
          <p:cNvSpPr/>
          <p:nvPr/>
        </p:nvSpPr>
        <p:spPr>
          <a:xfrm>
            <a:off x="9646920" y="1371600"/>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01</a:t>
            </a:r>
          </a:p>
        </p:txBody>
      </p:sp>
      <p:sp>
        <p:nvSpPr>
          <p:cNvPr id="16" name="TextBox 15"/>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nhỏ</a:t>
            </a:r>
          </a:p>
        </p:txBody>
      </p:sp>
      <p:sp>
        <p:nvSpPr>
          <p:cNvPr id="17" name="Rounded Rectangle 16"/>
          <p:cNvSpPr/>
          <p:nvPr/>
        </p:nvSpPr>
        <p:spPr>
          <a:xfrm>
            <a:off x="9646920" y="2487168"/>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02</a:t>
            </a:r>
          </a:p>
        </p:txBody>
      </p:sp>
      <p:sp>
        <p:nvSpPr>
          <p:cNvPr id="19" name="TextBox 18"/>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vừa</a:t>
            </a:r>
          </a:p>
        </p:txBody>
      </p:sp>
      <p:sp>
        <p:nvSpPr>
          <p:cNvPr id="20" name="Rounded Rectangle 19"/>
          <p:cNvSpPr/>
          <p:nvPr/>
        </p:nvSpPr>
        <p:spPr>
          <a:xfrm>
            <a:off x="9646920" y="3602736"/>
            <a:ext cx="1956816" cy="877824"/>
          </a:xfrm>
          <a:prstGeom prst="roundRect">
            <a:avLst/>
          </a:prstGeom>
          <a:solidFill>
            <a:srgbClr val="263F53"/>
          </a:solidFill>
          <a:ln w="12700">
            <a:solidFill>
              <a:srgbClr val="4059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B9C7CC"/>
                </a:solidFill>
                <a:latin typeface="Trebuchet MS"/>
              </a:rPr>
              <a:t>CHƯA MỞ  ·  CÂU 03</a:t>
            </a:r>
          </a:p>
        </p:txBody>
      </p:sp>
      <p:sp>
        <p:nvSpPr>
          <p:cNvPr id="22" name="TextBox 21"/>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B9C7CC"/>
                </a:solidFill>
                <a:latin typeface="Trebuchet MS"/>
              </a:rPr>
              <a:t>Quà lớn</a:t>
            </a:r>
          </a:p>
        </p:txBody>
      </p:sp>
      <p:sp>
        <p:nvSpPr>
          <p:cNvPr id="23" name="TextBox 22"/>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MỐC AN TOÀN</a:t>
            </a:r>
          </a:p>
        </p:txBody>
      </p:sp>
      <p:sp>
        <p:nvSpPr>
          <p:cNvPr id="24" name="TextBox 23"/>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Quà nhỏ</a:t>
            </a:r>
          </a:p>
        </p:txBody>
      </p:sp>
      <p:sp>
        <p:nvSpPr>
          <p:cNvPr id="25" name="TextBox 24"/>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6" name="Đáp án A">
            <a:hlinkClick r:id="rId2" action="ppaction://hlinksldjump"/>
          </p:cNvPr>
          <p:cNvSpPr/>
          <p:nvPr/>
        </p:nvSpPr>
        <p:spPr>
          <a:xfrm>
            <a:off x="530352" y="2770632"/>
            <a:ext cx="4215384" cy="1170432"/>
          </a:xfrm>
          <a:prstGeom prst="roundRect">
            <a:avLst/>
          </a:prstGeom>
          <a:solidFill>
            <a:srgbClr val="FBFCF9"/>
          </a:solidFill>
          <a:ln w="15875">
            <a:solidFill>
              <a:srgbClr val="D7DED8"/>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250" b="0" i="0">
                <a:solidFill>
                  <a:srgbClr val="18324A"/>
                </a:solidFill>
                <a:latin typeface="Aptos"/>
              </a:rPr>
              <a:t>Tư hữu tập trung tư liệu sản xuất → người lao động mất quyền kiểm soát điều kiện và sản phẩm → lao động, sản phẩm thành sức mạnh xa lạ → tha hóa hoạt động, bản chất và quan hệ người – người.</a:t>
            </a:r>
          </a:p>
        </p:txBody>
      </p:sp>
      <p:sp>
        <p:nvSpPr>
          <p:cNvPr id="27" name="Oval 26">
            <a:hlinkClick r:id="rId2" action="ppaction://hlinksldjump"/>
          </p:cNvPr>
          <p:cNvSpPr/>
          <p:nvPr/>
        </p:nvSpPr>
        <p:spPr>
          <a:xfrm>
            <a:off x="685800" y="3154679"/>
            <a:ext cx="402336" cy="402336"/>
          </a:xfrm>
          <a:prstGeom prst="ellipse">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E8177"/>
                </a:solidFill>
                <a:latin typeface="Trebuchet MS"/>
              </a:rPr>
              <a:t>A</a:t>
            </a:r>
          </a:p>
        </p:txBody>
      </p:sp>
      <p:sp>
        <p:nvSpPr>
          <p:cNvPr id="28" name="Đáp án B">
            <a:hlinkClick r:id="rId3" action="ppaction://hlinksldjump"/>
          </p:cNvPr>
          <p:cNvSpPr/>
          <p:nvPr/>
        </p:nvSpPr>
        <p:spPr>
          <a:xfrm>
            <a:off x="4937760" y="2770632"/>
            <a:ext cx="4279392" cy="1170432"/>
          </a:xfrm>
          <a:prstGeom prst="roundRect">
            <a:avLst/>
          </a:prstGeom>
          <a:solidFill>
            <a:srgbClr val="FBFCF9"/>
          </a:solidFill>
          <a:ln w="15875">
            <a:solidFill>
              <a:srgbClr val="D7DED8"/>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18324A"/>
                </a:solidFill>
                <a:latin typeface="Aptos"/>
              </a:rPr>
              <a:t>Tư hữu được xóa bỏ → mọi người có quyền ngang nhau → sản phẩm không còn giá trị → lao động tự biến mất.</a:t>
            </a:r>
          </a:p>
        </p:txBody>
      </p:sp>
      <p:sp>
        <p:nvSpPr>
          <p:cNvPr id="29" name="Oval 28">
            <a:hlinkClick r:id="rId3" action="ppaction://hlinksldjump"/>
          </p:cNvPr>
          <p:cNvSpPr/>
          <p:nvPr/>
        </p:nvSpPr>
        <p:spPr>
          <a:xfrm>
            <a:off x="5093208" y="3154679"/>
            <a:ext cx="402336" cy="402336"/>
          </a:xfrm>
          <a:prstGeom prst="ellipse">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E8177"/>
                </a:solidFill>
                <a:latin typeface="Trebuchet MS"/>
              </a:rPr>
              <a:t>B</a:t>
            </a:r>
          </a:p>
        </p:txBody>
      </p:sp>
      <p:sp>
        <p:nvSpPr>
          <p:cNvPr id="30" name="Đáp án C">
            <a:hlinkClick r:id="rId4" action="ppaction://hlinksldjump"/>
          </p:cNvPr>
          <p:cNvSpPr/>
          <p:nvPr/>
        </p:nvSpPr>
        <p:spPr>
          <a:xfrm>
            <a:off x="530352" y="4105656"/>
            <a:ext cx="4215384" cy="1170432"/>
          </a:xfrm>
          <a:prstGeom prst="roundRect">
            <a:avLst/>
          </a:prstGeom>
          <a:solidFill>
            <a:srgbClr val="FBFCF9"/>
          </a:solidFill>
          <a:ln w="15875">
            <a:solidFill>
              <a:srgbClr val="D7DED8"/>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18324A"/>
                </a:solidFill>
                <a:latin typeface="Aptos"/>
              </a:rPr>
              <a:t>Công cụ hiện đại hơn → năng suất tăng → mọi người tự động sở hữu tư liệu sản xuất → tha hóa chấm dứt.</a:t>
            </a:r>
          </a:p>
        </p:txBody>
      </p:sp>
      <p:sp>
        <p:nvSpPr>
          <p:cNvPr id="31" name="Oval 30">
            <a:hlinkClick r:id="rId4" action="ppaction://hlinksldjump"/>
          </p:cNvPr>
          <p:cNvSpPr/>
          <p:nvPr/>
        </p:nvSpPr>
        <p:spPr>
          <a:xfrm>
            <a:off x="685800" y="4489704"/>
            <a:ext cx="402336" cy="402336"/>
          </a:xfrm>
          <a:prstGeom prst="ellipse">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E8177"/>
                </a:solidFill>
                <a:latin typeface="Trebuchet MS"/>
              </a:rPr>
              <a:t>C</a:t>
            </a:r>
          </a:p>
        </p:txBody>
      </p:sp>
      <p:sp>
        <p:nvSpPr>
          <p:cNvPr id="32" name="Đáp án D">
            <a:hlinkClick r:id="rId5" action="ppaction://hlinksldjump"/>
          </p:cNvPr>
          <p:cNvSpPr/>
          <p:nvPr/>
        </p:nvSpPr>
        <p:spPr>
          <a:xfrm>
            <a:off x="4937760" y="4105656"/>
            <a:ext cx="4279392" cy="1170432"/>
          </a:xfrm>
          <a:prstGeom prst="roundRect">
            <a:avLst/>
          </a:prstGeom>
          <a:solidFill>
            <a:srgbClr val="FBFCF9"/>
          </a:solidFill>
          <a:ln w="15875">
            <a:solidFill>
              <a:srgbClr val="D7DED8"/>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18324A"/>
                </a:solidFill>
                <a:latin typeface="Aptos"/>
              </a:rPr>
              <a:t>Nhu cầu cá nhân tăng → giao tiếp giảm → con người tách khỏi tự nhiên → hình thành giai cấp.</a:t>
            </a:r>
          </a:p>
        </p:txBody>
      </p:sp>
      <p:sp>
        <p:nvSpPr>
          <p:cNvPr id="33" name="Oval 32">
            <a:hlinkClick r:id="rId5" action="ppaction://hlinksldjump"/>
          </p:cNvPr>
          <p:cNvSpPr/>
          <p:nvPr/>
        </p:nvSpPr>
        <p:spPr>
          <a:xfrm>
            <a:off x="5093208" y="4489704"/>
            <a:ext cx="402336" cy="402336"/>
          </a:xfrm>
          <a:prstGeom prst="ellipse">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E8177"/>
                </a:solidFill>
                <a:latin typeface="Trebuchet MS"/>
              </a:rPr>
              <a:t>D</a:t>
            </a:r>
          </a:p>
        </p:txBody>
      </p:sp>
      <p:sp>
        <p:nvSpPr>
          <p:cNvPr id="34" name="TextBox 33"/>
          <p:cNvSpPr txBox="1"/>
          <p:nvPr/>
        </p:nvSpPr>
        <p:spPr>
          <a:xfrm>
            <a:off x="621792" y="5431536"/>
            <a:ext cx="8485632" cy="36576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080" b="1" i="0">
                <a:solidFill>
                  <a:srgbClr val="657883"/>
                </a:solidFill>
                <a:latin typeface="Trebuchet MS"/>
              </a:rPr>
              <a:t>CHỌN MỘT ĐÁP ÁN  ·  BẤM TRỰC TIẾP VÀO THẺ A / B / C / D</a:t>
            </a:r>
          </a:p>
        </p:txBody>
      </p:sp>
    </p:spTree>
  </p:cSld>
  <p:clrMapOvr>
    <a:masterClrMapping/>
  </p:clrMapOvr>
  <p:transition spd="med" advClick="0">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02 / 05</a:t>
            </a:r>
          </a:p>
        </p:txBody>
      </p:sp>
      <p:sp>
        <p:nvSpPr>
          <p:cNvPr id="5" name="Rounded Rectangle 4"/>
          <p:cNvSpPr/>
          <p:nvPr/>
        </p:nvSpPr>
        <p:spPr>
          <a:xfrm>
            <a:off x="2240280" y="749808"/>
            <a:ext cx="1389888" cy="292608"/>
          </a:xfrm>
          <a:prstGeom prst="roundRect">
            <a:avLst/>
          </a:prstGeom>
          <a:solidFill>
            <a:srgbClr val="FFF0C2"/>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18324A"/>
                </a:solidFill>
                <a:latin typeface="Trebuchet MS"/>
              </a:rPr>
              <a:t>TRUNG BÌNH</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02 / 03</a:t>
            </a:r>
          </a:p>
        </p:txBody>
      </p:sp>
      <p:sp>
        <p:nvSpPr>
          <p:cNvPr id="7" name="Rounded Rectangle 6"/>
          <p:cNvSpPr/>
          <p:nvPr/>
        </p:nvSpPr>
        <p:spPr>
          <a:xfrm>
            <a:off x="7562088" y="749808"/>
            <a:ext cx="1581912" cy="292608"/>
          </a:xfrm>
          <a:prstGeom prst="roundRect">
            <a:avLst/>
          </a:prstGeom>
          <a:solidFill>
            <a:srgbClr val="D9F0E3"/>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1000" b="1" i="0">
                <a:solidFill>
                  <a:srgbClr val="2F9C72"/>
                </a:solidFill>
                <a:latin typeface="Trebuchet MS"/>
              </a:rPr>
              <a:t>CHÍNH XÁC!</a:t>
            </a:r>
          </a:p>
        </p:txBody>
      </p:sp>
      <p:sp>
        <p:nvSpPr>
          <p:cNvPr id="8"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1" name="TextBox 10"/>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2100" b="1" i="0">
                <a:solidFill>
                  <a:srgbClr val="FFFFFF"/>
                </a:solidFill>
                <a:latin typeface="Aptos"/>
              </a:rPr>
              <a:t>Chuỗi bốn bước nào giải thích hợp lý nguyên nhân sâu xa khiến tư hữu tư liệu sản xuất sinh ra tha hóa con người?</a:t>
            </a:r>
          </a:p>
        </p:txBody>
      </p:sp>
      <p:sp>
        <p:nvSpPr>
          <p:cNvPr id="12"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4" name="TextBox 13"/>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5" name="Rounded Rectangle 14"/>
          <p:cNvSpPr/>
          <p:nvPr/>
        </p:nvSpPr>
        <p:spPr>
          <a:xfrm>
            <a:off x="9646920" y="1371600"/>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01</a:t>
            </a:r>
          </a:p>
        </p:txBody>
      </p:sp>
      <p:sp>
        <p:nvSpPr>
          <p:cNvPr id="17" name="TextBox 16"/>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nhỏ</a:t>
            </a:r>
          </a:p>
        </p:txBody>
      </p:sp>
      <p:sp>
        <p:nvSpPr>
          <p:cNvPr id="18" name="Rounded Rectangle 17"/>
          <p:cNvSpPr/>
          <p:nvPr/>
        </p:nvSpPr>
        <p:spPr>
          <a:xfrm>
            <a:off x="9646920" y="2487168"/>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02</a:t>
            </a:r>
          </a:p>
        </p:txBody>
      </p:sp>
      <p:sp>
        <p:nvSpPr>
          <p:cNvPr id="20" name="TextBox 19"/>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vừa</a:t>
            </a:r>
          </a:p>
        </p:txBody>
      </p:sp>
      <p:sp>
        <p:nvSpPr>
          <p:cNvPr id="21" name="Rounded Rectangle 20"/>
          <p:cNvSpPr/>
          <p:nvPr/>
        </p:nvSpPr>
        <p:spPr>
          <a:xfrm>
            <a:off x="9646920" y="3602736"/>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03</a:t>
            </a:r>
          </a:p>
        </p:txBody>
      </p:sp>
      <p:sp>
        <p:nvSpPr>
          <p:cNvPr id="23" name="TextBox 22"/>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lớn</a:t>
            </a:r>
          </a:p>
        </p:txBody>
      </p:sp>
      <p:sp>
        <p:nvSpPr>
          <p:cNvPr id="24" name="TextBox 23"/>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MỐC VỪA CHẠM</a:t>
            </a:r>
          </a:p>
        </p:txBody>
      </p:sp>
      <p:sp>
        <p:nvSpPr>
          <p:cNvPr id="25" name="TextBox 24"/>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Quà vừa</a:t>
            </a:r>
          </a:p>
        </p:txBody>
      </p:sp>
      <p:sp>
        <p:nvSpPr>
          <p:cNvPr id="26" name="TextBox 25"/>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7" name="Đáp án A"/>
          <p:cNvSpPr/>
          <p:nvPr/>
        </p:nvSpPr>
        <p:spPr>
          <a:xfrm>
            <a:off x="530352" y="2770632"/>
            <a:ext cx="4215384" cy="1170432"/>
          </a:xfrm>
          <a:prstGeom prst="roundRect">
            <a:avLst/>
          </a:prstGeom>
          <a:solidFill>
            <a:srgbClr val="FFD05A"/>
          </a:solidFill>
          <a:ln w="15875">
            <a:solidFill>
              <a:srgbClr val="D9A92E"/>
            </a:solidFill>
          </a:ln>
          <a:effectLst>
            <a:glow rad="190000">
              <a:srgbClr val="FFD05A">
                <a:alpha val="52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250" b="1" i="0">
                <a:solidFill>
                  <a:srgbClr val="18324A"/>
                </a:solidFill>
                <a:latin typeface="Aptos"/>
              </a:rPr>
              <a:t>Tư hữu tập trung tư liệu sản xuất → người lao động mất quyền kiểm soát điều kiện và sản phẩm → lao động, sản phẩm thành sức mạnh xa lạ → tha hóa hoạt động, bản chất và quan hệ người – người.</a:t>
            </a:r>
          </a:p>
        </p:txBody>
      </p:sp>
      <p:sp>
        <p:nvSpPr>
          <p:cNvPr id="28" name="Oval 27"/>
          <p:cNvSpPr/>
          <p:nvPr/>
        </p:nvSpPr>
        <p:spPr>
          <a:xfrm>
            <a:off x="685800" y="3154679"/>
            <a:ext cx="402336" cy="402336"/>
          </a:xfrm>
          <a:prstGeom prst="ellipse">
            <a:avLst/>
          </a:prstGeom>
          <a:solidFill>
            <a:srgbClr val="18324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FFD05A"/>
                </a:solidFill>
                <a:latin typeface="Trebuchet MS"/>
              </a:rPr>
              <a:t>A</a:t>
            </a:r>
          </a:p>
        </p:txBody>
      </p:sp>
      <p:sp>
        <p:nvSpPr>
          <p:cNvPr id="29" name="Đáp án B"/>
          <p:cNvSpPr/>
          <p:nvPr/>
        </p:nvSpPr>
        <p:spPr>
          <a:xfrm>
            <a:off x="4937760" y="2770632"/>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8A979B"/>
                </a:solidFill>
                <a:latin typeface="Aptos"/>
              </a:rPr>
              <a:t>Tư hữu được xóa bỏ → mọi người có quyền ngang nhau → sản phẩm không còn giá trị → lao động tự biến mất.</a:t>
            </a:r>
          </a:p>
        </p:txBody>
      </p:sp>
      <p:sp>
        <p:nvSpPr>
          <p:cNvPr id="30" name="Oval 29"/>
          <p:cNvSpPr/>
          <p:nvPr/>
        </p:nvSpPr>
        <p:spPr>
          <a:xfrm>
            <a:off x="5093208" y="3154679"/>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B</a:t>
            </a:r>
          </a:p>
        </p:txBody>
      </p:sp>
      <p:sp>
        <p:nvSpPr>
          <p:cNvPr id="31" name="Đáp án C"/>
          <p:cNvSpPr/>
          <p:nvPr/>
        </p:nvSpPr>
        <p:spPr>
          <a:xfrm>
            <a:off x="530352" y="4105656"/>
            <a:ext cx="4215384"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8A979B"/>
                </a:solidFill>
                <a:latin typeface="Aptos"/>
              </a:rPr>
              <a:t>Công cụ hiện đại hơn → năng suất tăng → mọi người tự động sở hữu tư liệu sản xuất → tha hóa chấm dứt.</a:t>
            </a:r>
          </a:p>
        </p:txBody>
      </p:sp>
      <p:sp>
        <p:nvSpPr>
          <p:cNvPr id="32" name="Oval 31"/>
          <p:cNvSpPr/>
          <p:nvPr/>
        </p:nvSpPr>
        <p:spPr>
          <a:xfrm>
            <a:off x="685800"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C</a:t>
            </a:r>
          </a:p>
        </p:txBody>
      </p:sp>
      <p:sp>
        <p:nvSpPr>
          <p:cNvPr id="33" name="Đáp án D"/>
          <p:cNvSpPr/>
          <p:nvPr/>
        </p:nvSpPr>
        <p:spPr>
          <a:xfrm>
            <a:off x="4937760" y="4105656"/>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8A979B"/>
                </a:solidFill>
                <a:latin typeface="Aptos"/>
              </a:rPr>
              <a:t>Nhu cầu cá nhân tăng → giao tiếp giảm → con người tách khỏi tự nhiên → hình thành giai cấp.</a:t>
            </a:r>
          </a:p>
        </p:txBody>
      </p:sp>
      <p:sp>
        <p:nvSpPr>
          <p:cNvPr id="34" name="Oval 33"/>
          <p:cNvSpPr/>
          <p:nvPr/>
        </p:nvSpPr>
        <p:spPr>
          <a:xfrm>
            <a:off x="5093208"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D</a:t>
            </a:r>
          </a:p>
        </p:txBody>
      </p:sp>
      <p:sp>
        <p:nvSpPr>
          <p:cNvPr id="35" name="Rounded Rectangle 34"/>
          <p:cNvSpPr/>
          <p:nvPr/>
        </p:nvSpPr>
        <p:spPr>
          <a:xfrm>
            <a:off x="530352" y="5431536"/>
            <a:ext cx="5989320" cy="868680"/>
          </a:xfrm>
          <a:prstGeom prst="roundRect">
            <a:avLst/>
          </a:prstGeom>
          <a:solidFill>
            <a:srgbClr val="D9F0E3"/>
          </a:solidFill>
          <a:ln w="12700">
            <a:solidFill>
              <a:srgbClr val="D7E6DC"/>
            </a:solidFill>
          </a:ln>
        </p:spPr>
        <p:style>
          <a:lnRef idx="1">
            <a:schemeClr val="accent1"/>
          </a:lnRef>
          <a:fillRef idx="3">
            <a:schemeClr val="accent1"/>
          </a:fillRef>
          <a:effectRef idx="2">
            <a:schemeClr val="accent1"/>
          </a:effectRef>
          <a:fontRef idx="minor">
            <a:schemeClr val="lt1"/>
          </a:fontRef>
        </p:style>
        <p:txBody>
          <a:bodyPr wrap="square" lIns="109728" tIns="60350" rIns="109728" bIns="60350" rtlCol="0" anchor="ctr"/>
          <a:lstStyle/>
          <a:p>
            <a:pPr algn="l">
              <a:lnSpc>
                <a:spcPct val="100000"/>
              </a:lnSpc>
              <a:spcBef>
                <a:spcPts val="0"/>
              </a:spcBef>
              <a:spcAft>
                <a:spcPts val="0"/>
              </a:spcAft>
            </a:pPr>
            <a:r>
              <a:rPr sz="1130" b="0" i="0">
                <a:solidFill>
                  <a:srgbClr val="18324A"/>
                </a:solidFill>
                <a:latin typeface="Aptos"/>
              </a:rPr>
              <a:t>MỐC 2 ĐÃ CHINH PHỤC  ·  Quà vừa
Khi tư liệu và sản phẩm bị chiếm hữu, người lao động bị tách khỏi điều kiện lao động; sản phẩm và hoạt động quay lại chi phối chính họ.</a:t>
            </a:r>
          </a:p>
        </p:txBody>
      </p:sp>
      <p:sp>
        <p:nvSpPr>
          <p:cNvPr id="36" name="Nút: CÂU TIẾP THEO  →">
            <a:hlinkClick r:id="rId3" action="ppaction://hlinksldjump"/>
          </p:cNvPr>
          <p:cNvSpPr/>
          <p:nvPr/>
        </p:nvSpPr>
        <p:spPr>
          <a:xfrm>
            <a:off x="6711696" y="5431536"/>
            <a:ext cx="2505456" cy="868680"/>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240" b="1" i="0">
                <a:solidFill>
                  <a:srgbClr val="18324A"/>
                </a:solidFill>
                <a:latin typeface="Trebuchet MS"/>
              </a:rPr>
              <a:t>CÂU TIẾP THEO  →</a:t>
            </a:r>
          </a:p>
        </p:txBody>
      </p:sp>
    </p:spTree>
  </p:cSld>
  <p:clrMapOvr>
    <a:masterClrMapping/>
  </p:clrMapOvr>
  <p:transition spd="med" advClick="0">
    <p:sndAc>
      <p:stSnd>
        <p:snd r:embed="rId2" name="Correct answer chime"/>
      </p:stSnd>
    </p:sndAc>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02 / 05</a:t>
            </a:r>
          </a:p>
        </p:txBody>
      </p:sp>
      <p:sp>
        <p:nvSpPr>
          <p:cNvPr id="5" name="Rounded Rectangle 4"/>
          <p:cNvSpPr/>
          <p:nvPr/>
        </p:nvSpPr>
        <p:spPr>
          <a:xfrm>
            <a:off x="2240280" y="749808"/>
            <a:ext cx="1389888" cy="292608"/>
          </a:xfrm>
          <a:prstGeom prst="roundRect">
            <a:avLst/>
          </a:prstGeom>
          <a:solidFill>
            <a:srgbClr val="FFF0C2"/>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18324A"/>
                </a:solidFill>
                <a:latin typeface="Trebuchet MS"/>
              </a:rPr>
              <a:t>TRUNG BÌNH</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02 / 03</a:t>
            </a:r>
          </a:p>
        </p:txBody>
      </p:sp>
      <p:sp>
        <p:nvSpPr>
          <p:cNvPr id="7" name="Rounded Rectangle 6"/>
          <p:cNvSpPr/>
          <p:nvPr/>
        </p:nvSpPr>
        <p:spPr>
          <a:xfrm>
            <a:off x="7562088" y="749808"/>
            <a:ext cx="1581912" cy="292608"/>
          </a:xfrm>
          <a:prstGeom prst="roundRect">
            <a:avLst/>
          </a:prstGeom>
          <a:solidFill>
            <a:srgbClr val="FBE3E3"/>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1000" b="1" i="0">
                <a:solidFill>
                  <a:srgbClr val="B8424C"/>
                </a:solidFill>
                <a:latin typeface="Trebuchet MS"/>
              </a:rPr>
              <a:t>RẤT TIẾC!</a:t>
            </a:r>
          </a:p>
        </p:txBody>
      </p:sp>
      <p:sp>
        <p:nvSpPr>
          <p:cNvPr id="8"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1" name="TextBox 10"/>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2100" b="1" i="0">
                <a:solidFill>
                  <a:srgbClr val="FFFFFF"/>
                </a:solidFill>
                <a:latin typeface="Aptos"/>
              </a:rPr>
              <a:t>Chuỗi bốn bước nào giải thích hợp lý nguyên nhân sâu xa khiến tư hữu tư liệu sản xuất sinh ra tha hóa con người?</a:t>
            </a:r>
          </a:p>
        </p:txBody>
      </p:sp>
      <p:sp>
        <p:nvSpPr>
          <p:cNvPr id="12"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4" name="TextBox 13"/>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5" name="Rounded Rectangle 14"/>
          <p:cNvSpPr/>
          <p:nvPr/>
        </p:nvSpPr>
        <p:spPr>
          <a:xfrm>
            <a:off x="9646920" y="1371600"/>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01</a:t>
            </a:r>
          </a:p>
        </p:txBody>
      </p:sp>
      <p:sp>
        <p:nvSpPr>
          <p:cNvPr id="17" name="TextBox 16"/>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nhỏ</a:t>
            </a:r>
          </a:p>
        </p:txBody>
      </p:sp>
      <p:sp>
        <p:nvSpPr>
          <p:cNvPr id="18" name="Rounded Rectangle 17"/>
          <p:cNvSpPr/>
          <p:nvPr/>
        </p:nvSpPr>
        <p:spPr>
          <a:xfrm>
            <a:off x="9646920" y="2487168"/>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02</a:t>
            </a:r>
          </a:p>
        </p:txBody>
      </p:sp>
      <p:sp>
        <p:nvSpPr>
          <p:cNvPr id="20" name="TextBox 19"/>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vừa</a:t>
            </a:r>
          </a:p>
        </p:txBody>
      </p:sp>
      <p:sp>
        <p:nvSpPr>
          <p:cNvPr id="21" name="Rounded Rectangle 20"/>
          <p:cNvSpPr/>
          <p:nvPr/>
        </p:nvSpPr>
        <p:spPr>
          <a:xfrm>
            <a:off x="9646920" y="3602736"/>
            <a:ext cx="1956816" cy="877824"/>
          </a:xfrm>
          <a:prstGeom prst="roundRect">
            <a:avLst/>
          </a:prstGeom>
          <a:solidFill>
            <a:srgbClr val="263F53"/>
          </a:solidFill>
          <a:ln w="12700">
            <a:solidFill>
              <a:srgbClr val="4059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B9C7CC"/>
                </a:solidFill>
                <a:latin typeface="Trebuchet MS"/>
              </a:rPr>
              <a:t>CHƯA MỞ  ·  CÂU 03</a:t>
            </a:r>
          </a:p>
        </p:txBody>
      </p:sp>
      <p:sp>
        <p:nvSpPr>
          <p:cNvPr id="23" name="TextBox 22"/>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B9C7CC"/>
                </a:solidFill>
                <a:latin typeface="Trebuchet MS"/>
              </a:rPr>
              <a:t>Quà lớn</a:t>
            </a:r>
          </a:p>
        </p:txBody>
      </p:sp>
      <p:sp>
        <p:nvSpPr>
          <p:cNvPr id="24" name="TextBox 23"/>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QUÀ GIỮ LẠI</a:t>
            </a:r>
          </a:p>
        </p:txBody>
      </p:sp>
      <p:sp>
        <p:nvSpPr>
          <p:cNvPr id="25" name="TextBox 24"/>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Quà nhỏ</a:t>
            </a:r>
          </a:p>
        </p:txBody>
      </p:sp>
      <p:sp>
        <p:nvSpPr>
          <p:cNvPr id="26" name="TextBox 25"/>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7" name="Đáp án A"/>
          <p:cNvSpPr/>
          <p:nvPr/>
        </p:nvSpPr>
        <p:spPr>
          <a:xfrm>
            <a:off x="530352" y="2770632"/>
            <a:ext cx="4215384" cy="1170432"/>
          </a:xfrm>
          <a:prstGeom prst="roundRect">
            <a:avLst/>
          </a:prstGeom>
          <a:solidFill>
            <a:srgbClr val="2F9C72"/>
          </a:solidFill>
          <a:ln w="15875">
            <a:solidFill>
              <a:srgbClr val="2F9C72"/>
            </a:solidFill>
          </a:ln>
          <a:effectLst>
            <a:glow rad="190000">
              <a:srgbClr val="73D9A5">
                <a:alpha val="52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250" b="1" i="0">
                <a:solidFill>
                  <a:srgbClr val="FFFFFF"/>
                </a:solidFill>
                <a:latin typeface="Aptos"/>
              </a:rPr>
              <a:t>Tư hữu tập trung tư liệu sản xuất → người lao động mất quyền kiểm soát điều kiện và sản phẩm → lao động, sản phẩm thành sức mạnh xa lạ → tha hóa hoạt động, bản chất và quan hệ người – người.</a:t>
            </a:r>
          </a:p>
        </p:txBody>
      </p:sp>
      <p:sp>
        <p:nvSpPr>
          <p:cNvPr id="28" name="Oval 27"/>
          <p:cNvSpPr/>
          <p:nvPr/>
        </p:nvSpPr>
        <p:spPr>
          <a:xfrm>
            <a:off x="685800" y="3154679"/>
            <a:ext cx="402336" cy="402336"/>
          </a:xfrm>
          <a:prstGeom prst="ellipse">
            <a:avLst/>
          </a:prstGeom>
          <a:solidFill>
            <a:srgbClr val="FFFFFF"/>
          </a:solidFill>
          <a:ln w="12700">
            <a:solidFill>
              <a:srgbClr val="2F9C72"/>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F9C72"/>
                </a:solidFill>
                <a:latin typeface="Trebuchet MS"/>
              </a:rPr>
              <a:t>A</a:t>
            </a:r>
          </a:p>
        </p:txBody>
      </p:sp>
      <p:sp>
        <p:nvSpPr>
          <p:cNvPr id="29" name="Đáp án B"/>
          <p:cNvSpPr/>
          <p:nvPr/>
        </p:nvSpPr>
        <p:spPr>
          <a:xfrm>
            <a:off x="4937760" y="2770632"/>
            <a:ext cx="4279392" cy="1170432"/>
          </a:xfrm>
          <a:prstGeom prst="roundRect">
            <a:avLst/>
          </a:prstGeom>
          <a:solidFill>
            <a:srgbClr val="E45C64"/>
          </a:solidFill>
          <a:ln w="15875">
            <a:solidFill>
              <a:srgbClr val="B8424C"/>
            </a:solidFill>
          </a:ln>
          <a:effectLst>
            <a:glow rad="110000">
              <a:srgbClr val="E45C64">
                <a:alpha val="35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1" i="0">
                <a:solidFill>
                  <a:srgbClr val="FFFFFF"/>
                </a:solidFill>
                <a:latin typeface="Aptos"/>
              </a:rPr>
              <a:t>Tư hữu được xóa bỏ → mọi người có quyền ngang nhau → sản phẩm không còn giá trị → lao động tự biến mất.</a:t>
            </a:r>
          </a:p>
        </p:txBody>
      </p:sp>
      <p:sp>
        <p:nvSpPr>
          <p:cNvPr id="30" name="Oval 29"/>
          <p:cNvSpPr/>
          <p:nvPr/>
        </p:nvSpPr>
        <p:spPr>
          <a:xfrm>
            <a:off x="5093208" y="3154679"/>
            <a:ext cx="402336" cy="402336"/>
          </a:xfrm>
          <a:prstGeom prst="ellipse">
            <a:avLst/>
          </a:prstGeom>
          <a:solidFill>
            <a:srgbClr val="FFFFFF"/>
          </a:solidFill>
          <a:ln w="12700">
            <a:solidFill>
              <a:srgbClr val="B8424C"/>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B8424C"/>
                </a:solidFill>
                <a:latin typeface="Trebuchet MS"/>
              </a:rPr>
              <a:t>B</a:t>
            </a:r>
          </a:p>
        </p:txBody>
      </p:sp>
      <p:cxnSp>
        <p:nvCxnSpPr>
          <p:cNvPr id="31" name="Connector 30"/>
          <p:cNvCxnSpPr/>
          <p:nvPr/>
        </p:nvCxnSpPr>
        <p:spPr>
          <a:xfrm>
            <a:off x="4846320" y="297180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4846320" y="3264408"/>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846320" y="3557016"/>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9235440" y="297180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235440" y="3264408"/>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9235440" y="3557016"/>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sp>
        <p:nvSpPr>
          <p:cNvPr id="37" name="Đáp án C"/>
          <p:cNvSpPr/>
          <p:nvPr/>
        </p:nvSpPr>
        <p:spPr>
          <a:xfrm>
            <a:off x="530352" y="4105656"/>
            <a:ext cx="4215384"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8A979B"/>
                </a:solidFill>
                <a:latin typeface="Aptos"/>
              </a:rPr>
              <a:t>Công cụ hiện đại hơn → năng suất tăng → mọi người tự động sở hữu tư liệu sản xuất → tha hóa chấm dứt.</a:t>
            </a:r>
          </a:p>
        </p:txBody>
      </p:sp>
      <p:sp>
        <p:nvSpPr>
          <p:cNvPr id="38" name="Oval 37"/>
          <p:cNvSpPr/>
          <p:nvPr/>
        </p:nvSpPr>
        <p:spPr>
          <a:xfrm>
            <a:off x="685800"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C</a:t>
            </a:r>
          </a:p>
        </p:txBody>
      </p:sp>
      <p:sp>
        <p:nvSpPr>
          <p:cNvPr id="39" name="Đáp án D"/>
          <p:cNvSpPr/>
          <p:nvPr/>
        </p:nvSpPr>
        <p:spPr>
          <a:xfrm>
            <a:off x="4937760" y="4105656"/>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8A979B"/>
                </a:solidFill>
                <a:latin typeface="Aptos"/>
              </a:rPr>
              <a:t>Nhu cầu cá nhân tăng → giao tiếp giảm → con người tách khỏi tự nhiên → hình thành giai cấp.</a:t>
            </a:r>
          </a:p>
        </p:txBody>
      </p:sp>
      <p:sp>
        <p:nvSpPr>
          <p:cNvPr id="40" name="Oval 39"/>
          <p:cNvSpPr/>
          <p:nvPr/>
        </p:nvSpPr>
        <p:spPr>
          <a:xfrm>
            <a:off x="5093208"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D</a:t>
            </a:r>
          </a:p>
        </p:txBody>
      </p:sp>
      <p:sp>
        <p:nvSpPr>
          <p:cNvPr id="41" name="Rounded Rectangle 40"/>
          <p:cNvSpPr/>
          <p:nvPr/>
        </p:nvSpPr>
        <p:spPr>
          <a:xfrm>
            <a:off x="530352" y="5431536"/>
            <a:ext cx="5989320" cy="868680"/>
          </a:xfrm>
          <a:prstGeom prst="roundRect">
            <a:avLst/>
          </a:prstGeom>
          <a:solidFill>
            <a:srgbClr val="FBE5E3"/>
          </a:solidFill>
          <a:ln w="12700">
            <a:solidFill>
              <a:srgbClr val="F0C7C4"/>
            </a:solid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l">
              <a:lnSpc>
                <a:spcPct val="100000"/>
              </a:lnSpc>
              <a:spcBef>
                <a:spcPts val="0"/>
              </a:spcBef>
              <a:spcAft>
                <a:spcPts val="0"/>
              </a:spcAft>
            </a:pPr>
            <a:r>
              <a:rPr sz="980" b="1" i="0">
                <a:solidFill>
                  <a:srgbClr val="18324A"/>
                </a:solidFill>
                <a:latin typeface="Aptos"/>
              </a:rPr>
              <a:t>BẠN CHỌN: B  ·  ĐÁP ÁN ĐÚNG: A
Tư hữu tập trung tư liệu sản xuất → người lao động mất quyền kiểm soát điều kiện và sản phẩm → lao động, sản phẩm thành sức mạnh xa lạ → tha hóa hoạt động, bản chất và quan hệ người – người.
QUÀ ĐẠT ĐƯỢC LƯỢT NÀY: Quà nhỏ</a:t>
            </a:r>
          </a:p>
        </p:txBody>
      </p:sp>
      <p:sp>
        <p:nvSpPr>
          <p:cNvPr id="42" name="Nút: NGƯỜI CHƠI TIẾP THEO  →">
            <a:hlinkClick r:id="rId2" action="ppaction://hlinksldjump"/>
          </p:cNvPr>
          <p:cNvSpPr/>
          <p:nvPr/>
        </p:nvSpPr>
        <p:spPr>
          <a:xfrm>
            <a:off x="6711696" y="5431536"/>
            <a:ext cx="2505456" cy="86868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240" b="1" i="0">
                <a:solidFill>
                  <a:srgbClr val="FFFFFF"/>
                </a:solidFill>
                <a:latin typeface="Trebuchet MS"/>
              </a:rPr>
              <a:t>NGƯỜI CHƠI TIẾP THEO  →</a:t>
            </a:r>
          </a:p>
        </p:txBody>
      </p:sp>
    </p:spTree>
  </p:cSld>
  <p:clrMapOvr>
    <a:masterClrMapping/>
  </p:clrMapOvr>
  <p:transition spd="med" advClick="0">
    <p:fade/>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02 / 05</a:t>
            </a:r>
          </a:p>
        </p:txBody>
      </p:sp>
      <p:sp>
        <p:nvSpPr>
          <p:cNvPr id="5" name="Rounded Rectangle 4"/>
          <p:cNvSpPr/>
          <p:nvPr/>
        </p:nvSpPr>
        <p:spPr>
          <a:xfrm>
            <a:off x="2240280" y="749808"/>
            <a:ext cx="1389888" cy="292608"/>
          </a:xfrm>
          <a:prstGeom prst="roundRect">
            <a:avLst/>
          </a:prstGeom>
          <a:solidFill>
            <a:srgbClr val="FFF0C2"/>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18324A"/>
                </a:solidFill>
                <a:latin typeface="Trebuchet MS"/>
              </a:rPr>
              <a:t>TRUNG BÌNH</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02 / 03</a:t>
            </a:r>
          </a:p>
        </p:txBody>
      </p:sp>
      <p:sp>
        <p:nvSpPr>
          <p:cNvPr id="7" name="Rounded Rectangle 6"/>
          <p:cNvSpPr/>
          <p:nvPr/>
        </p:nvSpPr>
        <p:spPr>
          <a:xfrm>
            <a:off x="7562088" y="749808"/>
            <a:ext cx="1581912" cy="292608"/>
          </a:xfrm>
          <a:prstGeom prst="roundRect">
            <a:avLst/>
          </a:prstGeom>
          <a:solidFill>
            <a:srgbClr val="FBE3E3"/>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1000" b="1" i="0">
                <a:solidFill>
                  <a:srgbClr val="B8424C"/>
                </a:solidFill>
                <a:latin typeface="Trebuchet MS"/>
              </a:rPr>
              <a:t>RẤT TIẾC!</a:t>
            </a:r>
          </a:p>
        </p:txBody>
      </p:sp>
      <p:sp>
        <p:nvSpPr>
          <p:cNvPr id="8"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1" name="TextBox 10"/>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2100" b="1" i="0">
                <a:solidFill>
                  <a:srgbClr val="FFFFFF"/>
                </a:solidFill>
                <a:latin typeface="Aptos"/>
              </a:rPr>
              <a:t>Chuỗi bốn bước nào giải thích hợp lý nguyên nhân sâu xa khiến tư hữu tư liệu sản xuất sinh ra tha hóa con người?</a:t>
            </a:r>
          </a:p>
        </p:txBody>
      </p:sp>
      <p:sp>
        <p:nvSpPr>
          <p:cNvPr id="12"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4" name="TextBox 13"/>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5" name="Rounded Rectangle 14"/>
          <p:cNvSpPr/>
          <p:nvPr/>
        </p:nvSpPr>
        <p:spPr>
          <a:xfrm>
            <a:off x="9646920" y="1371600"/>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01</a:t>
            </a:r>
          </a:p>
        </p:txBody>
      </p:sp>
      <p:sp>
        <p:nvSpPr>
          <p:cNvPr id="17" name="TextBox 16"/>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nhỏ</a:t>
            </a:r>
          </a:p>
        </p:txBody>
      </p:sp>
      <p:sp>
        <p:nvSpPr>
          <p:cNvPr id="18" name="Rounded Rectangle 17"/>
          <p:cNvSpPr/>
          <p:nvPr/>
        </p:nvSpPr>
        <p:spPr>
          <a:xfrm>
            <a:off x="9646920" y="2487168"/>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02</a:t>
            </a:r>
          </a:p>
        </p:txBody>
      </p:sp>
      <p:sp>
        <p:nvSpPr>
          <p:cNvPr id="20" name="TextBox 19"/>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vừa</a:t>
            </a:r>
          </a:p>
        </p:txBody>
      </p:sp>
      <p:sp>
        <p:nvSpPr>
          <p:cNvPr id="21" name="Rounded Rectangle 20"/>
          <p:cNvSpPr/>
          <p:nvPr/>
        </p:nvSpPr>
        <p:spPr>
          <a:xfrm>
            <a:off x="9646920" y="3602736"/>
            <a:ext cx="1956816" cy="877824"/>
          </a:xfrm>
          <a:prstGeom prst="roundRect">
            <a:avLst/>
          </a:prstGeom>
          <a:solidFill>
            <a:srgbClr val="263F53"/>
          </a:solidFill>
          <a:ln w="12700">
            <a:solidFill>
              <a:srgbClr val="4059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B9C7CC"/>
                </a:solidFill>
                <a:latin typeface="Trebuchet MS"/>
              </a:rPr>
              <a:t>CHƯA MỞ  ·  CÂU 03</a:t>
            </a:r>
          </a:p>
        </p:txBody>
      </p:sp>
      <p:sp>
        <p:nvSpPr>
          <p:cNvPr id="23" name="TextBox 22"/>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B9C7CC"/>
                </a:solidFill>
                <a:latin typeface="Trebuchet MS"/>
              </a:rPr>
              <a:t>Quà lớn</a:t>
            </a:r>
          </a:p>
        </p:txBody>
      </p:sp>
      <p:sp>
        <p:nvSpPr>
          <p:cNvPr id="24" name="TextBox 23"/>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QUÀ GIỮ LẠI</a:t>
            </a:r>
          </a:p>
        </p:txBody>
      </p:sp>
      <p:sp>
        <p:nvSpPr>
          <p:cNvPr id="25" name="TextBox 24"/>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Quà nhỏ</a:t>
            </a:r>
          </a:p>
        </p:txBody>
      </p:sp>
      <p:sp>
        <p:nvSpPr>
          <p:cNvPr id="26" name="TextBox 25"/>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7" name="Đáp án A"/>
          <p:cNvSpPr/>
          <p:nvPr/>
        </p:nvSpPr>
        <p:spPr>
          <a:xfrm>
            <a:off x="530352" y="2770632"/>
            <a:ext cx="4215384" cy="1170432"/>
          </a:xfrm>
          <a:prstGeom prst="roundRect">
            <a:avLst/>
          </a:prstGeom>
          <a:solidFill>
            <a:srgbClr val="2F9C72"/>
          </a:solidFill>
          <a:ln w="15875">
            <a:solidFill>
              <a:srgbClr val="2F9C72"/>
            </a:solidFill>
          </a:ln>
          <a:effectLst>
            <a:glow rad="190000">
              <a:srgbClr val="73D9A5">
                <a:alpha val="52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250" b="1" i="0">
                <a:solidFill>
                  <a:srgbClr val="FFFFFF"/>
                </a:solidFill>
                <a:latin typeface="Aptos"/>
              </a:rPr>
              <a:t>Tư hữu tập trung tư liệu sản xuất → người lao động mất quyền kiểm soát điều kiện và sản phẩm → lao động, sản phẩm thành sức mạnh xa lạ → tha hóa hoạt động, bản chất và quan hệ người – người.</a:t>
            </a:r>
          </a:p>
        </p:txBody>
      </p:sp>
      <p:sp>
        <p:nvSpPr>
          <p:cNvPr id="28" name="Oval 27"/>
          <p:cNvSpPr/>
          <p:nvPr/>
        </p:nvSpPr>
        <p:spPr>
          <a:xfrm>
            <a:off x="685800" y="3154679"/>
            <a:ext cx="402336" cy="402336"/>
          </a:xfrm>
          <a:prstGeom prst="ellipse">
            <a:avLst/>
          </a:prstGeom>
          <a:solidFill>
            <a:srgbClr val="FFFFFF"/>
          </a:solidFill>
          <a:ln w="12700">
            <a:solidFill>
              <a:srgbClr val="2F9C72"/>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F9C72"/>
                </a:solidFill>
                <a:latin typeface="Trebuchet MS"/>
              </a:rPr>
              <a:t>A</a:t>
            </a:r>
          </a:p>
        </p:txBody>
      </p:sp>
      <p:sp>
        <p:nvSpPr>
          <p:cNvPr id="29" name="Đáp án B"/>
          <p:cNvSpPr/>
          <p:nvPr/>
        </p:nvSpPr>
        <p:spPr>
          <a:xfrm>
            <a:off x="4937760" y="2770632"/>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8A979B"/>
                </a:solidFill>
                <a:latin typeface="Aptos"/>
              </a:rPr>
              <a:t>Tư hữu được xóa bỏ → mọi người có quyền ngang nhau → sản phẩm không còn giá trị → lao động tự biến mất.</a:t>
            </a:r>
          </a:p>
        </p:txBody>
      </p:sp>
      <p:sp>
        <p:nvSpPr>
          <p:cNvPr id="30" name="Oval 29"/>
          <p:cNvSpPr/>
          <p:nvPr/>
        </p:nvSpPr>
        <p:spPr>
          <a:xfrm>
            <a:off x="5093208" y="3154679"/>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B</a:t>
            </a:r>
          </a:p>
        </p:txBody>
      </p:sp>
      <p:sp>
        <p:nvSpPr>
          <p:cNvPr id="31" name="Đáp án C"/>
          <p:cNvSpPr/>
          <p:nvPr/>
        </p:nvSpPr>
        <p:spPr>
          <a:xfrm>
            <a:off x="530352" y="4105656"/>
            <a:ext cx="4215384" cy="1170432"/>
          </a:xfrm>
          <a:prstGeom prst="roundRect">
            <a:avLst/>
          </a:prstGeom>
          <a:solidFill>
            <a:srgbClr val="E45C64"/>
          </a:solidFill>
          <a:ln w="15875">
            <a:solidFill>
              <a:srgbClr val="B8424C"/>
            </a:solidFill>
          </a:ln>
          <a:effectLst>
            <a:glow rad="110000">
              <a:srgbClr val="E45C64">
                <a:alpha val="35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1" i="0">
                <a:solidFill>
                  <a:srgbClr val="FFFFFF"/>
                </a:solidFill>
                <a:latin typeface="Aptos"/>
              </a:rPr>
              <a:t>Công cụ hiện đại hơn → năng suất tăng → mọi người tự động sở hữu tư liệu sản xuất → tha hóa chấm dứt.</a:t>
            </a:r>
          </a:p>
        </p:txBody>
      </p:sp>
      <p:sp>
        <p:nvSpPr>
          <p:cNvPr id="32" name="Oval 31"/>
          <p:cNvSpPr/>
          <p:nvPr/>
        </p:nvSpPr>
        <p:spPr>
          <a:xfrm>
            <a:off x="685800" y="4489704"/>
            <a:ext cx="402336" cy="402336"/>
          </a:xfrm>
          <a:prstGeom prst="ellipse">
            <a:avLst/>
          </a:prstGeom>
          <a:solidFill>
            <a:srgbClr val="FFFFFF"/>
          </a:solidFill>
          <a:ln w="12700">
            <a:solidFill>
              <a:srgbClr val="B8424C"/>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B8424C"/>
                </a:solidFill>
                <a:latin typeface="Trebuchet MS"/>
              </a:rPr>
              <a:t>C</a:t>
            </a:r>
          </a:p>
        </p:txBody>
      </p:sp>
      <p:cxnSp>
        <p:nvCxnSpPr>
          <p:cNvPr id="33" name="Connector 32"/>
          <p:cNvCxnSpPr/>
          <p:nvPr/>
        </p:nvCxnSpPr>
        <p:spPr>
          <a:xfrm>
            <a:off x="438912" y="4306824"/>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38912" y="4599432"/>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38912" y="489204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4764024" y="4306824"/>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764024" y="4599432"/>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764024" y="489204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sp>
        <p:nvSpPr>
          <p:cNvPr id="39" name="Đáp án D"/>
          <p:cNvSpPr/>
          <p:nvPr/>
        </p:nvSpPr>
        <p:spPr>
          <a:xfrm>
            <a:off x="4937760" y="4105656"/>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8A979B"/>
                </a:solidFill>
                <a:latin typeface="Aptos"/>
              </a:rPr>
              <a:t>Nhu cầu cá nhân tăng → giao tiếp giảm → con người tách khỏi tự nhiên → hình thành giai cấp.</a:t>
            </a:r>
          </a:p>
        </p:txBody>
      </p:sp>
      <p:sp>
        <p:nvSpPr>
          <p:cNvPr id="40" name="Oval 39"/>
          <p:cNvSpPr/>
          <p:nvPr/>
        </p:nvSpPr>
        <p:spPr>
          <a:xfrm>
            <a:off x="5093208"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D</a:t>
            </a:r>
          </a:p>
        </p:txBody>
      </p:sp>
      <p:sp>
        <p:nvSpPr>
          <p:cNvPr id="41" name="Rounded Rectangle 40"/>
          <p:cNvSpPr/>
          <p:nvPr/>
        </p:nvSpPr>
        <p:spPr>
          <a:xfrm>
            <a:off x="530352" y="5431536"/>
            <a:ext cx="5989320" cy="868680"/>
          </a:xfrm>
          <a:prstGeom prst="roundRect">
            <a:avLst/>
          </a:prstGeom>
          <a:solidFill>
            <a:srgbClr val="FBE5E3"/>
          </a:solidFill>
          <a:ln w="12700">
            <a:solidFill>
              <a:srgbClr val="F0C7C4"/>
            </a:solid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l">
              <a:lnSpc>
                <a:spcPct val="100000"/>
              </a:lnSpc>
              <a:spcBef>
                <a:spcPts val="0"/>
              </a:spcBef>
              <a:spcAft>
                <a:spcPts val="0"/>
              </a:spcAft>
            </a:pPr>
            <a:r>
              <a:rPr sz="980" b="1" i="0">
                <a:solidFill>
                  <a:srgbClr val="18324A"/>
                </a:solidFill>
                <a:latin typeface="Aptos"/>
              </a:rPr>
              <a:t>BẠN CHỌN: C  ·  ĐÁP ÁN ĐÚNG: A
Tư hữu tập trung tư liệu sản xuất → người lao động mất quyền kiểm soát điều kiện và sản phẩm → lao động, sản phẩm thành sức mạnh xa lạ → tha hóa hoạt động, bản chất và quan hệ người – người.
QUÀ ĐẠT ĐƯỢC LƯỢT NÀY: Quà nhỏ</a:t>
            </a:r>
          </a:p>
        </p:txBody>
      </p:sp>
      <p:sp>
        <p:nvSpPr>
          <p:cNvPr id="42" name="Nút: NGƯỜI CHƠI TIẾP THEO  →">
            <a:hlinkClick r:id="rId2" action="ppaction://hlinksldjump"/>
          </p:cNvPr>
          <p:cNvSpPr/>
          <p:nvPr/>
        </p:nvSpPr>
        <p:spPr>
          <a:xfrm>
            <a:off x="6711696" y="5431536"/>
            <a:ext cx="2505456" cy="86868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240" b="1" i="0">
                <a:solidFill>
                  <a:srgbClr val="FFFFFF"/>
                </a:solidFill>
                <a:latin typeface="Trebuchet MS"/>
              </a:rPr>
              <a:t>NGƯỜI CHƠI TIẾP THEO  →</a:t>
            </a:r>
          </a:p>
        </p:txBody>
      </p:sp>
    </p:spTree>
  </p:cSld>
  <p:clrMapOvr>
    <a:masterClrMapping/>
  </p:clrMapOvr>
  <p:transition spd="med" advClick="0">
    <p:fade/>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02 / 05</a:t>
            </a:r>
          </a:p>
        </p:txBody>
      </p:sp>
      <p:sp>
        <p:nvSpPr>
          <p:cNvPr id="5" name="Rounded Rectangle 4"/>
          <p:cNvSpPr/>
          <p:nvPr/>
        </p:nvSpPr>
        <p:spPr>
          <a:xfrm>
            <a:off x="2240280" y="749808"/>
            <a:ext cx="1389888" cy="292608"/>
          </a:xfrm>
          <a:prstGeom prst="roundRect">
            <a:avLst/>
          </a:prstGeom>
          <a:solidFill>
            <a:srgbClr val="FFF0C2"/>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18324A"/>
                </a:solidFill>
                <a:latin typeface="Trebuchet MS"/>
              </a:rPr>
              <a:t>TRUNG BÌNH</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02 / 03</a:t>
            </a:r>
          </a:p>
        </p:txBody>
      </p:sp>
      <p:sp>
        <p:nvSpPr>
          <p:cNvPr id="7" name="Rounded Rectangle 6"/>
          <p:cNvSpPr/>
          <p:nvPr/>
        </p:nvSpPr>
        <p:spPr>
          <a:xfrm>
            <a:off x="7562088" y="749808"/>
            <a:ext cx="1581912" cy="292608"/>
          </a:xfrm>
          <a:prstGeom prst="roundRect">
            <a:avLst/>
          </a:prstGeom>
          <a:solidFill>
            <a:srgbClr val="FBE3E3"/>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1000" b="1" i="0">
                <a:solidFill>
                  <a:srgbClr val="B8424C"/>
                </a:solidFill>
                <a:latin typeface="Trebuchet MS"/>
              </a:rPr>
              <a:t>RẤT TIẾC!</a:t>
            </a:r>
          </a:p>
        </p:txBody>
      </p:sp>
      <p:sp>
        <p:nvSpPr>
          <p:cNvPr id="8"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1" name="TextBox 10"/>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2100" b="1" i="0">
                <a:solidFill>
                  <a:srgbClr val="FFFFFF"/>
                </a:solidFill>
                <a:latin typeface="Aptos"/>
              </a:rPr>
              <a:t>Chuỗi bốn bước nào giải thích hợp lý nguyên nhân sâu xa khiến tư hữu tư liệu sản xuất sinh ra tha hóa con người?</a:t>
            </a:r>
          </a:p>
        </p:txBody>
      </p:sp>
      <p:sp>
        <p:nvSpPr>
          <p:cNvPr id="12"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4" name="TextBox 13"/>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5" name="Rounded Rectangle 14"/>
          <p:cNvSpPr/>
          <p:nvPr/>
        </p:nvSpPr>
        <p:spPr>
          <a:xfrm>
            <a:off x="9646920" y="1371600"/>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01</a:t>
            </a:r>
          </a:p>
        </p:txBody>
      </p:sp>
      <p:sp>
        <p:nvSpPr>
          <p:cNvPr id="17" name="TextBox 16"/>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nhỏ</a:t>
            </a:r>
          </a:p>
        </p:txBody>
      </p:sp>
      <p:sp>
        <p:nvSpPr>
          <p:cNvPr id="18" name="Rounded Rectangle 17"/>
          <p:cNvSpPr/>
          <p:nvPr/>
        </p:nvSpPr>
        <p:spPr>
          <a:xfrm>
            <a:off x="9646920" y="2487168"/>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02</a:t>
            </a:r>
          </a:p>
        </p:txBody>
      </p:sp>
      <p:sp>
        <p:nvSpPr>
          <p:cNvPr id="20" name="TextBox 19"/>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vừa</a:t>
            </a:r>
          </a:p>
        </p:txBody>
      </p:sp>
      <p:sp>
        <p:nvSpPr>
          <p:cNvPr id="21" name="Rounded Rectangle 20"/>
          <p:cNvSpPr/>
          <p:nvPr/>
        </p:nvSpPr>
        <p:spPr>
          <a:xfrm>
            <a:off x="9646920" y="3602736"/>
            <a:ext cx="1956816" cy="877824"/>
          </a:xfrm>
          <a:prstGeom prst="roundRect">
            <a:avLst/>
          </a:prstGeom>
          <a:solidFill>
            <a:srgbClr val="263F53"/>
          </a:solidFill>
          <a:ln w="12700">
            <a:solidFill>
              <a:srgbClr val="4059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B9C7CC"/>
                </a:solidFill>
                <a:latin typeface="Trebuchet MS"/>
              </a:rPr>
              <a:t>CHƯA MỞ  ·  CÂU 03</a:t>
            </a:r>
          </a:p>
        </p:txBody>
      </p:sp>
      <p:sp>
        <p:nvSpPr>
          <p:cNvPr id="23" name="TextBox 22"/>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B9C7CC"/>
                </a:solidFill>
                <a:latin typeface="Trebuchet MS"/>
              </a:rPr>
              <a:t>Quà lớn</a:t>
            </a:r>
          </a:p>
        </p:txBody>
      </p:sp>
      <p:sp>
        <p:nvSpPr>
          <p:cNvPr id="24" name="TextBox 23"/>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QUÀ GIỮ LẠI</a:t>
            </a:r>
          </a:p>
        </p:txBody>
      </p:sp>
      <p:sp>
        <p:nvSpPr>
          <p:cNvPr id="25" name="TextBox 24"/>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Quà nhỏ</a:t>
            </a:r>
          </a:p>
        </p:txBody>
      </p:sp>
      <p:sp>
        <p:nvSpPr>
          <p:cNvPr id="26" name="TextBox 25"/>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7" name="Đáp án A"/>
          <p:cNvSpPr/>
          <p:nvPr/>
        </p:nvSpPr>
        <p:spPr>
          <a:xfrm>
            <a:off x="530352" y="2770632"/>
            <a:ext cx="4215384" cy="1170432"/>
          </a:xfrm>
          <a:prstGeom prst="roundRect">
            <a:avLst/>
          </a:prstGeom>
          <a:solidFill>
            <a:srgbClr val="2F9C72"/>
          </a:solidFill>
          <a:ln w="15875">
            <a:solidFill>
              <a:srgbClr val="2F9C72"/>
            </a:solidFill>
          </a:ln>
          <a:effectLst>
            <a:glow rad="190000">
              <a:srgbClr val="73D9A5">
                <a:alpha val="52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250" b="1" i="0">
                <a:solidFill>
                  <a:srgbClr val="FFFFFF"/>
                </a:solidFill>
                <a:latin typeface="Aptos"/>
              </a:rPr>
              <a:t>Tư hữu tập trung tư liệu sản xuất → người lao động mất quyền kiểm soát điều kiện và sản phẩm → lao động, sản phẩm thành sức mạnh xa lạ → tha hóa hoạt động, bản chất và quan hệ người – người.</a:t>
            </a:r>
          </a:p>
        </p:txBody>
      </p:sp>
      <p:sp>
        <p:nvSpPr>
          <p:cNvPr id="28" name="Oval 27"/>
          <p:cNvSpPr/>
          <p:nvPr/>
        </p:nvSpPr>
        <p:spPr>
          <a:xfrm>
            <a:off x="685800" y="3154679"/>
            <a:ext cx="402336" cy="402336"/>
          </a:xfrm>
          <a:prstGeom prst="ellipse">
            <a:avLst/>
          </a:prstGeom>
          <a:solidFill>
            <a:srgbClr val="FFFFFF"/>
          </a:solidFill>
          <a:ln w="12700">
            <a:solidFill>
              <a:srgbClr val="2F9C72"/>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F9C72"/>
                </a:solidFill>
                <a:latin typeface="Trebuchet MS"/>
              </a:rPr>
              <a:t>A</a:t>
            </a:r>
          </a:p>
        </p:txBody>
      </p:sp>
      <p:sp>
        <p:nvSpPr>
          <p:cNvPr id="29" name="Đáp án B"/>
          <p:cNvSpPr/>
          <p:nvPr/>
        </p:nvSpPr>
        <p:spPr>
          <a:xfrm>
            <a:off x="4937760" y="2770632"/>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8A979B"/>
                </a:solidFill>
                <a:latin typeface="Aptos"/>
              </a:rPr>
              <a:t>Tư hữu được xóa bỏ → mọi người có quyền ngang nhau → sản phẩm không còn giá trị → lao động tự biến mất.</a:t>
            </a:r>
          </a:p>
        </p:txBody>
      </p:sp>
      <p:sp>
        <p:nvSpPr>
          <p:cNvPr id="30" name="Oval 29"/>
          <p:cNvSpPr/>
          <p:nvPr/>
        </p:nvSpPr>
        <p:spPr>
          <a:xfrm>
            <a:off x="5093208" y="3154679"/>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B</a:t>
            </a:r>
          </a:p>
        </p:txBody>
      </p:sp>
      <p:sp>
        <p:nvSpPr>
          <p:cNvPr id="31" name="Đáp án C"/>
          <p:cNvSpPr/>
          <p:nvPr/>
        </p:nvSpPr>
        <p:spPr>
          <a:xfrm>
            <a:off x="530352" y="4105656"/>
            <a:ext cx="4215384"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8A979B"/>
                </a:solidFill>
                <a:latin typeface="Aptos"/>
              </a:rPr>
              <a:t>Công cụ hiện đại hơn → năng suất tăng → mọi người tự động sở hữu tư liệu sản xuất → tha hóa chấm dứt.</a:t>
            </a:r>
          </a:p>
        </p:txBody>
      </p:sp>
      <p:sp>
        <p:nvSpPr>
          <p:cNvPr id="32" name="Oval 31"/>
          <p:cNvSpPr/>
          <p:nvPr/>
        </p:nvSpPr>
        <p:spPr>
          <a:xfrm>
            <a:off x="685800"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C</a:t>
            </a:r>
          </a:p>
        </p:txBody>
      </p:sp>
      <p:sp>
        <p:nvSpPr>
          <p:cNvPr id="33" name="Đáp án D"/>
          <p:cNvSpPr/>
          <p:nvPr/>
        </p:nvSpPr>
        <p:spPr>
          <a:xfrm>
            <a:off x="4937760" y="4105656"/>
            <a:ext cx="4279392" cy="1170432"/>
          </a:xfrm>
          <a:prstGeom prst="roundRect">
            <a:avLst/>
          </a:prstGeom>
          <a:solidFill>
            <a:srgbClr val="E45C64"/>
          </a:solidFill>
          <a:ln w="15875">
            <a:solidFill>
              <a:srgbClr val="B8424C"/>
            </a:solidFill>
          </a:ln>
          <a:effectLst>
            <a:glow rad="110000">
              <a:srgbClr val="E45C64">
                <a:alpha val="35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1" i="0">
                <a:solidFill>
                  <a:srgbClr val="FFFFFF"/>
                </a:solidFill>
                <a:latin typeface="Aptos"/>
              </a:rPr>
              <a:t>Nhu cầu cá nhân tăng → giao tiếp giảm → con người tách khỏi tự nhiên → hình thành giai cấp.</a:t>
            </a:r>
          </a:p>
        </p:txBody>
      </p:sp>
      <p:sp>
        <p:nvSpPr>
          <p:cNvPr id="34" name="Oval 33"/>
          <p:cNvSpPr/>
          <p:nvPr/>
        </p:nvSpPr>
        <p:spPr>
          <a:xfrm>
            <a:off x="5093208" y="4489704"/>
            <a:ext cx="402336" cy="402336"/>
          </a:xfrm>
          <a:prstGeom prst="ellipse">
            <a:avLst/>
          </a:prstGeom>
          <a:solidFill>
            <a:srgbClr val="FFFFFF"/>
          </a:solidFill>
          <a:ln w="12700">
            <a:solidFill>
              <a:srgbClr val="B8424C"/>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B8424C"/>
                </a:solidFill>
                <a:latin typeface="Trebuchet MS"/>
              </a:rPr>
              <a:t>D</a:t>
            </a:r>
          </a:p>
        </p:txBody>
      </p:sp>
      <p:cxnSp>
        <p:nvCxnSpPr>
          <p:cNvPr id="35" name="Connector 34"/>
          <p:cNvCxnSpPr/>
          <p:nvPr/>
        </p:nvCxnSpPr>
        <p:spPr>
          <a:xfrm>
            <a:off x="4846320" y="4306824"/>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4846320" y="4599432"/>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846320" y="489204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9235440" y="4306824"/>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9235440" y="4599432"/>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9235440" y="489204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530352" y="5431536"/>
            <a:ext cx="5989320" cy="868680"/>
          </a:xfrm>
          <a:prstGeom prst="roundRect">
            <a:avLst/>
          </a:prstGeom>
          <a:solidFill>
            <a:srgbClr val="FBE5E3"/>
          </a:solidFill>
          <a:ln w="12700">
            <a:solidFill>
              <a:srgbClr val="F0C7C4"/>
            </a:solid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l">
              <a:lnSpc>
                <a:spcPct val="100000"/>
              </a:lnSpc>
              <a:spcBef>
                <a:spcPts val="0"/>
              </a:spcBef>
              <a:spcAft>
                <a:spcPts val="0"/>
              </a:spcAft>
            </a:pPr>
            <a:r>
              <a:rPr sz="980" b="1" i="0">
                <a:solidFill>
                  <a:srgbClr val="18324A"/>
                </a:solidFill>
                <a:latin typeface="Aptos"/>
              </a:rPr>
              <a:t>BẠN CHỌN: D  ·  ĐÁP ÁN ĐÚNG: A
Tư hữu tập trung tư liệu sản xuất → người lao động mất quyền kiểm soát điều kiện và sản phẩm → lao động, sản phẩm thành sức mạnh xa lạ → tha hóa hoạt động, bản chất và quan hệ người – người.
QUÀ ĐẠT ĐƯỢC LƯỢT NÀY: Quà nhỏ</a:t>
            </a:r>
          </a:p>
        </p:txBody>
      </p:sp>
      <p:sp>
        <p:nvSpPr>
          <p:cNvPr id="42" name="Nút: NGƯỜI CHƠI TIẾP THEO  →">
            <a:hlinkClick r:id="rId2" action="ppaction://hlinksldjump"/>
          </p:cNvPr>
          <p:cNvSpPr/>
          <p:nvPr/>
        </p:nvSpPr>
        <p:spPr>
          <a:xfrm>
            <a:off x="6711696" y="5431536"/>
            <a:ext cx="2505456" cy="86868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240" b="1" i="0">
                <a:solidFill>
                  <a:srgbClr val="FFFFFF"/>
                </a:solidFill>
                <a:latin typeface="Trebuchet MS"/>
              </a:rPr>
              <a:t>NGƯỜI CHƠI TIẾP THEO  →</a:t>
            </a:r>
          </a:p>
        </p:txBody>
      </p:sp>
    </p:spTree>
  </p:cSld>
  <p:clrMapOvr>
    <a:masterClrMapping/>
  </p:clrMapOvr>
  <p:transition spd="med" advClick="0">
    <p:fade/>
  </p:transition>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02 / 05</a:t>
            </a:r>
          </a:p>
        </p:txBody>
      </p:sp>
      <p:sp>
        <p:nvSpPr>
          <p:cNvPr id="5" name="Rounded Rectangle 4"/>
          <p:cNvSpPr/>
          <p:nvPr/>
        </p:nvSpPr>
        <p:spPr>
          <a:xfrm>
            <a:off x="2240280" y="749808"/>
            <a:ext cx="1389888" cy="292608"/>
          </a:xfrm>
          <a:prstGeom prst="roundRect">
            <a:avLst/>
          </a:prstGeom>
          <a:solidFill>
            <a:srgbClr val="F7E2DD"/>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B8424C"/>
                </a:solidFill>
                <a:latin typeface="Trebuchet MS"/>
              </a:rPr>
              <a:t>KHÓ</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03 / 03</a:t>
            </a:r>
          </a:p>
        </p:txBody>
      </p:sp>
      <p:sp>
        <p:nvSpPr>
          <p:cNvPr id="7"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0" name="TextBox 9"/>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2100" b="1" i="0">
                <a:solidFill>
                  <a:srgbClr val="FFFFFF"/>
                </a:solidFill>
                <a:latin typeface="Aptos"/>
              </a:rPr>
              <a:t>Trong xã hội số, phương án nào gắn đúng bốn dạng tha hóa với cách cá nhân hạn chế việc công nghệ quay lại chi phối mình?</a:t>
            </a:r>
          </a:p>
        </p:txBody>
      </p:sp>
      <p:sp>
        <p:nvSpPr>
          <p:cNvPr id="11"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3" name="TextBox 12"/>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4" name="Rounded Rectangle 13"/>
          <p:cNvSpPr/>
          <p:nvPr/>
        </p:nvSpPr>
        <p:spPr>
          <a:xfrm>
            <a:off x="9646920" y="1371600"/>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01</a:t>
            </a:r>
          </a:p>
        </p:txBody>
      </p:sp>
      <p:sp>
        <p:nvSpPr>
          <p:cNvPr id="16" name="TextBox 15"/>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nhỏ</a:t>
            </a:r>
          </a:p>
        </p:txBody>
      </p:sp>
      <p:sp>
        <p:nvSpPr>
          <p:cNvPr id="17" name="Rounded Rectangle 16"/>
          <p:cNvSpPr/>
          <p:nvPr/>
        </p:nvSpPr>
        <p:spPr>
          <a:xfrm>
            <a:off x="9646920" y="2487168"/>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02</a:t>
            </a:r>
          </a:p>
        </p:txBody>
      </p:sp>
      <p:sp>
        <p:nvSpPr>
          <p:cNvPr id="19" name="TextBox 18"/>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vừa</a:t>
            </a:r>
          </a:p>
        </p:txBody>
      </p:sp>
      <p:sp>
        <p:nvSpPr>
          <p:cNvPr id="20" name="Rounded Rectangle 19"/>
          <p:cNvSpPr/>
          <p:nvPr/>
        </p:nvSpPr>
        <p:spPr>
          <a:xfrm>
            <a:off x="9646920" y="3602736"/>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03</a:t>
            </a:r>
          </a:p>
        </p:txBody>
      </p:sp>
      <p:sp>
        <p:nvSpPr>
          <p:cNvPr id="22" name="TextBox 21"/>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lớn</a:t>
            </a:r>
          </a:p>
        </p:txBody>
      </p:sp>
      <p:sp>
        <p:nvSpPr>
          <p:cNvPr id="23" name="TextBox 22"/>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MỐC AN TOÀN</a:t>
            </a:r>
          </a:p>
        </p:txBody>
      </p:sp>
      <p:sp>
        <p:nvSpPr>
          <p:cNvPr id="24" name="TextBox 23"/>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Quà vừa</a:t>
            </a:r>
          </a:p>
        </p:txBody>
      </p:sp>
      <p:sp>
        <p:nvSpPr>
          <p:cNvPr id="25" name="TextBox 24"/>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6" name="Đáp án A">
            <a:hlinkClick r:id="rId2" action="ppaction://hlinksldjump"/>
          </p:cNvPr>
          <p:cNvSpPr/>
          <p:nvPr/>
        </p:nvSpPr>
        <p:spPr>
          <a:xfrm>
            <a:off x="530352" y="2770632"/>
            <a:ext cx="4215384" cy="1170432"/>
          </a:xfrm>
          <a:prstGeom prst="roundRect">
            <a:avLst/>
          </a:prstGeom>
          <a:solidFill>
            <a:srgbClr val="FBFCF9"/>
          </a:solidFill>
          <a:ln w="15875">
            <a:solidFill>
              <a:srgbClr val="D7DED8"/>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250" b="0" i="0">
                <a:solidFill>
                  <a:srgbClr val="18324A"/>
                </a:solidFill>
                <a:latin typeface="Aptos"/>
              </a:rPr>
              <a:t>Dữ liệu, nội dung bị khai thác; gig/996 và thuật toán chi phối hoạt động; sáng tạo bị quy về chỉ số; quan hệ bị kéo vào so sánh. Hãy đặt ranh giới số, bảo vệ dữ liệu và chủ động chọn công cụ.</a:t>
            </a:r>
          </a:p>
        </p:txBody>
      </p:sp>
      <p:sp>
        <p:nvSpPr>
          <p:cNvPr id="27" name="Oval 26">
            <a:hlinkClick r:id="rId2" action="ppaction://hlinksldjump"/>
          </p:cNvPr>
          <p:cNvSpPr/>
          <p:nvPr/>
        </p:nvSpPr>
        <p:spPr>
          <a:xfrm>
            <a:off x="685800" y="3154679"/>
            <a:ext cx="402336" cy="402336"/>
          </a:xfrm>
          <a:prstGeom prst="ellipse">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E8177"/>
                </a:solidFill>
                <a:latin typeface="Trebuchet MS"/>
              </a:rPr>
              <a:t>A</a:t>
            </a:r>
          </a:p>
        </p:txBody>
      </p:sp>
      <p:sp>
        <p:nvSpPr>
          <p:cNvPr id="28" name="Đáp án B">
            <a:hlinkClick r:id="rId3" action="ppaction://hlinksldjump"/>
          </p:cNvPr>
          <p:cNvSpPr/>
          <p:nvPr/>
        </p:nvSpPr>
        <p:spPr>
          <a:xfrm>
            <a:off x="4937760" y="2770632"/>
            <a:ext cx="4279392" cy="1170432"/>
          </a:xfrm>
          <a:prstGeom prst="roundRect">
            <a:avLst/>
          </a:prstGeom>
          <a:solidFill>
            <a:srgbClr val="FBFCF9"/>
          </a:solidFill>
          <a:ln w="15875">
            <a:solidFill>
              <a:srgbClr val="D7DED8"/>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18324A"/>
                </a:solidFill>
                <a:latin typeface="Aptos"/>
              </a:rPr>
              <a:t>Tha hóa chỉ có ở lao động tay chân; mạng xã hội không liên quan. Giải pháp duy nhất là làm việc nhiều giờ hơn.</a:t>
            </a:r>
          </a:p>
        </p:txBody>
      </p:sp>
      <p:sp>
        <p:nvSpPr>
          <p:cNvPr id="29" name="Oval 28">
            <a:hlinkClick r:id="rId3" action="ppaction://hlinksldjump"/>
          </p:cNvPr>
          <p:cNvSpPr/>
          <p:nvPr/>
        </p:nvSpPr>
        <p:spPr>
          <a:xfrm>
            <a:off x="5093208" y="3154679"/>
            <a:ext cx="402336" cy="402336"/>
          </a:xfrm>
          <a:prstGeom prst="ellipse">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E8177"/>
                </a:solidFill>
                <a:latin typeface="Trebuchet MS"/>
              </a:rPr>
              <a:t>B</a:t>
            </a:r>
          </a:p>
        </p:txBody>
      </p:sp>
      <p:sp>
        <p:nvSpPr>
          <p:cNvPr id="30" name="Đáp án C">
            <a:hlinkClick r:id="rId4" action="ppaction://hlinksldjump"/>
          </p:cNvPr>
          <p:cNvSpPr/>
          <p:nvPr/>
        </p:nvSpPr>
        <p:spPr>
          <a:xfrm>
            <a:off x="530352" y="4105656"/>
            <a:ext cx="4215384" cy="1170432"/>
          </a:xfrm>
          <a:prstGeom prst="roundRect">
            <a:avLst/>
          </a:prstGeom>
          <a:solidFill>
            <a:srgbClr val="FBFCF9"/>
          </a:solidFill>
          <a:ln w="15875">
            <a:solidFill>
              <a:srgbClr val="D7DED8"/>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380" b="0" i="0">
                <a:solidFill>
                  <a:srgbClr val="18324A"/>
                </a:solidFill>
                <a:latin typeface="Aptos"/>
              </a:rPr>
              <a:t>Sản phẩm là điện thoại mới, hoạt động là lướt tin, bản chất là tiêu dùng, quan hệ là kết nối; vì vậy chỉ cần bỏ hẳn Internet.</a:t>
            </a:r>
          </a:p>
        </p:txBody>
      </p:sp>
      <p:sp>
        <p:nvSpPr>
          <p:cNvPr id="31" name="Oval 30">
            <a:hlinkClick r:id="rId4" action="ppaction://hlinksldjump"/>
          </p:cNvPr>
          <p:cNvSpPr/>
          <p:nvPr/>
        </p:nvSpPr>
        <p:spPr>
          <a:xfrm>
            <a:off x="685800" y="4489704"/>
            <a:ext cx="402336" cy="402336"/>
          </a:xfrm>
          <a:prstGeom prst="ellipse">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E8177"/>
                </a:solidFill>
                <a:latin typeface="Trebuchet MS"/>
              </a:rPr>
              <a:t>C</a:t>
            </a:r>
          </a:p>
        </p:txBody>
      </p:sp>
      <p:sp>
        <p:nvSpPr>
          <p:cNvPr id="32" name="Đáp án D">
            <a:hlinkClick r:id="rId5" action="ppaction://hlinksldjump"/>
          </p:cNvPr>
          <p:cNvSpPr/>
          <p:nvPr/>
        </p:nvSpPr>
        <p:spPr>
          <a:xfrm>
            <a:off x="4937760" y="4105656"/>
            <a:ext cx="4279392" cy="1170432"/>
          </a:xfrm>
          <a:prstGeom prst="roundRect">
            <a:avLst/>
          </a:prstGeom>
          <a:solidFill>
            <a:srgbClr val="FBFCF9"/>
          </a:solidFill>
          <a:ln w="15875">
            <a:solidFill>
              <a:srgbClr val="D7DED8"/>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18324A"/>
                </a:solidFill>
                <a:latin typeface="Aptos"/>
              </a:rPr>
              <a:t>Nền tảng luôn trao toàn quyền cho người dùng; không cần quan tâm dữ liệu, thuật toán hay điều kiện lao động.</a:t>
            </a:r>
          </a:p>
        </p:txBody>
      </p:sp>
      <p:sp>
        <p:nvSpPr>
          <p:cNvPr id="33" name="Oval 32">
            <a:hlinkClick r:id="rId5" action="ppaction://hlinksldjump"/>
          </p:cNvPr>
          <p:cNvSpPr/>
          <p:nvPr/>
        </p:nvSpPr>
        <p:spPr>
          <a:xfrm>
            <a:off x="5093208" y="4489704"/>
            <a:ext cx="402336" cy="402336"/>
          </a:xfrm>
          <a:prstGeom prst="ellipse">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E8177"/>
                </a:solidFill>
                <a:latin typeface="Trebuchet MS"/>
              </a:rPr>
              <a:t>D</a:t>
            </a:r>
          </a:p>
        </p:txBody>
      </p:sp>
      <p:sp>
        <p:nvSpPr>
          <p:cNvPr id="34" name="TextBox 33"/>
          <p:cNvSpPr txBox="1"/>
          <p:nvPr/>
        </p:nvSpPr>
        <p:spPr>
          <a:xfrm>
            <a:off x="621792" y="5431536"/>
            <a:ext cx="8485632" cy="36576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080" b="1" i="0">
                <a:solidFill>
                  <a:srgbClr val="657883"/>
                </a:solidFill>
                <a:latin typeface="Trebuchet MS"/>
              </a:rPr>
              <a:t>CHỌN MỘT ĐÁP ÁN  ·  BẤM TRỰC TIẾP VÀO THẺ A / B / C / D</a:t>
            </a:r>
          </a:p>
        </p:txBody>
      </p:sp>
    </p:spTree>
  </p:cSld>
  <p:clrMapOvr>
    <a:masterClrMapping/>
  </p:clrMapOvr>
  <p:transition spd="med" advClick="0">
    <p:fade/>
  </p:transition>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02 / 05</a:t>
            </a:r>
          </a:p>
        </p:txBody>
      </p:sp>
      <p:sp>
        <p:nvSpPr>
          <p:cNvPr id="5" name="Rounded Rectangle 4"/>
          <p:cNvSpPr/>
          <p:nvPr/>
        </p:nvSpPr>
        <p:spPr>
          <a:xfrm>
            <a:off x="2240280" y="749808"/>
            <a:ext cx="1389888" cy="292608"/>
          </a:xfrm>
          <a:prstGeom prst="roundRect">
            <a:avLst/>
          </a:prstGeom>
          <a:solidFill>
            <a:srgbClr val="F7E2DD"/>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B8424C"/>
                </a:solidFill>
                <a:latin typeface="Trebuchet MS"/>
              </a:rPr>
              <a:t>KHÓ</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03 / 03</a:t>
            </a:r>
          </a:p>
        </p:txBody>
      </p:sp>
      <p:sp>
        <p:nvSpPr>
          <p:cNvPr id="7" name="Rounded Rectangle 6"/>
          <p:cNvSpPr/>
          <p:nvPr/>
        </p:nvSpPr>
        <p:spPr>
          <a:xfrm>
            <a:off x="7562088" y="749808"/>
            <a:ext cx="1581912" cy="292608"/>
          </a:xfrm>
          <a:prstGeom prst="roundRect">
            <a:avLst/>
          </a:prstGeom>
          <a:solidFill>
            <a:srgbClr val="D9F0E3"/>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1000" b="1" i="0">
                <a:solidFill>
                  <a:srgbClr val="2F9C72"/>
                </a:solidFill>
                <a:latin typeface="Trebuchet MS"/>
              </a:rPr>
              <a:t>CHÍNH XÁC!</a:t>
            </a:r>
          </a:p>
        </p:txBody>
      </p:sp>
      <p:sp>
        <p:nvSpPr>
          <p:cNvPr id="8"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1" name="TextBox 10"/>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2100" b="1" i="0">
                <a:solidFill>
                  <a:srgbClr val="FFFFFF"/>
                </a:solidFill>
                <a:latin typeface="Aptos"/>
              </a:rPr>
              <a:t>Trong xã hội số, phương án nào gắn đúng bốn dạng tha hóa với cách cá nhân hạn chế việc công nghệ quay lại chi phối mình?</a:t>
            </a:r>
          </a:p>
        </p:txBody>
      </p:sp>
      <p:sp>
        <p:nvSpPr>
          <p:cNvPr id="12"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4" name="TextBox 13"/>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5" name="Rounded Rectangle 14"/>
          <p:cNvSpPr/>
          <p:nvPr/>
        </p:nvSpPr>
        <p:spPr>
          <a:xfrm>
            <a:off x="9646920" y="1371600"/>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01</a:t>
            </a:r>
          </a:p>
        </p:txBody>
      </p:sp>
      <p:sp>
        <p:nvSpPr>
          <p:cNvPr id="17" name="TextBox 16"/>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nhỏ</a:t>
            </a:r>
          </a:p>
        </p:txBody>
      </p:sp>
      <p:sp>
        <p:nvSpPr>
          <p:cNvPr id="18" name="Rounded Rectangle 17"/>
          <p:cNvSpPr/>
          <p:nvPr/>
        </p:nvSpPr>
        <p:spPr>
          <a:xfrm>
            <a:off x="9646920" y="2487168"/>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02</a:t>
            </a:r>
          </a:p>
        </p:txBody>
      </p:sp>
      <p:sp>
        <p:nvSpPr>
          <p:cNvPr id="20" name="TextBox 19"/>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vừa</a:t>
            </a:r>
          </a:p>
        </p:txBody>
      </p:sp>
      <p:sp>
        <p:nvSpPr>
          <p:cNvPr id="21" name="Rounded Rectangle 20"/>
          <p:cNvSpPr/>
          <p:nvPr/>
        </p:nvSpPr>
        <p:spPr>
          <a:xfrm>
            <a:off x="9646920" y="3602736"/>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03</a:t>
            </a:r>
          </a:p>
        </p:txBody>
      </p:sp>
      <p:sp>
        <p:nvSpPr>
          <p:cNvPr id="23" name="TextBox 22"/>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lớn</a:t>
            </a:r>
          </a:p>
        </p:txBody>
      </p:sp>
      <p:sp>
        <p:nvSpPr>
          <p:cNvPr id="24" name="TextBox 23"/>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PHẦN QUÀ CUỐI</a:t>
            </a:r>
          </a:p>
        </p:txBody>
      </p:sp>
      <p:sp>
        <p:nvSpPr>
          <p:cNvPr id="25" name="TextBox 24"/>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Quà lớn</a:t>
            </a:r>
          </a:p>
        </p:txBody>
      </p:sp>
      <p:sp>
        <p:nvSpPr>
          <p:cNvPr id="26" name="TextBox 25"/>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7" name="Đáp án A"/>
          <p:cNvSpPr/>
          <p:nvPr/>
        </p:nvSpPr>
        <p:spPr>
          <a:xfrm>
            <a:off x="530352" y="2770632"/>
            <a:ext cx="4215384" cy="1170432"/>
          </a:xfrm>
          <a:prstGeom prst="roundRect">
            <a:avLst/>
          </a:prstGeom>
          <a:solidFill>
            <a:srgbClr val="FFD05A"/>
          </a:solidFill>
          <a:ln w="15875">
            <a:solidFill>
              <a:srgbClr val="D9A92E"/>
            </a:solidFill>
          </a:ln>
          <a:effectLst>
            <a:glow rad="190000">
              <a:srgbClr val="FFD05A">
                <a:alpha val="52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250" b="1" i="0">
                <a:solidFill>
                  <a:srgbClr val="18324A"/>
                </a:solidFill>
                <a:latin typeface="Aptos"/>
              </a:rPr>
              <a:t>Dữ liệu, nội dung bị khai thác; gig/996 và thuật toán chi phối hoạt động; sáng tạo bị quy về chỉ số; quan hệ bị kéo vào so sánh. Hãy đặt ranh giới số, bảo vệ dữ liệu và chủ động chọn công cụ.</a:t>
            </a:r>
          </a:p>
        </p:txBody>
      </p:sp>
      <p:sp>
        <p:nvSpPr>
          <p:cNvPr id="28" name="Oval 27"/>
          <p:cNvSpPr/>
          <p:nvPr/>
        </p:nvSpPr>
        <p:spPr>
          <a:xfrm>
            <a:off x="685800" y="3154679"/>
            <a:ext cx="402336" cy="402336"/>
          </a:xfrm>
          <a:prstGeom prst="ellipse">
            <a:avLst/>
          </a:prstGeom>
          <a:solidFill>
            <a:srgbClr val="18324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FFD05A"/>
                </a:solidFill>
                <a:latin typeface="Trebuchet MS"/>
              </a:rPr>
              <a:t>A</a:t>
            </a:r>
          </a:p>
        </p:txBody>
      </p:sp>
      <p:sp>
        <p:nvSpPr>
          <p:cNvPr id="29" name="Đáp án B"/>
          <p:cNvSpPr/>
          <p:nvPr/>
        </p:nvSpPr>
        <p:spPr>
          <a:xfrm>
            <a:off x="4937760" y="2770632"/>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8A979B"/>
                </a:solidFill>
                <a:latin typeface="Aptos"/>
              </a:rPr>
              <a:t>Tha hóa chỉ có ở lao động tay chân; mạng xã hội không liên quan. Giải pháp duy nhất là làm việc nhiều giờ hơn.</a:t>
            </a:r>
          </a:p>
        </p:txBody>
      </p:sp>
      <p:sp>
        <p:nvSpPr>
          <p:cNvPr id="30" name="Oval 29"/>
          <p:cNvSpPr/>
          <p:nvPr/>
        </p:nvSpPr>
        <p:spPr>
          <a:xfrm>
            <a:off x="5093208" y="3154679"/>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B</a:t>
            </a:r>
          </a:p>
        </p:txBody>
      </p:sp>
      <p:sp>
        <p:nvSpPr>
          <p:cNvPr id="31" name="Đáp án C"/>
          <p:cNvSpPr/>
          <p:nvPr/>
        </p:nvSpPr>
        <p:spPr>
          <a:xfrm>
            <a:off x="530352" y="4105656"/>
            <a:ext cx="4215384"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380" b="0" i="0">
                <a:solidFill>
                  <a:srgbClr val="8A979B"/>
                </a:solidFill>
                <a:latin typeface="Aptos"/>
              </a:rPr>
              <a:t>Sản phẩm là điện thoại mới, hoạt động là lướt tin, bản chất là tiêu dùng, quan hệ là kết nối; vì vậy chỉ cần bỏ hẳn Internet.</a:t>
            </a:r>
          </a:p>
        </p:txBody>
      </p:sp>
      <p:sp>
        <p:nvSpPr>
          <p:cNvPr id="32" name="Oval 31"/>
          <p:cNvSpPr/>
          <p:nvPr/>
        </p:nvSpPr>
        <p:spPr>
          <a:xfrm>
            <a:off x="685800"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C</a:t>
            </a:r>
          </a:p>
        </p:txBody>
      </p:sp>
      <p:sp>
        <p:nvSpPr>
          <p:cNvPr id="33" name="Đáp án D"/>
          <p:cNvSpPr/>
          <p:nvPr/>
        </p:nvSpPr>
        <p:spPr>
          <a:xfrm>
            <a:off x="4937760" y="4105656"/>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8A979B"/>
                </a:solidFill>
                <a:latin typeface="Aptos"/>
              </a:rPr>
              <a:t>Nền tảng luôn trao toàn quyền cho người dùng; không cần quan tâm dữ liệu, thuật toán hay điều kiện lao động.</a:t>
            </a:r>
          </a:p>
        </p:txBody>
      </p:sp>
      <p:sp>
        <p:nvSpPr>
          <p:cNvPr id="34" name="Oval 33"/>
          <p:cNvSpPr/>
          <p:nvPr/>
        </p:nvSpPr>
        <p:spPr>
          <a:xfrm>
            <a:off x="5093208"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D</a:t>
            </a:r>
          </a:p>
        </p:txBody>
      </p:sp>
      <p:sp>
        <p:nvSpPr>
          <p:cNvPr id="35" name="Rounded Rectangle 34"/>
          <p:cNvSpPr/>
          <p:nvPr/>
        </p:nvSpPr>
        <p:spPr>
          <a:xfrm>
            <a:off x="530352" y="5431536"/>
            <a:ext cx="5989320" cy="868680"/>
          </a:xfrm>
          <a:prstGeom prst="roundRect">
            <a:avLst/>
          </a:prstGeom>
          <a:solidFill>
            <a:srgbClr val="D9F0E3"/>
          </a:solidFill>
          <a:ln w="12700">
            <a:solidFill>
              <a:srgbClr val="D7E6DC"/>
            </a:solidFill>
          </a:ln>
        </p:spPr>
        <p:style>
          <a:lnRef idx="1">
            <a:schemeClr val="accent1"/>
          </a:lnRef>
          <a:fillRef idx="3">
            <a:schemeClr val="accent1"/>
          </a:fillRef>
          <a:effectRef idx="2">
            <a:schemeClr val="accent1"/>
          </a:effectRef>
          <a:fontRef idx="minor">
            <a:schemeClr val="lt1"/>
          </a:fontRef>
        </p:style>
        <p:txBody>
          <a:bodyPr wrap="square" lIns="109728" tIns="60350" rIns="109728" bIns="60350" rtlCol="0" anchor="ctr"/>
          <a:lstStyle/>
          <a:p>
            <a:pPr algn="l">
              <a:lnSpc>
                <a:spcPct val="100000"/>
              </a:lnSpc>
              <a:spcBef>
                <a:spcPts val="0"/>
              </a:spcBef>
              <a:spcAft>
                <a:spcPts val="0"/>
              </a:spcAft>
            </a:pPr>
            <a:r>
              <a:rPr sz="1130" b="0" i="0">
                <a:solidFill>
                  <a:srgbClr val="18324A"/>
                </a:solidFill>
                <a:latin typeface="Aptos"/>
              </a:rPr>
              <a:t>MỐC 3 ĐÃ CHINH PHỤC  ·  Quà lớn
Lý luận giúp nhận diện sự chi phối ở sản phẩm, hoạt động, năng lực sáng tạo và quan hệ; giải pháp là dùng công nghệ có chủ đích, bảo vệ quyền và thời gian của mình.</a:t>
            </a:r>
          </a:p>
        </p:txBody>
      </p:sp>
      <p:sp>
        <p:nvSpPr>
          <p:cNvPr id="36" name="Nút: NGƯỜI CHƠI TIẾP THEO  →">
            <a:hlinkClick r:id="rId3" action="ppaction://hlinksldjump"/>
          </p:cNvPr>
          <p:cNvSpPr/>
          <p:nvPr/>
        </p:nvSpPr>
        <p:spPr>
          <a:xfrm>
            <a:off x="6711696" y="5431536"/>
            <a:ext cx="2505456" cy="868680"/>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240" b="1" i="0">
                <a:solidFill>
                  <a:srgbClr val="18324A"/>
                </a:solidFill>
                <a:latin typeface="Trebuchet MS"/>
              </a:rPr>
              <a:t>NGƯỜI CHƠI TIẾP THEO  →</a:t>
            </a:r>
          </a:p>
        </p:txBody>
      </p:sp>
    </p:spTree>
  </p:cSld>
  <p:clrMapOvr>
    <a:masterClrMapping/>
  </p:clrMapOvr>
  <p:transition spd="med" advClick="0">
    <p:sndAc>
      <p:stSnd>
        <p:snd r:embed="rId2" name="Correct answer chime"/>
      </p:stSnd>
    </p:sndAc>
  </p:transition>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02 / 05</a:t>
            </a:r>
          </a:p>
        </p:txBody>
      </p:sp>
      <p:sp>
        <p:nvSpPr>
          <p:cNvPr id="5" name="Rounded Rectangle 4"/>
          <p:cNvSpPr/>
          <p:nvPr/>
        </p:nvSpPr>
        <p:spPr>
          <a:xfrm>
            <a:off x="2240280" y="749808"/>
            <a:ext cx="1389888" cy="292608"/>
          </a:xfrm>
          <a:prstGeom prst="roundRect">
            <a:avLst/>
          </a:prstGeom>
          <a:solidFill>
            <a:srgbClr val="F7E2DD"/>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B8424C"/>
                </a:solidFill>
                <a:latin typeface="Trebuchet MS"/>
              </a:rPr>
              <a:t>KHÓ</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03 / 03</a:t>
            </a:r>
          </a:p>
        </p:txBody>
      </p:sp>
      <p:sp>
        <p:nvSpPr>
          <p:cNvPr id="7" name="Rounded Rectangle 6"/>
          <p:cNvSpPr/>
          <p:nvPr/>
        </p:nvSpPr>
        <p:spPr>
          <a:xfrm>
            <a:off x="7562088" y="749808"/>
            <a:ext cx="1581912" cy="292608"/>
          </a:xfrm>
          <a:prstGeom prst="roundRect">
            <a:avLst/>
          </a:prstGeom>
          <a:solidFill>
            <a:srgbClr val="FBE3E3"/>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1000" b="1" i="0">
                <a:solidFill>
                  <a:srgbClr val="B8424C"/>
                </a:solidFill>
                <a:latin typeface="Trebuchet MS"/>
              </a:rPr>
              <a:t>RẤT TIẾC!</a:t>
            </a:r>
          </a:p>
        </p:txBody>
      </p:sp>
      <p:sp>
        <p:nvSpPr>
          <p:cNvPr id="8"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1" name="TextBox 10"/>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2100" b="1" i="0">
                <a:solidFill>
                  <a:srgbClr val="FFFFFF"/>
                </a:solidFill>
                <a:latin typeface="Aptos"/>
              </a:rPr>
              <a:t>Trong xã hội số, phương án nào gắn đúng bốn dạng tha hóa với cách cá nhân hạn chế việc công nghệ quay lại chi phối mình?</a:t>
            </a:r>
          </a:p>
        </p:txBody>
      </p:sp>
      <p:sp>
        <p:nvSpPr>
          <p:cNvPr id="12"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4" name="TextBox 13"/>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5" name="Rounded Rectangle 14"/>
          <p:cNvSpPr/>
          <p:nvPr/>
        </p:nvSpPr>
        <p:spPr>
          <a:xfrm>
            <a:off x="9646920" y="1371600"/>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01</a:t>
            </a:r>
          </a:p>
        </p:txBody>
      </p:sp>
      <p:sp>
        <p:nvSpPr>
          <p:cNvPr id="17" name="TextBox 16"/>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nhỏ</a:t>
            </a:r>
          </a:p>
        </p:txBody>
      </p:sp>
      <p:sp>
        <p:nvSpPr>
          <p:cNvPr id="18" name="Rounded Rectangle 17"/>
          <p:cNvSpPr/>
          <p:nvPr/>
        </p:nvSpPr>
        <p:spPr>
          <a:xfrm>
            <a:off x="9646920" y="2487168"/>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02</a:t>
            </a:r>
          </a:p>
        </p:txBody>
      </p:sp>
      <p:sp>
        <p:nvSpPr>
          <p:cNvPr id="20" name="TextBox 19"/>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vừa</a:t>
            </a:r>
          </a:p>
        </p:txBody>
      </p:sp>
      <p:sp>
        <p:nvSpPr>
          <p:cNvPr id="21" name="Rounded Rectangle 20"/>
          <p:cNvSpPr/>
          <p:nvPr/>
        </p:nvSpPr>
        <p:spPr>
          <a:xfrm>
            <a:off x="9646920" y="3602736"/>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03</a:t>
            </a:r>
          </a:p>
        </p:txBody>
      </p:sp>
      <p:sp>
        <p:nvSpPr>
          <p:cNvPr id="23" name="TextBox 22"/>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lớn</a:t>
            </a:r>
          </a:p>
        </p:txBody>
      </p:sp>
      <p:sp>
        <p:nvSpPr>
          <p:cNvPr id="24" name="TextBox 23"/>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QUÀ GIỮ LẠI</a:t>
            </a:r>
          </a:p>
        </p:txBody>
      </p:sp>
      <p:sp>
        <p:nvSpPr>
          <p:cNvPr id="25" name="TextBox 24"/>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Quà vừa</a:t>
            </a:r>
          </a:p>
        </p:txBody>
      </p:sp>
      <p:sp>
        <p:nvSpPr>
          <p:cNvPr id="26" name="TextBox 25"/>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7" name="Đáp án A"/>
          <p:cNvSpPr/>
          <p:nvPr/>
        </p:nvSpPr>
        <p:spPr>
          <a:xfrm>
            <a:off x="530352" y="2770632"/>
            <a:ext cx="4215384" cy="1170432"/>
          </a:xfrm>
          <a:prstGeom prst="roundRect">
            <a:avLst/>
          </a:prstGeom>
          <a:solidFill>
            <a:srgbClr val="2F9C72"/>
          </a:solidFill>
          <a:ln w="15875">
            <a:solidFill>
              <a:srgbClr val="2F9C72"/>
            </a:solidFill>
          </a:ln>
          <a:effectLst>
            <a:glow rad="190000">
              <a:srgbClr val="73D9A5">
                <a:alpha val="52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250" b="1" i="0">
                <a:solidFill>
                  <a:srgbClr val="FFFFFF"/>
                </a:solidFill>
                <a:latin typeface="Aptos"/>
              </a:rPr>
              <a:t>Dữ liệu, nội dung bị khai thác; gig/996 và thuật toán chi phối hoạt động; sáng tạo bị quy về chỉ số; quan hệ bị kéo vào so sánh. Hãy đặt ranh giới số, bảo vệ dữ liệu và chủ động chọn công cụ.</a:t>
            </a:r>
          </a:p>
        </p:txBody>
      </p:sp>
      <p:sp>
        <p:nvSpPr>
          <p:cNvPr id="28" name="Oval 27"/>
          <p:cNvSpPr/>
          <p:nvPr/>
        </p:nvSpPr>
        <p:spPr>
          <a:xfrm>
            <a:off x="685800" y="3154679"/>
            <a:ext cx="402336" cy="402336"/>
          </a:xfrm>
          <a:prstGeom prst="ellipse">
            <a:avLst/>
          </a:prstGeom>
          <a:solidFill>
            <a:srgbClr val="FFFFFF"/>
          </a:solidFill>
          <a:ln w="12700">
            <a:solidFill>
              <a:srgbClr val="2F9C72"/>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F9C72"/>
                </a:solidFill>
                <a:latin typeface="Trebuchet MS"/>
              </a:rPr>
              <a:t>A</a:t>
            </a:r>
          </a:p>
        </p:txBody>
      </p:sp>
      <p:sp>
        <p:nvSpPr>
          <p:cNvPr id="29" name="Đáp án B"/>
          <p:cNvSpPr/>
          <p:nvPr/>
        </p:nvSpPr>
        <p:spPr>
          <a:xfrm>
            <a:off x="4937760" y="2770632"/>
            <a:ext cx="4279392" cy="1170432"/>
          </a:xfrm>
          <a:prstGeom prst="roundRect">
            <a:avLst/>
          </a:prstGeom>
          <a:solidFill>
            <a:srgbClr val="E45C64"/>
          </a:solidFill>
          <a:ln w="15875">
            <a:solidFill>
              <a:srgbClr val="B8424C"/>
            </a:solidFill>
          </a:ln>
          <a:effectLst>
            <a:glow rad="110000">
              <a:srgbClr val="E45C64">
                <a:alpha val="35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1" i="0">
                <a:solidFill>
                  <a:srgbClr val="FFFFFF"/>
                </a:solidFill>
                <a:latin typeface="Aptos"/>
              </a:rPr>
              <a:t>Tha hóa chỉ có ở lao động tay chân; mạng xã hội không liên quan. Giải pháp duy nhất là làm việc nhiều giờ hơn.</a:t>
            </a:r>
          </a:p>
        </p:txBody>
      </p:sp>
      <p:sp>
        <p:nvSpPr>
          <p:cNvPr id="30" name="Oval 29"/>
          <p:cNvSpPr/>
          <p:nvPr/>
        </p:nvSpPr>
        <p:spPr>
          <a:xfrm>
            <a:off x="5093208" y="3154679"/>
            <a:ext cx="402336" cy="402336"/>
          </a:xfrm>
          <a:prstGeom prst="ellipse">
            <a:avLst/>
          </a:prstGeom>
          <a:solidFill>
            <a:srgbClr val="FFFFFF"/>
          </a:solidFill>
          <a:ln w="12700">
            <a:solidFill>
              <a:srgbClr val="B8424C"/>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B8424C"/>
                </a:solidFill>
                <a:latin typeface="Trebuchet MS"/>
              </a:rPr>
              <a:t>B</a:t>
            </a:r>
          </a:p>
        </p:txBody>
      </p:sp>
      <p:cxnSp>
        <p:nvCxnSpPr>
          <p:cNvPr id="31" name="Connector 30"/>
          <p:cNvCxnSpPr/>
          <p:nvPr/>
        </p:nvCxnSpPr>
        <p:spPr>
          <a:xfrm>
            <a:off x="4846320" y="297180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4846320" y="3264408"/>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846320" y="3557016"/>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9235440" y="297180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235440" y="3264408"/>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9235440" y="3557016"/>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sp>
        <p:nvSpPr>
          <p:cNvPr id="37" name="Đáp án C"/>
          <p:cNvSpPr/>
          <p:nvPr/>
        </p:nvSpPr>
        <p:spPr>
          <a:xfrm>
            <a:off x="530352" y="4105656"/>
            <a:ext cx="4215384"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380" b="0" i="0">
                <a:solidFill>
                  <a:srgbClr val="8A979B"/>
                </a:solidFill>
                <a:latin typeface="Aptos"/>
              </a:rPr>
              <a:t>Sản phẩm là điện thoại mới, hoạt động là lướt tin, bản chất là tiêu dùng, quan hệ là kết nối; vì vậy chỉ cần bỏ hẳn Internet.</a:t>
            </a:r>
          </a:p>
        </p:txBody>
      </p:sp>
      <p:sp>
        <p:nvSpPr>
          <p:cNvPr id="38" name="Oval 37"/>
          <p:cNvSpPr/>
          <p:nvPr/>
        </p:nvSpPr>
        <p:spPr>
          <a:xfrm>
            <a:off x="685800"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C</a:t>
            </a:r>
          </a:p>
        </p:txBody>
      </p:sp>
      <p:sp>
        <p:nvSpPr>
          <p:cNvPr id="39" name="Đáp án D"/>
          <p:cNvSpPr/>
          <p:nvPr/>
        </p:nvSpPr>
        <p:spPr>
          <a:xfrm>
            <a:off x="4937760" y="4105656"/>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8A979B"/>
                </a:solidFill>
                <a:latin typeface="Aptos"/>
              </a:rPr>
              <a:t>Nền tảng luôn trao toàn quyền cho người dùng; không cần quan tâm dữ liệu, thuật toán hay điều kiện lao động.</a:t>
            </a:r>
          </a:p>
        </p:txBody>
      </p:sp>
      <p:sp>
        <p:nvSpPr>
          <p:cNvPr id="40" name="Oval 39"/>
          <p:cNvSpPr/>
          <p:nvPr/>
        </p:nvSpPr>
        <p:spPr>
          <a:xfrm>
            <a:off x="5093208"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D</a:t>
            </a:r>
          </a:p>
        </p:txBody>
      </p:sp>
      <p:sp>
        <p:nvSpPr>
          <p:cNvPr id="41" name="Rounded Rectangle 40"/>
          <p:cNvSpPr/>
          <p:nvPr/>
        </p:nvSpPr>
        <p:spPr>
          <a:xfrm>
            <a:off x="530352" y="5431536"/>
            <a:ext cx="5989320" cy="868680"/>
          </a:xfrm>
          <a:prstGeom prst="roundRect">
            <a:avLst/>
          </a:prstGeom>
          <a:solidFill>
            <a:srgbClr val="FBE5E3"/>
          </a:solidFill>
          <a:ln w="12700">
            <a:solidFill>
              <a:srgbClr val="F0C7C4"/>
            </a:solid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l">
              <a:lnSpc>
                <a:spcPct val="100000"/>
              </a:lnSpc>
              <a:spcBef>
                <a:spcPts val="0"/>
              </a:spcBef>
              <a:spcAft>
                <a:spcPts val="0"/>
              </a:spcAft>
            </a:pPr>
            <a:r>
              <a:rPr sz="980" b="1" i="0">
                <a:solidFill>
                  <a:srgbClr val="18324A"/>
                </a:solidFill>
                <a:latin typeface="Aptos"/>
              </a:rPr>
              <a:t>BẠN CHỌN: B  ·  ĐÁP ÁN ĐÚNG: A
Dữ liệu, nội dung bị khai thác; gig/996 và thuật toán chi phối hoạt động; sáng tạo bị quy về chỉ số; quan hệ bị kéo vào so sánh. Hãy đặt ranh giới số, bảo vệ dữ liệu và chủ động chọn công cụ.
QUÀ ĐẠT ĐƯỢC LƯỢT NÀY: Quà vừa</a:t>
            </a:r>
          </a:p>
        </p:txBody>
      </p:sp>
      <p:sp>
        <p:nvSpPr>
          <p:cNvPr id="42" name="Nút: NGƯỜI CHƠI TIẾP THEO  →">
            <a:hlinkClick r:id="rId2" action="ppaction://hlinksldjump"/>
          </p:cNvPr>
          <p:cNvSpPr/>
          <p:nvPr/>
        </p:nvSpPr>
        <p:spPr>
          <a:xfrm>
            <a:off x="6711696" y="5431536"/>
            <a:ext cx="2505456" cy="86868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240" b="1" i="0">
                <a:solidFill>
                  <a:srgbClr val="FFFFFF"/>
                </a:solidFill>
                <a:latin typeface="Trebuchet MS"/>
              </a:rPr>
              <a:t>NGƯỜI CHƠI TIẾP THEO  →</a:t>
            </a:r>
          </a:p>
        </p:txBody>
      </p:sp>
    </p:spTree>
  </p:cSld>
  <p:clrMapOvr>
    <a:masterClrMapping/>
  </p:clrMapOvr>
  <p:transition spd="med" advClick="0">
    <p:fade/>
  </p:transition>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02 / 05</a:t>
            </a:r>
          </a:p>
        </p:txBody>
      </p:sp>
      <p:sp>
        <p:nvSpPr>
          <p:cNvPr id="5" name="Rounded Rectangle 4"/>
          <p:cNvSpPr/>
          <p:nvPr/>
        </p:nvSpPr>
        <p:spPr>
          <a:xfrm>
            <a:off x="2240280" y="749808"/>
            <a:ext cx="1389888" cy="292608"/>
          </a:xfrm>
          <a:prstGeom prst="roundRect">
            <a:avLst/>
          </a:prstGeom>
          <a:solidFill>
            <a:srgbClr val="F7E2DD"/>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B8424C"/>
                </a:solidFill>
                <a:latin typeface="Trebuchet MS"/>
              </a:rPr>
              <a:t>KHÓ</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03 / 03</a:t>
            </a:r>
          </a:p>
        </p:txBody>
      </p:sp>
      <p:sp>
        <p:nvSpPr>
          <p:cNvPr id="7" name="Rounded Rectangle 6"/>
          <p:cNvSpPr/>
          <p:nvPr/>
        </p:nvSpPr>
        <p:spPr>
          <a:xfrm>
            <a:off x="7562088" y="749808"/>
            <a:ext cx="1581912" cy="292608"/>
          </a:xfrm>
          <a:prstGeom prst="roundRect">
            <a:avLst/>
          </a:prstGeom>
          <a:solidFill>
            <a:srgbClr val="FBE3E3"/>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1000" b="1" i="0">
                <a:solidFill>
                  <a:srgbClr val="B8424C"/>
                </a:solidFill>
                <a:latin typeface="Trebuchet MS"/>
              </a:rPr>
              <a:t>RẤT TIẾC!</a:t>
            </a:r>
          </a:p>
        </p:txBody>
      </p:sp>
      <p:sp>
        <p:nvSpPr>
          <p:cNvPr id="8"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1" name="TextBox 10"/>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2100" b="1" i="0">
                <a:solidFill>
                  <a:srgbClr val="FFFFFF"/>
                </a:solidFill>
                <a:latin typeface="Aptos"/>
              </a:rPr>
              <a:t>Trong xã hội số, phương án nào gắn đúng bốn dạng tha hóa với cách cá nhân hạn chế việc công nghệ quay lại chi phối mình?</a:t>
            </a:r>
          </a:p>
        </p:txBody>
      </p:sp>
      <p:sp>
        <p:nvSpPr>
          <p:cNvPr id="12"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4" name="TextBox 13"/>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5" name="Rounded Rectangle 14"/>
          <p:cNvSpPr/>
          <p:nvPr/>
        </p:nvSpPr>
        <p:spPr>
          <a:xfrm>
            <a:off x="9646920" y="1371600"/>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01</a:t>
            </a:r>
          </a:p>
        </p:txBody>
      </p:sp>
      <p:sp>
        <p:nvSpPr>
          <p:cNvPr id="17" name="TextBox 16"/>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nhỏ</a:t>
            </a:r>
          </a:p>
        </p:txBody>
      </p:sp>
      <p:sp>
        <p:nvSpPr>
          <p:cNvPr id="18" name="Rounded Rectangle 17"/>
          <p:cNvSpPr/>
          <p:nvPr/>
        </p:nvSpPr>
        <p:spPr>
          <a:xfrm>
            <a:off x="9646920" y="2487168"/>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02</a:t>
            </a:r>
          </a:p>
        </p:txBody>
      </p:sp>
      <p:sp>
        <p:nvSpPr>
          <p:cNvPr id="20" name="TextBox 19"/>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vừa</a:t>
            </a:r>
          </a:p>
        </p:txBody>
      </p:sp>
      <p:sp>
        <p:nvSpPr>
          <p:cNvPr id="21" name="Rounded Rectangle 20"/>
          <p:cNvSpPr/>
          <p:nvPr/>
        </p:nvSpPr>
        <p:spPr>
          <a:xfrm>
            <a:off x="9646920" y="3602736"/>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03</a:t>
            </a:r>
          </a:p>
        </p:txBody>
      </p:sp>
      <p:sp>
        <p:nvSpPr>
          <p:cNvPr id="23" name="TextBox 22"/>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lớn</a:t>
            </a:r>
          </a:p>
        </p:txBody>
      </p:sp>
      <p:sp>
        <p:nvSpPr>
          <p:cNvPr id="24" name="TextBox 23"/>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QUÀ GIỮ LẠI</a:t>
            </a:r>
          </a:p>
        </p:txBody>
      </p:sp>
      <p:sp>
        <p:nvSpPr>
          <p:cNvPr id="25" name="TextBox 24"/>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Quà vừa</a:t>
            </a:r>
          </a:p>
        </p:txBody>
      </p:sp>
      <p:sp>
        <p:nvSpPr>
          <p:cNvPr id="26" name="TextBox 25"/>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7" name="Đáp án A"/>
          <p:cNvSpPr/>
          <p:nvPr/>
        </p:nvSpPr>
        <p:spPr>
          <a:xfrm>
            <a:off x="530352" y="2770632"/>
            <a:ext cx="4215384" cy="1170432"/>
          </a:xfrm>
          <a:prstGeom prst="roundRect">
            <a:avLst/>
          </a:prstGeom>
          <a:solidFill>
            <a:srgbClr val="2F9C72"/>
          </a:solidFill>
          <a:ln w="15875">
            <a:solidFill>
              <a:srgbClr val="2F9C72"/>
            </a:solidFill>
          </a:ln>
          <a:effectLst>
            <a:glow rad="190000">
              <a:srgbClr val="73D9A5">
                <a:alpha val="52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250" b="1" i="0">
                <a:solidFill>
                  <a:srgbClr val="FFFFFF"/>
                </a:solidFill>
                <a:latin typeface="Aptos"/>
              </a:rPr>
              <a:t>Dữ liệu, nội dung bị khai thác; gig/996 và thuật toán chi phối hoạt động; sáng tạo bị quy về chỉ số; quan hệ bị kéo vào so sánh. Hãy đặt ranh giới số, bảo vệ dữ liệu và chủ động chọn công cụ.</a:t>
            </a:r>
          </a:p>
        </p:txBody>
      </p:sp>
      <p:sp>
        <p:nvSpPr>
          <p:cNvPr id="28" name="Oval 27"/>
          <p:cNvSpPr/>
          <p:nvPr/>
        </p:nvSpPr>
        <p:spPr>
          <a:xfrm>
            <a:off x="685800" y="3154679"/>
            <a:ext cx="402336" cy="402336"/>
          </a:xfrm>
          <a:prstGeom prst="ellipse">
            <a:avLst/>
          </a:prstGeom>
          <a:solidFill>
            <a:srgbClr val="FFFFFF"/>
          </a:solidFill>
          <a:ln w="12700">
            <a:solidFill>
              <a:srgbClr val="2F9C72"/>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F9C72"/>
                </a:solidFill>
                <a:latin typeface="Trebuchet MS"/>
              </a:rPr>
              <a:t>A</a:t>
            </a:r>
          </a:p>
        </p:txBody>
      </p:sp>
      <p:sp>
        <p:nvSpPr>
          <p:cNvPr id="29" name="Đáp án B"/>
          <p:cNvSpPr/>
          <p:nvPr/>
        </p:nvSpPr>
        <p:spPr>
          <a:xfrm>
            <a:off x="4937760" y="2770632"/>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8A979B"/>
                </a:solidFill>
                <a:latin typeface="Aptos"/>
              </a:rPr>
              <a:t>Tha hóa chỉ có ở lao động tay chân; mạng xã hội không liên quan. Giải pháp duy nhất là làm việc nhiều giờ hơn.</a:t>
            </a:r>
          </a:p>
        </p:txBody>
      </p:sp>
      <p:sp>
        <p:nvSpPr>
          <p:cNvPr id="30" name="Oval 29"/>
          <p:cNvSpPr/>
          <p:nvPr/>
        </p:nvSpPr>
        <p:spPr>
          <a:xfrm>
            <a:off x="5093208" y="3154679"/>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B</a:t>
            </a:r>
          </a:p>
        </p:txBody>
      </p:sp>
      <p:sp>
        <p:nvSpPr>
          <p:cNvPr id="31" name="Đáp án C"/>
          <p:cNvSpPr/>
          <p:nvPr/>
        </p:nvSpPr>
        <p:spPr>
          <a:xfrm>
            <a:off x="530352" y="4105656"/>
            <a:ext cx="4215384" cy="1170432"/>
          </a:xfrm>
          <a:prstGeom prst="roundRect">
            <a:avLst/>
          </a:prstGeom>
          <a:solidFill>
            <a:srgbClr val="E45C64"/>
          </a:solidFill>
          <a:ln w="15875">
            <a:solidFill>
              <a:srgbClr val="B8424C"/>
            </a:solidFill>
          </a:ln>
          <a:effectLst>
            <a:glow rad="110000">
              <a:srgbClr val="E45C64">
                <a:alpha val="35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380" b="1" i="0">
                <a:solidFill>
                  <a:srgbClr val="FFFFFF"/>
                </a:solidFill>
                <a:latin typeface="Aptos"/>
              </a:rPr>
              <a:t>Sản phẩm là điện thoại mới, hoạt động là lướt tin, bản chất là tiêu dùng, quan hệ là kết nối; vì vậy chỉ cần bỏ hẳn Internet.</a:t>
            </a:r>
          </a:p>
        </p:txBody>
      </p:sp>
      <p:sp>
        <p:nvSpPr>
          <p:cNvPr id="32" name="Oval 31"/>
          <p:cNvSpPr/>
          <p:nvPr/>
        </p:nvSpPr>
        <p:spPr>
          <a:xfrm>
            <a:off x="685800" y="4489704"/>
            <a:ext cx="402336" cy="402336"/>
          </a:xfrm>
          <a:prstGeom prst="ellipse">
            <a:avLst/>
          </a:prstGeom>
          <a:solidFill>
            <a:srgbClr val="FFFFFF"/>
          </a:solidFill>
          <a:ln w="12700">
            <a:solidFill>
              <a:srgbClr val="B8424C"/>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B8424C"/>
                </a:solidFill>
                <a:latin typeface="Trebuchet MS"/>
              </a:rPr>
              <a:t>C</a:t>
            </a:r>
          </a:p>
        </p:txBody>
      </p:sp>
      <p:cxnSp>
        <p:nvCxnSpPr>
          <p:cNvPr id="33" name="Connector 32"/>
          <p:cNvCxnSpPr/>
          <p:nvPr/>
        </p:nvCxnSpPr>
        <p:spPr>
          <a:xfrm>
            <a:off x="438912" y="4306824"/>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38912" y="4599432"/>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38912" y="489204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4764024" y="4306824"/>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764024" y="4599432"/>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764024" y="489204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sp>
        <p:nvSpPr>
          <p:cNvPr id="39" name="Đáp án D"/>
          <p:cNvSpPr/>
          <p:nvPr/>
        </p:nvSpPr>
        <p:spPr>
          <a:xfrm>
            <a:off x="4937760" y="4105656"/>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8A979B"/>
                </a:solidFill>
                <a:latin typeface="Aptos"/>
              </a:rPr>
              <a:t>Nền tảng luôn trao toàn quyền cho người dùng; không cần quan tâm dữ liệu, thuật toán hay điều kiện lao động.</a:t>
            </a:r>
          </a:p>
        </p:txBody>
      </p:sp>
      <p:sp>
        <p:nvSpPr>
          <p:cNvPr id="40" name="Oval 39"/>
          <p:cNvSpPr/>
          <p:nvPr/>
        </p:nvSpPr>
        <p:spPr>
          <a:xfrm>
            <a:off x="5093208"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D</a:t>
            </a:r>
          </a:p>
        </p:txBody>
      </p:sp>
      <p:sp>
        <p:nvSpPr>
          <p:cNvPr id="41" name="Rounded Rectangle 40"/>
          <p:cNvSpPr/>
          <p:nvPr/>
        </p:nvSpPr>
        <p:spPr>
          <a:xfrm>
            <a:off x="530352" y="5431536"/>
            <a:ext cx="5989320" cy="868680"/>
          </a:xfrm>
          <a:prstGeom prst="roundRect">
            <a:avLst/>
          </a:prstGeom>
          <a:solidFill>
            <a:srgbClr val="FBE5E3"/>
          </a:solidFill>
          <a:ln w="12700">
            <a:solidFill>
              <a:srgbClr val="F0C7C4"/>
            </a:solid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l">
              <a:lnSpc>
                <a:spcPct val="100000"/>
              </a:lnSpc>
              <a:spcBef>
                <a:spcPts val="0"/>
              </a:spcBef>
              <a:spcAft>
                <a:spcPts val="0"/>
              </a:spcAft>
            </a:pPr>
            <a:r>
              <a:rPr sz="980" b="1" i="0">
                <a:solidFill>
                  <a:srgbClr val="18324A"/>
                </a:solidFill>
                <a:latin typeface="Aptos"/>
              </a:rPr>
              <a:t>BẠN CHỌN: C  ·  ĐÁP ÁN ĐÚNG: A
Dữ liệu, nội dung bị khai thác; gig/996 và thuật toán chi phối hoạt động; sáng tạo bị quy về chỉ số; quan hệ bị kéo vào so sánh. Hãy đặt ranh giới số, bảo vệ dữ liệu và chủ động chọn công cụ.
QUÀ ĐẠT ĐƯỢC LƯỢT NÀY: Quà vừa</a:t>
            </a:r>
          </a:p>
        </p:txBody>
      </p:sp>
      <p:sp>
        <p:nvSpPr>
          <p:cNvPr id="42" name="Nút: NGƯỜI CHƠI TIẾP THEO  →">
            <a:hlinkClick r:id="rId2" action="ppaction://hlinksldjump"/>
          </p:cNvPr>
          <p:cNvSpPr/>
          <p:nvPr/>
        </p:nvSpPr>
        <p:spPr>
          <a:xfrm>
            <a:off x="6711696" y="5431536"/>
            <a:ext cx="2505456" cy="86868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240" b="1" i="0">
                <a:solidFill>
                  <a:srgbClr val="FFFFFF"/>
                </a:solidFill>
                <a:latin typeface="Trebuchet MS"/>
              </a:rPr>
              <a:t>NGƯỜI CHƠI TIẾP THEO  →</a:t>
            </a:r>
          </a:p>
        </p:txBody>
      </p:sp>
    </p:spTree>
  </p:cSld>
  <p:clrMapOvr>
    <a:masterClrMapping/>
  </p:clrMapOvr>
  <p:transition spd="med" advClick="0">
    <p:fade/>
  </p:transition>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02 / 05</a:t>
            </a:r>
          </a:p>
        </p:txBody>
      </p:sp>
      <p:sp>
        <p:nvSpPr>
          <p:cNvPr id="5" name="Rounded Rectangle 4"/>
          <p:cNvSpPr/>
          <p:nvPr/>
        </p:nvSpPr>
        <p:spPr>
          <a:xfrm>
            <a:off x="2240280" y="749808"/>
            <a:ext cx="1389888" cy="292608"/>
          </a:xfrm>
          <a:prstGeom prst="roundRect">
            <a:avLst/>
          </a:prstGeom>
          <a:solidFill>
            <a:srgbClr val="F7E2DD"/>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B8424C"/>
                </a:solidFill>
                <a:latin typeface="Trebuchet MS"/>
              </a:rPr>
              <a:t>KHÓ</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03 / 03</a:t>
            </a:r>
          </a:p>
        </p:txBody>
      </p:sp>
      <p:sp>
        <p:nvSpPr>
          <p:cNvPr id="7" name="Rounded Rectangle 6"/>
          <p:cNvSpPr/>
          <p:nvPr/>
        </p:nvSpPr>
        <p:spPr>
          <a:xfrm>
            <a:off x="7562088" y="749808"/>
            <a:ext cx="1581912" cy="292608"/>
          </a:xfrm>
          <a:prstGeom prst="roundRect">
            <a:avLst/>
          </a:prstGeom>
          <a:solidFill>
            <a:srgbClr val="FBE3E3"/>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1000" b="1" i="0">
                <a:solidFill>
                  <a:srgbClr val="B8424C"/>
                </a:solidFill>
                <a:latin typeface="Trebuchet MS"/>
              </a:rPr>
              <a:t>RẤT TIẾC!</a:t>
            </a:r>
          </a:p>
        </p:txBody>
      </p:sp>
      <p:sp>
        <p:nvSpPr>
          <p:cNvPr id="8"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1" name="TextBox 10"/>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2100" b="1" i="0">
                <a:solidFill>
                  <a:srgbClr val="FFFFFF"/>
                </a:solidFill>
                <a:latin typeface="Aptos"/>
              </a:rPr>
              <a:t>Trong xã hội số, phương án nào gắn đúng bốn dạng tha hóa với cách cá nhân hạn chế việc công nghệ quay lại chi phối mình?</a:t>
            </a:r>
          </a:p>
        </p:txBody>
      </p:sp>
      <p:sp>
        <p:nvSpPr>
          <p:cNvPr id="12"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4" name="TextBox 13"/>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5" name="Rounded Rectangle 14"/>
          <p:cNvSpPr/>
          <p:nvPr/>
        </p:nvSpPr>
        <p:spPr>
          <a:xfrm>
            <a:off x="9646920" y="1371600"/>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01</a:t>
            </a:r>
          </a:p>
        </p:txBody>
      </p:sp>
      <p:sp>
        <p:nvSpPr>
          <p:cNvPr id="17" name="TextBox 16"/>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nhỏ</a:t>
            </a:r>
          </a:p>
        </p:txBody>
      </p:sp>
      <p:sp>
        <p:nvSpPr>
          <p:cNvPr id="18" name="Rounded Rectangle 17"/>
          <p:cNvSpPr/>
          <p:nvPr/>
        </p:nvSpPr>
        <p:spPr>
          <a:xfrm>
            <a:off x="9646920" y="2487168"/>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02</a:t>
            </a:r>
          </a:p>
        </p:txBody>
      </p:sp>
      <p:sp>
        <p:nvSpPr>
          <p:cNvPr id="20" name="TextBox 19"/>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vừa</a:t>
            </a:r>
          </a:p>
        </p:txBody>
      </p:sp>
      <p:sp>
        <p:nvSpPr>
          <p:cNvPr id="21" name="Rounded Rectangle 20"/>
          <p:cNvSpPr/>
          <p:nvPr/>
        </p:nvSpPr>
        <p:spPr>
          <a:xfrm>
            <a:off x="9646920" y="3602736"/>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03</a:t>
            </a:r>
          </a:p>
        </p:txBody>
      </p:sp>
      <p:sp>
        <p:nvSpPr>
          <p:cNvPr id="23" name="TextBox 22"/>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lớn</a:t>
            </a:r>
          </a:p>
        </p:txBody>
      </p:sp>
      <p:sp>
        <p:nvSpPr>
          <p:cNvPr id="24" name="TextBox 23"/>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QUÀ GIỮ LẠI</a:t>
            </a:r>
          </a:p>
        </p:txBody>
      </p:sp>
      <p:sp>
        <p:nvSpPr>
          <p:cNvPr id="25" name="TextBox 24"/>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Quà vừa</a:t>
            </a:r>
          </a:p>
        </p:txBody>
      </p:sp>
      <p:sp>
        <p:nvSpPr>
          <p:cNvPr id="26" name="TextBox 25"/>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7" name="Đáp án A"/>
          <p:cNvSpPr/>
          <p:nvPr/>
        </p:nvSpPr>
        <p:spPr>
          <a:xfrm>
            <a:off x="530352" y="2770632"/>
            <a:ext cx="4215384" cy="1170432"/>
          </a:xfrm>
          <a:prstGeom prst="roundRect">
            <a:avLst/>
          </a:prstGeom>
          <a:solidFill>
            <a:srgbClr val="2F9C72"/>
          </a:solidFill>
          <a:ln w="15875">
            <a:solidFill>
              <a:srgbClr val="2F9C72"/>
            </a:solidFill>
          </a:ln>
          <a:effectLst>
            <a:glow rad="190000">
              <a:srgbClr val="73D9A5">
                <a:alpha val="52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250" b="1" i="0">
                <a:solidFill>
                  <a:srgbClr val="FFFFFF"/>
                </a:solidFill>
                <a:latin typeface="Aptos"/>
              </a:rPr>
              <a:t>Dữ liệu, nội dung bị khai thác; gig/996 và thuật toán chi phối hoạt động; sáng tạo bị quy về chỉ số; quan hệ bị kéo vào so sánh. Hãy đặt ranh giới số, bảo vệ dữ liệu và chủ động chọn công cụ.</a:t>
            </a:r>
          </a:p>
        </p:txBody>
      </p:sp>
      <p:sp>
        <p:nvSpPr>
          <p:cNvPr id="28" name="Oval 27"/>
          <p:cNvSpPr/>
          <p:nvPr/>
        </p:nvSpPr>
        <p:spPr>
          <a:xfrm>
            <a:off x="685800" y="3154679"/>
            <a:ext cx="402336" cy="402336"/>
          </a:xfrm>
          <a:prstGeom prst="ellipse">
            <a:avLst/>
          </a:prstGeom>
          <a:solidFill>
            <a:srgbClr val="FFFFFF"/>
          </a:solidFill>
          <a:ln w="12700">
            <a:solidFill>
              <a:srgbClr val="2F9C72"/>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F9C72"/>
                </a:solidFill>
                <a:latin typeface="Trebuchet MS"/>
              </a:rPr>
              <a:t>A</a:t>
            </a:r>
          </a:p>
        </p:txBody>
      </p:sp>
      <p:sp>
        <p:nvSpPr>
          <p:cNvPr id="29" name="Đáp án B"/>
          <p:cNvSpPr/>
          <p:nvPr/>
        </p:nvSpPr>
        <p:spPr>
          <a:xfrm>
            <a:off x="4937760" y="2770632"/>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8A979B"/>
                </a:solidFill>
                <a:latin typeface="Aptos"/>
              </a:rPr>
              <a:t>Tha hóa chỉ có ở lao động tay chân; mạng xã hội không liên quan. Giải pháp duy nhất là làm việc nhiều giờ hơn.</a:t>
            </a:r>
          </a:p>
        </p:txBody>
      </p:sp>
      <p:sp>
        <p:nvSpPr>
          <p:cNvPr id="30" name="Oval 29"/>
          <p:cNvSpPr/>
          <p:nvPr/>
        </p:nvSpPr>
        <p:spPr>
          <a:xfrm>
            <a:off x="5093208" y="3154679"/>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B</a:t>
            </a:r>
          </a:p>
        </p:txBody>
      </p:sp>
      <p:sp>
        <p:nvSpPr>
          <p:cNvPr id="31" name="Đáp án C"/>
          <p:cNvSpPr/>
          <p:nvPr/>
        </p:nvSpPr>
        <p:spPr>
          <a:xfrm>
            <a:off x="530352" y="4105656"/>
            <a:ext cx="4215384"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380" b="0" i="0">
                <a:solidFill>
                  <a:srgbClr val="8A979B"/>
                </a:solidFill>
                <a:latin typeface="Aptos"/>
              </a:rPr>
              <a:t>Sản phẩm là điện thoại mới, hoạt động là lướt tin, bản chất là tiêu dùng, quan hệ là kết nối; vì vậy chỉ cần bỏ hẳn Internet.</a:t>
            </a:r>
          </a:p>
        </p:txBody>
      </p:sp>
      <p:sp>
        <p:nvSpPr>
          <p:cNvPr id="32" name="Oval 31"/>
          <p:cNvSpPr/>
          <p:nvPr/>
        </p:nvSpPr>
        <p:spPr>
          <a:xfrm>
            <a:off x="685800"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C</a:t>
            </a:r>
          </a:p>
        </p:txBody>
      </p:sp>
      <p:sp>
        <p:nvSpPr>
          <p:cNvPr id="33" name="Đáp án D"/>
          <p:cNvSpPr/>
          <p:nvPr/>
        </p:nvSpPr>
        <p:spPr>
          <a:xfrm>
            <a:off x="4937760" y="4105656"/>
            <a:ext cx="4279392" cy="1170432"/>
          </a:xfrm>
          <a:prstGeom prst="roundRect">
            <a:avLst/>
          </a:prstGeom>
          <a:solidFill>
            <a:srgbClr val="E45C64"/>
          </a:solidFill>
          <a:ln w="15875">
            <a:solidFill>
              <a:srgbClr val="B8424C"/>
            </a:solidFill>
          </a:ln>
          <a:effectLst>
            <a:glow rad="110000">
              <a:srgbClr val="E45C64">
                <a:alpha val="35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1" i="0">
                <a:solidFill>
                  <a:srgbClr val="FFFFFF"/>
                </a:solidFill>
                <a:latin typeface="Aptos"/>
              </a:rPr>
              <a:t>Nền tảng luôn trao toàn quyền cho người dùng; không cần quan tâm dữ liệu, thuật toán hay điều kiện lao động.</a:t>
            </a:r>
          </a:p>
        </p:txBody>
      </p:sp>
      <p:sp>
        <p:nvSpPr>
          <p:cNvPr id="34" name="Oval 33"/>
          <p:cNvSpPr/>
          <p:nvPr/>
        </p:nvSpPr>
        <p:spPr>
          <a:xfrm>
            <a:off x="5093208" y="4489704"/>
            <a:ext cx="402336" cy="402336"/>
          </a:xfrm>
          <a:prstGeom prst="ellipse">
            <a:avLst/>
          </a:prstGeom>
          <a:solidFill>
            <a:srgbClr val="FFFFFF"/>
          </a:solidFill>
          <a:ln w="12700">
            <a:solidFill>
              <a:srgbClr val="B8424C"/>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B8424C"/>
                </a:solidFill>
                <a:latin typeface="Trebuchet MS"/>
              </a:rPr>
              <a:t>D</a:t>
            </a:r>
          </a:p>
        </p:txBody>
      </p:sp>
      <p:cxnSp>
        <p:nvCxnSpPr>
          <p:cNvPr id="35" name="Connector 34"/>
          <p:cNvCxnSpPr/>
          <p:nvPr/>
        </p:nvCxnSpPr>
        <p:spPr>
          <a:xfrm>
            <a:off x="4846320" y="4306824"/>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4846320" y="4599432"/>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846320" y="489204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9235440" y="4306824"/>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9235440" y="4599432"/>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9235440" y="489204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530352" y="5431536"/>
            <a:ext cx="5989320" cy="868680"/>
          </a:xfrm>
          <a:prstGeom prst="roundRect">
            <a:avLst/>
          </a:prstGeom>
          <a:solidFill>
            <a:srgbClr val="FBE5E3"/>
          </a:solidFill>
          <a:ln w="12700">
            <a:solidFill>
              <a:srgbClr val="F0C7C4"/>
            </a:solid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l">
              <a:lnSpc>
                <a:spcPct val="100000"/>
              </a:lnSpc>
              <a:spcBef>
                <a:spcPts val="0"/>
              </a:spcBef>
              <a:spcAft>
                <a:spcPts val="0"/>
              </a:spcAft>
            </a:pPr>
            <a:r>
              <a:rPr sz="980" b="1" i="0">
                <a:solidFill>
                  <a:srgbClr val="18324A"/>
                </a:solidFill>
                <a:latin typeface="Aptos"/>
              </a:rPr>
              <a:t>BẠN CHỌN: D  ·  ĐÁP ÁN ĐÚNG: A
Dữ liệu, nội dung bị khai thác; gig/996 và thuật toán chi phối hoạt động; sáng tạo bị quy về chỉ số; quan hệ bị kéo vào so sánh. Hãy đặt ranh giới số, bảo vệ dữ liệu và chủ động chọn công cụ.
QUÀ ĐẠT ĐƯỢC LƯỢT NÀY: Quà vừa</a:t>
            </a:r>
          </a:p>
        </p:txBody>
      </p:sp>
      <p:sp>
        <p:nvSpPr>
          <p:cNvPr id="42" name="Nút: NGƯỜI CHƠI TIẾP THEO  →">
            <a:hlinkClick r:id="rId2" action="ppaction://hlinksldjump"/>
          </p:cNvPr>
          <p:cNvSpPr/>
          <p:nvPr/>
        </p:nvSpPr>
        <p:spPr>
          <a:xfrm>
            <a:off x="6711696" y="5431536"/>
            <a:ext cx="2505456" cy="86868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240" b="1" i="0">
                <a:solidFill>
                  <a:srgbClr val="FFFFFF"/>
                </a:solidFill>
                <a:latin typeface="Trebuchet MS"/>
              </a:rPr>
              <a:t>NGƯỜI CHƠI TIẾP THEO  →</a:t>
            </a:r>
          </a:p>
        </p:txBody>
      </p:sp>
    </p:spTree>
  </p:cSld>
  <p:clrMapOvr>
    <a:masterClrMapping/>
  </p:clrMapOvr>
  <p:transition spd="med" advClick="0">
    <p:fade/>
  </p:transition>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Oval 1"/>
          <p:cNvSpPr/>
          <p:nvPr/>
        </p:nvSpPr>
        <p:spPr>
          <a:xfrm>
            <a:off x="-685800" y="-548640"/>
            <a:ext cx="2240280" cy="2240280"/>
          </a:xfrm>
          <a:prstGeom prst="ellipse">
            <a:avLst/>
          </a:prstGeom>
          <a:solidFill>
            <a:srgbClr val="DDE9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881360" y="5468112"/>
            <a:ext cx="2103120" cy="2103120"/>
          </a:xfrm>
          <a:prstGeom prst="ellipse">
            <a:avLst/>
          </a:prstGeom>
          <a:solidFill>
            <a:srgbClr val="E9E3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900" b="1" i="0">
                <a:solidFill>
                  <a:srgbClr val="18324A"/>
                </a:solidFill>
                <a:latin typeface="Trebuchet MS"/>
              </a:rPr>
              <a:t>AI LÀ TRIỆU PHÚ</a:t>
            </a:r>
          </a:p>
        </p:txBody>
      </p:sp>
      <p:sp>
        <p:nvSpPr>
          <p:cNvPr id="5" name="Rounded Rectangle 4"/>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960120" y="1143000"/>
            <a:ext cx="10268712" cy="5120640"/>
          </a:xfrm>
          <a:prstGeom prst="roundRect">
            <a:avLst/>
          </a:prstGeom>
          <a:solidFill>
            <a:srgbClr val="FBFCF9"/>
          </a:solidFill>
          <a:ln w="13970">
            <a:solidFill>
              <a:srgbClr val="D8E0D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919472" y="1490472"/>
            <a:ext cx="2340864" cy="38404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1200" b="1" i="0">
                <a:solidFill>
                  <a:srgbClr val="2E8177"/>
                </a:solidFill>
                <a:latin typeface="Trebuchet MS"/>
              </a:rPr>
              <a:t>LƯỢT 03 / 05</a:t>
            </a:r>
          </a:p>
        </p:txBody>
      </p:sp>
      <p:sp>
        <p:nvSpPr>
          <p:cNvPr id="8" name="TextBox 7"/>
          <p:cNvSpPr txBox="1"/>
          <p:nvPr/>
        </p:nvSpPr>
        <p:spPr>
          <a:xfrm>
            <a:off x="1508760" y="2029968"/>
            <a:ext cx="9171432" cy="713232"/>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3500" b="1" i="0">
                <a:solidFill>
                  <a:srgbClr val="18324A"/>
                </a:solidFill>
                <a:latin typeface="Trebuchet MS"/>
              </a:rPr>
              <a:t>NGƯỜI CHƠI 03</a:t>
            </a:r>
          </a:p>
        </p:txBody>
      </p:sp>
      <p:sp>
        <p:nvSpPr>
          <p:cNvPr id="9" name="TextBox 8"/>
          <p:cNvSpPr txBox="1"/>
          <p:nvPr/>
        </p:nvSpPr>
        <p:spPr>
          <a:xfrm>
            <a:off x="1600200" y="2798064"/>
            <a:ext cx="8988552" cy="347472"/>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20" b="1" i="0">
                <a:solidFill>
                  <a:srgbClr val="2E8177"/>
                </a:solidFill>
                <a:latin typeface="Aptos"/>
              </a:rPr>
              <a:t>Chủ đề: Con người trong triết học Mác – Lênin</a:t>
            </a:r>
          </a:p>
        </p:txBody>
      </p:sp>
      <p:sp>
        <p:nvSpPr>
          <p:cNvPr id="10" name="TextBox 9"/>
          <p:cNvSpPr txBox="1"/>
          <p:nvPr/>
        </p:nvSpPr>
        <p:spPr>
          <a:xfrm>
            <a:off x="1600200" y="3337521"/>
            <a:ext cx="8988552" cy="22867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420" b="0" i="0" dirty="0" err="1">
                <a:solidFill>
                  <a:srgbClr val="18324A"/>
                </a:solidFill>
                <a:latin typeface="Aptos"/>
              </a:rPr>
              <a:t>Lượt</a:t>
            </a:r>
            <a:r>
              <a:rPr sz="1420" b="0" i="0" dirty="0">
                <a:solidFill>
                  <a:srgbClr val="18324A"/>
                </a:solidFill>
                <a:latin typeface="Aptos"/>
              </a:rPr>
              <a:t> </a:t>
            </a:r>
            <a:r>
              <a:rPr sz="1420" b="0" i="0" dirty="0" err="1">
                <a:solidFill>
                  <a:srgbClr val="18324A"/>
                </a:solidFill>
                <a:latin typeface="Aptos"/>
              </a:rPr>
              <a:t>này</a:t>
            </a:r>
            <a:r>
              <a:rPr sz="1420" b="0" i="0" dirty="0">
                <a:solidFill>
                  <a:srgbClr val="18324A"/>
                </a:solidFill>
                <a:latin typeface="Aptos"/>
              </a:rPr>
              <a:t> </a:t>
            </a:r>
            <a:r>
              <a:rPr sz="1420" b="0" i="0" dirty="0" err="1">
                <a:solidFill>
                  <a:srgbClr val="18324A"/>
                </a:solidFill>
                <a:latin typeface="Aptos"/>
              </a:rPr>
              <a:t>có</a:t>
            </a:r>
            <a:r>
              <a:rPr sz="1420" b="0" i="0" dirty="0">
                <a:solidFill>
                  <a:srgbClr val="18324A"/>
                </a:solidFill>
                <a:latin typeface="Aptos"/>
              </a:rPr>
              <a:t> </a:t>
            </a:r>
            <a:r>
              <a:rPr sz="1420" b="0" i="0" dirty="0" err="1">
                <a:solidFill>
                  <a:srgbClr val="18324A"/>
                </a:solidFill>
                <a:latin typeface="Aptos"/>
              </a:rPr>
              <a:t>đúng</a:t>
            </a:r>
            <a:r>
              <a:rPr sz="1420" b="0" i="0" dirty="0">
                <a:solidFill>
                  <a:srgbClr val="18324A"/>
                </a:solidFill>
                <a:latin typeface="Aptos"/>
              </a:rPr>
              <a:t> 3 </a:t>
            </a:r>
            <a:r>
              <a:rPr sz="1420" b="0" i="0" dirty="0" err="1">
                <a:solidFill>
                  <a:srgbClr val="18324A"/>
                </a:solidFill>
                <a:latin typeface="Aptos"/>
              </a:rPr>
              <a:t>câu</a:t>
            </a:r>
            <a:r>
              <a:rPr sz="1420" b="0" i="0" dirty="0">
                <a:solidFill>
                  <a:srgbClr val="18324A"/>
                </a:solidFill>
                <a:latin typeface="Aptos"/>
              </a:rPr>
              <a:t>: 1 </a:t>
            </a:r>
            <a:r>
              <a:rPr sz="1420" b="0" i="0" dirty="0" err="1">
                <a:solidFill>
                  <a:srgbClr val="18324A"/>
                </a:solidFill>
                <a:latin typeface="Aptos"/>
              </a:rPr>
              <a:t>Dễ</a:t>
            </a:r>
            <a:r>
              <a:rPr sz="1420" b="0" i="0" dirty="0">
                <a:solidFill>
                  <a:srgbClr val="18324A"/>
                </a:solidFill>
                <a:latin typeface="Aptos"/>
              </a:rPr>
              <a:t>, 1 Trung </a:t>
            </a:r>
            <a:r>
              <a:rPr sz="1420" b="0" i="0" dirty="0" err="1">
                <a:solidFill>
                  <a:srgbClr val="18324A"/>
                </a:solidFill>
                <a:latin typeface="Aptos"/>
              </a:rPr>
              <a:t>bình</a:t>
            </a:r>
            <a:r>
              <a:rPr sz="1420" b="0" i="0" dirty="0">
                <a:solidFill>
                  <a:srgbClr val="18324A"/>
                </a:solidFill>
                <a:latin typeface="Aptos"/>
              </a:rPr>
              <a:t> </a:t>
            </a:r>
            <a:r>
              <a:rPr sz="1420" b="0" i="0" dirty="0" err="1">
                <a:solidFill>
                  <a:srgbClr val="18324A"/>
                </a:solidFill>
                <a:latin typeface="Aptos"/>
              </a:rPr>
              <a:t>và</a:t>
            </a:r>
            <a:r>
              <a:rPr sz="1420" b="0" i="0" dirty="0">
                <a:solidFill>
                  <a:srgbClr val="18324A"/>
                </a:solidFill>
                <a:latin typeface="Aptos"/>
              </a:rPr>
              <a:t> 1 </a:t>
            </a:r>
            <a:r>
              <a:rPr sz="1420" b="0" i="0" dirty="0" err="1">
                <a:solidFill>
                  <a:srgbClr val="18324A"/>
                </a:solidFill>
                <a:latin typeface="Aptos"/>
              </a:rPr>
              <a:t>Khó</a:t>
            </a:r>
            <a:endParaRPr sz="1420" b="0" i="0" dirty="0">
              <a:solidFill>
                <a:srgbClr val="18324A"/>
              </a:solidFill>
              <a:latin typeface="Aptos"/>
            </a:endParaRPr>
          </a:p>
        </p:txBody>
      </p:sp>
      <p:sp>
        <p:nvSpPr>
          <p:cNvPr id="11" name="TextBox 10"/>
          <p:cNvSpPr txBox="1"/>
          <p:nvPr/>
        </p:nvSpPr>
        <p:spPr>
          <a:xfrm>
            <a:off x="1600200" y="3648456"/>
            <a:ext cx="8988552" cy="42062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350" b="0" i="0">
                <a:solidFill>
                  <a:srgbClr val="657883"/>
                </a:solidFill>
                <a:latin typeface="Aptos"/>
              </a:rPr>
              <a:t>Trả lời đúng để nhận quà của câu và đi tiếp; trả lời sai thì kết thúc lượt, giữ quà đã đạt.</a:t>
            </a:r>
          </a:p>
        </p:txBody>
      </p:sp>
      <p:sp>
        <p:nvSpPr>
          <p:cNvPr id="14" name="TextBox 13"/>
          <p:cNvSpPr txBox="1"/>
          <p:nvPr/>
        </p:nvSpPr>
        <p:spPr>
          <a:xfrm>
            <a:off x="1600200" y="4818888"/>
            <a:ext cx="8988552" cy="31089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330" b="1" i="0">
                <a:solidFill>
                  <a:srgbClr val="18324A"/>
                </a:solidFill>
                <a:latin typeface="Trebuchet MS"/>
              </a:rPr>
              <a:t>CÂU 01  ·  Quà nhỏ     /     CÂU 02  ·  Quà vừa     /     CÂU 03  ·  Quà lớn</a:t>
            </a:r>
          </a:p>
        </p:txBody>
      </p:sp>
      <p:sp>
        <p:nvSpPr>
          <p:cNvPr id="15" name="Nút: VÀO CÂU 01  →">
            <a:hlinkClick r:id="rId2" action="ppaction://hlinksldjump"/>
          </p:cNvPr>
          <p:cNvSpPr/>
          <p:nvPr/>
        </p:nvSpPr>
        <p:spPr>
          <a:xfrm>
            <a:off x="3913632" y="5404104"/>
            <a:ext cx="4370832" cy="6217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720" b="1" i="0">
                <a:solidFill>
                  <a:srgbClr val="18324A"/>
                </a:solidFill>
                <a:latin typeface="Trebuchet MS"/>
              </a:rPr>
              <a:t>VÀO CÂU 01  →</a:t>
            </a:r>
          </a:p>
        </p:txBody>
      </p:sp>
    </p:spTree>
  </p:cSld>
  <p:clrMapOvr>
    <a:masterClrMapping/>
  </p:clrMapOvr>
  <p:transition spd="med" advClick="0">
    <p:fade/>
  </p:transition>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03 / 05</a:t>
            </a:r>
          </a:p>
        </p:txBody>
      </p:sp>
      <p:sp>
        <p:nvSpPr>
          <p:cNvPr id="5" name="Rounded Rectangle 4"/>
          <p:cNvSpPr/>
          <p:nvPr/>
        </p:nvSpPr>
        <p:spPr>
          <a:xfrm>
            <a:off x="2240280" y="749808"/>
            <a:ext cx="138988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DỄ</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01 / 03</a:t>
            </a:r>
          </a:p>
        </p:txBody>
      </p:sp>
      <p:sp>
        <p:nvSpPr>
          <p:cNvPr id="7"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0" name="TextBox 9"/>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2100" b="1" i="0">
                <a:solidFill>
                  <a:srgbClr val="FFFFFF"/>
                </a:solidFill>
                <a:latin typeface="Aptos"/>
              </a:rPr>
              <a:t>Hiện tượng tha hóa con người trong xã hội có giai cấp thường được phân tích qua bốn phương diện nào?</a:t>
            </a:r>
          </a:p>
        </p:txBody>
      </p:sp>
      <p:sp>
        <p:nvSpPr>
          <p:cNvPr id="11"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3" name="TextBox 12"/>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4" name="Rounded Rectangle 13"/>
          <p:cNvSpPr/>
          <p:nvPr/>
        </p:nvSpPr>
        <p:spPr>
          <a:xfrm>
            <a:off x="9646920" y="1371600"/>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01</a:t>
            </a:r>
          </a:p>
        </p:txBody>
      </p:sp>
      <p:sp>
        <p:nvSpPr>
          <p:cNvPr id="16" name="TextBox 15"/>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nhỏ</a:t>
            </a:r>
          </a:p>
        </p:txBody>
      </p:sp>
      <p:sp>
        <p:nvSpPr>
          <p:cNvPr id="17" name="Rounded Rectangle 16"/>
          <p:cNvSpPr/>
          <p:nvPr/>
        </p:nvSpPr>
        <p:spPr>
          <a:xfrm>
            <a:off x="9646920" y="2487168"/>
            <a:ext cx="1956816" cy="877824"/>
          </a:xfrm>
          <a:prstGeom prst="roundRect">
            <a:avLst/>
          </a:prstGeom>
          <a:solidFill>
            <a:srgbClr val="263F53"/>
          </a:solidFill>
          <a:ln w="12700">
            <a:solidFill>
              <a:srgbClr val="4059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B9C7CC"/>
                </a:solidFill>
                <a:latin typeface="Trebuchet MS"/>
              </a:rPr>
              <a:t>CHƯA MỞ  ·  CÂU 02</a:t>
            </a:r>
          </a:p>
        </p:txBody>
      </p:sp>
      <p:sp>
        <p:nvSpPr>
          <p:cNvPr id="19" name="TextBox 18"/>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B9C7CC"/>
                </a:solidFill>
                <a:latin typeface="Trebuchet MS"/>
              </a:rPr>
              <a:t>Quà vừa</a:t>
            </a:r>
          </a:p>
        </p:txBody>
      </p:sp>
      <p:sp>
        <p:nvSpPr>
          <p:cNvPr id="20" name="Rounded Rectangle 19"/>
          <p:cNvSpPr/>
          <p:nvPr/>
        </p:nvSpPr>
        <p:spPr>
          <a:xfrm>
            <a:off x="9646920" y="3602736"/>
            <a:ext cx="1956816" cy="877824"/>
          </a:xfrm>
          <a:prstGeom prst="roundRect">
            <a:avLst/>
          </a:prstGeom>
          <a:solidFill>
            <a:srgbClr val="263F53"/>
          </a:solidFill>
          <a:ln w="12700">
            <a:solidFill>
              <a:srgbClr val="4059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B9C7CC"/>
                </a:solidFill>
                <a:latin typeface="Trebuchet MS"/>
              </a:rPr>
              <a:t>CHƯA MỞ  ·  CÂU 03</a:t>
            </a:r>
          </a:p>
        </p:txBody>
      </p:sp>
      <p:sp>
        <p:nvSpPr>
          <p:cNvPr id="22" name="TextBox 21"/>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B9C7CC"/>
                </a:solidFill>
                <a:latin typeface="Trebuchet MS"/>
              </a:rPr>
              <a:t>Quà lớn</a:t>
            </a:r>
          </a:p>
        </p:txBody>
      </p:sp>
      <p:sp>
        <p:nvSpPr>
          <p:cNvPr id="23" name="TextBox 22"/>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MỐC AN TOÀN</a:t>
            </a:r>
          </a:p>
        </p:txBody>
      </p:sp>
      <p:sp>
        <p:nvSpPr>
          <p:cNvPr id="24" name="TextBox 23"/>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Chưa có quà</a:t>
            </a:r>
          </a:p>
        </p:txBody>
      </p:sp>
      <p:sp>
        <p:nvSpPr>
          <p:cNvPr id="25" name="TextBox 24"/>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6" name="Đáp án A">
            <a:hlinkClick r:id="rId2" action="ppaction://hlinksldjump"/>
          </p:cNvPr>
          <p:cNvSpPr/>
          <p:nvPr/>
        </p:nvSpPr>
        <p:spPr>
          <a:xfrm>
            <a:off x="530352" y="2770632"/>
            <a:ext cx="4215384" cy="1170432"/>
          </a:xfrm>
          <a:prstGeom prst="roundRect">
            <a:avLst/>
          </a:prstGeom>
          <a:solidFill>
            <a:srgbClr val="FBFCF9"/>
          </a:solidFill>
          <a:ln w="15875">
            <a:solidFill>
              <a:srgbClr val="D7DED8"/>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18324A"/>
                </a:solidFill>
                <a:latin typeface="Aptos"/>
              </a:rPr>
              <a:t>Sản phẩm lao động; hoạt động lao động; bản chất con người; quan hệ giữa người với người.</a:t>
            </a:r>
          </a:p>
        </p:txBody>
      </p:sp>
      <p:sp>
        <p:nvSpPr>
          <p:cNvPr id="27" name="Oval 26">
            <a:hlinkClick r:id="rId2" action="ppaction://hlinksldjump"/>
          </p:cNvPr>
          <p:cNvSpPr/>
          <p:nvPr/>
        </p:nvSpPr>
        <p:spPr>
          <a:xfrm>
            <a:off x="685800" y="3154679"/>
            <a:ext cx="402336" cy="402336"/>
          </a:xfrm>
          <a:prstGeom prst="ellipse">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E8177"/>
                </a:solidFill>
                <a:latin typeface="Trebuchet MS"/>
              </a:rPr>
              <a:t>A</a:t>
            </a:r>
          </a:p>
        </p:txBody>
      </p:sp>
      <p:sp>
        <p:nvSpPr>
          <p:cNvPr id="28" name="Đáp án B">
            <a:hlinkClick r:id="rId3" action="ppaction://hlinksldjump"/>
          </p:cNvPr>
          <p:cNvSpPr/>
          <p:nvPr/>
        </p:nvSpPr>
        <p:spPr>
          <a:xfrm>
            <a:off x="4937760" y="2770632"/>
            <a:ext cx="4279392" cy="1170432"/>
          </a:xfrm>
          <a:prstGeom prst="roundRect">
            <a:avLst/>
          </a:prstGeom>
          <a:solidFill>
            <a:srgbClr val="FBFCF9"/>
          </a:solidFill>
          <a:ln w="15875">
            <a:solidFill>
              <a:srgbClr val="D7DED8"/>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18324A"/>
                </a:solidFill>
                <a:latin typeface="Aptos"/>
              </a:rPr>
              <a:t>Tự nhiên; kinh tế; pháp luật; chính trị.</a:t>
            </a:r>
          </a:p>
        </p:txBody>
      </p:sp>
      <p:sp>
        <p:nvSpPr>
          <p:cNvPr id="29" name="Oval 28">
            <a:hlinkClick r:id="rId3" action="ppaction://hlinksldjump"/>
          </p:cNvPr>
          <p:cNvSpPr/>
          <p:nvPr/>
        </p:nvSpPr>
        <p:spPr>
          <a:xfrm>
            <a:off x="5093208" y="3154679"/>
            <a:ext cx="402336" cy="402336"/>
          </a:xfrm>
          <a:prstGeom prst="ellipse">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E8177"/>
                </a:solidFill>
                <a:latin typeface="Trebuchet MS"/>
              </a:rPr>
              <a:t>B</a:t>
            </a:r>
          </a:p>
        </p:txBody>
      </p:sp>
      <p:sp>
        <p:nvSpPr>
          <p:cNvPr id="30" name="Đáp án C">
            <a:hlinkClick r:id="rId4" action="ppaction://hlinksldjump"/>
          </p:cNvPr>
          <p:cNvSpPr/>
          <p:nvPr/>
        </p:nvSpPr>
        <p:spPr>
          <a:xfrm>
            <a:off x="530352" y="4105656"/>
            <a:ext cx="4215384" cy="1170432"/>
          </a:xfrm>
          <a:prstGeom prst="roundRect">
            <a:avLst/>
          </a:prstGeom>
          <a:solidFill>
            <a:srgbClr val="FBFCF9"/>
          </a:solidFill>
          <a:ln w="15875">
            <a:solidFill>
              <a:srgbClr val="D7DED8"/>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18324A"/>
                </a:solidFill>
                <a:latin typeface="Aptos"/>
              </a:rPr>
              <a:t>Gia đình; nhà trường; xã hội; truyền thông.</a:t>
            </a:r>
          </a:p>
        </p:txBody>
      </p:sp>
      <p:sp>
        <p:nvSpPr>
          <p:cNvPr id="31" name="Oval 30">
            <a:hlinkClick r:id="rId4" action="ppaction://hlinksldjump"/>
          </p:cNvPr>
          <p:cNvSpPr/>
          <p:nvPr/>
        </p:nvSpPr>
        <p:spPr>
          <a:xfrm>
            <a:off x="685800" y="4489704"/>
            <a:ext cx="402336" cy="402336"/>
          </a:xfrm>
          <a:prstGeom prst="ellipse">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E8177"/>
                </a:solidFill>
                <a:latin typeface="Trebuchet MS"/>
              </a:rPr>
              <a:t>C</a:t>
            </a:r>
          </a:p>
        </p:txBody>
      </p:sp>
      <p:sp>
        <p:nvSpPr>
          <p:cNvPr id="32" name="Đáp án D">
            <a:hlinkClick r:id="rId5" action="ppaction://hlinksldjump"/>
          </p:cNvPr>
          <p:cNvSpPr/>
          <p:nvPr/>
        </p:nvSpPr>
        <p:spPr>
          <a:xfrm>
            <a:off x="4937760" y="4105656"/>
            <a:ext cx="4279392" cy="1170432"/>
          </a:xfrm>
          <a:prstGeom prst="roundRect">
            <a:avLst/>
          </a:prstGeom>
          <a:solidFill>
            <a:srgbClr val="FBFCF9"/>
          </a:solidFill>
          <a:ln w="15875">
            <a:solidFill>
              <a:srgbClr val="D7DED8"/>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18324A"/>
                </a:solidFill>
                <a:latin typeface="Aptos"/>
              </a:rPr>
              <a:t>Tư liệu sản xuất; giai cấp; nhà nước; ý thức.</a:t>
            </a:r>
          </a:p>
        </p:txBody>
      </p:sp>
      <p:sp>
        <p:nvSpPr>
          <p:cNvPr id="33" name="Oval 32">
            <a:hlinkClick r:id="rId5" action="ppaction://hlinksldjump"/>
          </p:cNvPr>
          <p:cNvSpPr/>
          <p:nvPr/>
        </p:nvSpPr>
        <p:spPr>
          <a:xfrm>
            <a:off x="5093208" y="4489704"/>
            <a:ext cx="402336" cy="402336"/>
          </a:xfrm>
          <a:prstGeom prst="ellipse">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E8177"/>
                </a:solidFill>
                <a:latin typeface="Trebuchet MS"/>
              </a:rPr>
              <a:t>D</a:t>
            </a:r>
          </a:p>
        </p:txBody>
      </p:sp>
      <p:sp>
        <p:nvSpPr>
          <p:cNvPr id="34" name="TextBox 33"/>
          <p:cNvSpPr txBox="1"/>
          <p:nvPr/>
        </p:nvSpPr>
        <p:spPr>
          <a:xfrm>
            <a:off x="621792" y="5431536"/>
            <a:ext cx="8485632" cy="36576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080" b="1" i="0">
                <a:solidFill>
                  <a:srgbClr val="657883"/>
                </a:solidFill>
                <a:latin typeface="Trebuchet MS"/>
              </a:rPr>
              <a:t>CHỌN MỘT ĐÁP ÁN  ·  BẤM TRỰC TIẾP VÀO THẺ A / B / C / D</a:t>
            </a:r>
          </a:p>
        </p:txBody>
      </p:sp>
    </p:spTree>
  </p:cSld>
  <p:clrMapOvr>
    <a:masterClrMapping/>
  </p:clrMapOvr>
  <p:transition spd="med" advClick="0">
    <p:fade/>
  </p:transition>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03 / 05</a:t>
            </a:r>
          </a:p>
        </p:txBody>
      </p:sp>
      <p:sp>
        <p:nvSpPr>
          <p:cNvPr id="5" name="Rounded Rectangle 4"/>
          <p:cNvSpPr/>
          <p:nvPr/>
        </p:nvSpPr>
        <p:spPr>
          <a:xfrm>
            <a:off x="2240280" y="749808"/>
            <a:ext cx="138988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DỄ</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01 / 03</a:t>
            </a:r>
          </a:p>
        </p:txBody>
      </p:sp>
      <p:sp>
        <p:nvSpPr>
          <p:cNvPr id="7" name="Rounded Rectangle 6"/>
          <p:cNvSpPr/>
          <p:nvPr/>
        </p:nvSpPr>
        <p:spPr>
          <a:xfrm>
            <a:off x="7562088" y="749808"/>
            <a:ext cx="1581912" cy="292608"/>
          </a:xfrm>
          <a:prstGeom prst="roundRect">
            <a:avLst/>
          </a:prstGeom>
          <a:solidFill>
            <a:srgbClr val="D9F0E3"/>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1000" b="1" i="0">
                <a:solidFill>
                  <a:srgbClr val="2F9C72"/>
                </a:solidFill>
                <a:latin typeface="Trebuchet MS"/>
              </a:rPr>
              <a:t>CHÍNH XÁC!</a:t>
            </a:r>
          </a:p>
        </p:txBody>
      </p:sp>
      <p:sp>
        <p:nvSpPr>
          <p:cNvPr id="8"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1" name="TextBox 10"/>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2100" b="1" i="0">
                <a:solidFill>
                  <a:srgbClr val="FFFFFF"/>
                </a:solidFill>
                <a:latin typeface="Aptos"/>
              </a:rPr>
              <a:t>Hiện tượng tha hóa con người trong xã hội có giai cấp thường được phân tích qua bốn phương diện nào?</a:t>
            </a:r>
          </a:p>
        </p:txBody>
      </p:sp>
      <p:sp>
        <p:nvSpPr>
          <p:cNvPr id="12"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4" name="TextBox 13"/>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5" name="Rounded Rectangle 14"/>
          <p:cNvSpPr/>
          <p:nvPr/>
        </p:nvSpPr>
        <p:spPr>
          <a:xfrm>
            <a:off x="9646920" y="1371600"/>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01</a:t>
            </a:r>
          </a:p>
        </p:txBody>
      </p:sp>
      <p:sp>
        <p:nvSpPr>
          <p:cNvPr id="17" name="TextBox 16"/>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nhỏ</a:t>
            </a:r>
          </a:p>
        </p:txBody>
      </p:sp>
      <p:sp>
        <p:nvSpPr>
          <p:cNvPr id="18" name="Rounded Rectangle 17"/>
          <p:cNvSpPr/>
          <p:nvPr/>
        </p:nvSpPr>
        <p:spPr>
          <a:xfrm>
            <a:off x="9646920" y="2487168"/>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02</a:t>
            </a:r>
          </a:p>
        </p:txBody>
      </p:sp>
      <p:sp>
        <p:nvSpPr>
          <p:cNvPr id="20" name="TextBox 19"/>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vừa</a:t>
            </a:r>
          </a:p>
        </p:txBody>
      </p:sp>
      <p:sp>
        <p:nvSpPr>
          <p:cNvPr id="21" name="Rounded Rectangle 20"/>
          <p:cNvSpPr/>
          <p:nvPr/>
        </p:nvSpPr>
        <p:spPr>
          <a:xfrm>
            <a:off x="9646920" y="3602736"/>
            <a:ext cx="1956816" cy="877824"/>
          </a:xfrm>
          <a:prstGeom prst="roundRect">
            <a:avLst/>
          </a:prstGeom>
          <a:solidFill>
            <a:srgbClr val="263F53"/>
          </a:solidFill>
          <a:ln w="12700">
            <a:solidFill>
              <a:srgbClr val="4059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B9C7CC"/>
                </a:solidFill>
                <a:latin typeface="Trebuchet MS"/>
              </a:rPr>
              <a:t>CHƯA MỞ  ·  CÂU 03</a:t>
            </a:r>
          </a:p>
        </p:txBody>
      </p:sp>
      <p:sp>
        <p:nvSpPr>
          <p:cNvPr id="23" name="TextBox 22"/>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B9C7CC"/>
                </a:solidFill>
                <a:latin typeface="Trebuchet MS"/>
              </a:rPr>
              <a:t>Quà lớn</a:t>
            </a:r>
          </a:p>
        </p:txBody>
      </p:sp>
      <p:sp>
        <p:nvSpPr>
          <p:cNvPr id="24" name="TextBox 23"/>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MỐC VỪA CHẠM</a:t>
            </a:r>
          </a:p>
        </p:txBody>
      </p:sp>
      <p:sp>
        <p:nvSpPr>
          <p:cNvPr id="25" name="TextBox 24"/>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Quà nhỏ</a:t>
            </a:r>
          </a:p>
        </p:txBody>
      </p:sp>
      <p:sp>
        <p:nvSpPr>
          <p:cNvPr id="26" name="TextBox 25"/>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7" name="Đáp án A"/>
          <p:cNvSpPr/>
          <p:nvPr/>
        </p:nvSpPr>
        <p:spPr>
          <a:xfrm>
            <a:off x="530352" y="2770632"/>
            <a:ext cx="4215384" cy="1170432"/>
          </a:xfrm>
          <a:prstGeom prst="roundRect">
            <a:avLst/>
          </a:prstGeom>
          <a:solidFill>
            <a:srgbClr val="FFD05A"/>
          </a:solidFill>
          <a:ln w="15875">
            <a:solidFill>
              <a:srgbClr val="D9A92E"/>
            </a:solidFill>
          </a:ln>
          <a:effectLst>
            <a:glow rad="190000">
              <a:srgbClr val="FFD05A">
                <a:alpha val="52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1" i="0">
                <a:solidFill>
                  <a:srgbClr val="18324A"/>
                </a:solidFill>
                <a:latin typeface="Aptos"/>
              </a:rPr>
              <a:t>Sản phẩm lao động; hoạt động lao động; bản chất con người; quan hệ giữa người với người.</a:t>
            </a:r>
          </a:p>
        </p:txBody>
      </p:sp>
      <p:sp>
        <p:nvSpPr>
          <p:cNvPr id="28" name="Oval 27"/>
          <p:cNvSpPr/>
          <p:nvPr/>
        </p:nvSpPr>
        <p:spPr>
          <a:xfrm>
            <a:off x="685800" y="3154679"/>
            <a:ext cx="402336" cy="402336"/>
          </a:xfrm>
          <a:prstGeom prst="ellipse">
            <a:avLst/>
          </a:prstGeom>
          <a:solidFill>
            <a:srgbClr val="18324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FFD05A"/>
                </a:solidFill>
                <a:latin typeface="Trebuchet MS"/>
              </a:rPr>
              <a:t>A</a:t>
            </a:r>
          </a:p>
        </p:txBody>
      </p:sp>
      <p:sp>
        <p:nvSpPr>
          <p:cNvPr id="29" name="Đáp án B"/>
          <p:cNvSpPr/>
          <p:nvPr/>
        </p:nvSpPr>
        <p:spPr>
          <a:xfrm>
            <a:off x="4937760" y="2770632"/>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Tự nhiên; kinh tế; pháp luật; chính trị.</a:t>
            </a:r>
          </a:p>
        </p:txBody>
      </p:sp>
      <p:sp>
        <p:nvSpPr>
          <p:cNvPr id="30" name="Oval 29"/>
          <p:cNvSpPr/>
          <p:nvPr/>
        </p:nvSpPr>
        <p:spPr>
          <a:xfrm>
            <a:off x="5093208" y="3154679"/>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B</a:t>
            </a:r>
          </a:p>
        </p:txBody>
      </p:sp>
      <p:sp>
        <p:nvSpPr>
          <p:cNvPr id="31" name="Đáp án C"/>
          <p:cNvSpPr/>
          <p:nvPr/>
        </p:nvSpPr>
        <p:spPr>
          <a:xfrm>
            <a:off x="530352" y="4105656"/>
            <a:ext cx="4215384"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Gia đình; nhà trường; xã hội; truyền thông.</a:t>
            </a:r>
          </a:p>
        </p:txBody>
      </p:sp>
      <p:sp>
        <p:nvSpPr>
          <p:cNvPr id="32" name="Oval 31"/>
          <p:cNvSpPr/>
          <p:nvPr/>
        </p:nvSpPr>
        <p:spPr>
          <a:xfrm>
            <a:off x="685800"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C</a:t>
            </a:r>
          </a:p>
        </p:txBody>
      </p:sp>
      <p:sp>
        <p:nvSpPr>
          <p:cNvPr id="33" name="Đáp án D"/>
          <p:cNvSpPr/>
          <p:nvPr/>
        </p:nvSpPr>
        <p:spPr>
          <a:xfrm>
            <a:off x="4937760" y="4105656"/>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Tư liệu sản xuất; giai cấp; nhà nước; ý thức.</a:t>
            </a:r>
          </a:p>
        </p:txBody>
      </p:sp>
      <p:sp>
        <p:nvSpPr>
          <p:cNvPr id="34" name="Oval 33"/>
          <p:cNvSpPr/>
          <p:nvPr/>
        </p:nvSpPr>
        <p:spPr>
          <a:xfrm>
            <a:off x="5093208"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D</a:t>
            </a:r>
          </a:p>
        </p:txBody>
      </p:sp>
      <p:sp>
        <p:nvSpPr>
          <p:cNvPr id="35" name="Rounded Rectangle 34"/>
          <p:cNvSpPr/>
          <p:nvPr/>
        </p:nvSpPr>
        <p:spPr>
          <a:xfrm>
            <a:off x="530352" y="5431536"/>
            <a:ext cx="5989320" cy="868680"/>
          </a:xfrm>
          <a:prstGeom prst="roundRect">
            <a:avLst/>
          </a:prstGeom>
          <a:solidFill>
            <a:srgbClr val="D9F0E3"/>
          </a:solidFill>
          <a:ln w="12700">
            <a:solidFill>
              <a:srgbClr val="D7E6DC"/>
            </a:solidFill>
          </a:ln>
        </p:spPr>
        <p:style>
          <a:lnRef idx="1">
            <a:schemeClr val="accent1"/>
          </a:lnRef>
          <a:fillRef idx="3">
            <a:schemeClr val="accent1"/>
          </a:fillRef>
          <a:effectRef idx="2">
            <a:schemeClr val="accent1"/>
          </a:effectRef>
          <a:fontRef idx="minor">
            <a:schemeClr val="lt1"/>
          </a:fontRef>
        </p:style>
        <p:txBody>
          <a:bodyPr wrap="square" lIns="109728" tIns="60350" rIns="109728" bIns="60350" rtlCol="0" anchor="ctr"/>
          <a:lstStyle/>
          <a:p>
            <a:pPr algn="l">
              <a:lnSpc>
                <a:spcPct val="100000"/>
              </a:lnSpc>
              <a:spcBef>
                <a:spcPts val="0"/>
              </a:spcBef>
              <a:spcAft>
                <a:spcPts val="0"/>
              </a:spcAft>
            </a:pPr>
            <a:r>
              <a:rPr sz="1130" b="0" i="0">
                <a:solidFill>
                  <a:srgbClr val="18324A"/>
                </a:solidFill>
                <a:latin typeface="Aptos"/>
              </a:rPr>
              <a:t>MỐC 1 ĐÃ CHINH PHỤC  ·  Quà nhỏ
Bốn phương diện gắn với sản phẩm, hoạt động lao động, bản chất loài người và quan hệ giữa người với người.</a:t>
            </a:r>
          </a:p>
        </p:txBody>
      </p:sp>
      <p:sp>
        <p:nvSpPr>
          <p:cNvPr id="36" name="Nút: CÂU TIẾP THEO  →">
            <a:hlinkClick r:id="rId3" action="ppaction://hlinksldjump"/>
          </p:cNvPr>
          <p:cNvSpPr/>
          <p:nvPr/>
        </p:nvSpPr>
        <p:spPr>
          <a:xfrm>
            <a:off x="6711696" y="5431536"/>
            <a:ext cx="2505456" cy="868680"/>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240" b="1" i="0">
                <a:solidFill>
                  <a:srgbClr val="18324A"/>
                </a:solidFill>
                <a:latin typeface="Trebuchet MS"/>
              </a:rPr>
              <a:t>CÂU TIẾP THEO  →</a:t>
            </a:r>
          </a:p>
        </p:txBody>
      </p:sp>
    </p:spTree>
  </p:cSld>
  <p:clrMapOvr>
    <a:masterClrMapping/>
  </p:clrMapOvr>
  <p:transition spd="med" advClick="0">
    <p:sndAc>
      <p:stSnd>
        <p:snd r:embed="rId2" name="Correct answer chime"/>
      </p:stSnd>
    </p:sndAc>
  </p:transition>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03 / 05</a:t>
            </a:r>
          </a:p>
        </p:txBody>
      </p:sp>
      <p:sp>
        <p:nvSpPr>
          <p:cNvPr id="5" name="Rounded Rectangle 4"/>
          <p:cNvSpPr/>
          <p:nvPr/>
        </p:nvSpPr>
        <p:spPr>
          <a:xfrm>
            <a:off x="2240280" y="749808"/>
            <a:ext cx="138988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DỄ</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01 / 03</a:t>
            </a:r>
          </a:p>
        </p:txBody>
      </p:sp>
      <p:sp>
        <p:nvSpPr>
          <p:cNvPr id="7" name="Rounded Rectangle 6"/>
          <p:cNvSpPr/>
          <p:nvPr/>
        </p:nvSpPr>
        <p:spPr>
          <a:xfrm>
            <a:off x="7562088" y="749808"/>
            <a:ext cx="1581912" cy="292608"/>
          </a:xfrm>
          <a:prstGeom prst="roundRect">
            <a:avLst/>
          </a:prstGeom>
          <a:solidFill>
            <a:srgbClr val="FBE3E3"/>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1000" b="1" i="0">
                <a:solidFill>
                  <a:srgbClr val="B8424C"/>
                </a:solidFill>
                <a:latin typeface="Trebuchet MS"/>
              </a:rPr>
              <a:t>RẤT TIẾC!</a:t>
            </a:r>
          </a:p>
        </p:txBody>
      </p:sp>
      <p:sp>
        <p:nvSpPr>
          <p:cNvPr id="8"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1" name="TextBox 10"/>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2100" b="1" i="0">
                <a:solidFill>
                  <a:srgbClr val="FFFFFF"/>
                </a:solidFill>
                <a:latin typeface="Aptos"/>
              </a:rPr>
              <a:t>Hiện tượng tha hóa con người trong xã hội có giai cấp thường được phân tích qua bốn phương diện nào?</a:t>
            </a:r>
          </a:p>
        </p:txBody>
      </p:sp>
      <p:sp>
        <p:nvSpPr>
          <p:cNvPr id="12"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4" name="TextBox 13"/>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5" name="Rounded Rectangle 14"/>
          <p:cNvSpPr/>
          <p:nvPr/>
        </p:nvSpPr>
        <p:spPr>
          <a:xfrm>
            <a:off x="9646920" y="1371600"/>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01</a:t>
            </a:r>
          </a:p>
        </p:txBody>
      </p:sp>
      <p:sp>
        <p:nvSpPr>
          <p:cNvPr id="17" name="TextBox 16"/>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nhỏ</a:t>
            </a:r>
          </a:p>
        </p:txBody>
      </p:sp>
      <p:sp>
        <p:nvSpPr>
          <p:cNvPr id="18" name="Rounded Rectangle 17"/>
          <p:cNvSpPr/>
          <p:nvPr/>
        </p:nvSpPr>
        <p:spPr>
          <a:xfrm>
            <a:off x="9646920" y="2487168"/>
            <a:ext cx="1956816" cy="877824"/>
          </a:xfrm>
          <a:prstGeom prst="roundRect">
            <a:avLst/>
          </a:prstGeom>
          <a:solidFill>
            <a:srgbClr val="263F53"/>
          </a:solidFill>
          <a:ln w="12700">
            <a:solidFill>
              <a:srgbClr val="4059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B9C7CC"/>
                </a:solidFill>
                <a:latin typeface="Trebuchet MS"/>
              </a:rPr>
              <a:t>CHƯA MỞ  ·  CÂU 02</a:t>
            </a:r>
          </a:p>
        </p:txBody>
      </p:sp>
      <p:sp>
        <p:nvSpPr>
          <p:cNvPr id="20" name="TextBox 19"/>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B9C7CC"/>
                </a:solidFill>
                <a:latin typeface="Trebuchet MS"/>
              </a:rPr>
              <a:t>Quà vừa</a:t>
            </a:r>
          </a:p>
        </p:txBody>
      </p:sp>
      <p:sp>
        <p:nvSpPr>
          <p:cNvPr id="21" name="Rounded Rectangle 20"/>
          <p:cNvSpPr/>
          <p:nvPr/>
        </p:nvSpPr>
        <p:spPr>
          <a:xfrm>
            <a:off x="9646920" y="3602736"/>
            <a:ext cx="1956816" cy="877824"/>
          </a:xfrm>
          <a:prstGeom prst="roundRect">
            <a:avLst/>
          </a:prstGeom>
          <a:solidFill>
            <a:srgbClr val="263F53"/>
          </a:solidFill>
          <a:ln w="12700">
            <a:solidFill>
              <a:srgbClr val="4059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B9C7CC"/>
                </a:solidFill>
                <a:latin typeface="Trebuchet MS"/>
              </a:rPr>
              <a:t>CHƯA MỞ  ·  CÂU 03</a:t>
            </a:r>
          </a:p>
        </p:txBody>
      </p:sp>
      <p:sp>
        <p:nvSpPr>
          <p:cNvPr id="23" name="TextBox 22"/>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B9C7CC"/>
                </a:solidFill>
                <a:latin typeface="Trebuchet MS"/>
              </a:rPr>
              <a:t>Quà lớn</a:t>
            </a:r>
          </a:p>
        </p:txBody>
      </p:sp>
      <p:sp>
        <p:nvSpPr>
          <p:cNvPr id="24" name="TextBox 23"/>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QUÀ GIỮ LẠI</a:t>
            </a:r>
          </a:p>
        </p:txBody>
      </p:sp>
      <p:sp>
        <p:nvSpPr>
          <p:cNvPr id="25" name="TextBox 24"/>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Chưa có quà</a:t>
            </a:r>
          </a:p>
        </p:txBody>
      </p:sp>
      <p:sp>
        <p:nvSpPr>
          <p:cNvPr id="26" name="TextBox 25"/>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7" name="Đáp án A"/>
          <p:cNvSpPr/>
          <p:nvPr/>
        </p:nvSpPr>
        <p:spPr>
          <a:xfrm>
            <a:off x="530352" y="2770632"/>
            <a:ext cx="4215384" cy="1170432"/>
          </a:xfrm>
          <a:prstGeom prst="roundRect">
            <a:avLst/>
          </a:prstGeom>
          <a:solidFill>
            <a:srgbClr val="2F9C72"/>
          </a:solidFill>
          <a:ln w="15875">
            <a:solidFill>
              <a:srgbClr val="2F9C72"/>
            </a:solidFill>
          </a:ln>
          <a:effectLst>
            <a:glow rad="190000">
              <a:srgbClr val="73D9A5">
                <a:alpha val="52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1" i="0">
                <a:solidFill>
                  <a:srgbClr val="FFFFFF"/>
                </a:solidFill>
                <a:latin typeface="Aptos"/>
              </a:rPr>
              <a:t>Sản phẩm lao động; hoạt động lao động; bản chất con người; quan hệ giữa người với người.</a:t>
            </a:r>
          </a:p>
        </p:txBody>
      </p:sp>
      <p:sp>
        <p:nvSpPr>
          <p:cNvPr id="28" name="Oval 27"/>
          <p:cNvSpPr/>
          <p:nvPr/>
        </p:nvSpPr>
        <p:spPr>
          <a:xfrm>
            <a:off x="685800" y="3154679"/>
            <a:ext cx="402336" cy="402336"/>
          </a:xfrm>
          <a:prstGeom prst="ellipse">
            <a:avLst/>
          </a:prstGeom>
          <a:solidFill>
            <a:srgbClr val="FFFFFF"/>
          </a:solidFill>
          <a:ln w="12700">
            <a:solidFill>
              <a:srgbClr val="2F9C72"/>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F9C72"/>
                </a:solidFill>
                <a:latin typeface="Trebuchet MS"/>
              </a:rPr>
              <a:t>A</a:t>
            </a:r>
          </a:p>
        </p:txBody>
      </p:sp>
      <p:sp>
        <p:nvSpPr>
          <p:cNvPr id="29" name="Đáp án B"/>
          <p:cNvSpPr/>
          <p:nvPr/>
        </p:nvSpPr>
        <p:spPr>
          <a:xfrm>
            <a:off x="4937760" y="2770632"/>
            <a:ext cx="4279392" cy="1170432"/>
          </a:xfrm>
          <a:prstGeom prst="roundRect">
            <a:avLst/>
          </a:prstGeom>
          <a:solidFill>
            <a:srgbClr val="E45C64"/>
          </a:solidFill>
          <a:ln w="15875">
            <a:solidFill>
              <a:srgbClr val="B8424C"/>
            </a:solidFill>
          </a:ln>
          <a:effectLst>
            <a:glow rad="110000">
              <a:srgbClr val="E45C64">
                <a:alpha val="35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1" i="0">
                <a:solidFill>
                  <a:srgbClr val="FFFFFF"/>
                </a:solidFill>
                <a:latin typeface="Aptos"/>
              </a:rPr>
              <a:t>Tự nhiên; kinh tế; pháp luật; chính trị.</a:t>
            </a:r>
          </a:p>
        </p:txBody>
      </p:sp>
      <p:sp>
        <p:nvSpPr>
          <p:cNvPr id="30" name="Oval 29"/>
          <p:cNvSpPr/>
          <p:nvPr/>
        </p:nvSpPr>
        <p:spPr>
          <a:xfrm>
            <a:off x="5093208" y="3154679"/>
            <a:ext cx="402336" cy="402336"/>
          </a:xfrm>
          <a:prstGeom prst="ellipse">
            <a:avLst/>
          </a:prstGeom>
          <a:solidFill>
            <a:srgbClr val="FFFFFF"/>
          </a:solidFill>
          <a:ln w="12700">
            <a:solidFill>
              <a:srgbClr val="B8424C"/>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B8424C"/>
                </a:solidFill>
                <a:latin typeface="Trebuchet MS"/>
              </a:rPr>
              <a:t>B</a:t>
            </a:r>
          </a:p>
        </p:txBody>
      </p:sp>
      <p:cxnSp>
        <p:nvCxnSpPr>
          <p:cNvPr id="31" name="Connector 30"/>
          <p:cNvCxnSpPr/>
          <p:nvPr/>
        </p:nvCxnSpPr>
        <p:spPr>
          <a:xfrm>
            <a:off x="4846320" y="297180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4846320" y="3264408"/>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846320" y="3557016"/>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9235440" y="297180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235440" y="3264408"/>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9235440" y="3557016"/>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sp>
        <p:nvSpPr>
          <p:cNvPr id="37" name="Đáp án C"/>
          <p:cNvSpPr/>
          <p:nvPr/>
        </p:nvSpPr>
        <p:spPr>
          <a:xfrm>
            <a:off x="530352" y="4105656"/>
            <a:ext cx="4215384"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Gia đình; nhà trường; xã hội; truyền thông.</a:t>
            </a:r>
          </a:p>
        </p:txBody>
      </p:sp>
      <p:sp>
        <p:nvSpPr>
          <p:cNvPr id="38" name="Oval 37"/>
          <p:cNvSpPr/>
          <p:nvPr/>
        </p:nvSpPr>
        <p:spPr>
          <a:xfrm>
            <a:off x="685800"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C</a:t>
            </a:r>
          </a:p>
        </p:txBody>
      </p:sp>
      <p:sp>
        <p:nvSpPr>
          <p:cNvPr id="39" name="Đáp án D"/>
          <p:cNvSpPr/>
          <p:nvPr/>
        </p:nvSpPr>
        <p:spPr>
          <a:xfrm>
            <a:off x="4937760" y="4105656"/>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Tư liệu sản xuất; giai cấp; nhà nước; ý thức.</a:t>
            </a:r>
          </a:p>
        </p:txBody>
      </p:sp>
      <p:sp>
        <p:nvSpPr>
          <p:cNvPr id="40" name="Oval 39"/>
          <p:cNvSpPr/>
          <p:nvPr/>
        </p:nvSpPr>
        <p:spPr>
          <a:xfrm>
            <a:off x="5093208"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D</a:t>
            </a:r>
          </a:p>
        </p:txBody>
      </p:sp>
      <p:sp>
        <p:nvSpPr>
          <p:cNvPr id="41" name="Rounded Rectangle 40"/>
          <p:cNvSpPr/>
          <p:nvPr/>
        </p:nvSpPr>
        <p:spPr>
          <a:xfrm>
            <a:off x="530352" y="5431536"/>
            <a:ext cx="5989320" cy="868680"/>
          </a:xfrm>
          <a:prstGeom prst="roundRect">
            <a:avLst/>
          </a:prstGeom>
          <a:solidFill>
            <a:srgbClr val="FBE5E3"/>
          </a:solidFill>
          <a:ln w="12700">
            <a:solidFill>
              <a:srgbClr val="F0C7C4"/>
            </a:solid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l">
              <a:lnSpc>
                <a:spcPct val="100000"/>
              </a:lnSpc>
              <a:spcBef>
                <a:spcPts val="0"/>
              </a:spcBef>
              <a:spcAft>
                <a:spcPts val="0"/>
              </a:spcAft>
            </a:pPr>
            <a:r>
              <a:rPr sz="980" b="1" i="0">
                <a:solidFill>
                  <a:srgbClr val="18324A"/>
                </a:solidFill>
                <a:latin typeface="Aptos"/>
              </a:rPr>
              <a:t>BẠN CHỌN: B  ·  ĐÁP ÁN ĐÚNG: A
Sản phẩm lao động; hoạt động lao động; bản chất con người; quan hệ giữa người với người.
QUÀ ĐẠT ĐƯỢC LƯỢT NÀY: Chưa có quà</a:t>
            </a:r>
          </a:p>
        </p:txBody>
      </p:sp>
      <p:sp>
        <p:nvSpPr>
          <p:cNvPr id="42" name="Nút: NGƯỜI CHƠI TIẾP THEO  →">
            <a:hlinkClick r:id="rId2" action="ppaction://hlinksldjump"/>
          </p:cNvPr>
          <p:cNvSpPr/>
          <p:nvPr/>
        </p:nvSpPr>
        <p:spPr>
          <a:xfrm>
            <a:off x="6711696" y="5431536"/>
            <a:ext cx="2505456" cy="86868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240" b="1" i="0">
                <a:solidFill>
                  <a:srgbClr val="FFFFFF"/>
                </a:solidFill>
                <a:latin typeface="Trebuchet MS"/>
              </a:rPr>
              <a:t>NGƯỜI CHƠI TIẾP THEO  →</a:t>
            </a:r>
          </a:p>
        </p:txBody>
      </p:sp>
    </p:spTree>
  </p:cSld>
  <p:clrMapOvr>
    <a:masterClrMapping/>
  </p:clrMapOvr>
  <p:transition spd="med" advClick="0">
    <p:fade/>
  </p:transition>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03 / 05</a:t>
            </a:r>
          </a:p>
        </p:txBody>
      </p:sp>
      <p:sp>
        <p:nvSpPr>
          <p:cNvPr id="5" name="Rounded Rectangle 4"/>
          <p:cNvSpPr/>
          <p:nvPr/>
        </p:nvSpPr>
        <p:spPr>
          <a:xfrm>
            <a:off x="2240280" y="749808"/>
            <a:ext cx="138988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DỄ</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01 / 03</a:t>
            </a:r>
          </a:p>
        </p:txBody>
      </p:sp>
      <p:sp>
        <p:nvSpPr>
          <p:cNvPr id="7" name="Rounded Rectangle 6"/>
          <p:cNvSpPr/>
          <p:nvPr/>
        </p:nvSpPr>
        <p:spPr>
          <a:xfrm>
            <a:off x="7562088" y="749808"/>
            <a:ext cx="1581912" cy="292608"/>
          </a:xfrm>
          <a:prstGeom prst="roundRect">
            <a:avLst/>
          </a:prstGeom>
          <a:solidFill>
            <a:srgbClr val="FBE3E3"/>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1000" b="1" i="0">
                <a:solidFill>
                  <a:srgbClr val="B8424C"/>
                </a:solidFill>
                <a:latin typeface="Trebuchet MS"/>
              </a:rPr>
              <a:t>RẤT TIẾC!</a:t>
            </a:r>
          </a:p>
        </p:txBody>
      </p:sp>
      <p:sp>
        <p:nvSpPr>
          <p:cNvPr id="8"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1" name="TextBox 10"/>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2100" b="1" i="0">
                <a:solidFill>
                  <a:srgbClr val="FFFFFF"/>
                </a:solidFill>
                <a:latin typeface="Aptos"/>
              </a:rPr>
              <a:t>Hiện tượng tha hóa con người trong xã hội có giai cấp thường được phân tích qua bốn phương diện nào?</a:t>
            </a:r>
          </a:p>
        </p:txBody>
      </p:sp>
      <p:sp>
        <p:nvSpPr>
          <p:cNvPr id="12"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4" name="TextBox 13"/>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5" name="Rounded Rectangle 14"/>
          <p:cNvSpPr/>
          <p:nvPr/>
        </p:nvSpPr>
        <p:spPr>
          <a:xfrm>
            <a:off x="9646920" y="1371600"/>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01</a:t>
            </a:r>
          </a:p>
        </p:txBody>
      </p:sp>
      <p:sp>
        <p:nvSpPr>
          <p:cNvPr id="17" name="TextBox 16"/>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nhỏ</a:t>
            </a:r>
          </a:p>
        </p:txBody>
      </p:sp>
      <p:sp>
        <p:nvSpPr>
          <p:cNvPr id="18" name="Rounded Rectangle 17"/>
          <p:cNvSpPr/>
          <p:nvPr/>
        </p:nvSpPr>
        <p:spPr>
          <a:xfrm>
            <a:off x="9646920" y="2487168"/>
            <a:ext cx="1956816" cy="877824"/>
          </a:xfrm>
          <a:prstGeom prst="roundRect">
            <a:avLst/>
          </a:prstGeom>
          <a:solidFill>
            <a:srgbClr val="263F53"/>
          </a:solidFill>
          <a:ln w="12700">
            <a:solidFill>
              <a:srgbClr val="4059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B9C7CC"/>
                </a:solidFill>
                <a:latin typeface="Trebuchet MS"/>
              </a:rPr>
              <a:t>CHƯA MỞ  ·  CÂU 02</a:t>
            </a:r>
          </a:p>
        </p:txBody>
      </p:sp>
      <p:sp>
        <p:nvSpPr>
          <p:cNvPr id="20" name="TextBox 19"/>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B9C7CC"/>
                </a:solidFill>
                <a:latin typeface="Trebuchet MS"/>
              </a:rPr>
              <a:t>Quà vừa</a:t>
            </a:r>
          </a:p>
        </p:txBody>
      </p:sp>
      <p:sp>
        <p:nvSpPr>
          <p:cNvPr id="21" name="Rounded Rectangle 20"/>
          <p:cNvSpPr/>
          <p:nvPr/>
        </p:nvSpPr>
        <p:spPr>
          <a:xfrm>
            <a:off x="9646920" y="3602736"/>
            <a:ext cx="1956816" cy="877824"/>
          </a:xfrm>
          <a:prstGeom prst="roundRect">
            <a:avLst/>
          </a:prstGeom>
          <a:solidFill>
            <a:srgbClr val="263F53"/>
          </a:solidFill>
          <a:ln w="12700">
            <a:solidFill>
              <a:srgbClr val="4059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B9C7CC"/>
                </a:solidFill>
                <a:latin typeface="Trebuchet MS"/>
              </a:rPr>
              <a:t>CHƯA MỞ  ·  CÂU 03</a:t>
            </a:r>
          </a:p>
        </p:txBody>
      </p:sp>
      <p:sp>
        <p:nvSpPr>
          <p:cNvPr id="23" name="TextBox 22"/>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B9C7CC"/>
                </a:solidFill>
                <a:latin typeface="Trebuchet MS"/>
              </a:rPr>
              <a:t>Quà lớn</a:t>
            </a:r>
          </a:p>
        </p:txBody>
      </p:sp>
      <p:sp>
        <p:nvSpPr>
          <p:cNvPr id="24" name="TextBox 23"/>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QUÀ GIỮ LẠI</a:t>
            </a:r>
          </a:p>
        </p:txBody>
      </p:sp>
      <p:sp>
        <p:nvSpPr>
          <p:cNvPr id="25" name="TextBox 24"/>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Chưa có quà</a:t>
            </a:r>
          </a:p>
        </p:txBody>
      </p:sp>
      <p:sp>
        <p:nvSpPr>
          <p:cNvPr id="26" name="TextBox 25"/>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7" name="Đáp án A"/>
          <p:cNvSpPr/>
          <p:nvPr/>
        </p:nvSpPr>
        <p:spPr>
          <a:xfrm>
            <a:off x="530352" y="2770632"/>
            <a:ext cx="4215384" cy="1170432"/>
          </a:xfrm>
          <a:prstGeom prst="roundRect">
            <a:avLst/>
          </a:prstGeom>
          <a:solidFill>
            <a:srgbClr val="2F9C72"/>
          </a:solidFill>
          <a:ln w="15875">
            <a:solidFill>
              <a:srgbClr val="2F9C72"/>
            </a:solidFill>
          </a:ln>
          <a:effectLst>
            <a:glow rad="190000">
              <a:srgbClr val="73D9A5">
                <a:alpha val="52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1" i="0">
                <a:solidFill>
                  <a:srgbClr val="FFFFFF"/>
                </a:solidFill>
                <a:latin typeface="Aptos"/>
              </a:rPr>
              <a:t>Sản phẩm lao động; hoạt động lao động; bản chất con người; quan hệ giữa người với người.</a:t>
            </a:r>
          </a:p>
        </p:txBody>
      </p:sp>
      <p:sp>
        <p:nvSpPr>
          <p:cNvPr id="28" name="Oval 27"/>
          <p:cNvSpPr/>
          <p:nvPr/>
        </p:nvSpPr>
        <p:spPr>
          <a:xfrm>
            <a:off x="685800" y="3154679"/>
            <a:ext cx="402336" cy="402336"/>
          </a:xfrm>
          <a:prstGeom prst="ellipse">
            <a:avLst/>
          </a:prstGeom>
          <a:solidFill>
            <a:srgbClr val="FFFFFF"/>
          </a:solidFill>
          <a:ln w="12700">
            <a:solidFill>
              <a:srgbClr val="2F9C72"/>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F9C72"/>
                </a:solidFill>
                <a:latin typeface="Trebuchet MS"/>
              </a:rPr>
              <a:t>A</a:t>
            </a:r>
          </a:p>
        </p:txBody>
      </p:sp>
      <p:sp>
        <p:nvSpPr>
          <p:cNvPr id="29" name="Đáp án B"/>
          <p:cNvSpPr/>
          <p:nvPr/>
        </p:nvSpPr>
        <p:spPr>
          <a:xfrm>
            <a:off x="4937760" y="2770632"/>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Tự nhiên; kinh tế; pháp luật; chính trị.</a:t>
            </a:r>
          </a:p>
        </p:txBody>
      </p:sp>
      <p:sp>
        <p:nvSpPr>
          <p:cNvPr id="30" name="Oval 29"/>
          <p:cNvSpPr/>
          <p:nvPr/>
        </p:nvSpPr>
        <p:spPr>
          <a:xfrm>
            <a:off x="5093208" y="3154679"/>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B</a:t>
            </a:r>
          </a:p>
        </p:txBody>
      </p:sp>
      <p:sp>
        <p:nvSpPr>
          <p:cNvPr id="31" name="Đáp án C"/>
          <p:cNvSpPr/>
          <p:nvPr/>
        </p:nvSpPr>
        <p:spPr>
          <a:xfrm>
            <a:off x="530352" y="4105656"/>
            <a:ext cx="4215384" cy="1170432"/>
          </a:xfrm>
          <a:prstGeom prst="roundRect">
            <a:avLst/>
          </a:prstGeom>
          <a:solidFill>
            <a:srgbClr val="E45C64"/>
          </a:solidFill>
          <a:ln w="15875">
            <a:solidFill>
              <a:srgbClr val="B8424C"/>
            </a:solidFill>
          </a:ln>
          <a:effectLst>
            <a:glow rad="110000">
              <a:srgbClr val="E45C64">
                <a:alpha val="35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1" i="0">
                <a:solidFill>
                  <a:srgbClr val="FFFFFF"/>
                </a:solidFill>
                <a:latin typeface="Aptos"/>
              </a:rPr>
              <a:t>Gia đình; nhà trường; xã hội; truyền thông.</a:t>
            </a:r>
          </a:p>
        </p:txBody>
      </p:sp>
      <p:sp>
        <p:nvSpPr>
          <p:cNvPr id="32" name="Oval 31"/>
          <p:cNvSpPr/>
          <p:nvPr/>
        </p:nvSpPr>
        <p:spPr>
          <a:xfrm>
            <a:off x="685800" y="4489704"/>
            <a:ext cx="402336" cy="402336"/>
          </a:xfrm>
          <a:prstGeom prst="ellipse">
            <a:avLst/>
          </a:prstGeom>
          <a:solidFill>
            <a:srgbClr val="FFFFFF"/>
          </a:solidFill>
          <a:ln w="12700">
            <a:solidFill>
              <a:srgbClr val="B8424C"/>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B8424C"/>
                </a:solidFill>
                <a:latin typeface="Trebuchet MS"/>
              </a:rPr>
              <a:t>C</a:t>
            </a:r>
          </a:p>
        </p:txBody>
      </p:sp>
      <p:cxnSp>
        <p:nvCxnSpPr>
          <p:cNvPr id="33" name="Connector 32"/>
          <p:cNvCxnSpPr/>
          <p:nvPr/>
        </p:nvCxnSpPr>
        <p:spPr>
          <a:xfrm>
            <a:off x="438912" y="4306824"/>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38912" y="4599432"/>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38912" y="489204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4764024" y="4306824"/>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764024" y="4599432"/>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764024" y="489204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sp>
        <p:nvSpPr>
          <p:cNvPr id="39" name="Đáp án D"/>
          <p:cNvSpPr/>
          <p:nvPr/>
        </p:nvSpPr>
        <p:spPr>
          <a:xfrm>
            <a:off x="4937760" y="4105656"/>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Tư liệu sản xuất; giai cấp; nhà nước; ý thức.</a:t>
            </a:r>
          </a:p>
        </p:txBody>
      </p:sp>
      <p:sp>
        <p:nvSpPr>
          <p:cNvPr id="40" name="Oval 39"/>
          <p:cNvSpPr/>
          <p:nvPr/>
        </p:nvSpPr>
        <p:spPr>
          <a:xfrm>
            <a:off x="5093208"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D</a:t>
            </a:r>
          </a:p>
        </p:txBody>
      </p:sp>
      <p:sp>
        <p:nvSpPr>
          <p:cNvPr id="41" name="Rounded Rectangle 40"/>
          <p:cNvSpPr/>
          <p:nvPr/>
        </p:nvSpPr>
        <p:spPr>
          <a:xfrm>
            <a:off x="530352" y="5431536"/>
            <a:ext cx="5989320" cy="868680"/>
          </a:xfrm>
          <a:prstGeom prst="roundRect">
            <a:avLst/>
          </a:prstGeom>
          <a:solidFill>
            <a:srgbClr val="FBE5E3"/>
          </a:solidFill>
          <a:ln w="12700">
            <a:solidFill>
              <a:srgbClr val="F0C7C4"/>
            </a:solid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l">
              <a:lnSpc>
                <a:spcPct val="100000"/>
              </a:lnSpc>
              <a:spcBef>
                <a:spcPts val="0"/>
              </a:spcBef>
              <a:spcAft>
                <a:spcPts val="0"/>
              </a:spcAft>
            </a:pPr>
            <a:r>
              <a:rPr sz="980" b="1" i="0">
                <a:solidFill>
                  <a:srgbClr val="18324A"/>
                </a:solidFill>
                <a:latin typeface="Aptos"/>
              </a:rPr>
              <a:t>BẠN CHỌN: C  ·  ĐÁP ÁN ĐÚNG: A
Sản phẩm lao động; hoạt động lao động; bản chất con người; quan hệ giữa người với người.
QUÀ ĐẠT ĐƯỢC LƯỢT NÀY: Chưa có quà</a:t>
            </a:r>
          </a:p>
        </p:txBody>
      </p:sp>
      <p:sp>
        <p:nvSpPr>
          <p:cNvPr id="42" name="Nút: NGƯỜI CHƠI TIẾP THEO  →">
            <a:hlinkClick r:id="rId2" action="ppaction://hlinksldjump"/>
          </p:cNvPr>
          <p:cNvSpPr/>
          <p:nvPr/>
        </p:nvSpPr>
        <p:spPr>
          <a:xfrm>
            <a:off x="6711696" y="5431536"/>
            <a:ext cx="2505456" cy="86868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240" b="1" i="0">
                <a:solidFill>
                  <a:srgbClr val="FFFFFF"/>
                </a:solidFill>
                <a:latin typeface="Trebuchet MS"/>
              </a:rPr>
              <a:t>NGƯỜI CHƠI TIẾP THEO  →</a:t>
            </a:r>
          </a:p>
        </p:txBody>
      </p:sp>
    </p:spTree>
  </p:cSld>
  <p:clrMapOvr>
    <a:masterClrMapping/>
  </p:clrMapOvr>
  <p:transition spd="med" advClick="0">
    <p:fade/>
  </p:transition>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03 / 05</a:t>
            </a:r>
          </a:p>
        </p:txBody>
      </p:sp>
      <p:sp>
        <p:nvSpPr>
          <p:cNvPr id="5" name="Rounded Rectangle 4"/>
          <p:cNvSpPr/>
          <p:nvPr/>
        </p:nvSpPr>
        <p:spPr>
          <a:xfrm>
            <a:off x="2240280" y="749808"/>
            <a:ext cx="138988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DỄ</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01 / 03</a:t>
            </a:r>
          </a:p>
        </p:txBody>
      </p:sp>
      <p:sp>
        <p:nvSpPr>
          <p:cNvPr id="7" name="Rounded Rectangle 6"/>
          <p:cNvSpPr/>
          <p:nvPr/>
        </p:nvSpPr>
        <p:spPr>
          <a:xfrm>
            <a:off x="7562088" y="749808"/>
            <a:ext cx="1581912" cy="292608"/>
          </a:xfrm>
          <a:prstGeom prst="roundRect">
            <a:avLst/>
          </a:prstGeom>
          <a:solidFill>
            <a:srgbClr val="FBE3E3"/>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1000" b="1" i="0">
                <a:solidFill>
                  <a:srgbClr val="B8424C"/>
                </a:solidFill>
                <a:latin typeface="Trebuchet MS"/>
              </a:rPr>
              <a:t>RẤT TIẾC!</a:t>
            </a:r>
          </a:p>
        </p:txBody>
      </p:sp>
      <p:sp>
        <p:nvSpPr>
          <p:cNvPr id="8"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1" name="TextBox 10"/>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2100" b="1" i="0">
                <a:solidFill>
                  <a:srgbClr val="FFFFFF"/>
                </a:solidFill>
                <a:latin typeface="Aptos"/>
              </a:rPr>
              <a:t>Hiện tượng tha hóa con người trong xã hội có giai cấp thường được phân tích qua bốn phương diện nào?</a:t>
            </a:r>
          </a:p>
        </p:txBody>
      </p:sp>
      <p:sp>
        <p:nvSpPr>
          <p:cNvPr id="12"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4" name="TextBox 13"/>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5" name="Rounded Rectangle 14"/>
          <p:cNvSpPr/>
          <p:nvPr/>
        </p:nvSpPr>
        <p:spPr>
          <a:xfrm>
            <a:off x="9646920" y="1371600"/>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01</a:t>
            </a:r>
          </a:p>
        </p:txBody>
      </p:sp>
      <p:sp>
        <p:nvSpPr>
          <p:cNvPr id="17" name="TextBox 16"/>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nhỏ</a:t>
            </a:r>
          </a:p>
        </p:txBody>
      </p:sp>
      <p:sp>
        <p:nvSpPr>
          <p:cNvPr id="18" name="Rounded Rectangle 17"/>
          <p:cNvSpPr/>
          <p:nvPr/>
        </p:nvSpPr>
        <p:spPr>
          <a:xfrm>
            <a:off x="9646920" y="2487168"/>
            <a:ext cx="1956816" cy="877824"/>
          </a:xfrm>
          <a:prstGeom prst="roundRect">
            <a:avLst/>
          </a:prstGeom>
          <a:solidFill>
            <a:srgbClr val="263F53"/>
          </a:solidFill>
          <a:ln w="12700">
            <a:solidFill>
              <a:srgbClr val="4059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B9C7CC"/>
                </a:solidFill>
                <a:latin typeface="Trebuchet MS"/>
              </a:rPr>
              <a:t>CHƯA MỞ  ·  CÂU 02</a:t>
            </a:r>
          </a:p>
        </p:txBody>
      </p:sp>
      <p:sp>
        <p:nvSpPr>
          <p:cNvPr id="20" name="TextBox 19"/>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B9C7CC"/>
                </a:solidFill>
                <a:latin typeface="Trebuchet MS"/>
              </a:rPr>
              <a:t>Quà vừa</a:t>
            </a:r>
          </a:p>
        </p:txBody>
      </p:sp>
      <p:sp>
        <p:nvSpPr>
          <p:cNvPr id="21" name="Rounded Rectangle 20"/>
          <p:cNvSpPr/>
          <p:nvPr/>
        </p:nvSpPr>
        <p:spPr>
          <a:xfrm>
            <a:off x="9646920" y="3602736"/>
            <a:ext cx="1956816" cy="877824"/>
          </a:xfrm>
          <a:prstGeom prst="roundRect">
            <a:avLst/>
          </a:prstGeom>
          <a:solidFill>
            <a:srgbClr val="263F53"/>
          </a:solidFill>
          <a:ln w="12700">
            <a:solidFill>
              <a:srgbClr val="4059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B9C7CC"/>
                </a:solidFill>
                <a:latin typeface="Trebuchet MS"/>
              </a:rPr>
              <a:t>CHƯA MỞ  ·  CÂU 03</a:t>
            </a:r>
          </a:p>
        </p:txBody>
      </p:sp>
      <p:sp>
        <p:nvSpPr>
          <p:cNvPr id="23" name="TextBox 22"/>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B9C7CC"/>
                </a:solidFill>
                <a:latin typeface="Trebuchet MS"/>
              </a:rPr>
              <a:t>Quà lớn</a:t>
            </a:r>
          </a:p>
        </p:txBody>
      </p:sp>
      <p:sp>
        <p:nvSpPr>
          <p:cNvPr id="24" name="TextBox 23"/>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QUÀ GIỮ LẠI</a:t>
            </a:r>
          </a:p>
        </p:txBody>
      </p:sp>
      <p:sp>
        <p:nvSpPr>
          <p:cNvPr id="25" name="TextBox 24"/>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Chưa có quà</a:t>
            </a:r>
          </a:p>
        </p:txBody>
      </p:sp>
      <p:sp>
        <p:nvSpPr>
          <p:cNvPr id="26" name="TextBox 25"/>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7" name="Đáp án A"/>
          <p:cNvSpPr/>
          <p:nvPr/>
        </p:nvSpPr>
        <p:spPr>
          <a:xfrm>
            <a:off x="530352" y="2770632"/>
            <a:ext cx="4215384" cy="1170432"/>
          </a:xfrm>
          <a:prstGeom prst="roundRect">
            <a:avLst/>
          </a:prstGeom>
          <a:solidFill>
            <a:srgbClr val="2F9C72"/>
          </a:solidFill>
          <a:ln w="15875">
            <a:solidFill>
              <a:srgbClr val="2F9C72"/>
            </a:solidFill>
          </a:ln>
          <a:effectLst>
            <a:glow rad="190000">
              <a:srgbClr val="73D9A5">
                <a:alpha val="52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1" i="0">
                <a:solidFill>
                  <a:srgbClr val="FFFFFF"/>
                </a:solidFill>
                <a:latin typeface="Aptos"/>
              </a:rPr>
              <a:t>Sản phẩm lao động; hoạt động lao động; bản chất con người; quan hệ giữa người với người.</a:t>
            </a:r>
          </a:p>
        </p:txBody>
      </p:sp>
      <p:sp>
        <p:nvSpPr>
          <p:cNvPr id="28" name="Oval 27"/>
          <p:cNvSpPr/>
          <p:nvPr/>
        </p:nvSpPr>
        <p:spPr>
          <a:xfrm>
            <a:off x="685800" y="3154679"/>
            <a:ext cx="402336" cy="402336"/>
          </a:xfrm>
          <a:prstGeom prst="ellipse">
            <a:avLst/>
          </a:prstGeom>
          <a:solidFill>
            <a:srgbClr val="FFFFFF"/>
          </a:solidFill>
          <a:ln w="12700">
            <a:solidFill>
              <a:srgbClr val="2F9C72"/>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F9C72"/>
                </a:solidFill>
                <a:latin typeface="Trebuchet MS"/>
              </a:rPr>
              <a:t>A</a:t>
            </a:r>
          </a:p>
        </p:txBody>
      </p:sp>
      <p:sp>
        <p:nvSpPr>
          <p:cNvPr id="29" name="Đáp án B"/>
          <p:cNvSpPr/>
          <p:nvPr/>
        </p:nvSpPr>
        <p:spPr>
          <a:xfrm>
            <a:off x="4937760" y="2770632"/>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Tự nhiên; kinh tế; pháp luật; chính trị.</a:t>
            </a:r>
          </a:p>
        </p:txBody>
      </p:sp>
      <p:sp>
        <p:nvSpPr>
          <p:cNvPr id="30" name="Oval 29"/>
          <p:cNvSpPr/>
          <p:nvPr/>
        </p:nvSpPr>
        <p:spPr>
          <a:xfrm>
            <a:off x="5093208" y="3154679"/>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B</a:t>
            </a:r>
          </a:p>
        </p:txBody>
      </p:sp>
      <p:sp>
        <p:nvSpPr>
          <p:cNvPr id="31" name="Đáp án C"/>
          <p:cNvSpPr/>
          <p:nvPr/>
        </p:nvSpPr>
        <p:spPr>
          <a:xfrm>
            <a:off x="530352" y="4105656"/>
            <a:ext cx="4215384"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Gia đình; nhà trường; xã hội; truyền thông.</a:t>
            </a:r>
          </a:p>
        </p:txBody>
      </p:sp>
      <p:sp>
        <p:nvSpPr>
          <p:cNvPr id="32" name="Oval 31"/>
          <p:cNvSpPr/>
          <p:nvPr/>
        </p:nvSpPr>
        <p:spPr>
          <a:xfrm>
            <a:off x="685800"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C</a:t>
            </a:r>
          </a:p>
        </p:txBody>
      </p:sp>
      <p:sp>
        <p:nvSpPr>
          <p:cNvPr id="33" name="Đáp án D"/>
          <p:cNvSpPr/>
          <p:nvPr/>
        </p:nvSpPr>
        <p:spPr>
          <a:xfrm>
            <a:off x="4937760" y="4105656"/>
            <a:ext cx="4279392" cy="1170432"/>
          </a:xfrm>
          <a:prstGeom prst="roundRect">
            <a:avLst/>
          </a:prstGeom>
          <a:solidFill>
            <a:srgbClr val="E45C64"/>
          </a:solidFill>
          <a:ln w="15875">
            <a:solidFill>
              <a:srgbClr val="B8424C"/>
            </a:solidFill>
          </a:ln>
          <a:effectLst>
            <a:glow rad="110000">
              <a:srgbClr val="E45C64">
                <a:alpha val="35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1" i="0">
                <a:solidFill>
                  <a:srgbClr val="FFFFFF"/>
                </a:solidFill>
                <a:latin typeface="Aptos"/>
              </a:rPr>
              <a:t>Tư liệu sản xuất; giai cấp; nhà nước; ý thức.</a:t>
            </a:r>
          </a:p>
        </p:txBody>
      </p:sp>
      <p:sp>
        <p:nvSpPr>
          <p:cNvPr id="34" name="Oval 33"/>
          <p:cNvSpPr/>
          <p:nvPr/>
        </p:nvSpPr>
        <p:spPr>
          <a:xfrm>
            <a:off x="5093208" y="4489704"/>
            <a:ext cx="402336" cy="402336"/>
          </a:xfrm>
          <a:prstGeom prst="ellipse">
            <a:avLst/>
          </a:prstGeom>
          <a:solidFill>
            <a:srgbClr val="FFFFFF"/>
          </a:solidFill>
          <a:ln w="12700">
            <a:solidFill>
              <a:srgbClr val="B8424C"/>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B8424C"/>
                </a:solidFill>
                <a:latin typeface="Trebuchet MS"/>
              </a:rPr>
              <a:t>D</a:t>
            </a:r>
          </a:p>
        </p:txBody>
      </p:sp>
      <p:cxnSp>
        <p:nvCxnSpPr>
          <p:cNvPr id="35" name="Connector 34"/>
          <p:cNvCxnSpPr/>
          <p:nvPr/>
        </p:nvCxnSpPr>
        <p:spPr>
          <a:xfrm>
            <a:off x="4846320" y="4306824"/>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4846320" y="4599432"/>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846320" y="489204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9235440" y="4306824"/>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9235440" y="4599432"/>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9235440" y="489204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530352" y="5431536"/>
            <a:ext cx="5989320" cy="868680"/>
          </a:xfrm>
          <a:prstGeom prst="roundRect">
            <a:avLst/>
          </a:prstGeom>
          <a:solidFill>
            <a:srgbClr val="FBE5E3"/>
          </a:solidFill>
          <a:ln w="12700">
            <a:solidFill>
              <a:srgbClr val="F0C7C4"/>
            </a:solid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l">
              <a:lnSpc>
                <a:spcPct val="100000"/>
              </a:lnSpc>
              <a:spcBef>
                <a:spcPts val="0"/>
              </a:spcBef>
              <a:spcAft>
                <a:spcPts val="0"/>
              </a:spcAft>
            </a:pPr>
            <a:r>
              <a:rPr sz="980" b="1" i="0">
                <a:solidFill>
                  <a:srgbClr val="18324A"/>
                </a:solidFill>
                <a:latin typeface="Aptos"/>
              </a:rPr>
              <a:t>BẠN CHỌN: D  ·  ĐÁP ÁN ĐÚNG: A
Sản phẩm lao động; hoạt động lao động; bản chất con người; quan hệ giữa người với người.
QUÀ ĐẠT ĐƯỢC LƯỢT NÀY: Chưa có quà</a:t>
            </a:r>
          </a:p>
        </p:txBody>
      </p:sp>
      <p:sp>
        <p:nvSpPr>
          <p:cNvPr id="42" name="Nút: NGƯỜI CHƠI TIẾP THEO  →">
            <a:hlinkClick r:id="rId2" action="ppaction://hlinksldjump"/>
          </p:cNvPr>
          <p:cNvSpPr/>
          <p:nvPr/>
        </p:nvSpPr>
        <p:spPr>
          <a:xfrm>
            <a:off x="6711696" y="5431536"/>
            <a:ext cx="2505456" cy="86868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240" b="1" i="0">
                <a:solidFill>
                  <a:srgbClr val="FFFFFF"/>
                </a:solidFill>
                <a:latin typeface="Trebuchet MS"/>
              </a:rPr>
              <a:t>NGƯỜI CHƠI TIẾP THEO  →</a:t>
            </a:r>
          </a:p>
        </p:txBody>
      </p:sp>
    </p:spTree>
  </p:cSld>
  <p:clrMapOvr>
    <a:masterClrMapping/>
  </p:clrMapOvr>
  <p:transition spd="med" advClick="0">
    <p:fade/>
  </p:transition>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03 / 05</a:t>
            </a:r>
          </a:p>
        </p:txBody>
      </p:sp>
      <p:sp>
        <p:nvSpPr>
          <p:cNvPr id="5" name="Rounded Rectangle 4"/>
          <p:cNvSpPr/>
          <p:nvPr/>
        </p:nvSpPr>
        <p:spPr>
          <a:xfrm>
            <a:off x="2240280" y="749808"/>
            <a:ext cx="1389888" cy="292608"/>
          </a:xfrm>
          <a:prstGeom prst="roundRect">
            <a:avLst/>
          </a:prstGeom>
          <a:solidFill>
            <a:srgbClr val="FFF0C2"/>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18324A"/>
                </a:solidFill>
                <a:latin typeface="Trebuchet MS"/>
              </a:rPr>
              <a:t>TRUNG BÌNH</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02 / 03</a:t>
            </a:r>
          </a:p>
        </p:txBody>
      </p:sp>
      <p:sp>
        <p:nvSpPr>
          <p:cNvPr id="7"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0" name="TextBox 9"/>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2100" b="1" i="0">
                <a:solidFill>
                  <a:srgbClr val="FFFFFF"/>
                </a:solidFill>
                <a:latin typeface="Aptos"/>
              </a:rPr>
              <a:t>Quan hệ biện chứng hai chiều giữa cá nhân và xã hội được hiểu đúng nhất như thế nào?</a:t>
            </a:r>
          </a:p>
        </p:txBody>
      </p:sp>
      <p:sp>
        <p:nvSpPr>
          <p:cNvPr id="11"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3" name="TextBox 12"/>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4" name="Rounded Rectangle 13"/>
          <p:cNvSpPr/>
          <p:nvPr/>
        </p:nvSpPr>
        <p:spPr>
          <a:xfrm>
            <a:off x="9646920" y="1371600"/>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01</a:t>
            </a:r>
          </a:p>
        </p:txBody>
      </p:sp>
      <p:sp>
        <p:nvSpPr>
          <p:cNvPr id="16" name="TextBox 15"/>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nhỏ</a:t>
            </a:r>
          </a:p>
        </p:txBody>
      </p:sp>
      <p:sp>
        <p:nvSpPr>
          <p:cNvPr id="17" name="Rounded Rectangle 16"/>
          <p:cNvSpPr/>
          <p:nvPr/>
        </p:nvSpPr>
        <p:spPr>
          <a:xfrm>
            <a:off x="9646920" y="2487168"/>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02</a:t>
            </a:r>
          </a:p>
        </p:txBody>
      </p:sp>
      <p:sp>
        <p:nvSpPr>
          <p:cNvPr id="19" name="TextBox 18"/>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vừa</a:t>
            </a:r>
          </a:p>
        </p:txBody>
      </p:sp>
      <p:sp>
        <p:nvSpPr>
          <p:cNvPr id="20" name="Rounded Rectangle 19"/>
          <p:cNvSpPr/>
          <p:nvPr/>
        </p:nvSpPr>
        <p:spPr>
          <a:xfrm>
            <a:off x="9646920" y="3602736"/>
            <a:ext cx="1956816" cy="877824"/>
          </a:xfrm>
          <a:prstGeom prst="roundRect">
            <a:avLst/>
          </a:prstGeom>
          <a:solidFill>
            <a:srgbClr val="263F53"/>
          </a:solidFill>
          <a:ln w="12700">
            <a:solidFill>
              <a:srgbClr val="4059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B9C7CC"/>
                </a:solidFill>
                <a:latin typeface="Trebuchet MS"/>
              </a:rPr>
              <a:t>CHƯA MỞ  ·  CÂU 03</a:t>
            </a:r>
          </a:p>
        </p:txBody>
      </p:sp>
      <p:sp>
        <p:nvSpPr>
          <p:cNvPr id="22" name="TextBox 21"/>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B9C7CC"/>
                </a:solidFill>
                <a:latin typeface="Trebuchet MS"/>
              </a:rPr>
              <a:t>Quà lớn</a:t>
            </a:r>
          </a:p>
        </p:txBody>
      </p:sp>
      <p:sp>
        <p:nvSpPr>
          <p:cNvPr id="23" name="TextBox 22"/>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MỐC AN TOÀN</a:t>
            </a:r>
          </a:p>
        </p:txBody>
      </p:sp>
      <p:sp>
        <p:nvSpPr>
          <p:cNvPr id="24" name="TextBox 23"/>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Quà nhỏ</a:t>
            </a:r>
          </a:p>
        </p:txBody>
      </p:sp>
      <p:sp>
        <p:nvSpPr>
          <p:cNvPr id="25" name="TextBox 24"/>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6" name="Đáp án A">
            <a:hlinkClick r:id="rId2" action="ppaction://hlinksldjump"/>
          </p:cNvPr>
          <p:cNvSpPr/>
          <p:nvPr/>
        </p:nvSpPr>
        <p:spPr>
          <a:xfrm>
            <a:off x="530352" y="2770632"/>
            <a:ext cx="4215384" cy="1170432"/>
          </a:xfrm>
          <a:prstGeom prst="roundRect">
            <a:avLst/>
          </a:prstGeom>
          <a:solidFill>
            <a:srgbClr val="FBFCF9"/>
          </a:solidFill>
          <a:ln w="15875">
            <a:solidFill>
              <a:srgbClr val="D7DED8"/>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380" b="0" i="0">
                <a:solidFill>
                  <a:srgbClr val="18324A"/>
                </a:solidFill>
                <a:latin typeface="Aptos"/>
              </a:rPr>
              <a:t>Xã hội tạo điều kiện và giới hạn cho cá nhân; cá nhân chủ động hoạt động, đóng góp và có thể cải biến xã hội; cần hài hòa lợi ích chính đáng.</a:t>
            </a:r>
          </a:p>
        </p:txBody>
      </p:sp>
      <p:sp>
        <p:nvSpPr>
          <p:cNvPr id="27" name="Oval 26">
            <a:hlinkClick r:id="rId2" action="ppaction://hlinksldjump"/>
          </p:cNvPr>
          <p:cNvSpPr/>
          <p:nvPr/>
        </p:nvSpPr>
        <p:spPr>
          <a:xfrm>
            <a:off x="685800" y="3154679"/>
            <a:ext cx="402336" cy="402336"/>
          </a:xfrm>
          <a:prstGeom prst="ellipse">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E8177"/>
                </a:solidFill>
                <a:latin typeface="Trebuchet MS"/>
              </a:rPr>
              <a:t>A</a:t>
            </a:r>
          </a:p>
        </p:txBody>
      </p:sp>
      <p:sp>
        <p:nvSpPr>
          <p:cNvPr id="28" name="Đáp án B">
            <a:hlinkClick r:id="rId3" action="ppaction://hlinksldjump"/>
          </p:cNvPr>
          <p:cNvSpPr/>
          <p:nvPr/>
        </p:nvSpPr>
        <p:spPr>
          <a:xfrm>
            <a:off x="4937760" y="2770632"/>
            <a:ext cx="4279392" cy="1170432"/>
          </a:xfrm>
          <a:prstGeom prst="roundRect">
            <a:avLst/>
          </a:prstGeom>
          <a:solidFill>
            <a:srgbClr val="FBFCF9"/>
          </a:solidFill>
          <a:ln w="15875">
            <a:solidFill>
              <a:srgbClr val="D7DED8"/>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18324A"/>
                </a:solidFill>
                <a:latin typeface="Aptos"/>
              </a:rPr>
              <a:t>Xã hội quyết định hoàn toàn cá nhân nên cá nhân không có tính chủ động.</a:t>
            </a:r>
          </a:p>
        </p:txBody>
      </p:sp>
      <p:sp>
        <p:nvSpPr>
          <p:cNvPr id="29" name="Oval 28">
            <a:hlinkClick r:id="rId3" action="ppaction://hlinksldjump"/>
          </p:cNvPr>
          <p:cNvSpPr/>
          <p:nvPr/>
        </p:nvSpPr>
        <p:spPr>
          <a:xfrm>
            <a:off x="5093208" y="3154679"/>
            <a:ext cx="402336" cy="402336"/>
          </a:xfrm>
          <a:prstGeom prst="ellipse">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E8177"/>
                </a:solidFill>
                <a:latin typeface="Trebuchet MS"/>
              </a:rPr>
              <a:t>B</a:t>
            </a:r>
          </a:p>
        </p:txBody>
      </p:sp>
      <p:sp>
        <p:nvSpPr>
          <p:cNvPr id="30" name="Đáp án C">
            <a:hlinkClick r:id="rId4" action="ppaction://hlinksldjump"/>
          </p:cNvPr>
          <p:cNvSpPr/>
          <p:nvPr/>
        </p:nvSpPr>
        <p:spPr>
          <a:xfrm>
            <a:off x="530352" y="4105656"/>
            <a:ext cx="4215384" cy="1170432"/>
          </a:xfrm>
          <a:prstGeom prst="roundRect">
            <a:avLst/>
          </a:prstGeom>
          <a:solidFill>
            <a:srgbClr val="FBFCF9"/>
          </a:solidFill>
          <a:ln w="15875">
            <a:solidFill>
              <a:srgbClr val="D7DED8"/>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18324A"/>
                </a:solidFill>
                <a:latin typeface="Aptos"/>
              </a:rPr>
              <a:t>Lợi ích cá nhân luôn cao hơn lợi ích chung, bất kể hậu quả.</a:t>
            </a:r>
          </a:p>
        </p:txBody>
      </p:sp>
      <p:sp>
        <p:nvSpPr>
          <p:cNvPr id="31" name="Oval 30">
            <a:hlinkClick r:id="rId4" action="ppaction://hlinksldjump"/>
          </p:cNvPr>
          <p:cNvSpPr/>
          <p:nvPr/>
        </p:nvSpPr>
        <p:spPr>
          <a:xfrm>
            <a:off x="685800" y="4489704"/>
            <a:ext cx="402336" cy="402336"/>
          </a:xfrm>
          <a:prstGeom prst="ellipse">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E8177"/>
                </a:solidFill>
                <a:latin typeface="Trebuchet MS"/>
              </a:rPr>
              <a:t>C</a:t>
            </a:r>
          </a:p>
        </p:txBody>
      </p:sp>
      <p:sp>
        <p:nvSpPr>
          <p:cNvPr id="32" name="Đáp án D">
            <a:hlinkClick r:id="rId5" action="ppaction://hlinksldjump"/>
          </p:cNvPr>
          <p:cNvSpPr/>
          <p:nvPr/>
        </p:nvSpPr>
        <p:spPr>
          <a:xfrm>
            <a:off x="4937760" y="4105656"/>
            <a:ext cx="4279392" cy="1170432"/>
          </a:xfrm>
          <a:prstGeom prst="roundRect">
            <a:avLst/>
          </a:prstGeom>
          <a:solidFill>
            <a:srgbClr val="FBFCF9"/>
          </a:solidFill>
          <a:ln w="15875">
            <a:solidFill>
              <a:srgbClr val="D7DED8"/>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18324A"/>
                </a:solidFill>
                <a:latin typeface="Aptos"/>
              </a:rPr>
              <a:t>Lợi ích tập thể luôn đúng nên có thể phủ nhận quyền chính đáng của cá nhân.</a:t>
            </a:r>
          </a:p>
        </p:txBody>
      </p:sp>
      <p:sp>
        <p:nvSpPr>
          <p:cNvPr id="33" name="Oval 32">
            <a:hlinkClick r:id="rId5" action="ppaction://hlinksldjump"/>
          </p:cNvPr>
          <p:cNvSpPr/>
          <p:nvPr/>
        </p:nvSpPr>
        <p:spPr>
          <a:xfrm>
            <a:off x="5093208" y="4489704"/>
            <a:ext cx="402336" cy="402336"/>
          </a:xfrm>
          <a:prstGeom prst="ellipse">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E8177"/>
                </a:solidFill>
                <a:latin typeface="Trebuchet MS"/>
              </a:rPr>
              <a:t>D</a:t>
            </a:r>
          </a:p>
        </p:txBody>
      </p:sp>
      <p:sp>
        <p:nvSpPr>
          <p:cNvPr id="34" name="TextBox 33"/>
          <p:cNvSpPr txBox="1"/>
          <p:nvPr/>
        </p:nvSpPr>
        <p:spPr>
          <a:xfrm>
            <a:off x="621792" y="5431536"/>
            <a:ext cx="8485632" cy="36576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080" b="1" i="0">
                <a:solidFill>
                  <a:srgbClr val="657883"/>
                </a:solidFill>
                <a:latin typeface="Trebuchet MS"/>
              </a:rPr>
              <a:t>CHỌN MỘT ĐÁP ÁN  ·  BẤM TRỰC TIẾP VÀO THẺ A / B / C / D</a:t>
            </a:r>
          </a:p>
        </p:txBody>
      </p:sp>
    </p:spTree>
  </p:cSld>
  <p:clrMapOvr>
    <a:masterClrMapping/>
  </p:clrMapOvr>
  <p:transition spd="med" advClick="0">
    <p:fade/>
  </p:transition>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03 / 05</a:t>
            </a:r>
          </a:p>
        </p:txBody>
      </p:sp>
      <p:sp>
        <p:nvSpPr>
          <p:cNvPr id="5" name="Rounded Rectangle 4"/>
          <p:cNvSpPr/>
          <p:nvPr/>
        </p:nvSpPr>
        <p:spPr>
          <a:xfrm>
            <a:off x="2240280" y="749808"/>
            <a:ext cx="1389888" cy="292608"/>
          </a:xfrm>
          <a:prstGeom prst="roundRect">
            <a:avLst/>
          </a:prstGeom>
          <a:solidFill>
            <a:srgbClr val="FFF0C2"/>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18324A"/>
                </a:solidFill>
                <a:latin typeface="Trebuchet MS"/>
              </a:rPr>
              <a:t>TRUNG BÌNH</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02 / 03</a:t>
            </a:r>
          </a:p>
        </p:txBody>
      </p:sp>
      <p:sp>
        <p:nvSpPr>
          <p:cNvPr id="7" name="Rounded Rectangle 6"/>
          <p:cNvSpPr/>
          <p:nvPr/>
        </p:nvSpPr>
        <p:spPr>
          <a:xfrm>
            <a:off x="7562088" y="749808"/>
            <a:ext cx="1581912" cy="292608"/>
          </a:xfrm>
          <a:prstGeom prst="roundRect">
            <a:avLst/>
          </a:prstGeom>
          <a:solidFill>
            <a:srgbClr val="D9F0E3"/>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1000" b="1" i="0">
                <a:solidFill>
                  <a:srgbClr val="2F9C72"/>
                </a:solidFill>
                <a:latin typeface="Trebuchet MS"/>
              </a:rPr>
              <a:t>CHÍNH XÁC!</a:t>
            </a:r>
          </a:p>
        </p:txBody>
      </p:sp>
      <p:sp>
        <p:nvSpPr>
          <p:cNvPr id="8"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1" name="TextBox 10"/>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2100" b="1" i="0">
                <a:solidFill>
                  <a:srgbClr val="FFFFFF"/>
                </a:solidFill>
                <a:latin typeface="Aptos"/>
              </a:rPr>
              <a:t>Quan hệ biện chứng hai chiều giữa cá nhân và xã hội được hiểu đúng nhất như thế nào?</a:t>
            </a:r>
          </a:p>
        </p:txBody>
      </p:sp>
      <p:sp>
        <p:nvSpPr>
          <p:cNvPr id="12"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4" name="TextBox 13"/>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5" name="Rounded Rectangle 14"/>
          <p:cNvSpPr/>
          <p:nvPr/>
        </p:nvSpPr>
        <p:spPr>
          <a:xfrm>
            <a:off x="9646920" y="1371600"/>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01</a:t>
            </a:r>
          </a:p>
        </p:txBody>
      </p:sp>
      <p:sp>
        <p:nvSpPr>
          <p:cNvPr id="17" name="TextBox 16"/>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nhỏ</a:t>
            </a:r>
          </a:p>
        </p:txBody>
      </p:sp>
      <p:sp>
        <p:nvSpPr>
          <p:cNvPr id="18" name="Rounded Rectangle 17"/>
          <p:cNvSpPr/>
          <p:nvPr/>
        </p:nvSpPr>
        <p:spPr>
          <a:xfrm>
            <a:off x="9646920" y="2487168"/>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02</a:t>
            </a:r>
          </a:p>
        </p:txBody>
      </p:sp>
      <p:sp>
        <p:nvSpPr>
          <p:cNvPr id="20" name="TextBox 19"/>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vừa</a:t>
            </a:r>
          </a:p>
        </p:txBody>
      </p:sp>
      <p:sp>
        <p:nvSpPr>
          <p:cNvPr id="21" name="Rounded Rectangle 20"/>
          <p:cNvSpPr/>
          <p:nvPr/>
        </p:nvSpPr>
        <p:spPr>
          <a:xfrm>
            <a:off x="9646920" y="3602736"/>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03</a:t>
            </a:r>
          </a:p>
        </p:txBody>
      </p:sp>
      <p:sp>
        <p:nvSpPr>
          <p:cNvPr id="23" name="TextBox 22"/>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lớn</a:t>
            </a:r>
          </a:p>
        </p:txBody>
      </p:sp>
      <p:sp>
        <p:nvSpPr>
          <p:cNvPr id="24" name="TextBox 23"/>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MỐC VỪA CHẠM</a:t>
            </a:r>
          </a:p>
        </p:txBody>
      </p:sp>
      <p:sp>
        <p:nvSpPr>
          <p:cNvPr id="25" name="TextBox 24"/>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Quà vừa</a:t>
            </a:r>
          </a:p>
        </p:txBody>
      </p:sp>
      <p:sp>
        <p:nvSpPr>
          <p:cNvPr id="26" name="TextBox 25"/>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7" name="Đáp án A"/>
          <p:cNvSpPr/>
          <p:nvPr/>
        </p:nvSpPr>
        <p:spPr>
          <a:xfrm>
            <a:off x="530352" y="2770632"/>
            <a:ext cx="4215384" cy="1170432"/>
          </a:xfrm>
          <a:prstGeom prst="roundRect">
            <a:avLst/>
          </a:prstGeom>
          <a:solidFill>
            <a:srgbClr val="FFD05A"/>
          </a:solidFill>
          <a:ln w="15875">
            <a:solidFill>
              <a:srgbClr val="D9A92E"/>
            </a:solidFill>
          </a:ln>
          <a:effectLst>
            <a:glow rad="190000">
              <a:srgbClr val="FFD05A">
                <a:alpha val="52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380" b="1" i="0">
                <a:solidFill>
                  <a:srgbClr val="18324A"/>
                </a:solidFill>
                <a:latin typeface="Aptos"/>
              </a:rPr>
              <a:t>Xã hội tạo điều kiện và giới hạn cho cá nhân; cá nhân chủ động hoạt động, đóng góp và có thể cải biến xã hội; cần hài hòa lợi ích chính đáng.</a:t>
            </a:r>
          </a:p>
        </p:txBody>
      </p:sp>
      <p:sp>
        <p:nvSpPr>
          <p:cNvPr id="28" name="Oval 27"/>
          <p:cNvSpPr/>
          <p:nvPr/>
        </p:nvSpPr>
        <p:spPr>
          <a:xfrm>
            <a:off x="685800" y="3154679"/>
            <a:ext cx="402336" cy="402336"/>
          </a:xfrm>
          <a:prstGeom prst="ellipse">
            <a:avLst/>
          </a:prstGeom>
          <a:solidFill>
            <a:srgbClr val="18324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FFD05A"/>
                </a:solidFill>
                <a:latin typeface="Trebuchet MS"/>
              </a:rPr>
              <a:t>A</a:t>
            </a:r>
          </a:p>
        </p:txBody>
      </p:sp>
      <p:sp>
        <p:nvSpPr>
          <p:cNvPr id="29" name="Đáp án B"/>
          <p:cNvSpPr/>
          <p:nvPr/>
        </p:nvSpPr>
        <p:spPr>
          <a:xfrm>
            <a:off x="4937760" y="2770632"/>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8A979B"/>
                </a:solidFill>
                <a:latin typeface="Aptos"/>
              </a:rPr>
              <a:t>Xã hội quyết định hoàn toàn cá nhân nên cá nhân không có tính chủ động.</a:t>
            </a:r>
          </a:p>
        </p:txBody>
      </p:sp>
      <p:sp>
        <p:nvSpPr>
          <p:cNvPr id="30" name="Oval 29"/>
          <p:cNvSpPr/>
          <p:nvPr/>
        </p:nvSpPr>
        <p:spPr>
          <a:xfrm>
            <a:off x="5093208" y="3154679"/>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B</a:t>
            </a:r>
          </a:p>
        </p:txBody>
      </p:sp>
      <p:sp>
        <p:nvSpPr>
          <p:cNvPr id="31" name="Đáp án C"/>
          <p:cNvSpPr/>
          <p:nvPr/>
        </p:nvSpPr>
        <p:spPr>
          <a:xfrm>
            <a:off x="530352" y="4105656"/>
            <a:ext cx="4215384"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Lợi ích cá nhân luôn cao hơn lợi ích chung, bất kể hậu quả.</a:t>
            </a:r>
          </a:p>
        </p:txBody>
      </p:sp>
      <p:sp>
        <p:nvSpPr>
          <p:cNvPr id="32" name="Oval 31"/>
          <p:cNvSpPr/>
          <p:nvPr/>
        </p:nvSpPr>
        <p:spPr>
          <a:xfrm>
            <a:off x="685800"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C</a:t>
            </a:r>
          </a:p>
        </p:txBody>
      </p:sp>
      <p:sp>
        <p:nvSpPr>
          <p:cNvPr id="33" name="Đáp án D"/>
          <p:cNvSpPr/>
          <p:nvPr/>
        </p:nvSpPr>
        <p:spPr>
          <a:xfrm>
            <a:off x="4937760" y="4105656"/>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8A979B"/>
                </a:solidFill>
                <a:latin typeface="Aptos"/>
              </a:rPr>
              <a:t>Lợi ích tập thể luôn đúng nên có thể phủ nhận quyền chính đáng của cá nhân.</a:t>
            </a:r>
          </a:p>
        </p:txBody>
      </p:sp>
      <p:sp>
        <p:nvSpPr>
          <p:cNvPr id="34" name="Oval 33"/>
          <p:cNvSpPr/>
          <p:nvPr/>
        </p:nvSpPr>
        <p:spPr>
          <a:xfrm>
            <a:off x="5093208"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D</a:t>
            </a:r>
          </a:p>
        </p:txBody>
      </p:sp>
      <p:sp>
        <p:nvSpPr>
          <p:cNvPr id="35" name="Rounded Rectangle 34"/>
          <p:cNvSpPr/>
          <p:nvPr/>
        </p:nvSpPr>
        <p:spPr>
          <a:xfrm>
            <a:off x="530352" y="5431536"/>
            <a:ext cx="5989320" cy="868680"/>
          </a:xfrm>
          <a:prstGeom prst="roundRect">
            <a:avLst/>
          </a:prstGeom>
          <a:solidFill>
            <a:srgbClr val="D9F0E3"/>
          </a:solidFill>
          <a:ln w="12700">
            <a:solidFill>
              <a:srgbClr val="D7E6DC"/>
            </a:solidFill>
          </a:ln>
        </p:spPr>
        <p:style>
          <a:lnRef idx="1">
            <a:schemeClr val="accent1"/>
          </a:lnRef>
          <a:fillRef idx="3">
            <a:schemeClr val="accent1"/>
          </a:fillRef>
          <a:effectRef idx="2">
            <a:schemeClr val="accent1"/>
          </a:effectRef>
          <a:fontRef idx="minor">
            <a:schemeClr val="lt1"/>
          </a:fontRef>
        </p:style>
        <p:txBody>
          <a:bodyPr wrap="square" lIns="109728" tIns="60350" rIns="109728" bIns="60350" rtlCol="0" anchor="ctr"/>
          <a:lstStyle/>
          <a:p>
            <a:pPr algn="l">
              <a:lnSpc>
                <a:spcPct val="100000"/>
              </a:lnSpc>
              <a:spcBef>
                <a:spcPts val="0"/>
              </a:spcBef>
              <a:spcAft>
                <a:spcPts val="0"/>
              </a:spcAft>
            </a:pPr>
            <a:r>
              <a:rPr sz="1130" b="0" i="0">
                <a:solidFill>
                  <a:srgbClr val="18324A"/>
                </a:solidFill>
                <a:latin typeface="Aptos"/>
              </a:rPr>
              <a:t>MỐC 2 ĐÃ CHINH PHỤC  ·  Quà vừa
Cá nhân vừa là sản phẩm vừa là chủ thể của xã hội. Cần tránh cả chủ nghĩa cá nhân cực đoan lẫn nhân danh tập thể để phủ nhận quyền cá nhân.</a:t>
            </a:r>
          </a:p>
        </p:txBody>
      </p:sp>
      <p:sp>
        <p:nvSpPr>
          <p:cNvPr id="36" name="Nút: CÂU TIẾP THEO  →">
            <a:hlinkClick r:id="rId3" action="ppaction://hlinksldjump"/>
          </p:cNvPr>
          <p:cNvSpPr/>
          <p:nvPr/>
        </p:nvSpPr>
        <p:spPr>
          <a:xfrm>
            <a:off x="6711696" y="5431536"/>
            <a:ext cx="2505456" cy="868680"/>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240" b="1" i="0">
                <a:solidFill>
                  <a:srgbClr val="18324A"/>
                </a:solidFill>
                <a:latin typeface="Trebuchet MS"/>
              </a:rPr>
              <a:t>CÂU TIẾP THEO  →</a:t>
            </a:r>
          </a:p>
        </p:txBody>
      </p:sp>
    </p:spTree>
  </p:cSld>
  <p:clrMapOvr>
    <a:masterClrMapping/>
  </p:clrMapOvr>
  <p:transition spd="med" advClick="0">
    <p:sndAc>
      <p:stSnd>
        <p:snd r:embed="rId2" name="Correct answer chime"/>
      </p:stSnd>
    </p:sndAc>
  </p:transition>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03 / 05</a:t>
            </a:r>
          </a:p>
        </p:txBody>
      </p:sp>
      <p:sp>
        <p:nvSpPr>
          <p:cNvPr id="5" name="Rounded Rectangle 4"/>
          <p:cNvSpPr/>
          <p:nvPr/>
        </p:nvSpPr>
        <p:spPr>
          <a:xfrm>
            <a:off x="2240280" y="749808"/>
            <a:ext cx="1389888" cy="292608"/>
          </a:xfrm>
          <a:prstGeom prst="roundRect">
            <a:avLst/>
          </a:prstGeom>
          <a:solidFill>
            <a:srgbClr val="FFF0C2"/>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18324A"/>
                </a:solidFill>
                <a:latin typeface="Trebuchet MS"/>
              </a:rPr>
              <a:t>TRUNG BÌNH</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02 / 03</a:t>
            </a:r>
          </a:p>
        </p:txBody>
      </p:sp>
      <p:sp>
        <p:nvSpPr>
          <p:cNvPr id="7" name="Rounded Rectangle 6"/>
          <p:cNvSpPr/>
          <p:nvPr/>
        </p:nvSpPr>
        <p:spPr>
          <a:xfrm>
            <a:off x="7562088" y="749808"/>
            <a:ext cx="1581912" cy="292608"/>
          </a:xfrm>
          <a:prstGeom prst="roundRect">
            <a:avLst/>
          </a:prstGeom>
          <a:solidFill>
            <a:srgbClr val="FBE3E3"/>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1000" b="1" i="0">
                <a:solidFill>
                  <a:srgbClr val="B8424C"/>
                </a:solidFill>
                <a:latin typeface="Trebuchet MS"/>
              </a:rPr>
              <a:t>RẤT TIẾC!</a:t>
            </a:r>
          </a:p>
        </p:txBody>
      </p:sp>
      <p:sp>
        <p:nvSpPr>
          <p:cNvPr id="8"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1" name="TextBox 10"/>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2100" b="1" i="0">
                <a:solidFill>
                  <a:srgbClr val="FFFFFF"/>
                </a:solidFill>
                <a:latin typeface="Aptos"/>
              </a:rPr>
              <a:t>Quan hệ biện chứng hai chiều giữa cá nhân và xã hội được hiểu đúng nhất như thế nào?</a:t>
            </a:r>
          </a:p>
        </p:txBody>
      </p:sp>
      <p:sp>
        <p:nvSpPr>
          <p:cNvPr id="12"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4" name="TextBox 13"/>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5" name="Rounded Rectangle 14"/>
          <p:cNvSpPr/>
          <p:nvPr/>
        </p:nvSpPr>
        <p:spPr>
          <a:xfrm>
            <a:off x="9646920" y="1371600"/>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01</a:t>
            </a:r>
          </a:p>
        </p:txBody>
      </p:sp>
      <p:sp>
        <p:nvSpPr>
          <p:cNvPr id="17" name="TextBox 16"/>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nhỏ</a:t>
            </a:r>
          </a:p>
        </p:txBody>
      </p:sp>
      <p:sp>
        <p:nvSpPr>
          <p:cNvPr id="18" name="Rounded Rectangle 17"/>
          <p:cNvSpPr/>
          <p:nvPr/>
        </p:nvSpPr>
        <p:spPr>
          <a:xfrm>
            <a:off x="9646920" y="2487168"/>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02</a:t>
            </a:r>
          </a:p>
        </p:txBody>
      </p:sp>
      <p:sp>
        <p:nvSpPr>
          <p:cNvPr id="20" name="TextBox 19"/>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vừa</a:t>
            </a:r>
          </a:p>
        </p:txBody>
      </p:sp>
      <p:sp>
        <p:nvSpPr>
          <p:cNvPr id="21" name="Rounded Rectangle 20"/>
          <p:cNvSpPr/>
          <p:nvPr/>
        </p:nvSpPr>
        <p:spPr>
          <a:xfrm>
            <a:off x="9646920" y="3602736"/>
            <a:ext cx="1956816" cy="877824"/>
          </a:xfrm>
          <a:prstGeom prst="roundRect">
            <a:avLst/>
          </a:prstGeom>
          <a:solidFill>
            <a:srgbClr val="263F53"/>
          </a:solidFill>
          <a:ln w="12700">
            <a:solidFill>
              <a:srgbClr val="4059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B9C7CC"/>
                </a:solidFill>
                <a:latin typeface="Trebuchet MS"/>
              </a:rPr>
              <a:t>CHƯA MỞ  ·  CÂU 03</a:t>
            </a:r>
          </a:p>
        </p:txBody>
      </p:sp>
      <p:sp>
        <p:nvSpPr>
          <p:cNvPr id="23" name="TextBox 22"/>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B9C7CC"/>
                </a:solidFill>
                <a:latin typeface="Trebuchet MS"/>
              </a:rPr>
              <a:t>Quà lớn</a:t>
            </a:r>
          </a:p>
        </p:txBody>
      </p:sp>
      <p:sp>
        <p:nvSpPr>
          <p:cNvPr id="24" name="TextBox 23"/>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QUÀ GIỮ LẠI</a:t>
            </a:r>
          </a:p>
        </p:txBody>
      </p:sp>
      <p:sp>
        <p:nvSpPr>
          <p:cNvPr id="25" name="TextBox 24"/>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Quà nhỏ</a:t>
            </a:r>
          </a:p>
        </p:txBody>
      </p:sp>
      <p:sp>
        <p:nvSpPr>
          <p:cNvPr id="26" name="TextBox 25"/>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7" name="Đáp án A"/>
          <p:cNvSpPr/>
          <p:nvPr/>
        </p:nvSpPr>
        <p:spPr>
          <a:xfrm>
            <a:off x="530352" y="2770632"/>
            <a:ext cx="4215384" cy="1170432"/>
          </a:xfrm>
          <a:prstGeom prst="roundRect">
            <a:avLst/>
          </a:prstGeom>
          <a:solidFill>
            <a:srgbClr val="2F9C72"/>
          </a:solidFill>
          <a:ln w="15875">
            <a:solidFill>
              <a:srgbClr val="2F9C72"/>
            </a:solidFill>
          </a:ln>
          <a:effectLst>
            <a:glow rad="190000">
              <a:srgbClr val="73D9A5">
                <a:alpha val="52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380" b="1" i="0">
                <a:solidFill>
                  <a:srgbClr val="FFFFFF"/>
                </a:solidFill>
                <a:latin typeface="Aptos"/>
              </a:rPr>
              <a:t>Xã hội tạo điều kiện và giới hạn cho cá nhân; cá nhân chủ động hoạt động, đóng góp và có thể cải biến xã hội; cần hài hòa lợi ích chính đáng.</a:t>
            </a:r>
          </a:p>
        </p:txBody>
      </p:sp>
      <p:sp>
        <p:nvSpPr>
          <p:cNvPr id="28" name="Oval 27"/>
          <p:cNvSpPr/>
          <p:nvPr/>
        </p:nvSpPr>
        <p:spPr>
          <a:xfrm>
            <a:off x="685800" y="3154679"/>
            <a:ext cx="402336" cy="402336"/>
          </a:xfrm>
          <a:prstGeom prst="ellipse">
            <a:avLst/>
          </a:prstGeom>
          <a:solidFill>
            <a:srgbClr val="FFFFFF"/>
          </a:solidFill>
          <a:ln w="12700">
            <a:solidFill>
              <a:srgbClr val="2F9C72"/>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F9C72"/>
                </a:solidFill>
                <a:latin typeface="Trebuchet MS"/>
              </a:rPr>
              <a:t>A</a:t>
            </a:r>
          </a:p>
        </p:txBody>
      </p:sp>
      <p:sp>
        <p:nvSpPr>
          <p:cNvPr id="29" name="Đáp án B"/>
          <p:cNvSpPr/>
          <p:nvPr/>
        </p:nvSpPr>
        <p:spPr>
          <a:xfrm>
            <a:off x="4937760" y="2770632"/>
            <a:ext cx="4279392" cy="1170432"/>
          </a:xfrm>
          <a:prstGeom prst="roundRect">
            <a:avLst/>
          </a:prstGeom>
          <a:solidFill>
            <a:srgbClr val="E45C64"/>
          </a:solidFill>
          <a:ln w="15875">
            <a:solidFill>
              <a:srgbClr val="B8424C"/>
            </a:solidFill>
          </a:ln>
          <a:effectLst>
            <a:glow rad="110000">
              <a:srgbClr val="E45C64">
                <a:alpha val="35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1" i="0">
                <a:solidFill>
                  <a:srgbClr val="FFFFFF"/>
                </a:solidFill>
                <a:latin typeface="Aptos"/>
              </a:rPr>
              <a:t>Xã hội quyết định hoàn toàn cá nhân nên cá nhân không có tính chủ động.</a:t>
            </a:r>
          </a:p>
        </p:txBody>
      </p:sp>
      <p:sp>
        <p:nvSpPr>
          <p:cNvPr id="30" name="Oval 29"/>
          <p:cNvSpPr/>
          <p:nvPr/>
        </p:nvSpPr>
        <p:spPr>
          <a:xfrm>
            <a:off x="5093208" y="3154679"/>
            <a:ext cx="402336" cy="402336"/>
          </a:xfrm>
          <a:prstGeom prst="ellipse">
            <a:avLst/>
          </a:prstGeom>
          <a:solidFill>
            <a:srgbClr val="FFFFFF"/>
          </a:solidFill>
          <a:ln w="12700">
            <a:solidFill>
              <a:srgbClr val="B8424C"/>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B8424C"/>
                </a:solidFill>
                <a:latin typeface="Trebuchet MS"/>
              </a:rPr>
              <a:t>B</a:t>
            </a:r>
          </a:p>
        </p:txBody>
      </p:sp>
      <p:cxnSp>
        <p:nvCxnSpPr>
          <p:cNvPr id="31" name="Connector 30"/>
          <p:cNvCxnSpPr/>
          <p:nvPr/>
        </p:nvCxnSpPr>
        <p:spPr>
          <a:xfrm>
            <a:off x="4846320" y="297180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4846320" y="3264408"/>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846320" y="3557016"/>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9235440" y="297180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235440" y="3264408"/>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9235440" y="3557016"/>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sp>
        <p:nvSpPr>
          <p:cNvPr id="37" name="Đáp án C"/>
          <p:cNvSpPr/>
          <p:nvPr/>
        </p:nvSpPr>
        <p:spPr>
          <a:xfrm>
            <a:off x="530352" y="4105656"/>
            <a:ext cx="4215384"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Lợi ích cá nhân luôn cao hơn lợi ích chung, bất kể hậu quả.</a:t>
            </a:r>
          </a:p>
        </p:txBody>
      </p:sp>
      <p:sp>
        <p:nvSpPr>
          <p:cNvPr id="38" name="Oval 37"/>
          <p:cNvSpPr/>
          <p:nvPr/>
        </p:nvSpPr>
        <p:spPr>
          <a:xfrm>
            <a:off x="685800"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C</a:t>
            </a:r>
          </a:p>
        </p:txBody>
      </p:sp>
      <p:sp>
        <p:nvSpPr>
          <p:cNvPr id="39" name="Đáp án D"/>
          <p:cNvSpPr/>
          <p:nvPr/>
        </p:nvSpPr>
        <p:spPr>
          <a:xfrm>
            <a:off x="4937760" y="4105656"/>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8A979B"/>
                </a:solidFill>
                <a:latin typeface="Aptos"/>
              </a:rPr>
              <a:t>Lợi ích tập thể luôn đúng nên có thể phủ nhận quyền chính đáng của cá nhân.</a:t>
            </a:r>
          </a:p>
        </p:txBody>
      </p:sp>
      <p:sp>
        <p:nvSpPr>
          <p:cNvPr id="40" name="Oval 39"/>
          <p:cNvSpPr/>
          <p:nvPr/>
        </p:nvSpPr>
        <p:spPr>
          <a:xfrm>
            <a:off x="5093208"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D</a:t>
            </a:r>
          </a:p>
        </p:txBody>
      </p:sp>
      <p:sp>
        <p:nvSpPr>
          <p:cNvPr id="41" name="Rounded Rectangle 40"/>
          <p:cNvSpPr/>
          <p:nvPr/>
        </p:nvSpPr>
        <p:spPr>
          <a:xfrm>
            <a:off x="530352" y="5431536"/>
            <a:ext cx="5989320" cy="868680"/>
          </a:xfrm>
          <a:prstGeom prst="roundRect">
            <a:avLst/>
          </a:prstGeom>
          <a:solidFill>
            <a:srgbClr val="FBE5E3"/>
          </a:solidFill>
          <a:ln w="12700">
            <a:solidFill>
              <a:srgbClr val="F0C7C4"/>
            </a:solid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l">
              <a:lnSpc>
                <a:spcPct val="100000"/>
              </a:lnSpc>
              <a:spcBef>
                <a:spcPts val="0"/>
              </a:spcBef>
              <a:spcAft>
                <a:spcPts val="0"/>
              </a:spcAft>
            </a:pPr>
            <a:r>
              <a:rPr sz="980" b="1" i="0">
                <a:solidFill>
                  <a:srgbClr val="18324A"/>
                </a:solidFill>
                <a:latin typeface="Aptos"/>
              </a:rPr>
              <a:t>BẠN CHỌN: B  ·  ĐÁP ÁN ĐÚNG: A
Xã hội tạo điều kiện và giới hạn cho cá nhân; cá nhân chủ động hoạt động, đóng góp và có thể cải biến xã hội; cần hài hòa lợi ích chính đáng.
QUÀ ĐẠT ĐƯỢC LƯỢT NÀY: Quà nhỏ</a:t>
            </a:r>
          </a:p>
        </p:txBody>
      </p:sp>
      <p:sp>
        <p:nvSpPr>
          <p:cNvPr id="42" name="Nút: NGƯỜI CHƠI TIẾP THEO  →">
            <a:hlinkClick r:id="rId2" action="ppaction://hlinksldjump"/>
          </p:cNvPr>
          <p:cNvSpPr/>
          <p:nvPr/>
        </p:nvSpPr>
        <p:spPr>
          <a:xfrm>
            <a:off x="6711696" y="5431536"/>
            <a:ext cx="2505456" cy="86868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240" b="1" i="0">
                <a:solidFill>
                  <a:srgbClr val="FFFFFF"/>
                </a:solidFill>
                <a:latin typeface="Trebuchet MS"/>
              </a:rPr>
              <a:t>NGƯỜI CHƠI TIẾP THEO  →</a:t>
            </a:r>
          </a:p>
        </p:txBody>
      </p:sp>
    </p:spTree>
  </p:cSld>
  <p:clrMapOvr>
    <a:masterClrMapping/>
  </p:clrMapOvr>
  <p:transition spd="med" advClick="0">
    <p:fade/>
  </p:transition>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03 / 05</a:t>
            </a:r>
          </a:p>
        </p:txBody>
      </p:sp>
      <p:sp>
        <p:nvSpPr>
          <p:cNvPr id="5" name="Rounded Rectangle 4"/>
          <p:cNvSpPr/>
          <p:nvPr/>
        </p:nvSpPr>
        <p:spPr>
          <a:xfrm>
            <a:off x="2240280" y="749808"/>
            <a:ext cx="1389888" cy="292608"/>
          </a:xfrm>
          <a:prstGeom prst="roundRect">
            <a:avLst/>
          </a:prstGeom>
          <a:solidFill>
            <a:srgbClr val="FFF0C2"/>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18324A"/>
                </a:solidFill>
                <a:latin typeface="Trebuchet MS"/>
              </a:rPr>
              <a:t>TRUNG BÌNH</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02 / 03</a:t>
            </a:r>
          </a:p>
        </p:txBody>
      </p:sp>
      <p:sp>
        <p:nvSpPr>
          <p:cNvPr id="7" name="Rounded Rectangle 6"/>
          <p:cNvSpPr/>
          <p:nvPr/>
        </p:nvSpPr>
        <p:spPr>
          <a:xfrm>
            <a:off x="7562088" y="749808"/>
            <a:ext cx="1581912" cy="292608"/>
          </a:xfrm>
          <a:prstGeom prst="roundRect">
            <a:avLst/>
          </a:prstGeom>
          <a:solidFill>
            <a:srgbClr val="FBE3E3"/>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1000" b="1" i="0">
                <a:solidFill>
                  <a:srgbClr val="B8424C"/>
                </a:solidFill>
                <a:latin typeface="Trebuchet MS"/>
              </a:rPr>
              <a:t>RẤT TIẾC!</a:t>
            </a:r>
          </a:p>
        </p:txBody>
      </p:sp>
      <p:sp>
        <p:nvSpPr>
          <p:cNvPr id="8"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1" name="TextBox 10"/>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2100" b="1" i="0">
                <a:solidFill>
                  <a:srgbClr val="FFFFFF"/>
                </a:solidFill>
                <a:latin typeface="Aptos"/>
              </a:rPr>
              <a:t>Quan hệ biện chứng hai chiều giữa cá nhân và xã hội được hiểu đúng nhất như thế nào?</a:t>
            </a:r>
          </a:p>
        </p:txBody>
      </p:sp>
      <p:sp>
        <p:nvSpPr>
          <p:cNvPr id="12"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4" name="TextBox 13"/>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5" name="Rounded Rectangle 14"/>
          <p:cNvSpPr/>
          <p:nvPr/>
        </p:nvSpPr>
        <p:spPr>
          <a:xfrm>
            <a:off x="9646920" y="1371600"/>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01</a:t>
            </a:r>
          </a:p>
        </p:txBody>
      </p:sp>
      <p:sp>
        <p:nvSpPr>
          <p:cNvPr id="17" name="TextBox 16"/>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nhỏ</a:t>
            </a:r>
          </a:p>
        </p:txBody>
      </p:sp>
      <p:sp>
        <p:nvSpPr>
          <p:cNvPr id="18" name="Rounded Rectangle 17"/>
          <p:cNvSpPr/>
          <p:nvPr/>
        </p:nvSpPr>
        <p:spPr>
          <a:xfrm>
            <a:off x="9646920" y="2487168"/>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02</a:t>
            </a:r>
          </a:p>
        </p:txBody>
      </p:sp>
      <p:sp>
        <p:nvSpPr>
          <p:cNvPr id="20" name="TextBox 19"/>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vừa</a:t>
            </a:r>
          </a:p>
        </p:txBody>
      </p:sp>
      <p:sp>
        <p:nvSpPr>
          <p:cNvPr id="21" name="Rounded Rectangle 20"/>
          <p:cNvSpPr/>
          <p:nvPr/>
        </p:nvSpPr>
        <p:spPr>
          <a:xfrm>
            <a:off x="9646920" y="3602736"/>
            <a:ext cx="1956816" cy="877824"/>
          </a:xfrm>
          <a:prstGeom prst="roundRect">
            <a:avLst/>
          </a:prstGeom>
          <a:solidFill>
            <a:srgbClr val="263F53"/>
          </a:solidFill>
          <a:ln w="12700">
            <a:solidFill>
              <a:srgbClr val="4059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B9C7CC"/>
                </a:solidFill>
                <a:latin typeface="Trebuchet MS"/>
              </a:rPr>
              <a:t>CHƯA MỞ  ·  CÂU 03</a:t>
            </a:r>
          </a:p>
        </p:txBody>
      </p:sp>
      <p:sp>
        <p:nvSpPr>
          <p:cNvPr id="23" name="TextBox 22"/>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B9C7CC"/>
                </a:solidFill>
                <a:latin typeface="Trebuchet MS"/>
              </a:rPr>
              <a:t>Quà lớn</a:t>
            </a:r>
          </a:p>
        </p:txBody>
      </p:sp>
      <p:sp>
        <p:nvSpPr>
          <p:cNvPr id="24" name="TextBox 23"/>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QUÀ GIỮ LẠI</a:t>
            </a:r>
          </a:p>
        </p:txBody>
      </p:sp>
      <p:sp>
        <p:nvSpPr>
          <p:cNvPr id="25" name="TextBox 24"/>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Quà nhỏ</a:t>
            </a:r>
          </a:p>
        </p:txBody>
      </p:sp>
      <p:sp>
        <p:nvSpPr>
          <p:cNvPr id="26" name="TextBox 25"/>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7" name="Đáp án A"/>
          <p:cNvSpPr/>
          <p:nvPr/>
        </p:nvSpPr>
        <p:spPr>
          <a:xfrm>
            <a:off x="530352" y="2770632"/>
            <a:ext cx="4215384" cy="1170432"/>
          </a:xfrm>
          <a:prstGeom prst="roundRect">
            <a:avLst/>
          </a:prstGeom>
          <a:solidFill>
            <a:srgbClr val="2F9C72"/>
          </a:solidFill>
          <a:ln w="15875">
            <a:solidFill>
              <a:srgbClr val="2F9C72"/>
            </a:solidFill>
          </a:ln>
          <a:effectLst>
            <a:glow rad="190000">
              <a:srgbClr val="73D9A5">
                <a:alpha val="52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380" b="1" i="0">
                <a:solidFill>
                  <a:srgbClr val="FFFFFF"/>
                </a:solidFill>
                <a:latin typeface="Aptos"/>
              </a:rPr>
              <a:t>Xã hội tạo điều kiện và giới hạn cho cá nhân; cá nhân chủ động hoạt động, đóng góp và có thể cải biến xã hội; cần hài hòa lợi ích chính đáng.</a:t>
            </a:r>
          </a:p>
        </p:txBody>
      </p:sp>
      <p:sp>
        <p:nvSpPr>
          <p:cNvPr id="28" name="Oval 27"/>
          <p:cNvSpPr/>
          <p:nvPr/>
        </p:nvSpPr>
        <p:spPr>
          <a:xfrm>
            <a:off x="685800" y="3154679"/>
            <a:ext cx="402336" cy="402336"/>
          </a:xfrm>
          <a:prstGeom prst="ellipse">
            <a:avLst/>
          </a:prstGeom>
          <a:solidFill>
            <a:srgbClr val="FFFFFF"/>
          </a:solidFill>
          <a:ln w="12700">
            <a:solidFill>
              <a:srgbClr val="2F9C72"/>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F9C72"/>
                </a:solidFill>
                <a:latin typeface="Trebuchet MS"/>
              </a:rPr>
              <a:t>A</a:t>
            </a:r>
          </a:p>
        </p:txBody>
      </p:sp>
      <p:sp>
        <p:nvSpPr>
          <p:cNvPr id="29" name="Đáp án B"/>
          <p:cNvSpPr/>
          <p:nvPr/>
        </p:nvSpPr>
        <p:spPr>
          <a:xfrm>
            <a:off x="4937760" y="2770632"/>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8A979B"/>
                </a:solidFill>
                <a:latin typeface="Aptos"/>
              </a:rPr>
              <a:t>Xã hội quyết định hoàn toàn cá nhân nên cá nhân không có tính chủ động.</a:t>
            </a:r>
          </a:p>
        </p:txBody>
      </p:sp>
      <p:sp>
        <p:nvSpPr>
          <p:cNvPr id="30" name="Oval 29"/>
          <p:cNvSpPr/>
          <p:nvPr/>
        </p:nvSpPr>
        <p:spPr>
          <a:xfrm>
            <a:off x="5093208" y="3154679"/>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B</a:t>
            </a:r>
          </a:p>
        </p:txBody>
      </p:sp>
      <p:sp>
        <p:nvSpPr>
          <p:cNvPr id="31" name="Đáp án C"/>
          <p:cNvSpPr/>
          <p:nvPr/>
        </p:nvSpPr>
        <p:spPr>
          <a:xfrm>
            <a:off x="530352" y="4105656"/>
            <a:ext cx="4215384" cy="1170432"/>
          </a:xfrm>
          <a:prstGeom prst="roundRect">
            <a:avLst/>
          </a:prstGeom>
          <a:solidFill>
            <a:srgbClr val="E45C64"/>
          </a:solidFill>
          <a:ln w="15875">
            <a:solidFill>
              <a:srgbClr val="B8424C"/>
            </a:solidFill>
          </a:ln>
          <a:effectLst>
            <a:glow rad="110000">
              <a:srgbClr val="E45C64">
                <a:alpha val="35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1" i="0">
                <a:solidFill>
                  <a:srgbClr val="FFFFFF"/>
                </a:solidFill>
                <a:latin typeface="Aptos"/>
              </a:rPr>
              <a:t>Lợi ích cá nhân luôn cao hơn lợi ích chung, bất kể hậu quả.</a:t>
            </a:r>
          </a:p>
        </p:txBody>
      </p:sp>
      <p:sp>
        <p:nvSpPr>
          <p:cNvPr id="32" name="Oval 31"/>
          <p:cNvSpPr/>
          <p:nvPr/>
        </p:nvSpPr>
        <p:spPr>
          <a:xfrm>
            <a:off x="685800" y="4489704"/>
            <a:ext cx="402336" cy="402336"/>
          </a:xfrm>
          <a:prstGeom prst="ellipse">
            <a:avLst/>
          </a:prstGeom>
          <a:solidFill>
            <a:srgbClr val="FFFFFF"/>
          </a:solidFill>
          <a:ln w="12700">
            <a:solidFill>
              <a:srgbClr val="B8424C"/>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B8424C"/>
                </a:solidFill>
                <a:latin typeface="Trebuchet MS"/>
              </a:rPr>
              <a:t>C</a:t>
            </a:r>
          </a:p>
        </p:txBody>
      </p:sp>
      <p:cxnSp>
        <p:nvCxnSpPr>
          <p:cNvPr id="33" name="Connector 32"/>
          <p:cNvCxnSpPr/>
          <p:nvPr/>
        </p:nvCxnSpPr>
        <p:spPr>
          <a:xfrm>
            <a:off x="438912" y="4306824"/>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38912" y="4599432"/>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38912" y="489204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4764024" y="4306824"/>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764024" y="4599432"/>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764024" y="489204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sp>
        <p:nvSpPr>
          <p:cNvPr id="39" name="Đáp án D"/>
          <p:cNvSpPr/>
          <p:nvPr/>
        </p:nvSpPr>
        <p:spPr>
          <a:xfrm>
            <a:off x="4937760" y="4105656"/>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8A979B"/>
                </a:solidFill>
                <a:latin typeface="Aptos"/>
              </a:rPr>
              <a:t>Lợi ích tập thể luôn đúng nên có thể phủ nhận quyền chính đáng của cá nhân.</a:t>
            </a:r>
          </a:p>
        </p:txBody>
      </p:sp>
      <p:sp>
        <p:nvSpPr>
          <p:cNvPr id="40" name="Oval 39"/>
          <p:cNvSpPr/>
          <p:nvPr/>
        </p:nvSpPr>
        <p:spPr>
          <a:xfrm>
            <a:off x="5093208"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D</a:t>
            </a:r>
          </a:p>
        </p:txBody>
      </p:sp>
      <p:sp>
        <p:nvSpPr>
          <p:cNvPr id="41" name="Rounded Rectangle 40"/>
          <p:cNvSpPr/>
          <p:nvPr/>
        </p:nvSpPr>
        <p:spPr>
          <a:xfrm>
            <a:off x="530352" y="5431536"/>
            <a:ext cx="5989320" cy="868680"/>
          </a:xfrm>
          <a:prstGeom prst="roundRect">
            <a:avLst/>
          </a:prstGeom>
          <a:solidFill>
            <a:srgbClr val="FBE5E3"/>
          </a:solidFill>
          <a:ln w="12700">
            <a:solidFill>
              <a:srgbClr val="F0C7C4"/>
            </a:solid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l">
              <a:lnSpc>
                <a:spcPct val="100000"/>
              </a:lnSpc>
              <a:spcBef>
                <a:spcPts val="0"/>
              </a:spcBef>
              <a:spcAft>
                <a:spcPts val="0"/>
              </a:spcAft>
            </a:pPr>
            <a:r>
              <a:rPr sz="980" b="1" i="0">
                <a:solidFill>
                  <a:srgbClr val="18324A"/>
                </a:solidFill>
                <a:latin typeface="Aptos"/>
              </a:rPr>
              <a:t>BẠN CHỌN: C  ·  ĐÁP ÁN ĐÚNG: A
Xã hội tạo điều kiện và giới hạn cho cá nhân; cá nhân chủ động hoạt động, đóng góp và có thể cải biến xã hội; cần hài hòa lợi ích chính đáng.
QUÀ ĐẠT ĐƯỢC LƯỢT NÀY: Quà nhỏ</a:t>
            </a:r>
          </a:p>
        </p:txBody>
      </p:sp>
      <p:sp>
        <p:nvSpPr>
          <p:cNvPr id="42" name="Nút: NGƯỜI CHƠI TIẾP THEO  →">
            <a:hlinkClick r:id="rId2" action="ppaction://hlinksldjump"/>
          </p:cNvPr>
          <p:cNvSpPr/>
          <p:nvPr/>
        </p:nvSpPr>
        <p:spPr>
          <a:xfrm>
            <a:off x="6711696" y="5431536"/>
            <a:ext cx="2505456" cy="86868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240" b="1" i="0">
                <a:solidFill>
                  <a:srgbClr val="FFFFFF"/>
                </a:solidFill>
                <a:latin typeface="Trebuchet MS"/>
              </a:rPr>
              <a:t>NGƯỜI CHƠI TIẾP THEO  →</a:t>
            </a:r>
          </a:p>
        </p:txBody>
      </p:sp>
    </p:spTree>
  </p:cSld>
  <p:clrMapOvr>
    <a:masterClrMapping/>
  </p:clrMapOvr>
  <p:transition spd="med" advClick="0">
    <p:fade/>
  </p:transition>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03 / 05</a:t>
            </a:r>
          </a:p>
        </p:txBody>
      </p:sp>
      <p:sp>
        <p:nvSpPr>
          <p:cNvPr id="5" name="Rounded Rectangle 4"/>
          <p:cNvSpPr/>
          <p:nvPr/>
        </p:nvSpPr>
        <p:spPr>
          <a:xfrm>
            <a:off x="2240280" y="749808"/>
            <a:ext cx="1389888" cy="292608"/>
          </a:xfrm>
          <a:prstGeom prst="roundRect">
            <a:avLst/>
          </a:prstGeom>
          <a:solidFill>
            <a:srgbClr val="FFF0C2"/>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18324A"/>
                </a:solidFill>
                <a:latin typeface="Trebuchet MS"/>
              </a:rPr>
              <a:t>TRUNG BÌNH</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02 / 03</a:t>
            </a:r>
          </a:p>
        </p:txBody>
      </p:sp>
      <p:sp>
        <p:nvSpPr>
          <p:cNvPr id="7" name="Rounded Rectangle 6"/>
          <p:cNvSpPr/>
          <p:nvPr/>
        </p:nvSpPr>
        <p:spPr>
          <a:xfrm>
            <a:off x="7562088" y="749808"/>
            <a:ext cx="1581912" cy="292608"/>
          </a:xfrm>
          <a:prstGeom prst="roundRect">
            <a:avLst/>
          </a:prstGeom>
          <a:solidFill>
            <a:srgbClr val="FBE3E3"/>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1000" b="1" i="0">
                <a:solidFill>
                  <a:srgbClr val="B8424C"/>
                </a:solidFill>
                <a:latin typeface="Trebuchet MS"/>
              </a:rPr>
              <a:t>RẤT TIẾC!</a:t>
            </a:r>
          </a:p>
        </p:txBody>
      </p:sp>
      <p:sp>
        <p:nvSpPr>
          <p:cNvPr id="8"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1" name="TextBox 10"/>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2100" b="1" i="0">
                <a:solidFill>
                  <a:srgbClr val="FFFFFF"/>
                </a:solidFill>
                <a:latin typeface="Aptos"/>
              </a:rPr>
              <a:t>Quan hệ biện chứng hai chiều giữa cá nhân và xã hội được hiểu đúng nhất như thế nào?</a:t>
            </a:r>
          </a:p>
        </p:txBody>
      </p:sp>
      <p:sp>
        <p:nvSpPr>
          <p:cNvPr id="12"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4" name="TextBox 13"/>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5" name="Rounded Rectangle 14"/>
          <p:cNvSpPr/>
          <p:nvPr/>
        </p:nvSpPr>
        <p:spPr>
          <a:xfrm>
            <a:off x="9646920" y="1371600"/>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01</a:t>
            </a:r>
          </a:p>
        </p:txBody>
      </p:sp>
      <p:sp>
        <p:nvSpPr>
          <p:cNvPr id="17" name="TextBox 16"/>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nhỏ</a:t>
            </a:r>
          </a:p>
        </p:txBody>
      </p:sp>
      <p:sp>
        <p:nvSpPr>
          <p:cNvPr id="18" name="Rounded Rectangle 17"/>
          <p:cNvSpPr/>
          <p:nvPr/>
        </p:nvSpPr>
        <p:spPr>
          <a:xfrm>
            <a:off x="9646920" y="2487168"/>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02</a:t>
            </a:r>
          </a:p>
        </p:txBody>
      </p:sp>
      <p:sp>
        <p:nvSpPr>
          <p:cNvPr id="20" name="TextBox 19"/>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vừa</a:t>
            </a:r>
          </a:p>
        </p:txBody>
      </p:sp>
      <p:sp>
        <p:nvSpPr>
          <p:cNvPr id="21" name="Rounded Rectangle 20"/>
          <p:cNvSpPr/>
          <p:nvPr/>
        </p:nvSpPr>
        <p:spPr>
          <a:xfrm>
            <a:off x="9646920" y="3602736"/>
            <a:ext cx="1956816" cy="877824"/>
          </a:xfrm>
          <a:prstGeom prst="roundRect">
            <a:avLst/>
          </a:prstGeom>
          <a:solidFill>
            <a:srgbClr val="263F53"/>
          </a:solidFill>
          <a:ln w="12700">
            <a:solidFill>
              <a:srgbClr val="4059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B9C7CC"/>
                </a:solidFill>
                <a:latin typeface="Trebuchet MS"/>
              </a:rPr>
              <a:t>CHƯA MỞ  ·  CÂU 03</a:t>
            </a:r>
          </a:p>
        </p:txBody>
      </p:sp>
      <p:sp>
        <p:nvSpPr>
          <p:cNvPr id="23" name="TextBox 22"/>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B9C7CC"/>
                </a:solidFill>
                <a:latin typeface="Trebuchet MS"/>
              </a:rPr>
              <a:t>Quà lớn</a:t>
            </a:r>
          </a:p>
        </p:txBody>
      </p:sp>
      <p:sp>
        <p:nvSpPr>
          <p:cNvPr id="24" name="TextBox 23"/>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QUÀ GIỮ LẠI</a:t>
            </a:r>
          </a:p>
        </p:txBody>
      </p:sp>
      <p:sp>
        <p:nvSpPr>
          <p:cNvPr id="25" name="TextBox 24"/>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Quà nhỏ</a:t>
            </a:r>
          </a:p>
        </p:txBody>
      </p:sp>
      <p:sp>
        <p:nvSpPr>
          <p:cNvPr id="26" name="TextBox 25"/>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7" name="Đáp án A"/>
          <p:cNvSpPr/>
          <p:nvPr/>
        </p:nvSpPr>
        <p:spPr>
          <a:xfrm>
            <a:off x="530352" y="2770632"/>
            <a:ext cx="4215384" cy="1170432"/>
          </a:xfrm>
          <a:prstGeom prst="roundRect">
            <a:avLst/>
          </a:prstGeom>
          <a:solidFill>
            <a:srgbClr val="2F9C72"/>
          </a:solidFill>
          <a:ln w="15875">
            <a:solidFill>
              <a:srgbClr val="2F9C72"/>
            </a:solidFill>
          </a:ln>
          <a:effectLst>
            <a:glow rad="190000">
              <a:srgbClr val="73D9A5">
                <a:alpha val="52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380" b="1" i="0">
                <a:solidFill>
                  <a:srgbClr val="FFFFFF"/>
                </a:solidFill>
                <a:latin typeface="Aptos"/>
              </a:rPr>
              <a:t>Xã hội tạo điều kiện và giới hạn cho cá nhân; cá nhân chủ động hoạt động, đóng góp và có thể cải biến xã hội; cần hài hòa lợi ích chính đáng.</a:t>
            </a:r>
          </a:p>
        </p:txBody>
      </p:sp>
      <p:sp>
        <p:nvSpPr>
          <p:cNvPr id="28" name="Oval 27"/>
          <p:cNvSpPr/>
          <p:nvPr/>
        </p:nvSpPr>
        <p:spPr>
          <a:xfrm>
            <a:off x="685800" y="3154679"/>
            <a:ext cx="402336" cy="402336"/>
          </a:xfrm>
          <a:prstGeom prst="ellipse">
            <a:avLst/>
          </a:prstGeom>
          <a:solidFill>
            <a:srgbClr val="FFFFFF"/>
          </a:solidFill>
          <a:ln w="12700">
            <a:solidFill>
              <a:srgbClr val="2F9C72"/>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F9C72"/>
                </a:solidFill>
                <a:latin typeface="Trebuchet MS"/>
              </a:rPr>
              <a:t>A</a:t>
            </a:r>
          </a:p>
        </p:txBody>
      </p:sp>
      <p:sp>
        <p:nvSpPr>
          <p:cNvPr id="29" name="Đáp án B"/>
          <p:cNvSpPr/>
          <p:nvPr/>
        </p:nvSpPr>
        <p:spPr>
          <a:xfrm>
            <a:off x="4937760" y="2770632"/>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8A979B"/>
                </a:solidFill>
                <a:latin typeface="Aptos"/>
              </a:rPr>
              <a:t>Xã hội quyết định hoàn toàn cá nhân nên cá nhân không có tính chủ động.</a:t>
            </a:r>
          </a:p>
        </p:txBody>
      </p:sp>
      <p:sp>
        <p:nvSpPr>
          <p:cNvPr id="30" name="Oval 29"/>
          <p:cNvSpPr/>
          <p:nvPr/>
        </p:nvSpPr>
        <p:spPr>
          <a:xfrm>
            <a:off x="5093208" y="3154679"/>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B</a:t>
            </a:r>
          </a:p>
        </p:txBody>
      </p:sp>
      <p:sp>
        <p:nvSpPr>
          <p:cNvPr id="31" name="Đáp án C"/>
          <p:cNvSpPr/>
          <p:nvPr/>
        </p:nvSpPr>
        <p:spPr>
          <a:xfrm>
            <a:off x="530352" y="4105656"/>
            <a:ext cx="4215384"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Lợi ích cá nhân luôn cao hơn lợi ích chung, bất kể hậu quả.</a:t>
            </a:r>
          </a:p>
        </p:txBody>
      </p:sp>
      <p:sp>
        <p:nvSpPr>
          <p:cNvPr id="32" name="Oval 31"/>
          <p:cNvSpPr/>
          <p:nvPr/>
        </p:nvSpPr>
        <p:spPr>
          <a:xfrm>
            <a:off x="685800"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C</a:t>
            </a:r>
          </a:p>
        </p:txBody>
      </p:sp>
      <p:sp>
        <p:nvSpPr>
          <p:cNvPr id="33" name="Đáp án D"/>
          <p:cNvSpPr/>
          <p:nvPr/>
        </p:nvSpPr>
        <p:spPr>
          <a:xfrm>
            <a:off x="4937760" y="4105656"/>
            <a:ext cx="4279392" cy="1170432"/>
          </a:xfrm>
          <a:prstGeom prst="roundRect">
            <a:avLst/>
          </a:prstGeom>
          <a:solidFill>
            <a:srgbClr val="E45C64"/>
          </a:solidFill>
          <a:ln w="15875">
            <a:solidFill>
              <a:srgbClr val="B8424C"/>
            </a:solidFill>
          </a:ln>
          <a:effectLst>
            <a:glow rad="110000">
              <a:srgbClr val="E45C64">
                <a:alpha val="35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1" i="0">
                <a:solidFill>
                  <a:srgbClr val="FFFFFF"/>
                </a:solidFill>
                <a:latin typeface="Aptos"/>
              </a:rPr>
              <a:t>Lợi ích tập thể luôn đúng nên có thể phủ nhận quyền chính đáng của cá nhân.</a:t>
            </a:r>
          </a:p>
        </p:txBody>
      </p:sp>
      <p:sp>
        <p:nvSpPr>
          <p:cNvPr id="34" name="Oval 33"/>
          <p:cNvSpPr/>
          <p:nvPr/>
        </p:nvSpPr>
        <p:spPr>
          <a:xfrm>
            <a:off x="5093208" y="4489704"/>
            <a:ext cx="402336" cy="402336"/>
          </a:xfrm>
          <a:prstGeom prst="ellipse">
            <a:avLst/>
          </a:prstGeom>
          <a:solidFill>
            <a:srgbClr val="FFFFFF"/>
          </a:solidFill>
          <a:ln w="12700">
            <a:solidFill>
              <a:srgbClr val="B8424C"/>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B8424C"/>
                </a:solidFill>
                <a:latin typeface="Trebuchet MS"/>
              </a:rPr>
              <a:t>D</a:t>
            </a:r>
          </a:p>
        </p:txBody>
      </p:sp>
      <p:cxnSp>
        <p:nvCxnSpPr>
          <p:cNvPr id="35" name="Connector 34"/>
          <p:cNvCxnSpPr/>
          <p:nvPr/>
        </p:nvCxnSpPr>
        <p:spPr>
          <a:xfrm>
            <a:off x="4846320" y="4306824"/>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4846320" y="4599432"/>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846320" y="489204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9235440" y="4306824"/>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9235440" y="4599432"/>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9235440" y="489204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530352" y="5431536"/>
            <a:ext cx="5989320" cy="868680"/>
          </a:xfrm>
          <a:prstGeom prst="roundRect">
            <a:avLst/>
          </a:prstGeom>
          <a:solidFill>
            <a:srgbClr val="FBE5E3"/>
          </a:solidFill>
          <a:ln w="12700">
            <a:solidFill>
              <a:srgbClr val="F0C7C4"/>
            </a:solid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l">
              <a:lnSpc>
                <a:spcPct val="100000"/>
              </a:lnSpc>
              <a:spcBef>
                <a:spcPts val="0"/>
              </a:spcBef>
              <a:spcAft>
                <a:spcPts val="0"/>
              </a:spcAft>
            </a:pPr>
            <a:r>
              <a:rPr sz="980" b="1" i="0">
                <a:solidFill>
                  <a:srgbClr val="18324A"/>
                </a:solidFill>
                <a:latin typeface="Aptos"/>
              </a:rPr>
              <a:t>BẠN CHỌN: D  ·  ĐÁP ÁN ĐÚNG: A
Xã hội tạo điều kiện và giới hạn cho cá nhân; cá nhân chủ động hoạt động, đóng góp và có thể cải biến xã hội; cần hài hòa lợi ích chính đáng.
QUÀ ĐẠT ĐƯỢC LƯỢT NÀY: Quà nhỏ</a:t>
            </a:r>
          </a:p>
        </p:txBody>
      </p:sp>
      <p:sp>
        <p:nvSpPr>
          <p:cNvPr id="42" name="Nút: NGƯỜI CHƠI TIẾP THEO  →">
            <a:hlinkClick r:id="rId2" action="ppaction://hlinksldjump"/>
          </p:cNvPr>
          <p:cNvSpPr/>
          <p:nvPr/>
        </p:nvSpPr>
        <p:spPr>
          <a:xfrm>
            <a:off x="6711696" y="5431536"/>
            <a:ext cx="2505456" cy="86868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240" b="1" i="0">
                <a:solidFill>
                  <a:srgbClr val="FFFFFF"/>
                </a:solidFill>
                <a:latin typeface="Trebuchet MS"/>
              </a:rPr>
              <a:t>NGƯỜI CHƠI TIẾP THEO  →</a:t>
            </a:r>
          </a:p>
        </p:txBody>
      </p:sp>
    </p:spTree>
  </p:cSld>
  <p:clrMapOvr>
    <a:masterClrMapping/>
  </p:clrMapOvr>
  <p:transition spd="med" advClick="0">
    <p:fade/>
  </p:transition>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03 / 05</a:t>
            </a:r>
          </a:p>
        </p:txBody>
      </p:sp>
      <p:sp>
        <p:nvSpPr>
          <p:cNvPr id="5" name="Rounded Rectangle 4"/>
          <p:cNvSpPr/>
          <p:nvPr/>
        </p:nvSpPr>
        <p:spPr>
          <a:xfrm>
            <a:off x="2240280" y="749808"/>
            <a:ext cx="1389888" cy="292608"/>
          </a:xfrm>
          <a:prstGeom prst="roundRect">
            <a:avLst/>
          </a:prstGeom>
          <a:solidFill>
            <a:srgbClr val="F7E2DD"/>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B8424C"/>
                </a:solidFill>
                <a:latin typeface="Trebuchet MS"/>
              </a:rPr>
              <a:t>KHÓ</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03 / 03</a:t>
            </a:r>
          </a:p>
        </p:txBody>
      </p:sp>
      <p:sp>
        <p:nvSpPr>
          <p:cNvPr id="7"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0" name="TextBox 9"/>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1860" b="1" i="0">
                <a:solidFill>
                  <a:srgbClr val="FFFFFF"/>
                </a:solidFill>
                <a:latin typeface="Aptos"/>
              </a:rPr>
              <a:t>Dùng hình ảnh “người lái đò và dòng sông” để phân tích quan hệ giữa quần chúng nhân dân và cá nhân lãnh tụ, cách hiểu nào biện chứng nhất?</a:t>
            </a:r>
          </a:p>
        </p:txBody>
      </p:sp>
      <p:sp>
        <p:nvSpPr>
          <p:cNvPr id="11"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3" name="TextBox 12"/>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4" name="Rounded Rectangle 13"/>
          <p:cNvSpPr/>
          <p:nvPr/>
        </p:nvSpPr>
        <p:spPr>
          <a:xfrm>
            <a:off x="9646920" y="1371600"/>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01</a:t>
            </a:r>
          </a:p>
        </p:txBody>
      </p:sp>
      <p:sp>
        <p:nvSpPr>
          <p:cNvPr id="16" name="TextBox 15"/>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nhỏ</a:t>
            </a:r>
          </a:p>
        </p:txBody>
      </p:sp>
      <p:sp>
        <p:nvSpPr>
          <p:cNvPr id="17" name="Rounded Rectangle 16"/>
          <p:cNvSpPr/>
          <p:nvPr/>
        </p:nvSpPr>
        <p:spPr>
          <a:xfrm>
            <a:off x="9646920" y="2487168"/>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02</a:t>
            </a:r>
          </a:p>
        </p:txBody>
      </p:sp>
      <p:sp>
        <p:nvSpPr>
          <p:cNvPr id="19" name="TextBox 18"/>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vừa</a:t>
            </a:r>
          </a:p>
        </p:txBody>
      </p:sp>
      <p:sp>
        <p:nvSpPr>
          <p:cNvPr id="20" name="Rounded Rectangle 19"/>
          <p:cNvSpPr/>
          <p:nvPr/>
        </p:nvSpPr>
        <p:spPr>
          <a:xfrm>
            <a:off x="9646920" y="3602736"/>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03</a:t>
            </a:r>
          </a:p>
        </p:txBody>
      </p:sp>
      <p:sp>
        <p:nvSpPr>
          <p:cNvPr id="22" name="TextBox 21"/>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lớn</a:t>
            </a:r>
          </a:p>
        </p:txBody>
      </p:sp>
      <p:sp>
        <p:nvSpPr>
          <p:cNvPr id="23" name="TextBox 22"/>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MỐC AN TOÀN</a:t>
            </a:r>
          </a:p>
        </p:txBody>
      </p:sp>
      <p:sp>
        <p:nvSpPr>
          <p:cNvPr id="24" name="TextBox 23"/>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Quà vừa</a:t>
            </a:r>
          </a:p>
        </p:txBody>
      </p:sp>
      <p:sp>
        <p:nvSpPr>
          <p:cNvPr id="25" name="TextBox 24"/>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6" name="Đáp án A">
            <a:hlinkClick r:id="rId2" action="ppaction://hlinksldjump"/>
          </p:cNvPr>
          <p:cNvSpPr/>
          <p:nvPr/>
        </p:nvSpPr>
        <p:spPr>
          <a:xfrm>
            <a:off x="530352" y="2770632"/>
            <a:ext cx="4215384" cy="1170432"/>
          </a:xfrm>
          <a:prstGeom prst="roundRect">
            <a:avLst/>
          </a:prstGeom>
          <a:solidFill>
            <a:srgbClr val="FBFCF9"/>
          </a:solidFill>
          <a:ln w="15875">
            <a:solidFill>
              <a:srgbClr val="D7DED8"/>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250" b="0" i="0">
                <a:solidFill>
                  <a:srgbClr val="18324A"/>
                </a:solidFill>
                <a:latin typeface="Aptos"/>
              </a:rPr>
              <a:t>Quần chúng là dòng chảy, nền tảng tạo sức mạnh lịch sử; lãnh tụ đọc thời thế, định hướng và tổ chức. Người lái đò không thay được dòng sông, nhưng định hướng tốt giúp dòng chảy tới đích.</a:t>
            </a:r>
          </a:p>
        </p:txBody>
      </p:sp>
      <p:sp>
        <p:nvSpPr>
          <p:cNvPr id="27" name="Oval 26">
            <a:hlinkClick r:id="rId2" action="ppaction://hlinksldjump"/>
          </p:cNvPr>
          <p:cNvSpPr/>
          <p:nvPr/>
        </p:nvSpPr>
        <p:spPr>
          <a:xfrm>
            <a:off x="685800" y="3154679"/>
            <a:ext cx="402336" cy="402336"/>
          </a:xfrm>
          <a:prstGeom prst="ellipse">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E8177"/>
                </a:solidFill>
                <a:latin typeface="Trebuchet MS"/>
              </a:rPr>
              <a:t>A</a:t>
            </a:r>
          </a:p>
        </p:txBody>
      </p:sp>
      <p:sp>
        <p:nvSpPr>
          <p:cNvPr id="28" name="Đáp án B">
            <a:hlinkClick r:id="rId3" action="ppaction://hlinksldjump"/>
          </p:cNvPr>
          <p:cNvSpPr/>
          <p:nvPr/>
        </p:nvSpPr>
        <p:spPr>
          <a:xfrm>
            <a:off x="4937760" y="2770632"/>
            <a:ext cx="4279392" cy="1170432"/>
          </a:xfrm>
          <a:prstGeom prst="roundRect">
            <a:avLst/>
          </a:prstGeom>
          <a:solidFill>
            <a:srgbClr val="FBFCF9"/>
          </a:solidFill>
          <a:ln w="15875">
            <a:solidFill>
              <a:srgbClr val="D7DED8"/>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18324A"/>
                </a:solidFill>
                <a:latin typeface="Aptos"/>
              </a:rPr>
              <a:t>Lãnh tụ tự mình làm nên lịch sử; quần chúng chỉ đi theo và không có vai trò sáng tạo.</a:t>
            </a:r>
          </a:p>
        </p:txBody>
      </p:sp>
      <p:sp>
        <p:nvSpPr>
          <p:cNvPr id="29" name="Oval 28">
            <a:hlinkClick r:id="rId3" action="ppaction://hlinksldjump"/>
          </p:cNvPr>
          <p:cNvSpPr/>
          <p:nvPr/>
        </p:nvSpPr>
        <p:spPr>
          <a:xfrm>
            <a:off x="5093208" y="3154679"/>
            <a:ext cx="402336" cy="402336"/>
          </a:xfrm>
          <a:prstGeom prst="ellipse">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E8177"/>
                </a:solidFill>
                <a:latin typeface="Trebuchet MS"/>
              </a:rPr>
              <a:t>B</a:t>
            </a:r>
          </a:p>
        </p:txBody>
      </p:sp>
      <p:sp>
        <p:nvSpPr>
          <p:cNvPr id="30" name="Đáp án C">
            <a:hlinkClick r:id="rId4" action="ppaction://hlinksldjump"/>
          </p:cNvPr>
          <p:cNvSpPr/>
          <p:nvPr/>
        </p:nvSpPr>
        <p:spPr>
          <a:xfrm>
            <a:off x="530352" y="4105656"/>
            <a:ext cx="4215384" cy="1170432"/>
          </a:xfrm>
          <a:prstGeom prst="roundRect">
            <a:avLst/>
          </a:prstGeom>
          <a:solidFill>
            <a:srgbClr val="FBFCF9"/>
          </a:solidFill>
          <a:ln w="15875">
            <a:solidFill>
              <a:srgbClr val="D7DED8"/>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18324A"/>
                </a:solidFill>
                <a:latin typeface="Aptos"/>
              </a:rPr>
              <a:t>Dòng sông tự chảy nên định hướng và tổ chức của lãnh tụ, tổ chức là không cần thiết.</a:t>
            </a:r>
          </a:p>
        </p:txBody>
      </p:sp>
      <p:sp>
        <p:nvSpPr>
          <p:cNvPr id="31" name="Oval 30">
            <a:hlinkClick r:id="rId4" action="ppaction://hlinksldjump"/>
          </p:cNvPr>
          <p:cNvSpPr/>
          <p:nvPr/>
        </p:nvSpPr>
        <p:spPr>
          <a:xfrm>
            <a:off x="685800" y="4489704"/>
            <a:ext cx="402336" cy="402336"/>
          </a:xfrm>
          <a:prstGeom prst="ellipse">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E8177"/>
                </a:solidFill>
                <a:latin typeface="Trebuchet MS"/>
              </a:rPr>
              <a:t>C</a:t>
            </a:r>
          </a:p>
        </p:txBody>
      </p:sp>
      <p:sp>
        <p:nvSpPr>
          <p:cNvPr id="32" name="Đáp án D">
            <a:hlinkClick r:id="rId5" action="ppaction://hlinksldjump"/>
          </p:cNvPr>
          <p:cNvSpPr/>
          <p:nvPr/>
        </p:nvSpPr>
        <p:spPr>
          <a:xfrm>
            <a:off x="4937760" y="4105656"/>
            <a:ext cx="4279392" cy="1170432"/>
          </a:xfrm>
          <a:prstGeom prst="roundRect">
            <a:avLst/>
          </a:prstGeom>
          <a:solidFill>
            <a:srgbClr val="FBFCF9"/>
          </a:solidFill>
          <a:ln w="15875">
            <a:solidFill>
              <a:srgbClr val="D7DED8"/>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18324A"/>
                </a:solidFill>
                <a:latin typeface="Aptos"/>
              </a:rPr>
              <a:t>Lãnh tụ và quần chúng tách biệt, không tác động qua lại.</a:t>
            </a:r>
          </a:p>
        </p:txBody>
      </p:sp>
      <p:sp>
        <p:nvSpPr>
          <p:cNvPr id="33" name="Oval 32">
            <a:hlinkClick r:id="rId5" action="ppaction://hlinksldjump"/>
          </p:cNvPr>
          <p:cNvSpPr/>
          <p:nvPr/>
        </p:nvSpPr>
        <p:spPr>
          <a:xfrm>
            <a:off x="5093208" y="4489704"/>
            <a:ext cx="402336" cy="402336"/>
          </a:xfrm>
          <a:prstGeom prst="ellipse">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E8177"/>
                </a:solidFill>
                <a:latin typeface="Trebuchet MS"/>
              </a:rPr>
              <a:t>D</a:t>
            </a:r>
          </a:p>
        </p:txBody>
      </p:sp>
      <p:sp>
        <p:nvSpPr>
          <p:cNvPr id="34" name="TextBox 33"/>
          <p:cNvSpPr txBox="1"/>
          <p:nvPr/>
        </p:nvSpPr>
        <p:spPr>
          <a:xfrm>
            <a:off x="621792" y="5431536"/>
            <a:ext cx="8485632" cy="36576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080" b="1" i="0">
                <a:solidFill>
                  <a:srgbClr val="657883"/>
                </a:solidFill>
                <a:latin typeface="Trebuchet MS"/>
              </a:rPr>
              <a:t>CHỌN MỘT ĐÁP ÁN  ·  BẤM TRỰC TIẾP VÀO THẺ A / B / C / D</a:t>
            </a:r>
          </a:p>
        </p:txBody>
      </p:sp>
    </p:spTree>
  </p:cSld>
  <p:clrMapOvr>
    <a:masterClrMapping/>
  </p:clrMapOvr>
  <p:transition spd="med" advClick="0">
    <p:fade/>
  </p:transition>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03 / 05</a:t>
            </a:r>
          </a:p>
        </p:txBody>
      </p:sp>
      <p:sp>
        <p:nvSpPr>
          <p:cNvPr id="5" name="Rounded Rectangle 4"/>
          <p:cNvSpPr/>
          <p:nvPr/>
        </p:nvSpPr>
        <p:spPr>
          <a:xfrm>
            <a:off x="2240280" y="749808"/>
            <a:ext cx="1389888" cy="292608"/>
          </a:xfrm>
          <a:prstGeom prst="roundRect">
            <a:avLst/>
          </a:prstGeom>
          <a:solidFill>
            <a:srgbClr val="F7E2DD"/>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B8424C"/>
                </a:solidFill>
                <a:latin typeface="Trebuchet MS"/>
              </a:rPr>
              <a:t>KHÓ</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03 / 03</a:t>
            </a:r>
          </a:p>
        </p:txBody>
      </p:sp>
      <p:sp>
        <p:nvSpPr>
          <p:cNvPr id="7" name="Rounded Rectangle 6"/>
          <p:cNvSpPr/>
          <p:nvPr/>
        </p:nvSpPr>
        <p:spPr>
          <a:xfrm>
            <a:off x="7562088" y="749808"/>
            <a:ext cx="1581912" cy="292608"/>
          </a:xfrm>
          <a:prstGeom prst="roundRect">
            <a:avLst/>
          </a:prstGeom>
          <a:solidFill>
            <a:srgbClr val="D9F0E3"/>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1000" b="1" i="0">
                <a:solidFill>
                  <a:srgbClr val="2F9C72"/>
                </a:solidFill>
                <a:latin typeface="Trebuchet MS"/>
              </a:rPr>
              <a:t>CHÍNH XÁC!</a:t>
            </a:r>
          </a:p>
        </p:txBody>
      </p:sp>
      <p:sp>
        <p:nvSpPr>
          <p:cNvPr id="8"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1" name="TextBox 10"/>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1860" b="1" i="0">
                <a:solidFill>
                  <a:srgbClr val="FFFFFF"/>
                </a:solidFill>
                <a:latin typeface="Aptos"/>
              </a:rPr>
              <a:t>Dùng hình ảnh “người lái đò và dòng sông” để phân tích quan hệ giữa quần chúng nhân dân và cá nhân lãnh tụ, cách hiểu nào biện chứng nhất?</a:t>
            </a:r>
          </a:p>
        </p:txBody>
      </p:sp>
      <p:sp>
        <p:nvSpPr>
          <p:cNvPr id="12"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4" name="TextBox 13"/>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5" name="Rounded Rectangle 14"/>
          <p:cNvSpPr/>
          <p:nvPr/>
        </p:nvSpPr>
        <p:spPr>
          <a:xfrm>
            <a:off x="9646920" y="1371600"/>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01</a:t>
            </a:r>
          </a:p>
        </p:txBody>
      </p:sp>
      <p:sp>
        <p:nvSpPr>
          <p:cNvPr id="17" name="TextBox 16"/>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nhỏ</a:t>
            </a:r>
          </a:p>
        </p:txBody>
      </p:sp>
      <p:sp>
        <p:nvSpPr>
          <p:cNvPr id="18" name="Rounded Rectangle 17"/>
          <p:cNvSpPr/>
          <p:nvPr/>
        </p:nvSpPr>
        <p:spPr>
          <a:xfrm>
            <a:off x="9646920" y="2487168"/>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02</a:t>
            </a:r>
          </a:p>
        </p:txBody>
      </p:sp>
      <p:sp>
        <p:nvSpPr>
          <p:cNvPr id="20" name="TextBox 19"/>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vừa</a:t>
            </a:r>
          </a:p>
        </p:txBody>
      </p:sp>
      <p:sp>
        <p:nvSpPr>
          <p:cNvPr id="21" name="Rounded Rectangle 20"/>
          <p:cNvSpPr/>
          <p:nvPr/>
        </p:nvSpPr>
        <p:spPr>
          <a:xfrm>
            <a:off x="9646920" y="3602736"/>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03</a:t>
            </a:r>
          </a:p>
        </p:txBody>
      </p:sp>
      <p:sp>
        <p:nvSpPr>
          <p:cNvPr id="23" name="TextBox 22"/>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lớn</a:t>
            </a:r>
          </a:p>
        </p:txBody>
      </p:sp>
      <p:sp>
        <p:nvSpPr>
          <p:cNvPr id="24" name="TextBox 23"/>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PHẦN QUÀ CUỐI</a:t>
            </a:r>
          </a:p>
        </p:txBody>
      </p:sp>
      <p:sp>
        <p:nvSpPr>
          <p:cNvPr id="25" name="TextBox 24"/>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Quà lớn</a:t>
            </a:r>
          </a:p>
        </p:txBody>
      </p:sp>
      <p:sp>
        <p:nvSpPr>
          <p:cNvPr id="26" name="TextBox 25"/>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7" name="Đáp án A"/>
          <p:cNvSpPr/>
          <p:nvPr/>
        </p:nvSpPr>
        <p:spPr>
          <a:xfrm>
            <a:off x="530352" y="2770632"/>
            <a:ext cx="4215384" cy="1170432"/>
          </a:xfrm>
          <a:prstGeom prst="roundRect">
            <a:avLst/>
          </a:prstGeom>
          <a:solidFill>
            <a:srgbClr val="FFD05A"/>
          </a:solidFill>
          <a:ln w="15875">
            <a:solidFill>
              <a:srgbClr val="D9A92E"/>
            </a:solidFill>
          </a:ln>
          <a:effectLst>
            <a:glow rad="190000">
              <a:srgbClr val="FFD05A">
                <a:alpha val="52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250" b="1" i="0">
                <a:solidFill>
                  <a:srgbClr val="18324A"/>
                </a:solidFill>
                <a:latin typeface="Aptos"/>
              </a:rPr>
              <a:t>Quần chúng là dòng chảy, nền tảng tạo sức mạnh lịch sử; lãnh tụ đọc thời thế, định hướng và tổ chức. Người lái đò không thay được dòng sông, nhưng định hướng tốt giúp dòng chảy tới đích.</a:t>
            </a:r>
          </a:p>
        </p:txBody>
      </p:sp>
      <p:sp>
        <p:nvSpPr>
          <p:cNvPr id="28" name="Oval 27"/>
          <p:cNvSpPr/>
          <p:nvPr/>
        </p:nvSpPr>
        <p:spPr>
          <a:xfrm>
            <a:off x="685800" y="3154679"/>
            <a:ext cx="402336" cy="402336"/>
          </a:xfrm>
          <a:prstGeom prst="ellipse">
            <a:avLst/>
          </a:prstGeom>
          <a:solidFill>
            <a:srgbClr val="18324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FFD05A"/>
                </a:solidFill>
                <a:latin typeface="Trebuchet MS"/>
              </a:rPr>
              <a:t>A</a:t>
            </a:r>
          </a:p>
        </p:txBody>
      </p:sp>
      <p:sp>
        <p:nvSpPr>
          <p:cNvPr id="29" name="Đáp án B"/>
          <p:cNvSpPr/>
          <p:nvPr/>
        </p:nvSpPr>
        <p:spPr>
          <a:xfrm>
            <a:off x="4937760" y="2770632"/>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8A979B"/>
                </a:solidFill>
                <a:latin typeface="Aptos"/>
              </a:rPr>
              <a:t>Lãnh tụ tự mình làm nên lịch sử; quần chúng chỉ đi theo và không có vai trò sáng tạo.</a:t>
            </a:r>
          </a:p>
        </p:txBody>
      </p:sp>
      <p:sp>
        <p:nvSpPr>
          <p:cNvPr id="30" name="Oval 29"/>
          <p:cNvSpPr/>
          <p:nvPr/>
        </p:nvSpPr>
        <p:spPr>
          <a:xfrm>
            <a:off x="5093208" y="3154679"/>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B</a:t>
            </a:r>
          </a:p>
        </p:txBody>
      </p:sp>
      <p:sp>
        <p:nvSpPr>
          <p:cNvPr id="31" name="Đáp án C"/>
          <p:cNvSpPr/>
          <p:nvPr/>
        </p:nvSpPr>
        <p:spPr>
          <a:xfrm>
            <a:off x="530352" y="4105656"/>
            <a:ext cx="4215384"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8A979B"/>
                </a:solidFill>
                <a:latin typeface="Aptos"/>
              </a:rPr>
              <a:t>Dòng sông tự chảy nên định hướng và tổ chức của lãnh tụ, tổ chức là không cần thiết.</a:t>
            </a:r>
          </a:p>
        </p:txBody>
      </p:sp>
      <p:sp>
        <p:nvSpPr>
          <p:cNvPr id="32" name="Oval 31"/>
          <p:cNvSpPr/>
          <p:nvPr/>
        </p:nvSpPr>
        <p:spPr>
          <a:xfrm>
            <a:off x="685800"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C</a:t>
            </a:r>
          </a:p>
        </p:txBody>
      </p:sp>
      <p:sp>
        <p:nvSpPr>
          <p:cNvPr id="33" name="Đáp án D"/>
          <p:cNvSpPr/>
          <p:nvPr/>
        </p:nvSpPr>
        <p:spPr>
          <a:xfrm>
            <a:off x="4937760" y="4105656"/>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Lãnh tụ và quần chúng tách biệt, không tác động qua lại.</a:t>
            </a:r>
          </a:p>
        </p:txBody>
      </p:sp>
      <p:sp>
        <p:nvSpPr>
          <p:cNvPr id="34" name="Oval 33"/>
          <p:cNvSpPr/>
          <p:nvPr/>
        </p:nvSpPr>
        <p:spPr>
          <a:xfrm>
            <a:off x="5093208"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D</a:t>
            </a:r>
          </a:p>
        </p:txBody>
      </p:sp>
      <p:sp>
        <p:nvSpPr>
          <p:cNvPr id="35" name="Rounded Rectangle 34"/>
          <p:cNvSpPr/>
          <p:nvPr/>
        </p:nvSpPr>
        <p:spPr>
          <a:xfrm>
            <a:off x="530352" y="5431536"/>
            <a:ext cx="5989320" cy="868680"/>
          </a:xfrm>
          <a:prstGeom prst="roundRect">
            <a:avLst/>
          </a:prstGeom>
          <a:solidFill>
            <a:srgbClr val="D9F0E3"/>
          </a:solidFill>
          <a:ln w="12700">
            <a:solidFill>
              <a:srgbClr val="D7E6DC"/>
            </a:solidFill>
          </a:ln>
        </p:spPr>
        <p:style>
          <a:lnRef idx="1">
            <a:schemeClr val="accent1"/>
          </a:lnRef>
          <a:fillRef idx="3">
            <a:schemeClr val="accent1"/>
          </a:fillRef>
          <a:effectRef idx="2">
            <a:schemeClr val="accent1"/>
          </a:effectRef>
          <a:fontRef idx="minor">
            <a:schemeClr val="lt1"/>
          </a:fontRef>
        </p:style>
        <p:txBody>
          <a:bodyPr wrap="square" lIns="109728" tIns="60350" rIns="109728" bIns="60350" rtlCol="0" anchor="ctr"/>
          <a:lstStyle/>
          <a:p>
            <a:pPr algn="l">
              <a:lnSpc>
                <a:spcPct val="100000"/>
              </a:lnSpc>
              <a:spcBef>
                <a:spcPts val="0"/>
              </a:spcBef>
              <a:spcAft>
                <a:spcPts val="0"/>
              </a:spcAft>
            </a:pPr>
            <a:r>
              <a:rPr sz="1130" b="0" i="0">
                <a:solidFill>
                  <a:srgbClr val="18324A"/>
                </a:solidFill>
                <a:latin typeface="Aptos"/>
              </a:rPr>
              <a:t>MỐC 3 ĐÃ CHINH PHỤC  ·  Quà lớn
Quần chúng là lực lượng sáng tạo lịch sử; lãnh tụ và tổ chức có vai trò định hướng, tập hợp và dẫn dắt, trong quan hệ tác động qua lại.</a:t>
            </a:r>
          </a:p>
        </p:txBody>
      </p:sp>
      <p:sp>
        <p:nvSpPr>
          <p:cNvPr id="36" name="Nút: NGƯỜI CHƠI TIẾP THEO  →">
            <a:hlinkClick r:id="rId3" action="ppaction://hlinksldjump"/>
          </p:cNvPr>
          <p:cNvSpPr/>
          <p:nvPr/>
        </p:nvSpPr>
        <p:spPr>
          <a:xfrm>
            <a:off x="6711696" y="5431536"/>
            <a:ext cx="2505456" cy="868680"/>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240" b="1" i="0">
                <a:solidFill>
                  <a:srgbClr val="18324A"/>
                </a:solidFill>
                <a:latin typeface="Trebuchet MS"/>
              </a:rPr>
              <a:t>NGƯỜI CHƠI TIẾP THEO  →</a:t>
            </a:r>
          </a:p>
        </p:txBody>
      </p:sp>
    </p:spTree>
  </p:cSld>
  <p:clrMapOvr>
    <a:masterClrMapping/>
  </p:clrMapOvr>
  <p:transition spd="med" advClick="0">
    <p:sndAc>
      <p:stSnd>
        <p:snd r:embed="rId2" name="Correct answer chime"/>
      </p:stSnd>
    </p:sndAc>
  </p:transition>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03 / 05</a:t>
            </a:r>
          </a:p>
        </p:txBody>
      </p:sp>
      <p:sp>
        <p:nvSpPr>
          <p:cNvPr id="5" name="Rounded Rectangle 4"/>
          <p:cNvSpPr/>
          <p:nvPr/>
        </p:nvSpPr>
        <p:spPr>
          <a:xfrm>
            <a:off x="2240280" y="749808"/>
            <a:ext cx="1389888" cy="292608"/>
          </a:xfrm>
          <a:prstGeom prst="roundRect">
            <a:avLst/>
          </a:prstGeom>
          <a:solidFill>
            <a:srgbClr val="F7E2DD"/>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B8424C"/>
                </a:solidFill>
                <a:latin typeface="Trebuchet MS"/>
              </a:rPr>
              <a:t>KHÓ</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03 / 03</a:t>
            </a:r>
          </a:p>
        </p:txBody>
      </p:sp>
      <p:sp>
        <p:nvSpPr>
          <p:cNvPr id="7" name="Rounded Rectangle 6"/>
          <p:cNvSpPr/>
          <p:nvPr/>
        </p:nvSpPr>
        <p:spPr>
          <a:xfrm>
            <a:off x="7562088" y="749808"/>
            <a:ext cx="1581912" cy="292608"/>
          </a:xfrm>
          <a:prstGeom prst="roundRect">
            <a:avLst/>
          </a:prstGeom>
          <a:solidFill>
            <a:srgbClr val="FBE3E3"/>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1000" b="1" i="0">
                <a:solidFill>
                  <a:srgbClr val="B8424C"/>
                </a:solidFill>
                <a:latin typeface="Trebuchet MS"/>
              </a:rPr>
              <a:t>RẤT TIẾC!</a:t>
            </a:r>
          </a:p>
        </p:txBody>
      </p:sp>
      <p:sp>
        <p:nvSpPr>
          <p:cNvPr id="8"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1" name="TextBox 10"/>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1860" b="1" i="0">
                <a:solidFill>
                  <a:srgbClr val="FFFFFF"/>
                </a:solidFill>
                <a:latin typeface="Aptos"/>
              </a:rPr>
              <a:t>Dùng hình ảnh “người lái đò và dòng sông” để phân tích quan hệ giữa quần chúng nhân dân và cá nhân lãnh tụ, cách hiểu nào biện chứng nhất?</a:t>
            </a:r>
          </a:p>
        </p:txBody>
      </p:sp>
      <p:sp>
        <p:nvSpPr>
          <p:cNvPr id="12"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4" name="TextBox 13"/>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5" name="Rounded Rectangle 14"/>
          <p:cNvSpPr/>
          <p:nvPr/>
        </p:nvSpPr>
        <p:spPr>
          <a:xfrm>
            <a:off x="9646920" y="1371600"/>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01</a:t>
            </a:r>
          </a:p>
        </p:txBody>
      </p:sp>
      <p:sp>
        <p:nvSpPr>
          <p:cNvPr id="17" name="TextBox 16"/>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nhỏ</a:t>
            </a:r>
          </a:p>
        </p:txBody>
      </p:sp>
      <p:sp>
        <p:nvSpPr>
          <p:cNvPr id="18" name="Rounded Rectangle 17"/>
          <p:cNvSpPr/>
          <p:nvPr/>
        </p:nvSpPr>
        <p:spPr>
          <a:xfrm>
            <a:off x="9646920" y="2487168"/>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02</a:t>
            </a:r>
          </a:p>
        </p:txBody>
      </p:sp>
      <p:sp>
        <p:nvSpPr>
          <p:cNvPr id="20" name="TextBox 19"/>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vừa</a:t>
            </a:r>
          </a:p>
        </p:txBody>
      </p:sp>
      <p:sp>
        <p:nvSpPr>
          <p:cNvPr id="21" name="Rounded Rectangle 20"/>
          <p:cNvSpPr/>
          <p:nvPr/>
        </p:nvSpPr>
        <p:spPr>
          <a:xfrm>
            <a:off x="9646920" y="3602736"/>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03</a:t>
            </a:r>
          </a:p>
        </p:txBody>
      </p:sp>
      <p:sp>
        <p:nvSpPr>
          <p:cNvPr id="23" name="TextBox 22"/>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lớn</a:t>
            </a:r>
          </a:p>
        </p:txBody>
      </p:sp>
      <p:sp>
        <p:nvSpPr>
          <p:cNvPr id="24" name="TextBox 23"/>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QUÀ GIỮ LẠI</a:t>
            </a:r>
          </a:p>
        </p:txBody>
      </p:sp>
      <p:sp>
        <p:nvSpPr>
          <p:cNvPr id="25" name="TextBox 24"/>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Quà vừa</a:t>
            </a:r>
          </a:p>
        </p:txBody>
      </p:sp>
      <p:sp>
        <p:nvSpPr>
          <p:cNvPr id="26" name="TextBox 25"/>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7" name="Đáp án A"/>
          <p:cNvSpPr/>
          <p:nvPr/>
        </p:nvSpPr>
        <p:spPr>
          <a:xfrm>
            <a:off x="530352" y="2770632"/>
            <a:ext cx="4215384" cy="1170432"/>
          </a:xfrm>
          <a:prstGeom prst="roundRect">
            <a:avLst/>
          </a:prstGeom>
          <a:solidFill>
            <a:srgbClr val="2F9C72"/>
          </a:solidFill>
          <a:ln w="15875">
            <a:solidFill>
              <a:srgbClr val="2F9C72"/>
            </a:solidFill>
          </a:ln>
          <a:effectLst>
            <a:glow rad="190000">
              <a:srgbClr val="73D9A5">
                <a:alpha val="52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250" b="1" i="0">
                <a:solidFill>
                  <a:srgbClr val="FFFFFF"/>
                </a:solidFill>
                <a:latin typeface="Aptos"/>
              </a:rPr>
              <a:t>Quần chúng là dòng chảy, nền tảng tạo sức mạnh lịch sử; lãnh tụ đọc thời thế, định hướng và tổ chức. Người lái đò không thay được dòng sông, nhưng định hướng tốt giúp dòng chảy tới đích.</a:t>
            </a:r>
          </a:p>
        </p:txBody>
      </p:sp>
      <p:sp>
        <p:nvSpPr>
          <p:cNvPr id="28" name="Oval 27"/>
          <p:cNvSpPr/>
          <p:nvPr/>
        </p:nvSpPr>
        <p:spPr>
          <a:xfrm>
            <a:off x="685800" y="3154679"/>
            <a:ext cx="402336" cy="402336"/>
          </a:xfrm>
          <a:prstGeom prst="ellipse">
            <a:avLst/>
          </a:prstGeom>
          <a:solidFill>
            <a:srgbClr val="FFFFFF"/>
          </a:solidFill>
          <a:ln w="12700">
            <a:solidFill>
              <a:srgbClr val="2F9C72"/>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F9C72"/>
                </a:solidFill>
                <a:latin typeface="Trebuchet MS"/>
              </a:rPr>
              <a:t>A</a:t>
            </a:r>
          </a:p>
        </p:txBody>
      </p:sp>
      <p:sp>
        <p:nvSpPr>
          <p:cNvPr id="29" name="Đáp án B"/>
          <p:cNvSpPr/>
          <p:nvPr/>
        </p:nvSpPr>
        <p:spPr>
          <a:xfrm>
            <a:off x="4937760" y="2770632"/>
            <a:ext cx="4279392" cy="1170432"/>
          </a:xfrm>
          <a:prstGeom prst="roundRect">
            <a:avLst/>
          </a:prstGeom>
          <a:solidFill>
            <a:srgbClr val="E45C64"/>
          </a:solidFill>
          <a:ln w="15875">
            <a:solidFill>
              <a:srgbClr val="B8424C"/>
            </a:solidFill>
          </a:ln>
          <a:effectLst>
            <a:glow rad="110000">
              <a:srgbClr val="E45C64">
                <a:alpha val="35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1" i="0">
                <a:solidFill>
                  <a:srgbClr val="FFFFFF"/>
                </a:solidFill>
                <a:latin typeface="Aptos"/>
              </a:rPr>
              <a:t>Lãnh tụ tự mình làm nên lịch sử; quần chúng chỉ đi theo và không có vai trò sáng tạo.</a:t>
            </a:r>
          </a:p>
        </p:txBody>
      </p:sp>
      <p:sp>
        <p:nvSpPr>
          <p:cNvPr id="30" name="Oval 29"/>
          <p:cNvSpPr/>
          <p:nvPr/>
        </p:nvSpPr>
        <p:spPr>
          <a:xfrm>
            <a:off x="5093208" y="3154679"/>
            <a:ext cx="402336" cy="402336"/>
          </a:xfrm>
          <a:prstGeom prst="ellipse">
            <a:avLst/>
          </a:prstGeom>
          <a:solidFill>
            <a:srgbClr val="FFFFFF"/>
          </a:solidFill>
          <a:ln w="12700">
            <a:solidFill>
              <a:srgbClr val="B8424C"/>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B8424C"/>
                </a:solidFill>
                <a:latin typeface="Trebuchet MS"/>
              </a:rPr>
              <a:t>B</a:t>
            </a:r>
          </a:p>
        </p:txBody>
      </p:sp>
      <p:cxnSp>
        <p:nvCxnSpPr>
          <p:cNvPr id="31" name="Connector 30"/>
          <p:cNvCxnSpPr/>
          <p:nvPr/>
        </p:nvCxnSpPr>
        <p:spPr>
          <a:xfrm>
            <a:off x="4846320" y="297180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4846320" y="3264408"/>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846320" y="3557016"/>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9235440" y="297180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235440" y="3264408"/>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9235440" y="3557016"/>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sp>
        <p:nvSpPr>
          <p:cNvPr id="37" name="Đáp án C"/>
          <p:cNvSpPr/>
          <p:nvPr/>
        </p:nvSpPr>
        <p:spPr>
          <a:xfrm>
            <a:off x="530352" y="4105656"/>
            <a:ext cx="4215384"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8A979B"/>
                </a:solidFill>
                <a:latin typeface="Aptos"/>
              </a:rPr>
              <a:t>Dòng sông tự chảy nên định hướng và tổ chức của lãnh tụ, tổ chức là không cần thiết.</a:t>
            </a:r>
          </a:p>
        </p:txBody>
      </p:sp>
      <p:sp>
        <p:nvSpPr>
          <p:cNvPr id="38" name="Oval 37"/>
          <p:cNvSpPr/>
          <p:nvPr/>
        </p:nvSpPr>
        <p:spPr>
          <a:xfrm>
            <a:off x="685800"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C</a:t>
            </a:r>
          </a:p>
        </p:txBody>
      </p:sp>
      <p:sp>
        <p:nvSpPr>
          <p:cNvPr id="39" name="Đáp án D"/>
          <p:cNvSpPr/>
          <p:nvPr/>
        </p:nvSpPr>
        <p:spPr>
          <a:xfrm>
            <a:off x="4937760" y="4105656"/>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Lãnh tụ và quần chúng tách biệt, không tác động qua lại.</a:t>
            </a:r>
          </a:p>
        </p:txBody>
      </p:sp>
      <p:sp>
        <p:nvSpPr>
          <p:cNvPr id="40" name="Oval 39"/>
          <p:cNvSpPr/>
          <p:nvPr/>
        </p:nvSpPr>
        <p:spPr>
          <a:xfrm>
            <a:off x="5093208"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D</a:t>
            </a:r>
          </a:p>
        </p:txBody>
      </p:sp>
      <p:sp>
        <p:nvSpPr>
          <p:cNvPr id="41" name="Rounded Rectangle 40"/>
          <p:cNvSpPr/>
          <p:nvPr/>
        </p:nvSpPr>
        <p:spPr>
          <a:xfrm>
            <a:off x="530352" y="5431536"/>
            <a:ext cx="5989320" cy="868680"/>
          </a:xfrm>
          <a:prstGeom prst="roundRect">
            <a:avLst/>
          </a:prstGeom>
          <a:solidFill>
            <a:srgbClr val="FBE5E3"/>
          </a:solidFill>
          <a:ln w="12700">
            <a:solidFill>
              <a:srgbClr val="F0C7C4"/>
            </a:solid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l">
              <a:lnSpc>
                <a:spcPct val="100000"/>
              </a:lnSpc>
              <a:spcBef>
                <a:spcPts val="0"/>
              </a:spcBef>
              <a:spcAft>
                <a:spcPts val="0"/>
              </a:spcAft>
            </a:pPr>
            <a:r>
              <a:rPr sz="980" b="1" i="0">
                <a:solidFill>
                  <a:srgbClr val="18324A"/>
                </a:solidFill>
                <a:latin typeface="Aptos"/>
              </a:rPr>
              <a:t>BẠN CHỌN: B  ·  ĐÁP ÁN ĐÚNG: A
Quần chúng là dòng chảy, nền tảng tạo sức mạnh lịch sử; lãnh tụ đọc thời thế, định hướng và tổ chức. Người lái đò không thay được dòng sông, nhưng định hướng tốt giúp dòng chảy tới đích.
QUÀ ĐẠT ĐƯỢC LƯỢT NÀY: Quà vừa</a:t>
            </a:r>
          </a:p>
        </p:txBody>
      </p:sp>
      <p:sp>
        <p:nvSpPr>
          <p:cNvPr id="42" name="Nút: NGƯỜI CHƠI TIẾP THEO  →">
            <a:hlinkClick r:id="rId2" action="ppaction://hlinksldjump"/>
          </p:cNvPr>
          <p:cNvSpPr/>
          <p:nvPr/>
        </p:nvSpPr>
        <p:spPr>
          <a:xfrm>
            <a:off x="6711696" y="5431536"/>
            <a:ext cx="2505456" cy="86868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240" b="1" i="0">
                <a:solidFill>
                  <a:srgbClr val="FFFFFF"/>
                </a:solidFill>
                <a:latin typeface="Trebuchet MS"/>
              </a:rPr>
              <a:t>NGƯỜI CHƠI TIẾP THEO  →</a:t>
            </a:r>
          </a:p>
        </p:txBody>
      </p:sp>
    </p:spTree>
  </p:cSld>
  <p:clrMapOvr>
    <a:masterClrMapping/>
  </p:clrMapOvr>
  <p:transition spd="med" advClick="0">
    <p:fade/>
  </p:transition>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03 / 05</a:t>
            </a:r>
          </a:p>
        </p:txBody>
      </p:sp>
      <p:sp>
        <p:nvSpPr>
          <p:cNvPr id="5" name="Rounded Rectangle 4"/>
          <p:cNvSpPr/>
          <p:nvPr/>
        </p:nvSpPr>
        <p:spPr>
          <a:xfrm>
            <a:off x="2240280" y="749808"/>
            <a:ext cx="1389888" cy="292608"/>
          </a:xfrm>
          <a:prstGeom prst="roundRect">
            <a:avLst/>
          </a:prstGeom>
          <a:solidFill>
            <a:srgbClr val="F7E2DD"/>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B8424C"/>
                </a:solidFill>
                <a:latin typeface="Trebuchet MS"/>
              </a:rPr>
              <a:t>KHÓ</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03 / 03</a:t>
            </a:r>
          </a:p>
        </p:txBody>
      </p:sp>
      <p:sp>
        <p:nvSpPr>
          <p:cNvPr id="7" name="Rounded Rectangle 6"/>
          <p:cNvSpPr/>
          <p:nvPr/>
        </p:nvSpPr>
        <p:spPr>
          <a:xfrm>
            <a:off x="7562088" y="749808"/>
            <a:ext cx="1581912" cy="292608"/>
          </a:xfrm>
          <a:prstGeom prst="roundRect">
            <a:avLst/>
          </a:prstGeom>
          <a:solidFill>
            <a:srgbClr val="FBE3E3"/>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1000" b="1" i="0">
                <a:solidFill>
                  <a:srgbClr val="B8424C"/>
                </a:solidFill>
                <a:latin typeface="Trebuchet MS"/>
              </a:rPr>
              <a:t>RẤT TIẾC!</a:t>
            </a:r>
          </a:p>
        </p:txBody>
      </p:sp>
      <p:sp>
        <p:nvSpPr>
          <p:cNvPr id="8"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1" name="TextBox 10"/>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1860" b="1" i="0">
                <a:solidFill>
                  <a:srgbClr val="FFFFFF"/>
                </a:solidFill>
                <a:latin typeface="Aptos"/>
              </a:rPr>
              <a:t>Dùng hình ảnh “người lái đò và dòng sông” để phân tích quan hệ giữa quần chúng nhân dân và cá nhân lãnh tụ, cách hiểu nào biện chứng nhất?</a:t>
            </a:r>
          </a:p>
        </p:txBody>
      </p:sp>
      <p:sp>
        <p:nvSpPr>
          <p:cNvPr id="12"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4" name="TextBox 13"/>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5" name="Rounded Rectangle 14"/>
          <p:cNvSpPr/>
          <p:nvPr/>
        </p:nvSpPr>
        <p:spPr>
          <a:xfrm>
            <a:off x="9646920" y="1371600"/>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01</a:t>
            </a:r>
          </a:p>
        </p:txBody>
      </p:sp>
      <p:sp>
        <p:nvSpPr>
          <p:cNvPr id="17" name="TextBox 16"/>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nhỏ</a:t>
            </a:r>
          </a:p>
        </p:txBody>
      </p:sp>
      <p:sp>
        <p:nvSpPr>
          <p:cNvPr id="18" name="Rounded Rectangle 17"/>
          <p:cNvSpPr/>
          <p:nvPr/>
        </p:nvSpPr>
        <p:spPr>
          <a:xfrm>
            <a:off x="9646920" y="2487168"/>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02</a:t>
            </a:r>
          </a:p>
        </p:txBody>
      </p:sp>
      <p:sp>
        <p:nvSpPr>
          <p:cNvPr id="20" name="TextBox 19"/>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vừa</a:t>
            </a:r>
          </a:p>
        </p:txBody>
      </p:sp>
      <p:sp>
        <p:nvSpPr>
          <p:cNvPr id="21" name="Rounded Rectangle 20"/>
          <p:cNvSpPr/>
          <p:nvPr/>
        </p:nvSpPr>
        <p:spPr>
          <a:xfrm>
            <a:off x="9646920" y="3602736"/>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03</a:t>
            </a:r>
          </a:p>
        </p:txBody>
      </p:sp>
      <p:sp>
        <p:nvSpPr>
          <p:cNvPr id="23" name="TextBox 22"/>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lớn</a:t>
            </a:r>
          </a:p>
        </p:txBody>
      </p:sp>
      <p:sp>
        <p:nvSpPr>
          <p:cNvPr id="24" name="TextBox 23"/>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QUÀ GIỮ LẠI</a:t>
            </a:r>
          </a:p>
        </p:txBody>
      </p:sp>
      <p:sp>
        <p:nvSpPr>
          <p:cNvPr id="25" name="TextBox 24"/>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Quà vừa</a:t>
            </a:r>
          </a:p>
        </p:txBody>
      </p:sp>
      <p:sp>
        <p:nvSpPr>
          <p:cNvPr id="26" name="TextBox 25"/>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7" name="Đáp án A"/>
          <p:cNvSpPr/>
          <p:nvPr/>
        </p:nvSpPr>
        <p:spPr>
          <a:xfrm>
            <a:off x="530352" y="2770632"/>
            <a:ext cx="4215384" cy="1170432"/>
          </a:xfrm>
          <a:prstGeom prst="roundRect">
            <a:avLst/>
          </a:prstGeom>
          <a:solidFill>
            <a:srgbClr val="2F9C72"/>
          </a:solidFill>
          <a:ln w="15875">
            <a:solidFill>
              <a:srgbClr val="2F9C72"/>
            </a:solidFill>
          </a:ln>
          <a:effectLst>
            <a:glow rad="190000">
              <a:srgbClr val="73D9A5">
                <a:alpha val="52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250" b="1" i="0">
                <a:solidFill>
                  <a:srgbClr val="FFFFFF"/>
                </a:solidFill>
                <a:latin typeface="Aptos"/>
              </a:rPr>
              <a:t>Quần chúng là dòng chảy, nền tảng tạo sức mạnh lịch sử; lãnh tụ đọc thời thế, định hướng và tổ chức. Người lái đò không thay được dòng sông, nhưng định hướng tốt giúp dòng chảy tới đích.</a:t>
            </a:r>
          </a:p>
        </p:txBody>
      </p:sp>
      <p:sp>
        <p:nvSpPr>
          <p:cNvPr id="28" name="Oval 27"/>
          <p:cNvSpPr/>
          <p:nvPr/>
        </p:nvSpPr>
        <p:spPr>
          <a:xfrm>
            <a:off x="685800" y="3154679"/>
            <a:ext cx="402336" cy="402336"/>
          </a:xfrm>
          <a:prstGeom prst="ellipse">
            <a:avLst/>
          </a:prstGeom>
          <a:solidFill>
            <a:srgbClr val="FFFFFF"/>
          </a:solidFill>
          <a:ln w="12700">
            <a:solidFill>
              <a:srgbClr val="2F9C72"/>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F9C72"/>
                </a:solidFill>
                <a:latin typeface="Trebuchet MS"/>
              </a:rPr>
              <a:t>A</a:t>
            </a:r>
          </a:p>
        </p:txBody>
      </p:sp>
      <p:sp>
        <p:nvSpPr>
          <p:cNvPr id="29" name="Đáp án B"/>
          <p:cNvSpPr/>
          <p:nvPr/>
        </p:nvSpPr>
        <p:spPr>
          <a:xfrm>
            <a:off x="4937760" y="2770632"/>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8A979B"/>
                </a:solidFill>
                <a:latin typeface="Aptos"/>
              </a:rPr>
              <a:t>Lãnh tụ tự mình làm nên lịch sử; quần chúng chỉ đi theo và không có vai trò sáng tạo.</a:t>
            </a:r>
          </a:p>
        </p:txBody>
      </p:sp>
      <p:sp>
        <p:nvSpPr>
          <p:cNvPr id="30" name="Oval 29"/>
          <p:cNvSpPr/>
          <p:nvPr/>
        </p:nvSpPr>
        <p:spPr>
          <a:xfrm>
            <a:off x="5093208" y="3154679"/>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B</a:t>
            </a:r>
          </a:p>
        </p:txBody>
      </p:sp>
      <p:sp>
        <p:nvSpPr>
          <p:cNvPr id="31" name="Đáp án C"/>
          <p:cNvSpPr/>
          <p:nvPr/>
        </p:nvSpPr>
        <p:spPr>
          <a:xfrm>
            <a:off x="530352" y="4105656"/>
            <a:ext cx="4215384" cy="1170432"/>
          </a:xfrm>
          <a:prstGeom prst="roundRect">
            <a:avLst/>
          </a:prstGeom>
          <a:solidFill>
            <a:srgbClr val="E45C64"/>
          </a:solidFill>
          <a:ln w="15875">
            <a:solidFill>
              <a:srgbClr val="B8424C"/>
            </a:solidFill>
          </a:ln>
          <a:effectLst>
            <a:glow rad="110000">
              <a:srgbClr val="E45C64">
                <a:alpha val="35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1" i="0">
                <a:solidFill>
                  <a:srgbClr val="FFFFFF"/>
                </a:solidFill>
                <a:latin typeface="Aptos"/>
              </a:rPr>
              <a:t>Dòng sông tự chảy nên định hướng và tổ chức của lãnh tụ, tổ chức là không cần thiết.</a:t>
            </a:r>
          </a:p>
        </p:txBody>
      </p:sp>
      <p:sp>
        <p:nvSpPr>
          <p:cNvPr id="32" name="Oval 31"/>
          <p:cNvSpPr/>
          <p:nvPr/>
        </p:nvSpPr>
        <p:spPr>
          <a:xfrm>
            <a:off x="685800" y="4489704"/>
            <a:ext cx="402336" cy="402336"/>
          </a:xfrm>
          <a:prstGeom prst="ellipse">
            <a:avLst/>
          </a:prstGeom>
          <a:solidFill>
            <a:srgbClr val="FFFFFF"/>
          </a:solidFill>
          <a:ln w="12700">
            <a:solidFill>
              <a:srgbClr val="B8424C"/>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B8424C"/>
                </a:solidFill>
                <a:latin typeface="Trebuchet MS"/>
              </a:rPr>
              <a:t>C</a:t>
            </a:r>
          </a:p>
        </p:txBody>
      </p:sp>
      <p:cxnSp>
        <p:nvCxnSpPr>
          <p:cNvPr id="33" name="Connector 32"/>
          <p:cNvCxnSpPr/>
          <p:nvPr/>
        </p:nvCxnSpPr>
        <p:spPr>
          <a:xfrm>
            <a:off x="438912" y="4306824"/>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38912" y="4599432"/>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38912" y="489204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4764024" y="4306824"/>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764024" y="4599432"/>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764024" y="489204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sp>
        <p:nvSpPr>
          <p:cNvPr id="39" name="Đáp án D"/>
          <p:cNvSpPr/>
          <p:nvPr/>
        </p:nvSpPr>
        <p:spPr>
          <a:xfrm>
            <a:off x="4937760" y="4105656"/>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Lãnh tụ và quần chúng tách biệt, không tác động qua lại.</a:t>
            </a:r>
          </a:p>
        </p:txBody>
      </p:sp>
      <p:sp>
        <p:nvSpPr>
          <p:cNvPr id="40" name="Oval 39"/>
          <p:cNvSpPr/>
          <p:nvPr/>
        </p:nvSpPr>
        <p:spPr>
          <a:xfrm>
            <a:off x="5093208"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D</a:t>
            </a:r>
          </a:p>
        </p:txBody>
      </p:sp>
      <p:sp>
        <p:nvSpPr>
          <p:cNvPr id="41" name="Rounded Rectangle 40"/>
          <p:cNvSpPr/>
          <p:nvPr/>
        </p:nvSpPr>
        <p:spPr>
          <a:xfrm>
            <a:off x="530352" y="5431536"/>
            <a:ext cx="5989320" cy="868680"/>
          </a:xfrm>
          <a:prstGeom prst="roundRect">
            <a:avLst/>
          </a:prstGeom>
          <a:solidFill>
            <a:srgbClr val="FBE5E3"/>
          </a:solidFill>
          <a:ln w="12700">
            <a:solidFill>
              <a:srgbClr val="F0C7C4"/>
            </a:solid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l">
              <a:lnSpc>
                <a:spcPct val="100000"/>
              </a:lnSpc>
              <a:spcBef>
                <a:spcPts val="0"/>
              </a:spcBef>
              <a:spcAft>
                <a:spcPts val="0"/>
              </a:spcAft>
            </a:pPr>
            <a:r>
              <a:rPr sz="980" b="1" i="0">
                <a:solidFill>
                  <a:srgbClr val="18324A"/>
                </a:solidFill>
                <a:latin typeface="Aptos"/>
              </a:rPr>
              <a:t>BẠN CHỌN: C  ·  ĐÁP ÁN ĐÚNG: A
Quần chúng là dòng chảy, nền tảng tạo sức mạnh lịch sử; lãnh tụ đọc thời thế, định hướng và tổ chức. Người lái đò không thay được dòng sông, nhưng định hướng tốt giúp dòng chảy tới đích.
QUÀ ĐẠT ĐƯỢC LƯỢT NÀY: Quà vừa</a:t>
            </a:r>
          </a:p>
        </p:txBody>
      </p:sp>
      <p:sp>
        <p:nvSpPr>
          <p:cNvPr id="42" name="Nút: NGƯỜI CHƠI TIẾP THEO  →">
            <a:hlinkClick r:id="rId2" action="ppaction://hlinksldjump"/>
          </p:cNvPr>
          <p:cNvSpPr/>
          <p:nvPr/>
        </p:nvSpPr>
        <p:spPr>
          <a:xfrm>
            <a:off x="6711696" y="5431536"/>
            <a:ext cx="2505456" cy="86868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240" b="1" i="0">
                <a:solidFill>
                  <a:srgbClr val="FFFFFF"/>
                </a:solidFill>
                <a:latin typeface="Trebuchet MS"/>
              </a:rPr>
              <a:t>NGƯỜI CHƠI TIẾP THEO  →</a:t>
            </a:r>
          </a:p>
        </p:txBody>
      </p:sp>
    </p:spTree>
  </p:cSld>
  <p:clrMapOvr>
    <a:masterClrMapping/>
  </p:clrMapOvr>
  <p:transition spd="med" advClick="0">
    <p:fade/>
  </p:transition>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03 / 05</a:t>
            </a:r>
          </a:p>
        </p:txBody>
      </p:sp>
      <p:sp>
        <p:nvSpPr>
          <p:cNvPr id="5" name="Rounded Rectangle 4"/>
          <p:cNvSpPr/>
          <p:nvPr/>
        </p:nvSpPr>
        <p:spPr>
          <a:xfrm>
            <a:off x="2240280" y="749808"/>
            <a:ext cx="1389888" cy="292608"/>
          </a:xfrm>
          <a:prstGeom prst="roundRect">
            <a:avLst/>
          </a:prstGeom>
          <a:solidFill>
            <a:srgbClr val="F7E2DD"/>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B8424C"/>
                </a:solidFill>
                <a:latin typeface="Trebuchet MS"/>
              </a:rPr>
              <a:t>KHÓ</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03 / 03</a:t>
            </a:r>
          </a:p>
        </p:txBody>
      </p:sp>
      <p:sp>
        <p:nvSpPr>
          <p:cNvPr id="7" name="Rounded Rectangle 6"/>
          <p:cNvSpPr/>
          <p:nvPr/>
        </p:nvSpPr>
        <p:spPr>
          <a:xfrm>
            <a:off x="7562088" y="749808"/>
            <a:ext cx="1581912" cy="292608"/>
          </a:xfrm>
          <a:prstGeom prst="roundRect">
            <a:avLst/>
          </a:prstGeom>
          <a:solidFill>
            <a:srgbClr val="FBE3E3"/>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1000" b="1" i="0">
                <a:solidFill>
                  <a:srgbClr val="B8424C"/>
                </a:solidFill>
                <a:latin typeface="Trebuchet MS"/>
              </a:rPr>
              <a:t>RẤT TIẾC!</a:t>
            </a:r>
          </a:p>
        </p:txBody>
      </p:sp>
      <p:sp>
        <p:nvSpPr>
          <p:cNvPr id="8"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1" name="TextBox 10"/>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1860" b="1" i="0">
                <a:solidFill>
                  <a:srgbClr val="FFFFFF"/>
                </a:solidFill>
                <a:latin typeface="Aptos"/>
              </a:rPr>
              <a:t>Dùng hình ảnh “người lái đò và dòng sông” để phân tích quan hệ giữa quần chúng nhân dân và cá nhân lãnh tụ, cách hiểu nào biện chứng nhất?</a:t>
            </a:r>
          </a:p>
        </p:txBody>
      </p:sp>
      <p:sp>
        <p:nvSpPr>
          <p:cNvPr id="12"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4" name="TextBox 13"/>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5" name="Rounded Rectangle 14"/>
          <p:cNvSpPr/>
          <p:nvPr/>
        </p:nvSpPr>
        <p:spPr>
          <a:xfrm>
            <a:off x="9646920" y="1371600"/>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01</a:t>
            </a:r>
          </a:p>
        </p:txBody>
      </p:sp>
      <p:sp>
        <p:nvSpPr>
          <p:cNvPr id="17" name="TextBox 16"/>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nhỏ</a:t>
            </a:r>
          </a:p>
        </p:txBody>
      </p:sp>
      <p:sp>
        <p:nvSpPr>
          <p:cNvPr id="18" name="Rounded Rectangle 17"/>
          <p:cNvSpPr/>
          <p:nvPr/>
        </p:nvSpPr>
        <p:spPr>
          <a:xfrm>
            <a:off x="9646920" y="2487168"/>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02</a:t>
            </a:r>
          </a:p>
        </p:txBody>
      </p:sp>
      <p:sp>
        <p:nvSpPr>
          <p:cNvPr id="20" name="TextBox 19"/>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vừa</a:t>
            </a:r>
          </a:p>
        </p:txBody>
      </p:sp>
      <p:sp>
        <p:nvSpPr>
          <p:cNvPr id="21" name="Rounded Rectangle 20"/>
          <p:cNvSpPr/>
          <p:nvPr/>
        </p:nvSpPr>
        <p:spPr>
          <a:xfrm>
            <a:off x="9646920" y="3602736"/>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03</a:t>
            </a:r>
          </a:p>
        </p:txBody>
      </p:sp>
      <p:sp>
        <p:nvSpPr>
          <p:cNvPr id="23" name="TextBox 22"/>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lớn</a:t>
            </a:r>
          </a:p>
        </p:txBody>
      </p:sp>
      <p:sp>
        <p:nvSpPr>
          <p:cNvPr id="24" name="TextBox 23"/>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QUÀ GIỮ LẠI</a:t>
            </a:r>
          </a:p>
        </p:txBody>
      </p:sp>
      <p:sp>
        <p:nvSpPr>
          <p:cNvPr id="25" name="TextBox 24"/>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Quà vừa</a:t>
            </a:r>
          </a:p>
        </p:txBody>
      </p:sp>
      <p:sp>
        <p:nvSpPr>
          <p:cNvPr id="26" name="TextBox 25"/>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7" name="Đáp án A"/>
          <p:cNvSpPr/>
          <p:nvPr/>
        </p:nvSpPr>
        <p:spPr>
          <a:xfrm>
            <a:off x="530352" y="2770632"/>
            <a:ext cx="4215384" cy="1170432"/>
          </a:xfrm>
          <a:prstGeom prst="roundRect">
            <a:avLst/>
          </a:prstGeom>
          <a:solidFill>
            <a:srgbClr val="2F9C72"/>
          </a:solidFill>
          <a:ln w="15875">
            <a:solidFill>
              <a:srgbClr val="2F9C72"/>
            </a:solidFill>
          </a:ln>
          <a:effectLst>
            <a:glow rad="190000">
              <a:srgbClr val="73D9A5">
                <a:alpha val="52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250" b="1" i="0">
                <a:solidFill>
                  <a:srgbClr val="FFFFFF"/>
                </a:solidFill>
                <a:latin typeface="Aptos"/>
              </a:rPr>
              <a:t>Quần chúng là dòng chảy, nền tảng tạo sức mạnh lịch sử; lãnh tụ đọc thời thế, định hướng và tổ chức. Người lái đò không thay được dòng sông, nhưng định hướng tốt giúp dòng chảy tới đích.</a:t>
            </a:r>
          </a:p>
        </p:txBody>
      </p:sp>
      <p:sp>
        <p:nvSpPr>
          <p:cNvPr id="28" name="Oval 27"/>
          <p:cNvSpPr/>
          <p:nvPr/>
        </p:nvSpPr>
        <p:spPr>
          <a:xfrm>
            <a:off x="685800" y="3154679"/>
            <a:ext cx="402336" cy="402336"/>
          </a:xfrm>
          <a:prstGeom prst="ellipse">
            <a:avLst/>
          </a:prstGeom>
          <a:solidFill>
            <a:srgbClr val="FFFFFF"/>
          </a:solidFill>
          <a:ln w="12700">
            <a:solidFill>
              <a:srgbClr val="2F9C72"/>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F9C72"/>
                </a:solidFill>
                <a:latin typeface="Trebuchet MS"/>
              </a:rPr>
              <a:t>A</a:t>
            </a:r>
          </a:p>
        </p:txBody>
      </p:sp>
      <p:sp>
        <p:nvSpPr>
          <p:cNvPr id="29" name="Đáp án B"/>
          <p:cNvSpPr/>
          <p:nvPr/>
        </p:nvSpPr>
        <p:spPr>
          <a:xfrm>
            <a:off x="4937760" y="2770632"/>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8A979B"/>
                </a:solidFill>
                <a:latin typeface="Aptos"/>
              </a:rPr>
              <a:t>Lãnh tụ tự mình làm nên lịch sử; quần chúng chỉ đi theo và không có vai trò sáng tạo.</a:t>
            </a:r>
          </a:p>
        </p:txBody>
      </p:sp>
      <p:sp>
        <p:nvSpPr>
          <p:cNvPr id="30" name="Oval 29"/>
          <p:cNvSpPr/>
          <p:nvPr/>
        </p:nvSpPr>
        <p:spPr>
          <a:xfrm>
            <a:off x="5093208" y="3154679"/>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B</a:t>
            </a:r>
          </a:p>
        </p:txBody>
      </p:sp>
      <p:sp>
        <p:nvSpPr>
          <p:cNvPr id="31" name="Đáp án C"/>
          <p:cNvSpPr/>
          <p:nvPr/>
        </p:nvSpPr>
        <p:spPr>
          <a:xfrm>
            <a:off x="530352" y="4105656"/>
            <a:ext cx="4215384"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8A979B"/>
                </a:solidFill>
                <a:latin typeface="Aptos"/>
              </a:rPr>
              <a:t>Dòng sông tự chảy nên định hướng và tổ chức của lãnh tụ, tổ chức là không cần thiết.</a:t>
            </a:r>
          </a:p>
        </p:txBody>
      </p:sp>
      <p:sp>
        <p:nvSpPr>
          <p:cNvPr id="32" name="Oval 31"/>
          <p:cNvSpPr/>
          <p:nvPr/>
        </p:nvSpPr>
        <p:spPr>
          <a:xfrm>
            <a:off x="685800"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C</a:t>
            </a:r>
          </a:p>
        </p:txBody>
      </p:sp>
      <p:sp>
        <p:nvSpPr>
          <p:cNvPr id="33" name="Đáp án D"/>
          <p:cNvSpPr/>
          <p:nvPr/>
        </p:nvSpPr>
        <p:spPr>
          <a:xfrm>
            <a:off x="4937760" y="4105656"/>
            <a:ext cx="4279392" cy="1170432"/>
          </a:xfrm>
          <a:prstGeom prst="roundRect">
            <a:avLst/>
          </a:prstGeom>
          <a:solidFill>
            <a:srgbClr val="E45C64"/>
          </a:solidFill>
          <a:ln w="15875">
            <a:solidFill>
              <a:srgbClr val="B8424C"/>
            </a:solidFill>
          </a:ln>
          <a:effectLst>
            <a:glow rad="110000">
              <a:srgbClr val="E45C64">
                <a:alpha val="35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1" i="0">
                <a:solidFill>
                  <a:srgbClr val="FFFFFF"/>
                </a:solidFill>
                <a:latin typeface="Aptos"/>
              </a:rPr>
              <a:t>Lãnh tụ và quần chúng tách biệt, không tác động qua lại.</a:t>
            </a:r>
          </a:p>
        </p:txBody>
      </p:sp>
      <p:sp>
        <p:nvSpPr>
          <p:cNvPr id="34" name="Oval 33"/>
          <p:cNvSpPr/>
          <p:nvPr/>
        </p:nvSpPr>
        <p:spPr>
          <a:xfrm>
            <a:off x="5093208" y="4489704"/>
            <a:ext cx="402336" cy="402336"/>
          </a:xfrm>
          <a:prstGeom prst="ellipse">
            <a:avLst/>
          </a:prstGeom>
          <a:solidFill>
            <a:srgbClr val="FFFFFF"/>
          </a:solidFill>
          <a:ln w="12700">
            <a:solidFill>
              <a:srgbClr val="B8424C"/>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B8424C"/>
                </a:solidFill>
                <a:latin typeface="Trebuchet MS"/>
              </a:rPr>
              <a:t>D</a:t>
            </a:r>
          </a:p>
        </p:txBody>
      </p:sp>
      <p:cxnSp>
        <p:nvCxnSpPr>
          <p:cNvPr id="35" name="Connector 34"/>
          <p:cNvCxnSpPr/>
          <p:nvPr/>
        </p:nvCxnSpPr>
        <p:spPr>
          <a:xfrm>
            <a:off x="4846320" y="4306824"/>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4846320" y="4599432"/>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846320" y="489204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9235440" y="4306824"/>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9235440" y="4599432"/>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9235440" y="489204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530352" y="5431536"/>
            <a:ext cx="5989320" cy="868680"/>
          </a:xfrm>
          <a:prstGeom prst="roundRect">
            <a:avLst/>
          </a:prstGeom>
          <a:solidFill>
            <a:srgbClr val="FBE5E3"/>
          </a:solidFill>
          <a:ln w="12700">
            <a:solidFill>
              <a:srgbClr val="F0C7C4"/>
            </a:solid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l">
              <a:lnSpc>
                <a:spcPct val="100000"/>
              </a:lnSpc>
              <a:spcBef>
                <a:spcPts val="0"/>
              </a:spcBef>
              <a:spcAft>
                <a:spcPts val="0"/>
              </a:spcAft>
            </a:pPr>
            <a:r>
              <a:rPr sz="980" b="1" i="0">
                <a:solidFill>
                  <a:srgbClr val="18324A"/>
                </a:solidFill>
                <a:latin typeface="Aptos"/>
              </a:rPr>
              <a:t>BẠN CHỌN: D  ·  ĐÁP ÁN ĐÚNG: A
Quần chúng là dòng chảy, nền tảng tạo sức mạnh lịch sử; lãnh tụ đọc thời thế, định hướng và tổ chức. Người lái đò không thay được dòng sông, nhưng định hướng tốt giúp dòng chảy tới đích.
QUÀ ĐẠT ĐƯỢC LƯỢT NÀY: Quà vừa</a:t>
            </a:r>
          </a:p>
        </p:txBody>
      </p:sp>
      <p:sp>
        <p:nvSpPr>
          <p:cNvPr id="42" name="Nút: NGƯỜI CHƠI TIẾP THEO  →">
            <a:hlinkClick r:id="rId2" action="ppaction://hlinksldjump"/>
          </p:cNvPr>
          <p:cNvSpPr/>
          <p:nvPr/>
        </p:nvSpPr>
        <p:spPr>
          <a:xfrm>
            <a:off x="6711696" y="5431536"/>
            <a:ext cx="2505456" cy="86868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240" b="1" i="0">
                <a:solidFill>
                  <a:srgbClr val="FFFFFF"/>
                </a:solidFill>
                <a:latin typeface="Trebuchet MS"/>
              </a:rPr>
              <a:t>NGƯỜI CHƠI TIẾP THEO  →</a:t>
            </a:r>
          </a:p>
        </p:txBody>
      </p:sp>
    </p:spTree>
  </p:cSld>
  <p:clrMapOvr>
    <a:masterClrMapping/>
  </p:clrMapOvr>
  <p:transition spd="med" advClick="0">
    <p:fade/>
  </p:transition>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Oval 1"/>
          <p:cNvSpPr/>
          <p:nvPr/>
        </p:nvSpPr>
        <p:spPr>
          <a:xfrm>
            <a:off x="-685800" y="-548640"/>
            <a:ext cx="2240280" cy="2240280"/>
          </a:xfrm>
          <a:prstGeom prst="ellipse">
            <a:avLst/>
          </a:prstGeom>
          <a:solidFill>
            <a:srgbClr val="DDE9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881360" y="5468112"/>
            <a:ext cx="2103120" cy="2103120"/>
          </a:xfrm>
          <a:prstGeom prst="ellipse">
            <a:avLst/>
          </a:prstGeom>
          <a:solidFill>
            <a:srgbClr val="E9E3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900" b="1" i="0">
                <a:solidFill>
                  <a:srgbClr val="18324A"/>
                </a:solidFill>
                <a:latin typeface="Trebuchet MS"/>
              </a:rPr>
              <a:t>AI LÀ TRIỆU PHÚ</a:t>
            </a:r>
          </a:p>
        </p:txBody>
      </p:sp>
      <p:sp>
        <p:nvSpPr>
          <p:cNvPr id="5" name="Rounded Rectangle 4"/>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960120" y="1143000"/>
            <a:ext cx="10268712" cy="5120640"/>
          </a:xfrm>
          <a:prstGeom prst="roundRect">
            <a:avLst/>
          </a:prstGeom>
          <a:solidFill>
            <a:srgbClr val="FBFCF9"/>
          </a:solidFill>
          <a:ln w="13970">
            <a:solidFill>
              <a:srgbClr val="D8E0D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919472" y="1490472"/>
            <a:ext cx="2340864" cy="38404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1200" b="1" i="0">
                <a:solidFill>
                  <a:srgbClr val="2E8177"/>
                </a:solidFill>
                <a:latin typeface="Trebuchet MS"/>
              </a:rPr>
              <a:t>LƯỢT 04 / 05</a:t>
            </a:r>
          </a:p>
        </p:txBody>
      </p:sp>
      <p:sp>
        <p:nvSpPr>
          <p:cNvPr id="8" name="TextBox 7"/>
          <p:cNvSpPr txBox="1"/>
          <p:nvPr/>
        </p:nvSpPr>
        <p:spPr>
          <a:xfrm>
            <a:off x="1508760" y="2029968"/>
            <a:ext cx="9171432" cy="713232"/>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3500" b="1" i="0">
                <a:solidFill>
                  <a:srgbClr val="18324A"/>
                </a:solidFill>
                <a:latin typeface="Trebuchet MS"/>
              </a:rPr>
              <a:t>NGƯỜI CHƠI 04</a:t>
            </a:r>
          </a:p>
        </p:txBody>
      </p:sp>
      <p:sp>
        <p:nvSpPr>
          <p:cNvPr id="9" name="TextBox 8"/>
          <p:cNvSpPr txBox="1"/>
          <p:nvPr/>
        </p:nvSpPr>
        <p:spPr>
          <a:xfrm>
            <a:off x="1600200" y="2798064"/>
            <a:ext cx="8988552" cy="347472"/>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20" b="1" i="0">
                <a:solidFill>
                  <a:srgbClr val="2E8177"/>
                </a:solidFill>
                <a:latin typeface="Aptos"/>
              </a:rPr>
              <a:t>Chủ đề: Con người trong triết học Mác – Lênin</a:t>
            </a:r>
          </a:p>
        </p:txBody>
      </p:sp>
      <p:sp>
        <p:nvSpPr>
          <p:cNvPr id="10" name="TextBox 9"/>
          <p:cNvSpPr txBox="1"/>
          <p:nvPr/>
        </p:nvSpPr>
        <p:spPr>
          <a:xfrm>
            <a:off x="1600200" y="3337521"/>
            <a:ext cx="8988552" cy="22867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420" b="0" i="0" dirty="0" err="1">
                <a:solidFill>
                  <a:srgbClr val="18324A"/>
                </a:solidFill>
                <a:latin typeface="Aptos"/>
              </a:rPr>
              <a:t>Lượt</a:t>
            </a:r>
            <a:r>
              <a:rPr sz="1420" b="0" i="0" dirty="0">
                <a:solidFill>
                  <a:srgbClr val="18324A"/>
                </a:solidFill>
                <a:latin typeface="Aptos"/>
              </a:rPr>
              <a:t> </a:t>
            </a:r>
            <a:r>
              <a:rPr sz="1420" b="0" i="0" dirty="0" err="1">
                <a:solidFill>
                  <a:srgbClr val="18324A"/>
                </a:solidFill>
                <a:latin typeface="Aptos"/>
              </a:rPr>
              <a:t>này</a:t>
            </a:r>
            <a:r>
              <a:rPr sz="1420" b="0" i="0" dirty="0">
                <a:solidFill>
                  <a:srgbClr val="18324A"/>
                </a:solidFill>
                <a:latin typeface="Aptos"/>
              </a:rPr>
              <a:t> </a:t>
            </a:r>
            <a:r>
              <a:rPr sz="1420" b="0" i="0" dirty="0" err="1">
                <a:solidFill>
                  <a:srgbClr val="18324A"/>
                </a:solidFill>
                <a:latin typeface="Aptos"/>
              </a:rPr>
              <a:t>có</a:t>
            </a:r>
            <a:r>
              <a:rPr sz="1420" b="0" i="0" dirty="0">
                <a:solidFill>
                  <a:srgbClr val="18324A"/>
                </a:solidFill>
                <a:latin typeface="Aptos"/>
              </a:rPr>
              <a:t> </a:t>
            </a:r>
            <a:r>
              <a:rPr sz="1420" b="0" i="0" dirty="0" err="1">
                <a:solidFill>
                  <a:srgbClr val="18324A"/>
                </a:solidFill>
                <a:latin typeface="Aptos"/>
              </a:rPr>
              <a:t>đúng</a:t>
            </a:r>
            <a:r>
              <a:rPr sz="1420" b="0" i="0" dirty="0">
                <a:solidFill>
                  <a:srgbClr val="18324A"/>
                </a:solidFill>
                <a:latin typeface="Aptos"/>
              </a:rPr>
              <a:t> 3 </a:t>
            </a:r>
            <a:r>
              <a:rPr sz="1420" b="0" i="0" dirty="0" err="1">
                <a:solidFill>
                  <a:srgbClr val="18324A"/>
                </a:solidFill>
                <a:latin typeface="Aptos"/>
              </a:rPr>
              <a:t>câu</a:t>
            </a:r>
            <a:r>
              <a:rPr sz="1420" b="0" i="0" dirty="0">
                <a:solidFill>
                  <a:srgbClr val="18324A"/>
                </a:solidFill>
                <a:latin typeface="Aptos"/>
              </a:rPr>
              <a:t>: 1 </a:t>
            </a:r>
            <a:r>
              <a:rPr sz="1420" b="0" i="0" dirty="0" err="1">
                <a:solidFill>
                  <a:srgbClr val="18324A"/>
                </a:solidFill>
                <a:latin typeface="Aptos"/>
              </a:rPr>
              <a:t>Dễ</a:t>
            </a:r>
            <a:r>
              <a:rPr sz="1420" b="0" i="0" dirty="0">
                <a:solidFill>
                  <a:srgbClr val="18324A"/>
                </a:solidFill>
                <a:latin typeface="Aptos"/>
              </a:rPr>
              <a:t>, 1 Trung </a:t>
            </a:r>
            <a:r>
              <a:rPr sz="1420" b="0" i="0" dirty="0" err="1">
                <a:solidFill>
                  <a:srgbClr val="18324A"/>
                </a:solidFill>
                <a:latin typeface="Aptos"/>
              </a:rPr>
              <a:t>bình</a:t>
            </a:r>
            <a:r>
              <a:rPr sz="1420" b="0" i="0" dirty="0">
                <a:solidFill>
                  <a:srgbClr val="18324A"/>
                </a:solidFill>
                <a:latin typeface="Aptos"/>
              </a:rPr>
              <a:t> </a:t>
            </a:r>
            <a:r>
              <a:rPr sz="1420" b="0" i="0" dirty="0" err="1">
                <a:solidFill>
                  <a:srgbClr val="18324A"/>
                </a:solidFill>
                <a:latin typeface="Aptos"/>
              </a:rPr>
              <a:t>và</a:t>
            </a:r>
            <a:r>
              <a:rPr sz="1420" b="0" i="0" dirty="0">
                <a:solidFill>
                  <a:srgbClr val="18324A"/>
                </a:solidFill>
                <a:latin typeface="Aptos"/>
              </a:rPr>
              <a:t> 1 </a:t>
            </a:r>
            <a:r>
              <a:rPr sz="1420" b="0" i="0" dirty="0" err="1">
                <a:solidFill>
                  <a:srgbClr val="18324A"/>
                </a:solidFill>
                <a:latin typeface="Aptos"/>
              </a:rPr>
              <a:t>Khó</a:t>
            </a:r>
            <a:endParaRPr sz="1420" b="0" i="0" dirty="0">
              <a:solidFill>
                <a:srgbClr val="18324A"/>
              </a:solidFill>
              <a:latin typeface="Aptos"/>
            </a:endParaRPr>
          </a:p>
        </p:txBody>
      </p:sp>
      <p:sp>
        <p:nvSpPr>
          <p:cNvPr id="11" name="TextBox 10"/>
          <p:cNvSpPr txBox="1"/>
          <p:nvPr/>
        </p:nvSpPr>
        <p:spPr>
          <a:xfrm>
            <a:off x="1600200" y="3648456"/>
            <a:ext cx="8988552" cy="42062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350" b="0" i="0">
                <a:solidFill>
                  <a:srgbClr val="657883"/>
                </a:solidFill>
                <a:latin typeface="Aptos"/>
              </a:rPr>
              <a:t>Trả lời đúng để nhận quà của câu và đi tiếp; trả lời sai thì kết thúc lượt, giữ quà đã đạt.</a:t>
            </a:r>
          </a:p>
        </p:txBody>
      </p:sp>
      <p:sp>
        <p:nvSpPr>
          <p:cNvPr id="14" name="TextBox 13"/>
          <p:cNvSpPr txBox="1"/>
          <p:nvPr/>
        </p:nvSpPr>
        <p:spPr>
          <a:xfrm>
            <a:off x="1600200" y="4818888"/>
            <a:ext cx="8988552" cy="31089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330" b="1" i="0">
                <a:solidFill>
                  <a:srgbClr val="18324A"/>
                </a:solidFill>
                <a:latin typeface="Trebuchet MS"/>
              </a:rPr>
              <a:t>CÂU 01  ·  Quà nhỏ     /     CÂU 02  ·  Quà vừa     /     CÂU 03  ·  Quà lớn</a:t>
            </a:r>
          </a:p>
        </p:txBody>
      </p:sp>
      <p:sp>
        <p:nvSpPr>
          <p:cNvPr id="15" name="Nút: VÀO CÂU 01  →">
            <a:hlinkClick r:id="rId2" action="ppaction://hlinksldjump"/>
          </p:cNvPr>
          <p:cNvSpPr/>
          <p:nvPr/>
        </p:nvSpPr>
        <p:spPr>
          <a:xfrm>
            <a:off x="3913632" y="5404104"/>
            <a:ext cx="4370832" cy="6217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720" b="1" i="0">
                <a:solidFill>
                  <a:srgbClr val="18324A"/>
                </a:solidFill>
                <a:latin typeface="Trebuchet MS"/>
              </a:rPr>
              <a:t>VÀO CÂU 01  →</a:t>
            </a:r>
          </a:p>
        </p:txBody>
      </p:sp>
    </p:spTree>
  </p:cSld>
  <p:clrMapOvr>
    <a:masterClrMapping/>
  </p:clrMapOvr>
  <p:transition spd="med" advClick="0">
    <p:fade/>
  </p:transition>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04 / 05</a:t>
            </a:r>
          </a:p>
        </p:txBody>
      </p:sp>
      <p:sp>
        <p:nvSpPr>
          <p:cNvPr id="5" name="Rounded Rectangle 4"/>
          <p:cNvSpPr/>
          <p:nvPr/>
        </p:nvSpPr>
        <p:spPr>
          <a:xfrm>
            <a:off x="2240280" y="749808"/>
            <a:ext cx="138988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DỄ</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01 / 03</a:t>
            </a:r>
          </a:p>
        </p:txBody>
      </p:sp>
      <p:sp>
        <p:nvSpPr>
          <p:cNvPr id="7"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0" name="TextBox 9"/>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2100" b="1" i="0">
                <a:solidFill>
                  <a:srgbClr val="FFFFFF"/>
                </a:solidFill>
                <a:latin typeface="Aptos"/>
              </a:rPr>
              <a:t>Trong lịch sử xã hội, lực lượng nào được coi là chủ thể sáng tạo chân chính và quyết định sự phát triển của lịch sử?</a:t>
            </a:r>
          </a:p>
        </p:txBody>
      </p:sp>
      <p:sp>
        <p:nvSpPr>
          <p:cNvPr id="11"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3" name="TextBox 12"/>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4" name="Rounded Rectangle 13"/>
          <p:cNvSpPr/>
          <p:nvPr/>
        </p:nvSpPr>
        <p:spPr>
          <a:xfrm>
            <a:off x="9646920" y="1371600"/>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01</a:t>
            </a:r>
          </a:p>
        </p:txBody>
      </p:sp>
      <p:sp>
        <p:nvSpPr>
          <p:cNvPr id="16" name="TextBox 15"/>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nhỏ</a:t>
            </a:r>
          </a:p>
        </p:txBody>
      </p:sp>
      <p:sp>
        <p:nvSpPr>
          <p:cNvPr id="17" name="Rounded Rectangle 16"/>
          <p:cNvSpPr/>
          <p:nvPr/>
        </p:nvSpPr>
        <p:spPr>
          <a:xfrm>
            <a:off x="9646920" y="2487168"/>
            <a:ext cx="1956816" cy="877824"/>
          </a:xfrm>
          <a:prstGeom prst="roundRect">
            <a:avLst/>
          </a:prstGeom>
          <a:solidFill>
            <a:srgbClr val="263F53"/>
          </a:solidFill>
          <a:ln w="12700">
            <a:solidFill>
              <a:srgbClr val="4059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B9C7CC"/>
                </a:solidFill>
                <a:latin typeface="Trebuchet MS"/>
              </a:rPr>
              <a:t>CHƯA MỞ  ·  CÂU 02</a:t>
            </a:r>
          </a:p>
        </p:txBody>
      </p:sp>
      <p:sp>
        <p:nvSpPr>
          <p:cNvPr id="19" name="TextBox 18"/>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B9C7CC"/>
                </a:solidFill>
                <a:latin typeface="Trebuchet MS"/>
              </a:rPr>
              <a:t>Quà vừa</a:t>
            </a:r>
          </a:p>
        </p:txBody>
      </p:sp>
      <p:sp>
        <p:nvSpPr>
          <p:cNvPr id="20" name="Rounded Rectangle 19"/>
          <p:cNvSpPr/>
          <p:nvPr/>
        </p:nvSpPr>
        <p:spPr>
          <a:xfrm>
            <a:off x="9646920" y="3602736"/>
            <a:ext cx="1956816" cy="877824"/>
          </a:xfrm>
          <a:prstGeom prst="roundRect">
            <a:avLst/>
          </a:prstGeom>
          <a:solidFill>
            <a:srgbClr val="263F53"/>
          </a:solidFill>
          <a:ln w="12700">
            <a:solidFill>
              <a:srgbClr val="4059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B9C7CC"/>
                </a:solidFill>
                <a:latin typeface="Trebuchet MS"/>
              </a:rPr>
              <a:t>CHƯA MỞ  ·  CÂU 03</a:t>
            </a:r>
          </a:p>
        </p:txBody>
      </p:sp>
      <p:sp>
        <p:nvSpPr>
          <p:cNvPr id="22" name="TextBox 21"/>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B9C7CC"/>
                </a:solidFill>
                <a:latin typeface="Trebuchet MS"/>
              </a:rPr>
              <a:t>Quà lớn</a:t>
            </a:r>
          </a:p>
        </p:txBody>
      </p:sp>
      <p:sp>
        <p:nvSpPr>
          <p:cNvPr id="23" name="TextBox 22"/>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MỐC AN TOÀN</a:t>
            </a:r>
          </a:p>
        </p:txBody>
      </p:sp>
      <p:sp>
        <p:nvSpPr>
          <p:cNvPr id="24" name="TextBox 23"/>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Chưa có quà</a:t>
            </a:r>
          </a:p>
        </p:txBody>
      </p:sp>
      <p:sp>
        <p:nvSpPr>
          <p:cNvPr id="25" name="TextBox 24"/>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6" name="Đáp án A">
            <a:hlinkClick r:id="rId2" action="ppaction://hlinksldjump"/>
          </p:cNvPr>
          <p:cNvSpPr/>
          <p:nvPr/>
        </p:nvSpPr>
        <p:spPr>
          <a:xfrm>
            <a:off x="530352" y="2770632"/>
            <a:ext cx="4215384" cy="1170432"/>
          </a:xfrm>
          <a:prstGeom prst="roundRect">
            <a:avLst/>
          </a:prstGeom>
          <a:solidFill>
            <a:srgbClr val="FBFCF9"/>
          </a:solidFill>
          <a:ln w="15875">
            <a:solidFill>
              <a:srgbClr val="D7DED8"/>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18324A"/>
                </a:solidFill>
                <a:latin typeface="Aptos"/>
              </a:rPr>
              <a:t>Các cá nhân kiệt xuất, đứng ngoài đời sống xã hội.</a:t>
            </a:r>
          </a:p>
        </p:txBody>
      </p:sp>
      <p:sp>
        <p:nvSpPr>
          <p:cNvPr id="27" name="Oval 26">
            <a:hlinkClick r:id="rId2" action="ppaction://hlinksldjump"/>
          </p:cNvPr>
          <p:cNvSpPr/>
          <p:nvPr/>
        </p:nvSpPr>
        <p:spPr>
          <a:xfrm>
            <a:off x="685800" y="3154679"/>
            <a:ext cx="402336" cy="402336"/>
          </a:xfrm>
          <a:prstGeom prst="ellipse">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E8177"/>
                </a:solidFill>
                <a:latin typeface="Trebuchet MS"/>
              </a:rPr>
              <a:t>A</a:t>
            </a:r>
          </a:p>
        </p:txBody>
      </p:sp>
      <p:sp>
        <p:nvSpPr>
          <p:cNvPr id="28" name="Đáp án B">
            <a:hlinkClick r:id="rId3" action="ppaction://hlinksldjump"/>
          </p:cNvPr>
          <p:cNvSpPr/>
          <p:nvPr/>
        </p:nvSpPr>
        <p:spPr>
          <a:xfrm>
            <a:off x="4937760" y="2770632"/>
            <a:ext cx="4279392" cy="1170432"/>
          </a:xfrm>
          <a:prstGeom prst="roundRect">
            <a:avLst/>
          </a:prstGeom>
          <a:solidFill>
            <a:srgbClr val="FBFCF9"/>
          </a:solidFill>
          <a:ln w="15875">
            <a:solidFill>
              <a:srgbClr val="D7DED8"/>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18324A"/>
                </a:solidFill>
                <a:latin typeface="Aptos"/>
              </a:rPr>
              <a:t>Quần chúng nhân dân.</a:t>
            </a:r>
          </a:p>
        </p:txBody>
      </p:sp>
      <p:sp>
        <p:nvSpPr>
          <p:cNvPr id="29" name="Oval 28">
            <a:hlinkClick r:id="rId3" action="ppaction://hlinksldjump"/>
          </p:cNvPr>
          <p:cNvSpPr/>
          <p:nvPr/>
        </p:nvSpPr>
        <p:spPr>
          <a:xfrm>
            <a:off x="5093208" y="3154679"/>
            <a:ext cx="402336" cy="402336"/>
          </a:xfrm>
          <a:prstGeom prst="ellipse">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E8177"/>
                </a:solidFill>
                <a:latin typeface="Trebuchet MS"/>
              </a:rPr>
              <a:t>B</a:t>
            </a:r>
          </a:p>
        </p:txBody>
      </p:sp>
      <p:sp>
        <p:nvSpPr>
          <p:cNvPr id="30" name="Đáp án C">
            <a:hlinkClick r:id="rId4" action="ppaction://hlinksldjump"/>
          </p:cNvPr>
          <p:cNvSpPr/>
          <p:nvPr/>
        </p:nvSpPr>
        <p:spPr>
          <a:xfrm>
            <a:off x="530352" y="4105656"/>
            <a:ext cx="4215384" cy="1170432"/>
          </a:xfrm>
          <a:prstGeom prst="roundRect">
            <a:avLst/>
          </a:prstGeom>
          <a:solidFill>
            <a:srgbClr val="FBFCF9"/>
          </a:solidFill>
          <a:ln w="15875">
            <a:solidFill>
              <a:srgbClr val="D7DED8"/>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18324A"/>
                </a:solidFill>
                <a:latin typeface="Aptos"/>
              </a:rPr>
              <a:t>Riêng tầng lớp sở hữu tư liệu sản xuất.</a:t>
            </a:r>
          </a:p>
        </p:txBody>
      </p:sp>
      <p:sp>
        <p:nvSpPr>
          <p:cNvPr id="31" name="Oval 30">
            <a:hlinkClick r:id="rId4" action="ppaction://hlinksldjump"/>
          </p:cNvPr>
          <p:cNvSpPr/>
          <p:nvPr/>
        </p:nvSpPr>
        <p:spPr>
          <a:xfrm>
            <a:off x="685800" y="4489704"/>
            <a:ext cx="402336" cy="402336"/>
          </a:xfrm>
          <a:prstGeom prst="ellipse">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E8177"/>
                </a:solidFill>
                <a:latin typeface="Trebuchet MS"/>
              </a:rPr>
              <a:t>C</a:t>
            </a:r>
          </a:p>
        </p:txBody>
      </p:sp>
      <p:sp>
        <p:nvSpPr>
          <p:cNvPr id="32" name="Đáp án D">
            <a:hlinkClick r:id="rId5" action="ppaction://hlinksldjump"/>
          </p:cNvPr>
          <p:cNvSpPr/>
          <p:nvPr/>
        </p:nvSpPr>
        <p:spPr>
          <a:xfrm>
            <a:off x="4937760" y="4105656"/>
            <a:ext cx="4279392" cy="1170432"/>
          </a:xfrm>
          <a:prstGeom prst="roundRect">
            <a:avLst/>
          </a:prstGeom>
          <a:solidFill>
            <a:srgbClr val="FBFCF9"/>
          </a:solidFill>
          <a:ln w="15875">
            <a:solidFill>
              <a:srgbClr val="D7DED8"/>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18324A"/>
                </a:solidFill>
                <a:latin typeface="Aptos"/>
              </a:rPr>
              <a:t>Những thiết chế nhà nước, không phụ thuộc nhân dân.</a:t>
            </a:r>
          </a:p>
        </p:txBody>
      </p:sp>
      <p:sp>
        <p:nvSpPr>
          <p:cNvPr id="33" name="Oval 32">
            <a:hlinkClick r:id="rId5" action="ppaction://hlinksldjump"/>
          </p:cNvPr>
          <p:cNvSpPr/>
          <p:nvPr/>
        </p:nvSpPr>
        <p:spPr>
          <a:xfrm>
            <a:off x="5093208" y="4489704"/>
            <a:ext cx="402336" cy="402336"/>
          </a:xfrm>
          <a:prstGeom prst="ellipse">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E8177"/>
                </a:solidFill>
                <a:latin typeface="Trebuchet MS"/>
              </a:rPr>
              <a:t>D</a:t>
            </a:r>
          </a:p>
        </p:txBody>
      </p:sp>
      <p:sp>
        <p:nvSpPr>
          <p:cNvPr id="34" name="TextBox 33"/>
          <p:cNvSpPr txBox="1"/>
          <p:nvPr/>
        </p:nvSpPr>
        <p:spPr>
          <a:xfrm>
            <a:off x="621792" y="5431536"/>
            <a:ext cx="8485632" cy="36576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080" b="1" i="0">
                <a:solidFill>
                  <a:srgbClr val="657883"/>
                </a:solidFill>
                <a:latin typeface="Trebuchet MS"/>
              </a:rPr>
              <a:t>CHỌN MỘT ĐÁP ÁN  ·  BẤM TRỰC TIẾP VÀO THẺ A / B / C / D</a:t>
            </a:r>
          </a:p>
        </p:txBody>
      </p:sp>
    </p:spTree>
  </p:cSld>
  <p:clrMapOvr>
    <a:masterClrMapping/>
  </p:clrMapOvr>
  <p:transition spd="med" advClick="0">
    <p:fade/>
  </p:transition>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04 / 05</a:t>
            </a:r>
          </a:p>
        </p:txBody>
      </p:sp>
      <p:sp>
        <p:nvSpPr>
          <p:cNvPr id="5" name="Rounded Rectangle 4"/>
          <p:cNvSpPr/>
          <p:nvPr/>
        </p:nvSpPr>
        <p:spPr>
          <a:xfrm>
            <a:off x="2240280" y="749808"/>
            <a:ext cx="138988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DỄ</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01 / 03</a:t>
            </a:r>
          </a:p>
        </p:txBody>
      </p:sp>
      <p:sp>
        <p:nvSpPr>
          <p:cNvPr id="7" name="Rounded Rectangle 6"/>
          <p:cNvSpPr/>
          <p:nvPr/>
        </p:nvSpPr>
        <p:spPr>
          <a:xfrm>
            <a:off x="7562088" y="749808"/>
            <a:ext cx="1581912" cy="292608"/>
          </a:xfrm>
          <a:prstGeom prst="roundRect">
            <a:avLst/>
          </a:prstGeom>
          <a:solidFill>
            <a:srgbClr val="D9F0E3"/>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1000" b="1" i="0">
                <a:solidFill>
                  <a:srgbClr val="2F9C72"/>
                </a:solidFill>
                <a:latin typeface="Trebuchet MS"/>
              </a:rPr>
              <a:t>CHÍNH XÁC!</a:t>
            </a:r>
          </a:p>
        </p:txBody>
      </p:sp>
      <p:sp>
        <p:nvSpPr>
          <p:cNvPr id="8"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1" name="TextBox 10"/>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2100" b="1" i="0">
                <a:solidFill>
                  <a:srgbClr val="FFFFFF"/>
                </a:solidFill>
                <a:latin typeface="Aptos"/>
              </a:rPr>
              <a:t>Trong lịch sử xã hội, lực lượng nào được coi là chủ thể sáng tạo chân chính và quyết định sự phát triển của lịch sử?</a:t>
            </a:r>
          </a:p>
        </p:txBody>
      </p:sp>
      <p:sp>
        <p:nvSpPr>
          <p:cNvPr id="12"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4" name="TextBox 13"/>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5" name="Rounded Rectangle 14"/>
          <p:cNvSpPr/>
          <p:nvPr/>
        </p:nvSpPr>
        <p:spPr>
          <a:xfrm>
            <a:off x="9646920" y="1371600"/>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01</a:t>
            </a:r>
          </a:p>
        </p:txBody>
      </p:sp>
      <p:sp>
        <p:nvSpPr>
          <p:cNvPr id="17" name="TextBox 16"/>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nhỏ</a:t>
            </a:r>
          </a:p>
        </p:txBody>
      </p:sp>
      <p:sp>
        <p:nvSpPr>
          <p:cNvPr id="18" name="Rounded Rectangle 17"/>
          <p:cNvSpPr/>
          <p:nvPr/>
        </p:nvSpPr>
        <p:spPr>
          <a:xfrm>
            <a:off x="9646920" y="2487168"/>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02</a:t>
            </a:r>
          </a:p>
        </p:txBody>
      </p:sp>
      <p:sp>
        <p:nvSpPr>
          <p:cNvPr id="20" name="TextBox 19"/>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vừa</a:t>
            </a:r>
          </a:p>
        </p:txBody>
      </p:sp>
      <p:sp>
        <p:nvSpPr>
          <p:cNvPr id="21" name="Rounded Rectangle 20"/>
          <p:cNvSpPr/>
          <p:nvPr/>
        </p:nvSpPr>
        <p:spPr>
          <a:xfrm>
            <a:off x="9646920" y="3602736"/>
            <a:ext cx="1956816" cy="877824"/>
          </a:xfrm>
          <a:prstGeom prst="roundRect">
            <a:avLst/>
          </a:prstGeom>
          <a:solidFill>
            <a:srgbClr val="263F53"/>
          </a:solidFill>
          <a:ln w="12700">
            <a:solidFill>
              <a:srgbClr val="4059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B9C7CC"/>
                </a:solidFill>
                <a:latin typeface="Trebuchet MS"/>
              </a:rPr>
              <a:t>CHƯA MỞ  ·  CÂU 03</a:t>
            </a:r>
          </a:p>
        </p:txBody>
      </p:sp>
      <p:sp>
        <p:nvSpPr>
          <p:cNvPr id="23" name="TextBox 22"/>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B9C7CC"/>
                </a:solidFill>
                <a:latin typeface="Trebuchet MS"/>
              </a:rPr>
              <a:t>Quà lớn</a:t>
            </a:r>
          </a:p>
        </p:txBody>
      </p:sp>
      <p:sp>
        <p:nvSpPr>
          <p:cNvPr id="24" name="TextBox 23"/>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MỐC VỪA CHẠM</a:t>
            </a:r>
          </a:p>
        </p:txBody>
      </p:sp>
      <p:sp>
        <p:nvSpPr>
          <p:cNvPr id="25" name="TextBox 24"/>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Quà nhỏ</a:t>
            </a:r>
          </a:p>
        </p:txBody>
      </p:sp>
      <p:sp>
        <p:nvSpPr>
          <p:cNvPr id="26" name="TextBox 25"/>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7" name="Đáp án A"/>
          <p:cNvSpPr/>
          <p:nvPr/>
        </p:nvSpPr>
        <p:spPr>
          <a:xfrm>
            <a:off x="530352" y="2770632"/>
            <a:ext cx="4215384"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Các cá nhân kiệt xuất, đứng ngoài đời sống xã hội.</a:t>
            </a:r>
          </a:p>
        </p:txBody>
      </p:sp>
      <p:sp>
        <p:nvSpPr>
          <p:cNvPr id="28" name="Oval 27"/>
          <p:cNvSpPr/>
          <p:nvPr/>
        </p:nvSpPr>
        <p:spPr>
          <a:xfrm>
            <a:off x="685800" y="3154679"/>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A</a:t>
            </a:r>
          </a:p>
        </p:txBody>
      </p:sp>
      <p:sp>
        <p:nvSpPr>
          <p:cNvPr id="29" name="Đáp án B"/>
          <p:cNvSpPr/>
          <p:nvPr/>
        </p:nvSpPr>
        <p:spPr>
          <a:xfrm>
            <a:off x="4937760" y="2770632"/>
            <a:ext cx="4279392" cy="1170432"/>
          </a:xfrm>
          <a:prstGeom prst="roundRect">
            <a:avLst/>
          </a:prstGeom>
          <a:solidFill>
            <a:srgbClr val="FFD05A"/>
          </a:solidFill>
          <a:ln w="15875">
            <a:solidFill>
              <a:srgbClr val="D9A92E"/>
            </a:solidFill>
          </a:ln>
          <a:effectLst>
            <a:glow rad="190000">
              <a:srgbClr val="FFD05A">
                <a:alpha val="52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1" i="0">
                <a:solidFill>
                  <a:srgbClr val="18324A"/>
                </a:solidFill>
                <a:latin typeface="Aptos"/>
              </a:rPr>
              <a:t>Quần chúng nhân dân.</a:t>
            </a:r>
          </a:p>
        </p:txBody>
      </p:sp>
      <p:sp>
        <p:nvSpPr>
          <p:cNvPr id="30" name="Oval 29"/>
          <p:cNvSpPr/>
          <p:nvPr/>
        </p:nvSpPr>
        <p:spPr>
          <a:xfrm>
            <a:off x="5093208" y="3154679"/>
            <a:ext cx="402336" cy="402336"/>
          </a:xfrm>
          <a:prstGeom prst="ellipse">
            <a:avLst/>
          </a:prstGeom>
          <a:solidFill>
            <a:srgbClr val="18324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FFD05A"/>
                </a:solidFill>
                <a:latin typeface="Trebuchet MS"/>
              </a:rPr>
              <a:t>B</a:t>
            </a:r>
          </a:p>
        </p:txBody>
      </p:sp>
      <p:sp>
        <p:nvSpPr>
          <p:cNvPr id="31" name="Đáp án C"/>
          <p:cNvSpPr/>
          <p:nvPr/>
        </p:nvSpPr>
        <p:spPr>
          <a:xfrm>
            <a:off x="530352" y="4105656"/>
            <a:ext cx="4215384"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Riêng tầng lớp sở hữu tư liệu sản xuất.</a:t>
            </a:r>
          </a:p>
        </p:txBody>
      </p:sp>
      <p:sp>
        <p:nvSpPr>
          <p:cNvPr id="32" name="Oval 31"/>
          <p:cNvSpPr/>
          <p:nvPr/>
        </p:nvSpPr>
        <p:spPr>
          <a:xfrm>
            <a:off x="685800"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C</a:t>
            </a:r>
          </a:p>
        </p:txBody>
      </p:sp>
      <p:sp>
        <p:nvSpPr>
          <p:cNvPr id="33" name="Đáp án D"/>
          <p:cNvSpPr/>
          <p:nvPr/>
        </p:nvSpPr>
        <p:spPr>
          <a:xfrm>
            <a:off x="4937760" y="4105656"/>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Những thiết chế nhà nước, không phụ thuộc nhân dân.</a:t>
            </a:r>
          </a:p>
        </p:txBody>
      </p:sp>
      <p:sp>
        <p:nvSpPr>
          <p:cNvPr id="34" name="Oval 33"/>
          <p:cNvSpPr/>
          <p:nvPr/>
        </p:nvSpPr>
        <p:spPr>
          <a:xfrm>
            <a:off x="5093208"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D</a:t>
            </a:r>
          </a:p>
        </p:txBody>
      </p:sp>
      <p:sp>
        <p:nvSpPr>
          <p:cNvPr id="35" name="Rounded Rectangle 34"/>
          <p:cNvSpPr/>
          <p:nvPr/>
        </p:nvSpPr>
        <p:spPr>
          <a:xfrm>
            <a:off x="530352" y="5431536"/>
            <a:ext cx="5989320" cy="868680"/>
          </a:xfrm>
          <a:prstGeom prst="roundRect">
            <a:avLst/>
          </a:prstGeom>
          <a:solidFill>
            <a:srgbClr val="D9F0E3"/>
          </a:solidFill>
          <a:ln w="12700">
            <a:solidFill>
              <a:srgbClr val="D7E6DC"/>
            </a:solidFill>
          </a:ln>
        </p:spPr>
        <p:style>
          <a:lnRef idx="1">
            <a:schemeClr val="accent1"/>
          </a:lnRef>
          <a:fillRef idx="3">
            <a:schemeClr val="accent1"/>
          </a:fillRef>
          <a:effectRef idx="2">
            <a:schemeClr val="accent1"/>
          </a:effectRef>
          <a:fontRef idx="minor">
            <a:schemeClr val="lt1"/>
          </a:fontRef>
        </p:style>
        <p:txBody>
          <a:bodyPr wrap="square" lIns="109728" tIns="60350" rIns="109728" bIns="60350" rtlCol="0" anchor="ctr"/>
          <a:lstStyle/>
          <a:p>
            <a:pPr algn="l">
              <a:lnSpc>
                <a:spcPct val="100000"/>
              </a:lnSpc>
              <a:spcBef>
                <a:spcPts val="0"/>
              </a:spcBef>
              <a:spcAft>
                <a:spcPts val="0"/>
              </a:spcAft>
            </a:pPr>
            <a:r>
              <a:rPr sz="1130" b="0" i="0">
                <a:solidFill>
                  <a:srgbClr val="18324A"/>
                </a:solidFill>
                <a:latin typeface="Aptos"/>
              </a:rPr>
              <a:t>MỐC 1 ĐÃ CHINH PHỤC  ·  Quà nhỏ
Quần chúng nhân dân là chủ thể sáng tạo lịch sử; cá nhân lãnh tụ có vai trò định hướng, tổ chức rất quan trọng.</a:t>
            </a:r>
          </a:p>
        </p:txBody>
      </p:sp>
      <p:sp>
        <p:nvSpPr>
          <p:cNvPr id="36" name="Nút: CÂU TIẾP THEO  →">
            <a:hlinkClick r:id="rId3" action="ppaction://hlinksldjump"/>
          </p:cNvPr>
          <p:cNvSpPr/>
          <p:nvPr/>
        </p:nvSpPr>
        <p:spPr>
          <a:xfrm>
            <a:off x="6711696" y="5431536"/>
            <a:ext cx="2505456" cy="868680"/>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240" b="1" i="0">
                <a:solidFill>
                  <a:srgbClr val="18324A"/>
                </a:solidFill>
                <a:latin typeface="Trebuchet MS"/>
              </a:rPr>
              <a:t>CÂU TIẾP THEO  →</a:t>
            </a:r>
          </a:p>
        </p:txBody>
      </p:sp>
    </p:spTree>
  </p:cSld>
  <p:clrMapOvr>
    <a:masterClrMapping/>
  </p:clrMapOvr>
  <p:transition spd="med" advClick="0">
    <p:sndAc>
      <p:stSnd>
        <p:snd r:embed="rId2" name="Correct answer chime"/>
      </p:stSnd>
    </p:sndAc>
  </p:transition>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04 / 05</a:t>
            </a:r>
          </a:p>
        </p:txBody>
      </p:sp>
      <p:sp>
        <p:nvSpPr>
          <p:cNvPr id="5" name="Rounded Rectangle 4"/>
          <p:cNvSpPr/>
          <p:nvPr/>
        </p:nvSpPr>
        <p:spPr>
          <a:xfrm>
            <a:off x="2240280" y="749808"/>
            <a:ext cx="138988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DỄ</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01 / 03</a:t>
            </a:r>
          </a:p>
        </p:txBody>
      </p:sp>
      <p:sp>
        <p:nvSpPr>
          <p:cNvPr id="7" name="Rounded Rectangle 6"/>
          <p:cNvSpPr/>
          <p:nvPr/>
        </p:nvSpPr>
        <p:spPr>
          <a:xfrm>
            <a:off x="7562088" y="749808"/>
            <a:ext cx="1581912" cy="292608"/>
          </a:xfrm>
          <a:prstGeom prst="roundRect">
            <a:avLst/>
          </a:prstGeom>
          <a:solidFill>
            <a:srgbClr val="FBE3E3"/>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1000" b="1" i="0">
                <a:solidFill>
                  <a:srgbClr val="B8424C"/>
                </a:solidFill>
                <a:latin typeface="Trebuchet MS"/>
              </a:rPr>
              <a:t>RẤT TIẾC!</a:t>
            </a:r>
          </a:p>
        </p:txBody>
      </p:sp>
      <p:sp>
        <p:nvSpPr>
          <p:cNvPr id="8"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1" name="TextBox 10"/>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2100" b="1" i="0">
                <a:solidFill>
                  <a:srgbClr val="FFFFFF"/>
                </a:solidFill>
                <a:latin typeface="Aptos"/>
              </a:rPr>
              <a:t>Trong lịch sử xã hội, lực lượng nào được coi là chủ thể sáng tạo chân chính và quyết định sự phát triển của lịch sử?</a:t>
            </a:r>
          </a:p>
        </p:txBody>
      </p:sp>
      <p:sp>
        <p:nvSpPr>
          <p:cNvPr id="12"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4" name="TextBox 13"/>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5" name="Rounded Rectangle 14"/>
          <p:cNvSpPr/>
          <p:nvPr/>
        </p:nvSpPr>
        <p:spPr>
          <a:xfrm>
            <a:off x="9646920" y="1371600"/>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01</a:t>
            </a:r>
          </a:p>
        </p:txBody>
      </p:sp>
      <p:sp>
        <p:nvSpPr>
          <p:cNvPr id="17" name="TextBox 16"/>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nhỏ</a:t>
            </a:r>
          </a:p>
        </p:txBody>
      </p:sp>
      <p:sp>
        <p:nvSpPr>
          <p:cNvPr id="18" name="Rounded Rectangle 17"/>
          <p:cNvSpPr/>
          <p:nvPr/>
        </p:nvSpPr>
        <p:spPr>
          <a:xfrm>
            <a:off x="9646920" y="2487168"/>
            <a:ext cx="1956816" cy="877824"/>
          </a:xfrm>
          <a:prstGeom prst="roundRect">
            <a:avLst/>
          </a:prstGeom>
          <a:solidFill>
            <a:srgbClr val="263F53"/>
          </a:solidFill>
          <a:ln w="12700">
            <a:solidFill>
              <a:srgbClr val="4059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B9C7CC"/>
                </a:solidFill>
                <a:latin typeface="Trebuchet MS"/>
              </a:rPr>
              <a:t>CHƯA MỞ  ·  CÂU 02</a:t>
            </a:r>
          </a:p>
        </p:txBody>
      </p:sp>
      <p:sp>
        <p:nvSpPr>
          <p:cNvPr id="20" name="TextBox 19"/>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B9C7CC"/>
                </a:solidFill>
                <a:latin typeface="Trebuchet MS"/>
              </a:rPr>
              <a:t>Quà vừa</a:t>
            </a:r>
          </a:p>
        </p:txBody>
      </p:sp>
      <p:sp>
        <p:nvSpPr>
          <p:cNvPr id="21" name="Rounded Rectangle 20"/>
          <p:cNvSpPr/>
          <p:nvPr/>
        </p:nvSpPr>
        <p:spPr>
          <a:xfrm>
            <a:off x="9646920" y="3602736"/>
            <a:ext cx="1956816" cy="877824"/>
          </a:xfrm>
          <a:prstGeom prst="roundRect">
            <a:avLst/>
          </a:prstGeom>
          <a:solidFill>
            <a:srgbClr val="263F53"/>
          </a:solidFill>
          <a:ln w="12700">
            <a:solidFill>
              <a:srgbClr val="4059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B9C7CC"/>
                </a:solidFill>
                <a:latin typeface="Trebuchet MS"/>
              </a:rPr>
              <a:t>CHƯA MỞ  ·  CÂU 03</a:t>
            </a:r>
          </a:p>
        </p:txBody>
      </p:sp>
      <p:sp>
        <p:nvSpPr>
          <p:cNvPr id="23" name="TextBox 22"/>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B9C7CC"/>
                </a:solidFill>
                <a:latin typeface="Trebuchet MS"/>
              </a:rPr>
              <a:t>Quà lớn</a:t>
            </a:r>
          </a:p>
        </p:txBody>
      </p:sp>
      <p:sp>
        <p:nvSpPr>
          <p:cNvPr id="24" name="TextBox 23"/>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QUÀ GIỮ LẠI</a:t>
            </a:r>
          </a:p>
        </p:txBody>
      </p:sp>
      <p:sp>
        <p:nvSpPr>
          <p:cNvPr id="25" name="TextBox 24"/>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Chưa có quà</a:t>
            </a:r>
          </a:p>
        </p:txBody>
      </p:sp>
      <p:sp>
        <p:nvSpPr>
          <p:cNvPr id="26" name="TextBox 25"/>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7" name="Đáp án A"/>
          <p:cNvSpPr/>
          <p:nvPr/>
        </p:nvSpPr>
        <p:spPr>
          <a:xfrm>
            <a:off x="530352" y="2770632"/>
            <a:ext cx="4215384" cy="1170432"/>
          </a:xfrm>
          <a:prstGeom prst="roundRect">
            <a:avLst/>
          </a:prstGeom>
          <a:solidFill>
            <a:srgbClr val="E45C64"/>
          </a:solidFill>
          <a:ln w="15875">
            <a:solidFill>
              <a:srgbClr val="B8424C"/>
            </a:solidFill>
          </a:ln>
          <a:effectLst>
            <a:glow rad="110000">
              <a:srgbClr val="E45C64">
                <a:alpha val="35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1" i="0">
                <a:solidFill>
                  <a:srgbClr val="FFFFFF"/>
                </a:solidFill>
                <a:latin typeface="Aptos"/>
              </a:rPr>
              <a:t>Các cá nhân kiệt xuất, đứng ngoài đời sống xã hội.</a:t>
            </a:r>
          </a:p>
        </p:txBody>
      </p:sp>
      <p:sp>
        <p:nvSpPr>
          <p:cNvPr id="28" name="Oval 27"/>
          <p:cNvSpPr/>
          <p:nvPr/>
        </p:nvSpPr>
        <p:spPr>
          <a:xfrm>
            <a:off x="685800" y="3154679"/>
            <a:ext cx="402336" cy="402336"/>
          </a:xfrm>
          <a:prstGeom prst="ellipse">
            <a:avLst/>
          </a:prstGeom>
          <a:solidFill>
            <a:srgbClr val="FFFFFF"/>
          </a:solidFill>
          <a:ln w="12700">
            <a:solidFill>
              <a:srgbClr val="B8424C"/>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B8424C"/>
                </a:solidFill>
                <a:latin typeface="Trebuchet MS"/>
              </a:rPr>
              <a:t>A</a:t>
            </a:r>
          </a:p>
        </p:txBody>
      </p:sp>
      <p:cxnSp>
        <p:nvCxnSpPr>
          <p:cNvPr id="29" name="Connector 28"/>
          <p:cNvCxnSpPr/>
          <p:nvPr/>
        </p:nvCxnSpPr>
        <p:spPr>
          <a:xfrm>
            <a:off x="438912" y="297180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38912" y="3264408"/>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38912" y="3557016"/>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4764024" y="297180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764024" y="3264408"/>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764024" y="3557016"/>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sp>
        <p:nvSpPr>
          <p:cNvPr id="35" name="Đáp án B"/>
          <p:cNvSpPr/>
          <p:nvPr/>
        </p:nvSpPr>
        <p:spPr>
          <a:xfrm>
            <a:off x="4937760" y="2770632"/>
            <a:ext cx="4279392" cy="1170432"/>
          </a:xfrm>
          <a:prstGeom prst="roundRect">
            <a:avLst/>
          </a:prstGeom>
          <a:solidFill>
            <a:srgbClr val="2F9C72"/>
          </a:solidFill>
          <a:ln w="15875">
            <a:solidFill>
              <a:srgbClr val="2F9C72"/>
            </a:solidFill>
          </a:ln>
          <a:effectLst>
            <a:glow rad="190000">
              <a:srgbClr val="73D9A5">
                <a:alpha val="52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1" i="0">
                <a:solidFill>
                  <a:srgbClr val="FFFFFF"/>
                </a:solidFill>
                <a:latin typeface="Aptos"/>
              </a:rPr>
              <a:t>Quần chúng nhân dân.</a:t>
            </a:r>
          </a:p>
        </p:txBody>
      </p:sp>
      <p:sp>
        <p:nvSpPr>
          <p:cNvPr id="36" name="Oval 35"/>
          <p:cNvSpPr/>
          <p:nvPr/>
        </p:nvSpPr>
        <p:spPr>
          <a:xfrm>
            <a:off x="5093208" y="3154679"/>
            <a:ext cx="402336" cy="402336"/>
          </a:xfrm>
          <a:prstGeom prst="ellipse">
            <a:avLst/>
          </a:prstGeom>
          <a:solidFill>
            <a:srgbClr val="FFFFFF"/>
          </a:solidFill>
          <a:ln w="12700">
            <a:solidFill>
              <a:srgbClr val="2F9C72"/>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F9C72"/>
                </a:solidFill>
                <a:latin typeface="Trebuchet MS"/>
              </a:rPr>
              <a:t>B</a:t>
            </a:r>
          </a:p>
        </p:txBody>
      </p:sp>
      <p:sp>
        <p:nvSpPr>
          <p:cNvPr id="37" name="Đáp án C"/>
          <p:cNvSpPr/>
          <p:nvPr/>
        </p:nvSpPr>
        <p:spPr>
          <a:xfrm>
            <a:off x="530352" y="4105656"/>
            <a:ext cx="4215384"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Riêng tầng lớp sở hữu tư liệu sản xuất.</a:t>
            </a:r>
          </a:p>
        </p:txBody>
      </p:sp>
      <p:sp>
        <p:nvSpPr>
          <p:cNvPr id="38" name="Oval 37"/>
          <p:cNvSpPr/>
          <p:nvPr/>
        </p:nvSpPr>
        <p:spPr>
          <a:xfrm>
            <a:off x="685800"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C</a:t>
            </a:r>
          </a:p>
        </p:txBody>
      </p:sp>
      <p:sp>
        <p:nvSpPr>
          <p:cNvPr id="39" name="Đáp án D"/>
          <p:cNvSpPr/>
          <p:nvPr/>
        </p:nvSpPr>
        <p:spPr>
          <a:xfrm>
            <a:off x="4937760" y="4105656"/>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Những thiết chế nhà nước, không phụ thuộc nhân dân.</a:t>
            </a:r>
          </a:p>
        </p:txBody>
      </p:sp>
      <p:sp>
        <p:nvSpPr>
          <p:cNvPr id="40" name="Oval 39"/>
          <p:cNvSpPr/>
          <p:nvPr/>
        </p:nvSpPr>
        <p:spPr>
          <a:xfrm>
            <a:off x="5093208"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D</a:t>
            </a:r>
          </a:p>
        </p:txBody>
      </p:sp>
      <p:sp>
        <p:nvSpPr>
          <p:cNvPr id="41" name="Rounded Rectangle 40"/>
          <p:cNvSpPr/>
          <p:nvPr/>
        </p:nvSpPr>
        <p:spPr>
          <a:xfrm>
            <a:off x="530352" y="5431536"/>
            <a:ext cx="5989320" cy="868680"/>
          </a:xfrm>
          <a:prstGeom prst="roundRect">
            <a:avLst/>
          </a:prstGeom>
          <a:solidFill>
            <a:srgbClr val="FBE5E3"/>
          </a:solidFill>
          <a:ln w="12700">
            <a:solidFill>
              <a:srgbClr val="F0C7C4"/>
            </a:solid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l">
              <a:lnSpc>
                <a:spcPct val="100000"/>
              </a:lnSpc>
              <a:spcBef>
                <a:spcPts val="0"/>
              </a:spcBef>
              <a:spcAft>
                <a:spcPts val="0"/>
              </a:spcAft>
            </a:pPr>
            <a:r>
              <a:rPr sz="980" b="1" i="0">
                <a:solidFill>
                  <a:srgbClr val="18324A"/>
                </a:solidFill>
                <a:latin typeface="Aptos"/>
              </a:rPr>
              <a:t>BẠN CHỌN: A  ·  ĐÁP ÁN ĐÚNG: B
Quần chúng nhân dân.
QUÀ ĐẠT ĐƯỢC LƯỢT NÀY: Chưa có quà</a:t>
            </a:r>
          </a:p>
        </p:txBody>
      </p:sp>
      <p:sp>
        <p:nvSpPr>
          <p:cNvPr id="42" name="Nút: NGƯỜI CHƠI TIẾP THEO  →">
            <a:hlinkClick r:id="rId2" action="ppaction://hlinksldjump"/>
          </p:cNvPr>
          <p:cNvSpPr/>
          <p:nvPr/>
        </p:nvSpPr>
        <p:spPr>
          <a:xfrm>
            <a:off x="6711696" y="5431536"/>
            <a:ext cx="2505456" cy="86868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240" b="1" i="0">
                <a:solidFill>
                  <a:srgbClr val="FFFFFF"/>
                </a:solidFill>
                <a:latin typeface="Trebuchet MS"/>
              </a:rPr>
              <a:t>NGƯỜI CHƠI TIẾP THEO  →</a:t>
            </a:r>
          </a:p>
        </p:txBody>
      </p:sp>
    </p:spTree>
  </p:cSld>
  <p:clrMapOvr>
    <a:masterClrMapping/>
  </p:clrMapOvr>
  <p:transition spd="med" advClick="0">
    <p:fade/>
  </p:transition>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04 / 05</a:t>
            </a:r>
          </a:p>
        </p:txBody>
      </p:sp>
      <p:sp>
        <p:nvSpPr>
          <p:cNvPr id="5" name="Rounded Rectangle 4"/>
          <p:cNvSpPr/>
          <p:nvPr/>
        </p:nvSpPr>
        <p:spPr>
          <a:xfrm>
            <a:off x="2240280" y="749808"/>
            <a:ext cx="138988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DỄ</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01 / 03</a:t>
            </a:r>
          </a:p>
        </p:txBody>
      </p:sp>
      <p:sp>
        <p:nvSpPr>
          <p:cNvPr id="7" name="Rounded Rectangle 6"/>
          <p:cNvSpPr/>
          <p:nvPr/>
        </p:nvSpPr>
        <p:spPr>
          <a:xfrm>
            <a:off x="7562088" y="749808"/>
            <a:ext cx="1581912" cy="292608"/>
          </a:xfrm>
          <a:prstGeom prst="roundRect">
            <a:avLst/>
          </a:prstGeom>
          <a:solidFill>
            <a:srgbClr val="FBE3E3"/>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1000" b="1" i="0">
                <a:solidFill>
                  <a:srgbClr val="B8424C"/>
                </a:solidFill>
                <a:latin typeface="Trebuchet MS"/>
              </a:rPr>
              <a:t>RẤT TIẾC!</a:t>
            </a:r>
          </a:p>
        </p:txBody>
      </p:sp>
      <p:sp>
        <p:nvSpPr>
          <p:cNvPr id="8"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1" name="TextBox 10"/>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2100" b="1" i="0">
                <a:solidFill>
                  <a:srgbClr val="FFFFFF"/>
                </a:solidFill>
                <a:latin typeface="Aptos"/>
              </a:rPr>
              <a:t>Trong lịch sử xã hội, lực lượng nào được coi là chủ thể sáng tạo chân chính và quyết định sự phát triển của lịch sử?</a:t>
            </a:r>
          </a:p>
        </p:txBody>
      </p:sp>
      <p:sp>
        <p:nvSpPr>
          <p:cNvPr id="12"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4" name="TextBox 13"/>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5" name="Rounded Rectangle 14"/>
          <p:cNvSpPr/>
          <p:nvPr/>
        </p:nvSpPr>
        <p:spPr>
          <a:xfrm>
            <a:off x="9646920" y="1371600"/>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01</a:t>
            </a:r>
          </a:p>
        </p:txBody>
      </p:sp>
      <p:sp>
        <p:nvSpPr>
          <p:cNvPr id="17" name="TextBox 16"/>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nhỏ</a:t>
            </a:r>
          </a:p>
        </p:txBody>
      </p:sp>
      <p:sp>
        <p:nvSpPr>
          <p:cNvPr id="18" name="Rounded Rectangle 17"/>
          <p:cNvSpPr/>
          <p:nvPr/>
        </p:nvSpPr>
        <p:spPr>
          <a:xfrm>
            <a:off x="9646920" y="2487168"/>
            <a:ext cx="1956816" cy="877824"/>
          </a:xfrm>
          <a:prstGeom prst="roundRect">
            <a:avLst/>
          </a:prstGeom>
          <a:solidFill>
            <a:srgbClr val="263F53"/>
          </a:solidFill>
          <a:ln w="12700">
            <a:solidFill>
              <a:srgbClr val="4059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B9C7CC"/>
                </a:solidFill>
                <a:latin typeface="Trebuchet MS"/>
              </a:rPr>
              <a:t>CHƯA MỞ  ·  CÂU 02</a:t>
            </a:r>
          </a:p>
        </p:txBody>
      </p:sp>
      <p:sp>
        <p:nvSpPr>
          <p:cNvPr id="20" name="TextBox 19"/>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B9C7CC"/>
                </a:solidFill>
                <a:latin typeface="Trebuchet MS"/>
              </a:rPr>
              <a:t>Quà vừa</a:t>
            </a:r>
          </a:p>
        </p:txBody>
      </p:sp>
      <p:sp>
        <p:nvSpPr>
          <p:cNvPr id="21" name="Rounded Rectangle 20"/>
          <p:cNvSpPr/>
          <p:nvPr/>
        </p:nvSpPr>
        <p:spPr>
          <a:xfrm>
            <a:off x="9646920" y="3602736"/>
            <a:ext cx="1956816" cy="877824"/>
          </a:xfrm>
          <a:prstGeom prst="roundRect">
            <a:avLst/>
          </a:prstGeom>
          <a:solidFill>
            <a:srgbClr val="263F53"/>
          </a:solidFill>
          <a:ln w="12700">
            <a:solidFill>
              <a:srgbClr val="4059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B9C7CC"/>
                </a:solidFill>
                <a:latin typeface="Trebuchet MS"/>
              </a:rPr>
              <a:t>CHƯA MỞ  ·  CÂU 03</a:t>
            </a:r>
          </a:p>
        </p:txBody>
      </p:sp>
      <p:sp>
        <p:nvSpPr>
          <p:cNvPr id="23" name="TextBox 22"/>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B9C7CC"/>
                </a:solidFill>
                <a:latin typeface="Trebuchet MS"/>
              </a:rPr>
              <a:t>Quà lớn</a:t>
            </a:r>
          </a:p>
        </p:txBody>
      </p:sp>
      <p:sp>
        <p:nvSpPr>
          <p:cNvPr id="24" name="TextBox 23"/>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QUÀ GIỮ LẠI</a:t>
            </a:r>
          </a:p>
        </p:txBody>
      </p:sp>
      <p:sp>
        <p:nvSpPr>
          <p:cNvPr id="25" name="TextBox 24"/>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Chưa có quà</a:t>
            </a:r>
          </a:p>
        </p:txBody>
      </p:sp>
      <p:sp>
        <p:nvSpPr>
          <p:cNvPr id="26" name="TextBox 25"/>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7" name="Đáp án A"/>
          <p:cNvSpPr/>
          <p:nvPr/>
        </p:nvSpPr>
        <p:spPr>
          <a:xfrm>
            <a:off x="530352" y="2770632"/>
            <a:ext cx="4215384"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Các cá nhân kiệt xuất, đứng ngoài đời sống xã hội.</a:t>
            </a:r>
          </a:p>
        </p:txBody>
      </p:sp>
      <p:sp>
        <p:nvSpPr>
          <p:cNvPr id="28" name="Oval 27"/>
          <p:cNvSpPr/>
          <p:nvPr/>
        </p:nvSpPr>
        <p:spPr>
          <a:xfrm>
            <a:off x="685800" y="3154679"/>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A</a:t>
            </a:r>
          </a:p>
        </p:txBody>
      </p:sp>
      <p:sp>
        <p:nvSpPr>
          <p:cNvPr id="29" name="Đáp án B"/>
          <p:cNvSpPr/>
          <p:nvPr/>
        </p:nvSpPr>
        <p:spPr>
          <a:xfrm>
            <a:off x="4937760" y="2770632"/>
            <a:ext cx="4279392" cy="1170432"/>
          </a:xfrm>
          <a:prstGeom prst="roundRect">
            <a:avLst/>
          </a:prstGeom>
          <a:solidFill>
            <a:srgbClr val="2F9C72"/>
          </a:solidFill>
          <a:ln w="15875">
            <a:solidFill>
              <a:srgbClr val="2F9C72"/>
            </a:solidFill>
          </a:ln>
          <a:effectLst>
            <a:glow rad="190000">
              <a:srgbClr val="73D9A5">
                <a:alpha val="52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1" i="0">
                <a:solidFill>
                  <a:srgbClr val="FFFFFF"/>
                </a:solidFill>
                <a:latin typeface="Aptos"/>
              </a:rPr>
              <a:t>Quần chúng nhân dân.</a:t>
            </a:r>
          </a:p>
        </p:txBody>
      </p:sp>
      <p:sp>
        <p:nvSpPr>
          <p:cNvPr id="30" name="Oval 29"/>
          <p:cNvSpPr/>
          <p:nvPr/>
        </p:nvSpPr>
        <p:spPr>
          <a:xfrm>
            <a:off x="5093208" y="3154679"/>
            <a:ext cx="402336" cy="402336"/>
          </a:xfrm>
          <a:prstGeom prst="ellipse">
            <a:avLst/>
          </a:prstGeom>
          <a:solidFill>
            <a:srgbClr val="FFFFFF"/>
          </a:solidFill>
          <a:ln w="12700">
            <a:solidFill>
              <a:srgbClr val="2F9C72"/>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F9C72"/>
                </a:solidFill>
                <a:latin typeface="Trebuchet MS"/>
              </a:rPr>
              <a:t>B</a:t>
            </a:r>
          </a:p>
        </p:txBody>
      </p:sp>
      <p:sp>
        <p:nvSpPr>
          <p:cNvPr id="31" name="Đáp án C"/>
          <p:cNvSpPr/>
          <p:nvPr/>
        </p:nvSpPr>
        <p:spPr>
          <a:xfrm>
            <a:off x="530352" y="4105656"/>
            <a:ext cx="4215384" cy="1170432"/>
          </a:xfrm>
          <a:prstGeom prst="roundRect">
            <a:avLst/>
          </a:prstGeom>
          <a:solidFill>
            <a:srgbClr val="E45C64"/>
          </a:solidFill>
          <a:ln w="15875">
            <a:solidFill>
              <a:srgbClr val="B8424C"/>
            </a:solidFill>
          </a:ln>
          <a:effectLst>
            <a:glow rad="110000">
              <a:srgbClr val="E45C64">
                <a:alpha val="35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1" i="0">
                <a:solidFill>
                  <a:srgbClr val="FFFFFF"/>
                </a:solidFill>
                <a:latin typeface="Aptos"/>
              </a:rPr>
              <a:t>Riêng tầng lớp sở hữu tư liệu sản xuất.</a:t>
            </a:r>
          </a:p>
        </p:txBody>
      </p:sp>
      <p:sp>
        <p:nvSpPr>
          <p:cNvPr id="32" name="Oval 31"/>
          <p:cNvSpPr/>
          <p:nvPr/>
        </p:nvSpPr>
        <p:spPr>
          <a:xfrm>
            <a:off x="685800" y="4489704"/>
            <a:ext cx="402336" cy="402336"/>
          </a:xfrm>
          <a:prstGeom prst="ellipse">
            <a:avLst/>
          </a:prstGeom>
          <a:solidFill>
            <a:srgbClr val="FFFFFF"/>
          </a:solidFill>
          <a:ln w="12700">
            <a:solidFill>
              <a:srgbClr val="B8424C"/>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B8424C"/>
                </a:solidFill>
                <a:latin typeface="Trebuchet MS"/>
              </a:rPr>
              <a:t>C</a:t>
            </a:r>
          </a:p>
        </p:txBody>
      </p:sp>
      <p:cxnSp>
        <p:nvCxnSpPr>
          <p:cNvPr id="33" name="Connector 32"/>
          <p:cNvCxnSpPr/>
          <p:nvPr/>
        </p:nvCxnSpPr>
        <p:spPr>
          <a:xfrm>
            <a:off x="438912" y="4306824"/>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38912" y="4599432"/>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38912" y="489204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4764024" y="4306824"/>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764024" y="4599432"/>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764024" y="489204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sp>
        <p:nvSpPr>
          <p:cNvPr id="39" name="Đáp án D"/>
          <p:cNvSpPr/>
          <p:nvPr/>
        </p:nvSpPr>
        <p:spPr>
          <a:xfrm>
            <a:off x="4937760" y="4105656"/>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Những thiết chế nhà nước, không phụ thuộc nhân dân.</a:t>
            </a:r>
          </a:p>
        </p:txBody>
      </p:sp>
      <p:sp>
        <p:nvSpPr>
          <p:cNvPr id="40" name="Oval 39"/>
          <p:cNvSpPr/>
          <p:nvPr/>
        </p:nvSpPr>
        <p:spPr>
          <a:xfrm>
            <a:off x="5093208"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D</a:t>
            </a:r>
          </a:p>
        </p:txBody>
      </p:sp>
      <p:sp>
        <p:nvSpPr>
          <p:cNvPr id="41" name="Rounded Rectangle 40"/>
          <p:cNvSpPr/>
          <p:nvPr/>
        </p:nvSpPr>
        <p:spPr>
          <a:xfrm>
            <a:off x="530352" y="5431536"/>
            <a:ext cx="5989320" cy="868680"/>
          </a:xfrm>
          <a:prstGeom prst="roundRect">
            <a:avLst/>
          </a:prstGeom>
          <a:solidFill>
            <a:srgbClr val="FBE5E3"/>
          </a:solidFill>
          <a:ln w="12700">
            <a:solidFill>
              <a:srgbClr val="F0C7C4"/>
            </a:solid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l">
              <a:lnSpc>
                <a:spcPct val="100000"/>
              </a:lnSpc>
              <a:spcBef>
                <a:spcPts val="0"/>
              </a:spcBef>
              <a:spcAft>
                <a:spcPts val="0"/>
              </a:spcAft>
            </a:pPr>
            <a:r>
              <a:rPr sz="980" b="1" i="0">
                <a:solidFill>
                  <a:srgbClr val="18324A"/>
                </a:solidFill>
                <a:latin typeface="Aptos"/>
              </a:rPr>
              <a:t>BẠN CHỌN: C  ·  ĐÁP ÁN ĐÚNG: B
Quần chúng nhân dân.
QUÀ ĐẠT ĐƯỢC LƯỢT NÀY: Chưa có quà</a:t>
            </a:r>
          </a:p>
        </p:txBody>
      </p:sp>
      <p:sp>
        <p:nvSpPr>
          <p:cNvPr id="42" name="Nút: NGƯỜI CHƠI TIẾP THEO  →">
            <a:hlinkClick r:id="rId2" action="ppaction://hlinksldjump"/>
          </p:cNvPr>
          <p:cNvSpPr/>
          <p:nvPr/>
        </p:nvSpPr>
        <p:spPr>
          <a:xfrm>
            <a:off x="6711696" y="5431536"/>
            <a:ext cx="2505456" cy="86868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240" b="1" i="0">
                <a:solidFill>
                  <a:srgbClr val="FFFFFF"/>
                </a:solidFill>
                <a:latin typeface="Trebuchet MS"/>
              </a:rPr>
              <a:t>NGƯỜI CHƠI TIẾP THEO  →</a:t>
            </a:r>
          </a:p>
        </p:txBody>
      </p:sp>
    </p:spTree>
  </p:cSld>
  <p:clrMapOvr>
    <a:masterClrMapping/>
  </p:clrMapOvr>
  <p:transition spd="med" advClick="0">
    <p:fade/>
  </p:transition>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04 / 05</a:t>
            </a:r>
          </a:p>
        </p:txBody>
      </p:sp>
      <p:sp>
        <p:nvSpPr>
          <p:cNvPr id="5" name="Rounded Rectangle 4"/>
          <p:cNvSpPr/>
          <p:nvPr/>
        </p:nvSpPr>
        <p:spPr>
          <a:xfrm>
            <a:off x="2240280" y="749808"/>
            <a:ext cx="138988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DỄ</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01 / 03</a:t>
            </a:r>
          </a:p>
        </p:txBody>
      </p:sp>
      <p:sp>
        <p:nvSpPr>
          <p:cNvPr id="7" name="Rounded Rectangle 6"/>
          <p:cNvSpPr/>
          <p:nvPr/>
        </p:nvSpPr>
        <p:spPr>
          <a:xfrm>
            <a:off x="7562088" y="749808"/>
            <a:ext cx="1581912" cy="292608"/>
          </a:xfrm>
          <a:prstGeom prst="roundRect">
            <a:avLst/>
          </a:prstGeom>
          <a:solidFill>
            <a:srgbClr val="FBE3E3"/>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1000" b="1" i="0">
                <a:solidFill>
                  <a:srgbClr val="B8424C"/>
                </a:solidFill>
                <a:latin typeface="Trebuchet MS"/>
              </a:rPr>
              <a:t>RẤT TIẾC!</a:t>
            </a:r>
          </a:p>
        </p:txBody>
      </p:sp>
      <p:sp>
        <p:nvSpPr>
          <p:cNvPr id="8"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1" name="TextBox 10"/>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2100" b="1" i="0">
                <a:solidFill>
                  <a:srgbClr val="FFFFFF"/>
                </a:solidFill>
                <a:latin typeface="Aptos"/>
              </a:rPr>
              <a:t>Trong lịch sử xã hội, lực lượng nào được coi là chủ thể sáng tạo chân chính và quyết định sự phát triển của lịch sử?</a:t>
            </a:r>
          </a:p>
        </p:txBody>
      </p:sp>
      <p:sp>
        <p:nvSpPr>
          <p:cNvPr id="12"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4" name="TextBox 13"/>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5" name="Rounded Rectangle 14"/>
          <p:cNvSpPr/>
          <p:nvPr/>
        </p:nvSpPr>
        <p:spPr>
          <a:xfrm>
            <a:off x="9646920" y="1371600"/>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01</a:t>
            </a:r>
          </a:p>
        </p:txBody>
      </p:sp>
      <p:sp>
        <p:nvSpPr>
          <p:cNvPr id="17" name="TextBox 16"/>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nhỏ</a:t>
            </a:r>
          </a:p>
        </p:txBody>
      </p:sp>
      <p:sp>
        <p:nvSpPr>
          <p:cNvPr id="18" name="Rounded Rectangle 17"/>
          <p:cNvSpPr/>
          <p:nvPr/>
        </p:nvSpPr>
        <p:spPr>
          <a:xfrm>
            <a:off x="9646920" y="2487168"/>
            <a:ext cx="1956816" cy="877824"/>
          </a:xfrm>
          <a:prstGeom prst="roundRect">
            <a:avLst/>
          </a:prstGeom>
          <a:solidFill>
            <a:srgbClr val="263F53"/>
          </a:solidFill>
          <a:ln w="12700">
            <a:solidFill>
              <a:srgbClr val="4059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B9C7CC"/>
                </a:solidFill>
                <a:latin typeface="Trebuchet MS"/>
              </a:rPr>
              <a:t>CHƯA MỞ  ·  CÂU 02</a:t>
            </a:r>
          </a:p>
        </p:txBody>
      </p:sp>
      <p:sp>
        <p:nvSpPr>
          <p:cNvPr id="20" name="TextBox 19"/>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B9C7CC"/>
                </a:solidFill>
                <a:latin typeface="Trebuchet MS"/>
              </a:rPr>
              <a:t>Quà vừa</a:t>
            </a:r>
          </a:p>
        </p:txBody>
      </p:sp>
      <p:sp>
        <p:nvSpPr>
          <p:cNvPr id="21" name="Rounded Rectangle 20"/>
          <p:cNvSpPr/>
          <p:nvPr/>
        </p:nvSpPr>
        <p:spPr>
          <a:xfrm>
            <a:off x="9646920" y="3602736"/>
            <a:ext cx="1956816" cy="877824"/>
          </a:xfrm>
          <a:prstGeom prst="roundRect">
            <a:avLst/>
          </a:prstGeom>
          <a:solidFill>
            <a:srgbClr val="263F53"/>
          </a:solidFill>
          <a:ln w="12700">
            <a:solidFill>
              <a:srgbClr val="4059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B9C7CC"/>
                </a:solidFill>
                <a:latin typeface="Trebuchet MS"/>
              </a:rPr>
              <a:t>CHƯA MỞ  ·  CÂU 03</a:t>
            </a:r>
          </a:p>
        </p:txBody>
      </p:sp>
      <p:sp>
        <p:nvSpPr>
          <p:cNvPr id="23" name="TextBox 22"/>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B9C7CC"/>
                </a:solidFill>
                <a:latin typeface="Trebuchet MS"/>
              </a:rPr>
              <a:t>Quà lớn</a:t>
            </a:r>
          </a:p>
        </p:txBody>
      </p:sp>
      <p:sp>
        <p:nvSpPr>
          <p:cNvPr id="24" name="TextBox 23"/>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QUÀ GIỮ LẠI</a:t>
            </a:r>
          </a:p>
        </p:txBody>
      </p:sp>
      <p:sp>
        <p:nvSpPr>
          <p:cNvPr id="25" name="TextBox 24"/>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Chưa có quà</a:t>
            </a:r>
          </a:p>
        </p:txBody>
      </p:sp>
      <p:sp>
        <p:nvSpPr>
          <p:cNvPr id="26" name="TextBox 25"/>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7" name="Đáp án A"/>
          <p:cNvSpPr/>
          <p:nvPr/>
        </p:nvSpPr>
        <p:spPr>
          <a:xfrm>
            <a:off x="530352" y="2770632"/>
            <a:ext cx="4215384"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Các cá nhân kiệt xuất, đứng ngoài đời sống xã hội.</a:t>
            </a:r>
          </a:p>
        </p:txBody>
      </p:sp>
      <p:sp>
        <p:nvSpPr>
          <p:cNvPr id="28" name="Oval 27"/>
          <p:cNvSpPr/>
          <p:nvPr/>
        </p:nvSpPr>
        <p:spPr>
          <a:xfrm>
            <a:off x="685800" y="3154679"/>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A</a:t>
            </a:r>
          </a:p>
        </p:txBody>
      </p:sp>
      <p:sp>
        <p:nvSpPr>
          <p:cNvPr id="29" name="Đáp án B"/>
          <p:cNvSpPr/>
          <p:nvPr/>
        </p:nvSpPr>
        <p:spPr>
          <a:xfrm>
            <a:off x="4937760" y="2770632"/>
            <a:ext cx="4279392" cy="1170432"/>
          </a:xfrm>
          <a:prstGeom prst="roundRect">
            <a:avLst/>
          </a:prstGeom>
          <a:solidFill>
            <a:srgbClr val="2F9C72"/>
          </a:solidFill>
          <a:ln w="15875">
            <a:solidFill>
              <a:srgbClr val="2F9C72"/>
            </a:solidFill>
          </a:ln>
          <a:effectLst>
            <a:glow rad="190000">
              <a:srgbClr val="73D9A5">
                <a:alpha val="52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1" i="0">
                <a:solidFill>
                  <a:srgbClr val="FFFFFF"/>
                </a:solidFill>
                <a:latin typeface="Aptos"/>
              </a:rPr>
              <a:t>Quần chúng nhân dân.</a:t>
            </a:r>
          </a:p>
        </p:txBody>
      </p:sp>
      <p:sp>
        <p:nvSpPr>
          <p:cNvPr id="30" name="Oval 29"/>
          <p:cNvSpPr/>
          <p:nvPr/>
        </p:nvSpPr>
        <p:spPr>
          <a:xfrm>
            <a:off x="5093208" y="3154679"/>
            <a:ext cx="402336" cy="402336"/>
          </a:xfrm>
          <a:prstGeom prst="ellipse">
            <a:avLst/>
          </a:prstGeom>
          <a:solidFill>
            <a:srgbClr val="FFFFFF"/>
          </a:solidFill>
          <a:ln w="12700">
            <a:solidFill>
              <a:srgbClr val="2F9C72"/>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F9C72"/>
                </a:solidFill>
                <a:latin typeface="Trebuchet MS"/>
              </a:rPr>
              <a:t>B</a:t>
            </a:r>
          </a:p>
        </p:txBody>
      </p:sp>
      <p:sp>
        <p:nvSpPr>
          <p:cNvPr id="31" name="Đáp án C"/>
          <p:cNvSpPr/>
          <p:nvPr/>
        </p:nvSpPr>
        <p:spPr>
          <a:xfrm>
            <a:off x="530352" y="4105656"/>
            <a:ext cx="4215384"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Riêng tầng lớp sở hữu tư liệu sản xuất.</a:t>
            </a:r>
          </a:p>
        </p:txBody>
      </p:sp>
      <p:sp>
        <p:nvSpPr>
          <p:cNvPr id="32" name="Oval 31"/>
          <p:cNvSpPr/>
          <p:nvPr/>
        </p:nvSpPr>
        <p:spPr>
          <a:xfrm>
            <a:off x="685800"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C</a:t>
            </a:r>
          </a:p>
        </p:txBody>
      </p:sp>
      <p:sp>
        <p:nvSpPr>
          <p:cNvPr id="33" name="Đáp án D"/>
          <p:cNvSpPr/>
          <p:nvPr/>
        </p:nvSpPr>
        <p:spPr>
          <a:xfrm>
            <a:off x="4937760" y="4105656"/>
            <a:ext cx="4279392" cy="1170432"/>
          </a:xfrm>
          <a:prstGeom prst="roundRect">
            <a:avLst/>
          </a:prstGeom>
          <a:solidFill>
            <a:srgbClr val="E45C64"/>
          </a:solidFill>
          <a:ln w="15875">
            <a:solidFill>
              <a:srgbClr val="B8424C"/>
            </a:solidFill>
          </a:ln>
          <a:effectLst>
            <a:glow rad="110000">
              <a:srgbClr val="E45C64">
                <a:alpha val="35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1" i="0">
                <a:solidFill>
                  <a:srgbClr val="FFFFFF"/>
                </a:solidFill>
                <a:latin typeface="Aptos"/>
              </a:rPr>
              <a:t>Những thiết chế nhà nước, không phụ thuộc nhân dân.</a:t>
            </a:r>
          </a:p>
        </p:txBody>
      </p:sp>
      <p:sp>
        <p:nvSpPr>
          <p:cNvPr id="34" name="Oval 33"/>
          <p:cNvSpPr/>
          <p:nvPr/>
        </p:nvSpPr>
        <p:spPr>
          <a:xfrm>
            <a:off x="5093208" y="4489704"/>
            <a:ext cx="402336" cy="402336"/>
          </a:xfrm>
          <a:prstGeom prst="ellipse">
            <a:avLst/>
          </a:prstGeom>
          <a:solidFill>
            <a:srgbClr val="FFFFFF"/>
          </a:solidFill>
          <a:ln w="12700">
            <a:solidFill>
              <a:srgbClr val="B8424C"/>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B8424C"/>
                </a:solidFill>
                <a:latin typeface="Trebuchet MS"/>
              </a:rPr>
              <a:t>D</a:t>
            </a:r>
          </a:p>
        </p:txBody>
      </p:sp>
      <p:cxnSp>
        <p:nvCxnSpPr>
          <p:cNvPr id="35" name="Connector 34"/>
          <p:cNvCxnSpPr/>
          <p:nvPr/>
        </p:nvCxnSpPr>
        <p:spPr>
          <a:xfrm>
            <a:off x="4846320" y="4306824"/>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4846320" y="4599432"/>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846320" y="489204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9235440" y="4306824"/>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9235440" y="4599432"/>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9235440" y="489204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530352" y="5431536"/>
            <a:ext cx="5989320" cy="868680"/>
          </a:xfrm>
          <a:prstGeom prst="roundRect">
            <a:avLst/>
          </a:prstGeom>
          <a:solidFill>
            <a:srgbClr val="FBE5E3"/>
          </a:solidFill>
          <a:ln w="12700">
            <a:solidFill>
              <a:srgbClr val="F0C7C4"/>
            </a:solid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l">
              <a:lnSpc>
                <a:spcPct val="100000"/>
              </a:lnSpc>
              <a:spcBef>
                <a:spcPts val="0"/>
              </a:spcBef>
              <a:spcAft>
                <a:spcPts val="0"/>
              </a:spcAft>
            </a:pPr>
            <a:r>
              <a:rPr sz="980" b="1" i="0">
                <a:solidFill>
                  <a:srgbClr val="18324A"/>
                </a:solidFill>
                <a:latin typeface="Aptos"/>
              </a:rPr>
              <a:t>BẠN CHỌN: D  ·  ĐÁP ÁN ĐÚNG: B
Quần chúng nhân dân.
QUÀ ĐẠT ĐƯỢC LƯỢT NÀY: Chưa có quà</a:t>
            </a:r>
          </a:p>
        </p:txBody>
      </p:sp>
      <p:sp>
        <p:nvSpPr>
          <p:cNvPr id="42" name="Nút: NGƯỜI CHƠI TIẾP THEO  →">
            <a:hlinkClick r:id="rId2" action="ppaction://hlinksldjump"/>
          </p:cNvPr>
          <p:cNvSpPr/>
          <p:nvPr/>
        </p:nvSpPr>
        <p:spPr>
          <a:xfrm>
            <a:off x="6711696" y="5431536"/>
            <a:ext cx="2505456" cy="86868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240" b="1" i="0">
                <a:solidFill>
                  <a:srgbClr val="FFFFFF"/>
                </a:solidFill>
                <a:latin typeface="Trebuchet MS"/>
              </a:rPr>
              <a:t>NGƯỜI CHƠI TIẾP THEO  →</a:t>
            </a:r>
          </a:p>
        </p:txBody>
      </p:sp>
    </p:spTree>
  </p:cSld>
  <p:clrMapOvr>
    <a:masterClrMapping/>
  </p:clrMapOvr>
  <p:transition spd="med" advClick="0">
    <p:fade/>
  </p:transition>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04 / 05</a:t>
            </a:r>
          </a:p>
        </p:txBody>
      </p:sp>
      <p:sp>
        <p:nvSpPr>
          <p:cNvPr id="5" name="Rounded Rectangle 4"/>
          <p:cNvSpPr/>
          <p:nvPr/>
        </p:nvSpPr>
        <p:spPr>
          <a:xfrm>
            <a:off x="2240280" y="749808"/>
            <a:ext cx="1389888" cy="292608"/>
          </a:xfrm>
          <a:prstGeom prst="roundRect">
            <a:avLst/>
          </a:prstGeom>
          <a:solidFill>
            <a:srgbClr val="FFF0C2"/>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18324A"/>
                </a:solidFill>
                <a:latin typeface="Trebuchet MS"/>
              </a:rPr>
              <a:t>TRUNG BÌNH</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02 / 03</a:t>
            </a:r>
          </a:p>
        </p:txBody>
      </p:sp>
      <p:sp>
        <p:nvSpPr>
          <p:cNvPr id="7"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0" name="TextBox 9"/>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1860" b="1" i="0">
                <a:solidFill>
                  <a:srgbClr val="FFFFFF"/>
                </a:solidFill>
                <a:latin typeface="Aptos"/>
              </a:rPr>
              <a:t>Sự nhấn mạnh từ “nhân dân là trung tâm” ở Đại hội XII đến “nhân dân là trung tâm, đồng thời là chủ thể” ở Đại hội XIII hàm ý điểm mới nào?</a:t>
            </a:r>
          </a:p>
        </p:txBody>
      </p:sp>
      <p:sp>
        <p:nvSpPr>
          <p:cNvPr id="11"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3" name="TextBox 12"/>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4" name="Rounded Rectangle 13"/>
          <p:cNvSpPr/>
          <p:nvPr/>
        </p:nvSpPr>
        <p:spPr>
          <a:xfrm>
            <a:off x="9646920" y="1371600"/>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01</a:t>
            </a:r>
          </a:p>
        </p:txBody>
      </p:sp>
      <p:sp>
        <p:nvSpPr>
          <p:cNvPr id="16" name="TextBox 15"/>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nhỏ</a:t>
            </a:r>
          </a:p>
        </p:txBody>
      </p:sp>
      <p:sp>
        <p:nvSpPr>
          <p:cNvPr id="17" name="Rounded Rectangle 16"/>
          <p:cNvSpPr/>
          <p:nvPr/>
        </p:nvSpPr>
        <p:spPr>
          <a:xfrm>
            <a:off x="9646920" y="2487168"/>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02</a:t>
            </a:r>
          </a:p>
        </p:txBody>
      </p:sp>
      <p:sp>
        <p:nvSpPr>
          <p:cNvPr id="19" name="TextBox 18"/>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vừa</a:t>
            </a:r>
          </a:p>
        </p:txBody>
      </p:sp>
      <p:sp>
        <p:nvSpPr>
          <p:cNvPr id="20" name="Rounded Rectangle 19"/>
          <p:cNvSpPr/>
          <p:nvPr/>
        </p:nvSpPr>
        <p:spPr>
          <a:xfrm>
            <a:off x="9646920" y="3602736"/>
            <a:ext cx="1956816" cy="877824"/>
          </a:xfrm>
          <a:prstGeom prst="roundRect">
            <a:avLst/>
          </a:prstGeom>
          <a:solidFill>
            <a:srgbClr val="263F53"/>
          </a:solidFill>
          <a:ln w="12700">
            <a:solidFill>
              <a:srgbClr val="4059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B9C7CC"/>
                </a:solidFill>
                <a:latin typeface="Trebuchet MS"/>
              </a:rPr>
              <a:t>CHƯA MỞ  ·  CÂU 03</a:t>
            </a:r>
          </a:p>
        </p:txBody>
      </p:sp>
      <p:sp>
        <p:nvSpPr>
          <p:cNvPr id="22" name="TextBox 21"/>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B9C7CC"/>
                </a:solidFill>
                <a:latin typeface="Trebuchet MS"/>
              </a:rPr>
              <a:t>Quà lớn</a:t>
            </a:r>
          </a:p>
        </p:txBody>
      </p:sp>
      <p:sp>
        <p:nvSpPr>
          <p:cNvPr id="23" name="TextBox 22"/>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MỐC AN TOÀN</a:t>
            </a:r>
          </a:p>
        </p:txBody>
      </p:sp>
      <p:sp>
        <p:nvSpPr>
          <p:cNvPr id="24" name="TextBox 23"/>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Quà nhỏ</a:t>
            </a:r>
          </a:p>
        </p:txBody>
      </p:sp>
      <p:sp>
        <p:nvSpPr>
          <p:cNvPr id="25" name="TextBox 24"/>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6" name="Đáp án A">
            <a:hlinkClick r:id="rId2" action="ppaction://hlinksldjump"/>
          </p:cNvPr>
          <p:cNvSpPr/>
          <p:nvPr/>
        </p:nvSpPr>
        <p:spPr>
          <a:xfrm>
            <a:off x="530352" y="2770632"/>
            <a:ext cx="4215384" cy="1170432"/>
          </a:xfrm>
          <a:prstGeom prst="roundRect">
            <a:avLst/>
          </a:prstGeom>
          <a:solidFill>
            <a:srgbClr val="FBFCF9"/>
          </a:solidFill>
          <a:ln w="15875">
            <a:solidFill>
              <a:srgbClr val="D7DED8"/>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380" b="0" i="0">
                <a:solidFill>
                  <a:srgbClr val="18324A"/>
                </a:solidFill>
                <a:latin typeface="Aptos"/>
              </a:rPr>
              <a:t>Nhân dân vừa là mục tiêu, người thụ hưởng, vừa là chủ thể tham gia, sáng tạo và góp phần quyết định thực tiễn phát triển.</a:t>
            </a:r>
          </a:p>
        </p:txBody>
      </p:sp>
      <p:sp>
        <p:nvSpPr>
          <p:cNvPr id="27" name="Oval 26">
            <a:hlinkClick r:id="rId2" action="ppaction://hlinksldjump"/>
          </p:cNvPr>
          <p:cNvSpPr/>
          <p:nvPr/>
        </p:nvSpPr>
        <p:spPr>
          <a:xfrm>
            <a:off x="685800" y="3154679"/>
            <a:ext cx="402336" cy="402336"/>
          </a:xfrm>
          <a:prstGeom prst="ellipse">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E8177"/>
                </a:solidFill>
                <a:latin typeface="Trebuchet MS"/>
              </a:rPr>
              <a:t>A</a:t>
            </a:r>
          </a:p>
        </p:txBody>
      </p:sp>
      <p:sp>
        <p:nvSpPr>
          <p:cNvPr id="28" name="Đáp án B">
            <a:hlinkClick r:id="rId3" action="ppaction://hlinksldjump"/>
          </p:cNvPr>
          <p:cNvSpPr/>
          <p:nvPr/>
        </p:nvSpPr>
        <p:spPr>
          <a:xfrm>
            <a:off x="4937760" y="2770632"/>
            <a:ext cx="4279392" cy="1170432"/>
          </a:xfrm>
          <a:prstGeom prst="roundRect">
            <a:avLst/>
          </a:prstGeom>
          <a:solidFill>
            <a:srgbClr val="FBFCF9"/>
          </a:solidFill>
          <a:ln w="15875">
            <a:solidFill>
              <a:srgbClr val="D7DED8"/>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18324A"/>
                </a:solidFill>
                <a:latin typeface="Aptos"/>
              </a:rPr>
              <a:t>Chỉ cơ quan nhà nước mới là chủ thể; nhân dân chủ yếu tiếp nhận chính sách.</a:t>
            </a:r>
          </a:p>
        </p:txBody>
      </p:sp>
      <p:sp>
        <p:nvSpPr>
          <p:cNvPr id="29" name="Oval 28">
            <a:hlinkClick r:id="rId3" action="ppaction://hlinksldjump"/>
          </p:cNvPr>
          <p:cNvSpPr/>
          <p:nvPr/>
        </p:nvSpPr>
        <p:spPr>
          <a:xfrm>
            <a:off x="5093208" y="3154679"/>
            <a:ext cx="402336" cy="402336"/>
          </a:xfrm>
          <a:prstGeom prst="ellipse">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E8177"/>
                </a:solidFill>
                <a:latin typeface="Trebuchet MS"/>
              </a:rPr>
              <a:t>B</a:t>
            </a:r>
          </a:p>
        </p:txBody>
      </p:sp>
      <p:sp>
        <p:nvSpPr>
          <p:cNvPr id="30" name="Đáp án C">
            <a:hlinkClick r:id="rId4" action="ppaction://hlinksldjump"/>
          </p:cNvPr>
          <p:cNvSpPr/>
          <p:nvPr/>
        </p:nvSpPr>
        <p:spPr>
          <a:xfrm>
            <a:off x="530352" y="4105656"/>
            <a:ext cx="4215384" cy="1170432"/>
          </a:xfrm>
          <a:prstGeom prst="roundRect">
            <a:avLst/>
          </a:prstGeom>
          <a:solidFill>
            <a:srgbClr val="FBFCF9"/>
          </a:solidFill>
          <a:ln w="15875">
            <a:solidFill>
              <a:srgbClr val="D7DED8"/>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18324A"/>
                </a:solidFill>
                <a:latin typeface="Aptos"/>
              </a:rPr>
              <a:t>Vai trò của nhân dân được thu hẹp vào riêng lĩnh vực kinh tế.</a:t>
            </a:r>
          </a:p>
        </p:txBody>
      </p:sp>
      <p:sp>
        <p:nvSpPr>
          <p:cNvPr id="31" name="Oval 30">
            <a:hlinkClick r:id="rId4" action="ppaction://hlinksldjump"/>
          </p:cNvPr>
          <p:cNvSpPr/>
          <p:nvPr/>
        </p:nvSpPr>
        <p:spPr>
          <a:xfrm>
            <a:off x="685800" y="4489704"/>
            <a:ext cx="402336" cy="402336"/>
          </a:xfrm>
          <a:prstGeom prst="ellipse">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E8177"/>
                </a:solidFill>
                <a:latin typeface="Trebuchet MS"/>
              </a:rPr>
              <a:t>C</a:t>
            </a:r>
          </a:p>
        </p:txBody>
      </p:sp>
      <p:sp>
        <p:nvSpPr>
          <p:cNvPr id="32" name="Đáp án D">
            <a:hlinkClick r:id="rId5" action="ppaction://hlinksldjump"/>
          </p:cNvPr>
          <p:cNvSpPr/>
          <p:nvPr/>
        </p:nvSpPr>
        <p:spPr>
          <a:xfrm>
            <a:off x="4937760" y="4105656"/>
            <a:ext cx="4279392" cy="1170432"/>
          </a:xfrm>
          <a:prstGeom prst="roundRect">
            <a:avLst/>
          </a:prstGeom>
          <a:solidFill>
            <a:srgbClr val="FBFCF9"/>
          </a:solidFill>
          <a:ln w="15875">
            <a:solidFill>
              <a:srgbClr val="D7DED8"/>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18324A"/>
                </a:solidFill>
                <a:latin typeface="Aptos"/>
              </a:rPr>
              <a:t>Vai trò trung tâm của nhân dân được thay thế bằng vai trò của thị trường.</a:t>
            </a:r>
          </a:p>
        </p:txBody>
      </p:sp>
      <p:sp>
        <p:nvSpPr>
          <p:cNvPr id="33" name="Oval 32">
            <a:hlinkClick r:id="rId5" action="ppaction://hlinksldjump"/>
          </p:cNvPr>
          <p:cNvSpPr/>
          <p:nvPr/>
        </p:nvSpPr>
        <p:spPr>
          <a:xfrm>
            <a:off x="5093208" y="4489704"/>
            <a:ext cx="402336" cy="402336"/>
          </a:xfrm>
          <a:prstGeom prst="ellipse">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E8177"/>
                </a:solidFill>
                <a:latin typeface="Trebuchet MS"/>
              </a:rPr>
              <a:t>D</a:t>
            </a:r>
          </a:p>
        </p:txBody>
      </p:sp>
      <p:sp>
        <p:nvSpPr>
          <p:cNvPr id="34" name="TextBox 33"/>
          <p:cNvSpPr txBox="1"/>
          <p:nvPr/>
        </p:nvSpPr>
        <p:spPr>
          <a:xfrm>
            <a:off x="621792" y="5431536"/>
            <a:ext cx="8485632" cy="36576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080" b="1" i="0">
                <a:solidFill>
                  <a:srgbClr val="657883"/>
                </a:solidFill>
                <a:latin typeface="Trebuchet MS"/>
              </a:rPr>
              <a:t>CHỌN MỘT ĐÁP ÁN  ·  BẤM TRỰC TIẾP VÀO THẺ A / B / C / D</a:t>
            </a:r>
          </a:p>
        </p:txBody>
      </p:sp>
    </p:spTree>
  </p:cSld>
  <p:clrMapOvr>
    <a:masterClrMapping/>
  </p:clrMapOvr>
  <p:transition spd="med" advClick="0">
    <p:fade/>
  </p:transition>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04 / 05</a:t>
            </a:r>
          </a:p>
        </p:txBody>
      </p:sp>
      <p:sp>
        <p:nvSpPr>
          <p:cNvPr id="5" name="Rounded Rectangle 4"/>
          <p:cNvSpPr/>
          <p:nvPr/>
        </p:nvSpPr>
        <p:spPr>
          <a:xfrm>
            <a:off x="2240280" y="749808"/>
            <a:ext cx="1389888" cy="292608"/>
          </a:xfrm>
          <a:prstGeom prst="roundRect">
            <a:avLst/>
          </a:prstGeom>
          <a:solidFill>
            <a:srgbClr val="FFF0C2"/>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18324A"/>
                </a:solidFill>
                <a:latin typeface="Trebuchet MS"/>
              </a:rPr>
              <a:t>TRUNG BÌNH</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02 / 03</a:t>
            </a:r>
          </a:p>
        </p:txBody>
      </p:sp>
      <p:sp>
        <p:nvSpPr>
          <p:cNvPr id="7" name="Rounded Rectangle 6"/>
          <p:cNvSpPr/>
          <p:nvPr/>
        </p:nvSpPr>
        <p:spPr>
          <a:xfrm>
            <a:off x="7562088" y="749808"/>
            <a:ext cx="1581912" cy="292608"/>
          </a:xfrm>
          <a:prstGeom prst="roundRect">
            <a:avLst/>
          </a:prstGeom>
          <a:solidFill>
            <a:srgbClr val="D9F0E3"/>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1000" b="1" i="0">
                <a:solidFill>
                  <a:srgbClr val="2F9C72"/>
                </a:solidFill>
                <a:latin typeface="Trebuchet MS"/>
              </a:rPr>
              <a:t>CHÍNH XÁC!</a:t>
            </a:r>
          </a:p>
        </p:txBody>
      </p:sp>
      <p:sp>
        <p:nvSpPr>
          <p:cNvPr id="8"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1" name="TextBox 10"/>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1860" b="1" i="0">
                <a:solidFill>
                  <a:srgbClr val="FFFFFF"/>
                </a:solidFill>
                <a:latin typeface="Aptos"/>
              </a:rPr>
              <a:t>Sự nhấn mạnh từ “nhân dân là trung tâm” ở Đại hội XII đến “nhân dân là trung tâm, đồng thời là chủ thể” ở Đại hội XIII hàm ý điểm mới nào?</a:t>
            </a:r>
          </a:p>
        </p:txBody>
      </p:sp>
      <p:sp>
        <p:nvSpPr>
          <p:cNvPr id="12"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4" name="TextBox 13"/>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5" name="Rounded Rectangle 14"/>
          <p:cNvSpPr/>
          <p:nvPr/>
        </p:nvSpPr>
        <p:spPr>
          <a:xfrm>
            <a:off x="9646920" y="1371600"/>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01</a:t>
            </a:r>
          </a:p>
        </p:txBody>
      </p:sp>
      <p:sp>
        <p:nvSpPr>
          <p:cNvPr id="17" name="TextBox 16"/>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nhỏ</a:t>
            </a:r>
          </a:p>
        </p:txBody>
      </p:sp>
      <p:sp>
        <p:nvSpPr>
          <p:cNvPr id="18" name="Rounded Rectangle 17"/>
          <p:cNvSpPr/>
          <p:nvPr/>
        </p:nvSpPr>
        <p:spPr>
          <a:xfrm>
            <a:off x="9646920" y="2487168"/>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02</a:t>
            </a:r>
          </a:p>
        </p:txBody>
      </p:sp>
      <p:sp>
        <p:nvSpPr>
          <p:cNvPr id="20" name="TextBox 19"/>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vừa</a:t>
            </a:r>
          </a:p>
        </p:txBody>
      </p:sp>
      <p:sp>
        <p:nvSpPr>
          <p:cNvPr id="21" name="Rounded Rectangle 20"/>
          <p:cNvSpPr/>
          <p:nvPr/>
        </p:nvSpPr>
        <p:spPr>
          <a:xfrm>
            <a:off x="9646920" y="3602736"/>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03</a:t>
            </a:r>
          </a:p>
        </p:txBody>
      </p:sp>
      <p:sp>
        <p:nvSpPr>
          <p:cNvPr id="23" name="TextBox 22"/>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lớn</a:t>
            </a:r>
          </a:p>
        </p:txBody>
      </p:sp>
      <p:sp>
        <p:nvSpPr>
          <p:cNvPr id="24" name="TextBox 23"/>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MỐC VỪA CHẠM</a:t>
            </a:r>
          </a:p>
        </p:txBody>
      </p:sp>
      <p:sp>
        <p:nvSpPr>
          <p:cNvPr id="25" name="TextBox 24"/>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Quà vừa</a:t>
            </a:r>
          </a:p>
        </p:txBody>
      </p:sp>
      <p:sp>
        <p:nvSpPr>
          <p:cNvPr id="26" name="TextBox 25"/>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7" name="Đáp án A"/>
          <p:cNvSpPr/>
          <p:nvPr/>
        </p:nvSpPr>
        <p:spPr>
          <a:xfrm>
            <a:off x="530352" y="2770632"/>
            <a:ext cx="4215384" cy="1170432"/>
          </a:xfrm>
          <a:prstGeom prst="roundRect">
            <a:avLst/>
          </a:prstGeom>
          <a:solidFill>
            <a:srgbClr val="FFD05A"/>
          </a:solidFill>
          <a:ln w="15875">
            <a:solidFill>
              <a:srgbClr val="D9A92E"/>
            </a:solidFill>
          </a:ln>
          <a:effectLst>
            <a:glow rad="190000">
              <a:srgbClr val="FFD05A">
                <a:alpha val="52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380" b="1" i="0">
                <a:solidFill>
                  <a:srgbClr val="18324A"/>
                </a:solidFill>
                <a:latin typeface="Aptos"/>
              </a:rPr>
              <a:t>Nhân dân vừa là mục tiêu, người thụ hưởng, vừa là chủ thể tham gia, sáng tạo và góp phần quyết định thực tiễn phát triển.</a:t>
            </a:r>
          </a:p>
        </p:txBody>
      </p:sp>
      <p:sp>
        <p:nvSpPr>
          <p:cNvPr id="28" name="Oval 27"/>
          <p:cNvSpPr/>
          <p:nvPr/>
        </p:nvSpPr>
        <p:spPr>
          <a:xfrm>
            <a:off x="685800" y="3154679"/>
            <a:ext cx="402336" cy="402336"/>
          </a:xfrm>
          <a:prstGeom prst="ellipse">
            <a:avLst/>
          </a:prstGeom>
          <a:solidFill>
            <a:srgbClr val="18324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FFD05A"/>
                </a:solidFill>
                <a:latin typeface="Trebuchet MS"/>
              </a:rPr>
              <a:t>A</a:t>
            </a:r>
          </a:p>
        </p:txBody>
      </p:sp>
      <p:sp>
        <p:nvSpPr>
          <p:cNvPr id="29" name="Đáp án B"/>
          <p:cNvSpPr/>
          <p:nvPr/>
        </p:nvSpPr>
        <p:spPr>
          <a:xfrm>
            <a:off x="4937760" y="2770632"/>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8A979B"/>
                </a:solidFill>
                <a:latin typeface="Aptos"/>
              </a:rPr>
              <a:t>Chỉ cơ quan nhà nước mới là chủ thể; nhân dân chủ yếu tiếp nhận chính sách.</a:t>
            </a:r>
          </a:p>
        </p:txBody>
      </p:sp>
      <p:sp>
        <p:nvSpPr>
          <p:cNvPr id="30" name="Oval 29"/>
          <p:cNvSpPr/>
          <p:nvPr/>
        </p:nvSpPr>
        <p:spPr>
          <a:xfrm>
            <a:off x="5093208" y="3154679"/>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B</a:t>
            </a:r>
          </a:p>
        </p:txBody>
      </p:sp>
      <p:sp>
        <p:nvSpPr>
          <p:cNvPr id="31" name="Đáp án C"/>
          <p:cNvSpPr/>
          <p:nvPr/>
        </p:nvSpPr>
        <p:spPr>
          <a:xfrm>
            <a:off x="530352" y="4105656"/>
            <a:ext cx="4215384"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Vai trò của nhân dân được thu hẹp vào riêng lĩnh vực kinh tế.</a:t>
            </a:r>
          </a:p>
        </p:txBody>
      </p:sp>
      <p:sp>
        <p:nvSpPr>
          <p:cNvPr id="32" name="Oval 31"/>
          <p:cNvSpPr/>
          <p:nvPr/>
        </p:nvSpPr>
        <p:spPr>
          <a:xfrm>
            <a:off x="685800"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C</a:t>
            </a:r>
          </a:p>
        </p:txBody>
      </p:sp>
      <p:sp>
        <p:nvSpPr>
          <p:cNvPr id="33" name="Đáp án D"/>
          <p:cNvSpPr/>
          <p:nvPr/>
        </p:nvSpPr>
        <p:spPr>
          <a:xfrm>
            <a:off x="4937760" y="4105656"/>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8A979B"/>
                </a:solidFill>
                <a:latin typeface="Aptos"/>
              </a:rPr>
              <a:t>Vai trò trung tâm của nhân dân được thay thế bằng vai trò của thị trường.</a:t>
            </a:r>
          </a:p>
        </p:txBody>
      </p:sp>
      <p:sp>
        <p:nvSpPr>
          <p:cNvPr id="34" name="Oval 33"/>
          <p:cNvSpPr/>
          <p:nvPr/>
        </p:nvSpPr>
        <p:spPr>
          <a:xfrm>
            <a:off x="5093208"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D</a:t>
            </a:r>
          </a:p>
        </p:txBody>
      </p:sp>
      <p:sp>
        <p:nvSpPr>
          <p:cNvPr id="35" name="Rounded Rectangle 34"/>
          <p:cNvSpPr/>
          <p:nvPr/>
        </p:nvSpPr>
        <p:spPr>
          <a:xfrm>
            <a:off x="530352" y="5431536"/>
            <a:ext cx="5989320" cy="868680"/>
          </a:xfrm>
          <a:prstGeom prst="roundRect">
            <a:avLst/>
          </a:prstGeom>
          <a:solidFill>
            <a:srgbClr val="D9F0E3"/>
          </a:solidFill>
          <a:ln w="12700">
            <a:solidFill>
              <a:srgbClr val="D7E6DC"/>
            </a:solidFill>
          </a:ln>
        </p:spPr>
        <p:style>
          <a:lnRef idx="1">
            <a:schemeClr val="accent1"/>
          </a:lnRef>
          <a:fillRef idx="3">
            <a:schemeClr val="accent1"/>
          </a:fillRef>
          <a:effectRef idx="2">
            <a:schemeClr val="accent1"/>
          </a:effectRef>
          <a:fontRef idx="minor">
            <a:schemeClr val="lt1"/>
          </a:fontRef>
        </p:style>
        <p:txBody>
          <a:bodyPr wrap="square" lIns="109728" tIns="60350" rIns="109728" bIns="60350" rtlCol="0" anchor="ctr"/>
          <a:lstStyle/>
          <a:p>
            <a:pPr algn="l">
              <a:lnSpc>
                <a:spcPct val="100000"/>
              </a:lnSpc>
              <a:spcBef>
                <a:spcPts val="0"/>
              </a:spcBef>
              <a:spcAft>
                <a:spcPts val="0"/>
              </a:spcAft>
            </a:pPr>
            <a:r>
              <a:rPr sz="1130" b="0" i="0">
                <a:solidFill>
                  <a:srgbClr val="18324A"/>
                </a:solidFill>
                <a:latin typeface="Aptos"/>
              </a:rPr>
              <a:t>MỐC 2 ĐÃ CHINH PHỤC  ·  Quà vừa
Cách diễn đạt nhấn mạnh đồng thời vị trí trung tâm và năng lực chủ động của nhân dân trong quá trình phát triển.</a:t>
            </a:r>
          </a:p>
        </p:txBody>
      </p:sp>
      <p:sp>
        <p:nvSpPr>
          <p:cNvPr id="36" name="Nút: CÂU TIẾP THEO  →">
            <a:hlinkClick r:id="rId3" action="ppaction://hlinksldjump"/>
          </p:cNvPr>
          <p:cNvSpPr/>
          <p:nvPr/>
        </p:nvSpPr>
        <p:spPr>
          <a:xfrm>
            <a:off x="6711696" y="5431536"/>
            <a:ext cx="2505456" cy="868680"/>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240" b="1" i="0">
                <a:solidFill>
                  <a:srgbClr val="18324A"/>
                </a:solidFill>
                <a:latin typeface="Trebuchet MS"/>
              </a:rPr>
              <a:t>CÂU TIẾP THEO  →</a:t>
            </a:r>
          </a:p>
        </p:txBody>
      </p:sp>
    </p:spTree>
  </p:cSld>
  <p:clrMapOvr>
    <a:masterClrMapping/>
  </p:clrMapOvr>
  <p:transition spd="med" advClick="0">
    <p:sndAc>
      <p:stSnd>
        <p:snd r:embed="rId2" name="Correct answer chime"/>
      </p:stSnd>
    </p:sndAc>
  </p:transition>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04 / 05</a:t>
            </a:r>
          </a:p>
        </p:txBody>
      </p:sp>
      <p:sp>
        <p:nvSpPr>
          <p:cNvPr id="5" name="Rounded Rectangle 4"/>
          <p:cNvSpPr/>
          <p:nvPr/>
        </p:nvSpPr>
        <p:spPr>
          <a:xfrm>
            <a:off x="2240280" y="749808"/>
            <a:ext cx="1389888" cy="292608"/>
          </a:xfrm>
          <a:prstGeom prst="roundRect">
            <a:avLst/>
          </a:prstGeom>
          <a:solidFill>
            <a:srgbClr val="FFF0C2"/>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18324A"/>
                </a:solidFill>
                <a:latin typeface="Trebuchet MS"/>
              </a:rPr>
              <a:t>TRUNG BÌNH</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02 / 03</a:t>
            </a:r>
          </a:p>
        </p:txBody>
      </p:sp>
      <p:sp>
        <p:nvSpPr>
          <p:cNvPr id="7" name="Rounded Rectangle 6"/>
          <p:cNvSpPr/>
          <p:nvPr/>
        </p:nvSpPr>
        <p:spPr>
          <a:xfrm>
            <a:off x="7562088" y="749808"/>
            <a:ext cx="1581912" cy="292608"/>
          </a:xfrm>
          <a:prstGeom prst="roundRect">
            <a:avLst/>
          </a:prstGeom>
          <a:solidFill>
            <a:srgbClr val="FBE3E3"/>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1000" b="1" i="0">
                <a:solidFill>
                  <a:srgbClr val="B8424C"/>
                </a:solidFill>
                <a:latin typeface="Trebuchet MS"/>
              </a:rPr>
              <a:t>RẤT TIẾC!</a:t>
            </a:r>
          </a:p>
        </p:txBody>
      </p:sp>
      <p:sp>
        <p:nvSpPr>
          <p:cNvPr id="8"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1" name="TextBox 10"/>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1860" b="1" i="0">
                <a:solidFill>
                  <a:srgbClr val="FFFFFF"/>
                </a:solidFill>
                <a:latin typeface="Aptos"/>
              </a:rPr>
              <a:t>Sự nhấn mạnh từ “nhân dân là trung tâm” ở Đại hội XII đến “nhân dân là trung tâm, đồng thời là chủ thể” ở Đại hội XIII hàm ý điểm mới nào?</a:t>
            </a:r>
          </a:p>
        </p:txBody>
      </p:sp>
      <p:sp>
        <p:nvSpPr>
          <p:cNvPr id="12"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4" name="TextBox 13"/>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5" name="Rounded Rectangle 14"/>
          <p:cNvSpPr/>
          <p:nvPr/>
        </p:nvSpPr>
        <p:spPr>
          <a:xfrm>
            <a:off x="9646920" y="1371600"/>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01</a:t>
            </a:r>
          </a:p>
        </p:txBody>
      </p:sp>
      <p:sp>
        <p:nvSpPr>
          <p:cNvPr id="17" name="TextBox 16"/>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nhỏ</a:t>
            </a:r>
          </a:p>
        </p:txBody>
      </p:sp>
      <p:sp>
        <p:nvSpPr>
          <p:cNvPr id="18" name="Rounded Rectangle 17"/>
          <p:cNvSpPr/>
          <p:nvPr/>
        </p:nvSpPr>
        <p:spPr>
          <a:xfrm>
            <a:off x="9646920" y="2487168"/>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02</a:t>
            </a:r>
          </a:p>
        </p:txBody>
      </p:sp>
      <p:sp>
        <p:nvSpPr>
          <p:cNvPr id="20" name="TextBox 19"/>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vừa</a:t>
            </a:r>
          </a:p>
        </p:txBody>
      </p:sp>
      <p:sp>
        <p:nvSpPr>
          <p:cNvPr id="21" name="Rounded Rectangle 20"/>
          <p:cNvSpPr/>
          <p:nvPr/>
        </p:nvSpPr>
        <p:spPr>
          <a:xfrm>
            <a:off x="9646920" y="3602736"/>
            <a:ext cx="1956816" cy="877824"/>
          </a:xfrm>
          <a:prstGeom prst="roundRect">
            <a:avLst/>
          </a:prstGeom>
          <a:solidFill>
            <a:srgbClr val="263F53"/>
          </a:solidFill>
          <a:ln w="12700">
            <a:solidFill>
              <a:srgbClr val="4059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B9C7CC"/>
                </a:solidFill>
                <a:latin typeface="Trebuchet MS"/>
              </a:rPr>
              <a:t>CHƯA MỞ  ·  CÂU 03</a:t>
            </a:r>
          </a:p>
        </p:txBody>
      </p:sp>
      <p:sp>
        <p:nvSpPr>
          <p:cNvPr id="23" name="TextBox 22"/>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B9C7CC"/>
                </a:solidFill>
                <a:latin typeface="Trebuchet MS"/>
              </a:rPr>
              <a:t>Quà lớn</a:t>
            </a:r>
          </a:p>
        </p:txBody>
      </p:sp>
      <p:sp>
        <p:nvSpPr>
          <p:cNvPr id="24" name="TextBox 23"/>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QUÀ GIỮ LẠI</a:t>
            </a:r>
          </a:p>
        </p:txBody>
      </p:sp>
      <p:sp>
        <p:nvSpPr>
          <p:cNvPr id="25" name="TextBox 24"/>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Quà nhỏ</a:t>
            </a:r>
          </a:p>
        </p:txBody>
      </p:sp>
      <p:sp>
        <p:nvSpPr>
          <p:cNvPr id="26" name="TextBox 25"/>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7" name="Đáp án A"/>
          <p:cNvSpPr/>
          <p:nvPr/>
        </p:nvSpPr>
        <p:spPr>
          <a:xfrm>
            <a:off x="530352" y="2770632"/>
            <a:ext cx="4215384" cy="1170432"/>
          </a:xfrm>
          <a:prstGeom prst="roundRect">
            <a:avLst/>
          </a:prstGeom>
          <a:solidFill>
            <a:srgbClr val="2F9C72"/>
          </a:solidFill>
          <a:ln w="15875">
            <a:solidFill>
              <a:srgbClr val="2F9C72"/>
            </a:solidFill>
          </a:ln>
          <a:effectLst>
            <a:glow rad="190000">
              <a:srgbClr val="73D9A5">
                <a:alpha val="52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380" b="1" i="0">
                <a:solidFill>
                  <a:srgbClr val="FFFFFF"/>
                </a:solidFill>
                <a:latin typeface="Aptos"/>
              </a:rPr>
              <a:t>Nhân dân vừa là mục tiêu, người thụ hưởng, vừa là chủ thể tham gia, sáng tạo và góp phần quyết định thực tiễn phát triển.</a:t>
            </a:r>
          </a:p>
        </p:txBody>
      </p:sp>
      <p:sp>
        <p:nvSpPr>
          <p:cNvPr id="28" name="Oval 27"/>
          <p:cNvSpPr/>
          <p:nvPr/>
        </p:nvSpPr>
        <p:spPr>
          <a:xfrm>
            <a:off x="685800" y="3154679"/>
            <a:ext cx="402336" cy="402336"/>
          </a:xfrm>
          <a:prstGeom prst="ellipse">
            <a:avLst/>
          </a:prstGeom>
          <a:solidFill>
            <a:srgbClr val="FFFFFF"/>
          </a:solidFill>
          <a:ln w="12700">
            <a:solidFill>
              <a:srgbClr val="2F9C72"/>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F9C72"/>
                </a:solidFill>
                <a:latin typeface="Trebuchet MS"/>
              </a:rPr>
              <a:t>A</a:t>
            </a:r>
          </a:p>
        </p:txBody>
      </p:sp>
      <p:sp>
        <p:nvSpPr>
          <p:cNvPr id="29" name="Đáp án B"/>
          <p:cNvSpPr/>
          <p:nvPr/>
        </p:nvSpPr>
        <p:spPr>
          <a:xfrm>
            <a:off x="4937760" y="2770632"/>
            <a:ext cx="4279392" cy="1170432"/>
          </a:xfrm>
          <a:prstGeom prst="roundRect">
            <a:avLst/>
          </a:prstGeom>
          <a:solidFill>
            <a:srgbClr val="E45C64"/>
          </a:solidFill>
          <a:ln w="15875">
            <a:solidFill>
              <a:srgbClr val="B8424C"/>
            </a:solidFill>
          </a:ln>
          <a:effectLst>
            <a:glow rad="110000">
              <a:srgbClr val="E45C64">
                <a:alpha val="35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1" i="0">
                <a:solidFill>
                  <a:srgbClr val="FFFFFF"/>
                </a:solidFill>
                <a:latin typeface="Aptos"/>
              </a:rPr>
              <a:t>Chỉ cơ quan nhà nước mới là chủ thể; nhân dân chủ yếu tiếp nhận chính sách.</a:t>
            </a:r>
          </a:p>
        </p:txBody>
      </p:sp>
      <p:sp>
        <p:nvSpPr>
          <p:cNvPr id="30" name="Oval 29"/>
          <p:cNvSpPr/>
          <p:nvPr/>
        </p:nvSpPr>
        <p:spPr>
          <a:xfrm>
            <a:off x="5093208" y="3154679"/>
            <a:ext cx="402336" cy="402336"/>
          </a:xfrm>
          <a:prstGeom prst="ellipse">
            <a:avLst/>
          </a:prstGeom>
          <a:solidFill>
            <a:srgbClr val="FFFFFF"/>
          </a:solidFill>
          <a:ln w="12700">
            <a:solidFill>
              <a:srgbClr val="B8424C"/>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B8424C"/>
                </a:solidFill>
                <a:latin typeface="Trebuchet MS"/>
              </a:rPr>
              <a:t>B</a:t>
            </a:r>
          </a:p>
        </p:txBody>
      </p:sp>
      <p:cxnSp>
        <p:nvCxnSpPr>
          <p:cNvPr id="31" name="Connector 30"/>
          <p:cNvCxnSpPr/>
          <p:nvPr/>
        </p:nvCxnSpPr>
        <p:spPr>
          <a:xfrm>
            <a:off x="4846320" y="297180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4846320" y="3264408"/>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846320" y="3557016"/>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9235440" y="297180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235440" y="3264408"/>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9235440" y="3557016"/>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sp>
        <p:nvSpPr>
          <p:cNvPr id="37" name="Đáp án C"/>
          <p:cNvSpPr/>
          <p:nvPr/>
        </p:nvSpPr>
        <p:spPr>
          <a:xfrm>
            <a:off x="530352" y="4105656"/>
            <a:ext cx="4215384"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Vai trò của nhân dân được thu hẹp vào riêng lĩnh vực kinh tế.</a:t>
            </a:r>
          </a:p>
        </p:txBody>
      </p:sp>
      <p:sp>
        <p:nvSpPr>
          <p:cNvPr id="38" name="Oval 37"/>
          <p:cNvSpPr/>
          <p:nvPr/>
        </p:nvSpPr>
        <p:spPr>
          <a:xfrm>
            <a:off x="685800"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C</a:t>
            </a:r>
          </a:p>
        </p:txBody>
      </p:sp>
      <p:sp>
        <p:nvSpPr>
          <p:cNvPr id="39" name="Đáp án D"/>
          <p:cNvSpPr/>
          <p:nvPr/>
        </p:nvSpPr>
        <p:spPr>
          <a:xfrm>
            <a:off x="4937760" y="4105656"/>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8A979B"/>
                </a:solidFill>
                <a:latin typeface="Aptos"/>
              </a:rPr>
              <a:t>Vai trò trung tâm của nhân dân được thay thế bằng vai trò của thị trường.</a:t>
            </a:r>
          </a:p>
        </p:txBody>
      </p:sp>
      <p:sp>
        <p:nvSpPr>
          <p:cNvPr id="40" name="Oval 39"/>
          <p:cNvSpPr/>
          <p:nvPr/>
        </p:nvSpPr>
        <p:spPr>
          <a:xfrm>
            <a:off x="5093208"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D</a:t>
            </a:r>
          </a:p>
        </p:txBody>
      </p:sp>
      <p:sp>
        <p:nvSpPr>
          <p:cNvPr id="41" name="Rounded Rectangle 40"/>
          <p:cNvSpPr/>
          <p:nvPr/>
        </p:nvSpPr>
        <p:spPr>
          <a:xfrm>
            <a:off x="530352" y="5431536"/>
            <a:ext cx="5989320" cy="868680"/>
          </a:xfrm>
          <a:prstGeom prst="roundRect">
            <a:avLst/>
          </a:prstGeom>
          <a:solidFill>
            <a:srgbClr val="FBE5E3"/>
          </a:solidFill>
          <a:ln w="12700">
            <a:solidFill>
              <a:srgbClr val="F0C7C4"/>
            </a:solid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l">
              <a:lnSpc>
                <a:spcPct val="100000"/>
              </a:lnSpc>
              <a:spcBef>
                <a:spcPts val="0"/>
              </a:spcBef>
              <a:spcAft>
                <a:spcPts val="0"/>
              </a:spcAft>
            </a:pPr>
            <a:r>
              <a:rPr sz="980" b="1" i="0">
                <a:solidFill>
                  <a:srgbClr val="18324A"/>
                </a:solidFill>
                <a:latin typeface="Aptos"/>
              </a:rPr>
              <a:t>BẠN CHỌN: B  ·  ĐÁP ÁN ĐÚNG: A
Nhân dân vừa là mục tiêu, người thụ hưởng, vừa là chủ thể tham gia, sáng tạo và góp phần quyết định thực tiễn phát triển.
QUÀ ĐẠT ĐƯỢC LƯỢT NÀY: Quà nhỏ</a:t>
            </a:r>
          </a:p>
        </p:txBody>
      </p:sp>
      <p:sp>
        <p:nvSpPr>
          <p:cNvPr id="42" name="Nút: NGƯỜI CHƠI TIẾP THEO  →">
            <a:hlinkClick r:id="rId2" action="ppaction://hlinksldjump"/>
          </p:cNvPr>
          <p:cNvSpPr/>
          <p:nvPr/>
        </p:nvSpPr>
        <p:spPr>
          <a:xfrm>
            <a:off x="6711696" y="5431536"/>
            <a:ext cx="2505456" cy="86868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240" b="1" i="0">
                <a:solidFill>
                  <a:srgbClr val="FFFFFF"/>
                </a:solidFill>
                <a:latin typeface="Trebuchet MS"/>
              </a:rPr>
              <a:t>NGƯỜI CHƠI TIẾP THEO  →</a:t>
            </a:r>
          </a:p>
        </p:txBody>
      </p:sp>
    </p:spTree>
  </p:cSld>
  <p:clrMapOvr>
    <a:masterClrMapping/>
  </p:clrMapOvr>
  <p:transition spd="med" advClick="0">
    <p:fade/>
  </p:transition>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04 / 05</a:t>
            </a:r>
          </a:p>
        </p:txBody>
      </p:sp>
      <p:sp>
        <p:nvSpPr>
          <p:cNvPr id="5" name="Rounded Rectangle 4"/>
          <p:cNvSpPr/>
          <p:nvPr/>
        </p:nvSpPr>
        <p:spPr>
          <a:xfrm>
            <a:off x="2240280" y="749808"/>
            <a:ext cx="1389888" cy="292608"/>
          </a:xfrm>
          <a:prstGeom prst="roundRect">
            <a:avLst/>
          </a:prstGeom>
          <a:solidFill>
            <a:srgbClr val="FFF0C2"/>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18324A"/>
                </a:solidFill>
                <a:latin typeface="Trebuchet MS"/>
              </a:rPr>
              <a:t>TRUNG BÌNH</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02 / 03</a:t>
            </a:r>
          </a:p>
        </p:txBody>
      </p:sp>
      <p:sp>
        <p:nvSpPr>
          <p:cNvPr id="7" name="Rounded Rectangle 6"/>
          <p:cNvSpPr/>
          <p:nvPr/>
        </p:nvSpPr>
        <p:spPr>
          <a:xfrm>
            <a:off x="7562088" y="749808"/>
            <a:ext cx="1581912" cy="292608"/>
          </a:xfrm>
          <a:prstGeom prst="roundRect">
            <a:avLst/>
          </a:prstGeom>
          <a:solidFill>
            <a:srgbClr val="FBE3E3"/>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1000" b="1" i="0">
                <a:solidFill>
                  <a:srgbClr val="B8424C"/>
                </a:solidFill>
                <a:latin typeface="Trebuchet MS"/>
              </a:rPr>
              <a:t>RẤT TIẾC!</a:t>
            </a:r>
          </a:p>
        </p:txBody>
      </p:sp>
      <p:sp>
        <p:nvSpPr>
          <p:cNvPr id="8"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1" name="TextBox 10"/>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1860" b="1" i="0">
                <a:solidFill>
                  <a:srgbClr val="FFFFFF"/>
                </a:solidFill>
                <a:latin typeface="Aptos"/>
              </a:rPr>
              <a:t>Sự nhấn mạnh từ “nhân dân là trung tâm” ở Đại hội XII đến “nhân dân là trung tâm, đồng thời là chủ thể” ở Đại hội XIII hàm ý điểm mới nào?</a:t>
            </a:r>
          </a:p>
        </p:txBody>
      </p:sp>
      <p:sp>
        <p:nvSpPr>
          <p:cNvPr id="12"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4" name="TextBox 13"/>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5" name="Rounded Rectangle 14"/>
          <p:cNvSpPr/>
          <p:nvPr/>
        </p:nvSpPr>
        <p:spPr>
          <a:xfrm>
            <a:off x="9646920" y="1371600"/>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01</a:t>
            </a:r>
          </a:p>
        </p:txBody>
      </p:sp>
      <p:sp>
        <p:nvSpPr>
          <p:cNvPr id="17" name="TextBox 16"/>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nhỏ</a:t>
            </a:r>
          </a:p>
        </p:txBody>
      </p:sp>
      <p:sp>
        <p:nvSpPr>
          <p:cNvPr id="18" name="Rounded Rectangle 17"/>
          <p:cNvSpPr/>
          <p:nvPr/>
        </p:nvSpPr>
        <p:spPr>
          <a:xfrm>
            <a:off x="9646920" y="2487168"/>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02</a:t>
            </a:r>
          </a:p>
        </p:txBody>
      </p:sp>
      <p:sp>
        <p:nvSpPr>
          <p:cNvPr id="20" name="TextBox 19"/>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vừa</a:t>
            </a:r>
          </a:p>
        </p:txBody>
      </p:sp>
      <p:sp>
        <p:nvSpPr>
          <p:cNvPr id="21" name="Rounded Rectangle 20"/>
          <p:cNvSpPr/>
          <p:nvPr/>
        </p:nvSpPr>
        <p:spPr>
          <a:xfrm>
            <a:off x="9646920" y="3602736"/>
            <a:ext cx="1956816" cy="877824"/>
          </a:xfrm>
          <a:prstGeom prst="roundRect">
            <a:avLst/>
          </a:prstGeom>
          <a:solidFill>
            <a:srgbClr val="263F53"/>
          </a:solidFill>
          <a:ln w="12700">
            <a:solidFill>
              <a:srgbClr val="4059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B9C7CC"/>
                </a:solidFill>
                <a:latin typeface="Trebuchet MS"/>
              </a:rPr>
              <a:t>CHƯA MỞ  ·  CÂU 03</a:t>
            </a:r>
          </a:p>
        </p:txBody>
      </p:sp>
      <p:sp>
        <p:nvSpPr>
          <p:cNvPr id="23" name="TextBox 22"/>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B9C7CC"/>
                </a:solidFill>
                <a:latin typeface="Trebuchet MS"/>
              </a:rPr>
              <a:t>Quà lớn</a:t>
            </a:r>
          </a:p>
        </p:txBody>
      </p:sp>
      <p:sp>
        <p:nvSpPr>
          <p:cNvPr id="24" name="TextBox 23"/>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QUÀ GIỮ LẠI</a:t>
            </a:r>
          </a:p>
        </p:txBody>
      </p:sp>
      <p:sp>
        <p:nvSpPr>
          <p:cNvPr id="25" name="TextBox 24"/>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Quà nhỏ</a:t>
            </a:r>
          </a:p>
        </p:txBody>
      </p:sp>
      <p:sp>
        <p:nvSpPr>
          <p:cNvPr id="26" name="TextBox 25"/>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7" name="Đáp án A"/>
          <p:cNvSpPr/>
          <p:nvPr/>
        </p:nvSpPr>
        <p:spPr>
          <a:xfrm>
            <a:off x="530352" y="2770632"/>
            <a:ext cx="4215384" cy="1170432"/>
          </a:xfrm>
          <a:prstGeom prst="roundRect">
            <a:avLst/>
          </a:prstGeom>
          <a:solidFill>
            <a:srgbClr val="2F9C72"/>
          </a:solidFill>
          <a:ln w="15875">
            <a:solidFill>
              <a:srgbClr val="2F9C72"/>
            </a:solidFill>
          </a:ln>
          <a:effectLst>
            <a:glow rad="190000">
              <a:srgbClr val="73D9A5">
                <a:alpha val="52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380" b="1" i="0">
                <a:solidFill>
                  <a:srgbClr val="FFFFFF"/>
                </a:solidFill>
                <a:latin typeface="Aptos"/>
              </a:rPr>
              <a:t>Nhân dân vừa là mục tiêu, người thụ hưởng, vừa là chủ thể tham gia, sáng tạo và góp phần quyết định thực tiễn phát triển.</a:t>
            </a:r>
          </a:p>
        </p:txBody>
      </p:sp>
      <p:sp>
        <p:nvSpPr>
          <p:cNvPr id="28" name="Oval 27"/>
          <p:cNvSpPr/>
          <p:nvPr/>
        </p:nvSpPr>
        <p:spPr>
          <a:xfrm>
            <a:off x="685800" y="3154679"/>
            <a:ext cx="402336" cy="402336"/>
          </a:xfrm>
          <a:prstGeom prst="ellipse">
            <a:avLst/>
          </a:prstGeom>
          <a:solidFill>
            <a:srgbClr val="FFFFFF"/>
          </a:solidFill>
          <a:ln w="12700">
            <a:solidFill>
              <a:srgbClr val="2F9C72"/>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F9C72"/>
                </a:solidFill>
                <a:latin typeface="Trebuchet MS"/>
              </a:rPr>
              <a:t>A</a:t>
            </a:r>
          </a:p>
        </p:txBody>
      </p:sp>
      <p:sp>
        <p:nvSpPr>
          <p:cNvPr id="29" name="Đáp án B"/>
          <p:cNvSpPr/>
          <p:nvPr/>
        </p:nvSpPr>
        <p:spPr>
          <a:xfrm>
            <a:off x="4937760" y="2770632"/>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8A979B"/>
                </a:solidFill>
                <a:latin typeface="Aptos"/>
              </a:rPr>
              <a:t>Chỉ cơ quan nhà nước mới là chủ thể; nhân dân chủ yếu tiếp nhận chính sách.</a:t>
            </a:r>
          </a:p>
        </p:txBody>
      </p:sp>
      <p:sp>
        <p:nvSpPr>
          <p:cNvPr id="30" name="Oval 29"/>
          <p:cNvSpPr/>
          <p:nvPr/>
        </p:nvSpPr>
        <p:spPr>
          <a:xfrm>
            <a:off x="5093208" y="3154679"/>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B</a:t>
            </a:r>
          </a:p>
        </p:txBody>
      </p:sp>
      <p:sp>
        <p:nvSpPr>
          <p:cNvPr id="31" name="Đáp án C"/>
          <p:cNvSpPr/>
          <p:nvPr/>
        </p:nvSpPr>
        <p:spPr>
          <a:xfrm>
            <a:off x="530352" y="4105656"/>
            <a:ext cx="4215384" cy="1170432"/>
          </a:xfrm>
          <a:prstGeom prst="roundRect">
            <a:avLst/>
          </a:prstGeom>
          <a:solidFill>
            <a:srgbClr val="E45C64"/>
          </a:solidFill>
          <a:ln w="15875">
            <a:solidFill>
              <a:srgbClr val="B8424C"/>
            </a:solidFill>
          </a:ln>
          <a:effectLst>
            <a:glow rad="110000">
              <a:srgbClr val="E45C64">
                <a:alpha val="35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1" i="0">
                <a:solidFill>
                  <a:srgbClr val="FFFFFF"/>
                </a:solidFill>
                <a:latin typeface="Aptos"/>
              </a:rPr>
              <a:t>Vai trò của nhân dân được thu hẹp vào riêng lĩnh vực kinh tế.</a:t>
            </a:r>
          </a:p>
        </p:txBody>
      </p:sp>
      <p:sp>
        <p:nvSpPr>
          <p:cNvPr id="32" name="Oval 31"/>
          <p:cNvSpPr/>
          <p:nvPr/>
        </p:nvSpPr>
        <p:spPr>
          <a:xfrm>
            <a:off x="685800" y="4489704"/>
            <a:ext cx="402336" cy="402336"/>
          </a:xfrm>
          <a:prstGeom prst="ellipse">
            <a:avLst/>
          </a:prstGeom>
          <a:solidFill>
            <a:srgbClr val="FFFFFF"/>
          </a:solidFill>
          <a:ln w="12700">
            <a:solidFill>
              <a:srgbClr val="B8424C"/>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B8424C"/>
                </a:solidFill>
                <a:latin typeface="Trebuchet MS"/>
              </a:rPr>
              <a:t>C</a:t>
            </a:r>
          </a:p>
        </p:txBody>
      </p:sp>
      <p:cxnSp>
        <p:nvCxnSpPr>
          <p:cNvPr id="33" name="Connector 32"/>
          <p:cNvCxnSpPr/>
          <p:nvPr/>
        </p:nvCxnSpPr>
        <p:spPr>
          <a:xfrm>
            <a:off x="438912" y="4306824"/>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38912" y="4599432"/>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38912" y="489204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4764024" y="4306824"/>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764024" y="4599432"/>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764024" y="489204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sp>
        <p:nvSpPr>
          <p:cNvPr id="39" name="Đáp án D"/>
          <p:cNvSpPr/>
          <p:nvPr/>
        </p:nvSpPr>
        <p:spPr>
          <a:xfrm>
            <a:off x="4937760" y="4105656"/>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8A979B"/>
                </a:solidFill>
                <a:latin typeface="Aptos"/>
              </a:rPr>
              <a:t>Vai trò trung tâm của nhân dân được thay thế bằng vai trò của thị trường.</a:t>
            </a:r>
          </a:p>
        </p:txBody>
      </p:sp>
      <p:sp>
        <p:nvSpPr>
          <p:cNvPr id="40" name="Oval 39"/>
          <p:cNvSpPr/>
          <p:nvPr/>
        </p:nvSpPr>
        <p:spPr>
          <a:xfrm>
            <a:off x="5093208"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D</a:t>
            </a:r>
          </a:p>
        </p:txBody>
      </p:sp>
      <p:sp>
        <p:nvSpPr>
          <p:cNvPr id="41" name="Rounded Rectangle 40"/>
          <p:cNvSpPr/>
          <p:nvPr/>
        </p:nvSpPr>
        <p:spPr>
          <a:xfrm>
            <a:off x="530352" y="5431536"/>
            <a:ext cx="5989320" cy="868680"/>
          </a:xfrm>
          <a:prstGeom prst="roundRect">
            <a:avLst/>
          </a:prstGeom>
          <a:solidFill>
            <a:srgbClr val="FBE5E3"/>
          </a:solidFill>
          <a:ln w="12700">
            <a:solidFill>
              <a:srgbClr val="F0C7C4"/>
            </a:solid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l">
              <a:lnSpc>
                <a:spcPct val="100000"/>
              </a:lnSpc>
              <a:spcBef>
                <a:spcPts val="0"/>
              </a:spcBef>
              <a:spcAft>
                <a:spcPts val="0"/>
              </a:spcAft>
            </a:pPr>
            <a:r>
              <a:rPr sz="980" b="1" i="0">
                <a:solidFill>
                  <a:srgbClr val="18324A"/>
                </a:solidFill>
                <a:latin typeface="Aptos"/>
              </a:rPr>
              <a:t>BẠN CHỌN: C  ·  ĐÁP ÁN ĐÚNG: A
Nhân dân vừa là mục tiêu, người thụ hưởng, vừa là chủ thể tham gia, sáng tạo và góp phần quyết định thực tiễn phát triển.
QUÀ ĐẠT ĐƯỢC LƯỢT NÀY: Quà nhỏ</a:t>
            </a:r>
          </a:p>
        </p:txBody>
      </p:sp>
      <p:sp>
        <p:nvSpPr>
          <p:cNvPr id="42" name="Nút: NGƯỜI CHƠI TIẾP THEO  →">
            <a:hlinkClick r:id="rId2" action="ppaction://hlinksldjump"/>
          </p:cNvPr>
          <p:cNvSpPr/>
          <p:nvPr/>
        </p:nvSpPr>
        <p:spPr>
          <a:xfrm>
            <a:off x="6711696" y="5431536"/>
            <a:ext cx="2505456" cy="86868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240" b="1" i="0">
                <a:solidFill>
                  <a:srgbClr val="FFFFFF"/>
                </a:solidFill>
                <a:latin typeface="Trebuchet MS"/>
              </a:rPr>
              <a:t>NGƯỜI CHƠI TIẾP THEO  →</a:t>
            </a:r>
          </a:p>
        </p:txBody>
      </p:sp>
    </p:spTree>
  </p:cSld>
  <p:clrMapOvr>
    <a:masterClrMapping/>
  </p:clrMapOvr>
  <p:transition spd="med" advClick="0">
    <p:fade/>
  </p:transition>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04 / 05</a:t>
            </a:r>
          </a:p>
        </p:txBody>
      </p:sp>
      <p:sp>
        <p:nvSpPr>
          <p:cNvPr id="5" name="Rounded Rectangle 4"/>
          <p:cNvSpPr/>
          <p:nvPr/>
        </p:nvSpPr>
        <p:spPr>
          <a:xfrm>
            <a:off x="2240280" y="749808"/>
            <a:ext cx="1389888" cy="292608"/>
          </a:xfrm>
          <a:prstGeom prst="roundRect">
            <a:avLst/>
          </a:prstGeom>
          <a:solidFill>
            <a:srgbClr val="FFF0C2"/>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18324A"/>
                </a:solidFill>
                <a:latin typeface="Trebuchet MS"/>
              </a:rPr>
              <a:t>TRUNG BÌNH</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02 / 03</a:t>
            </a:r>
          </a:p>
        </p:txBody>
      </p:sp>
      <p:sp>
        <p:nvSpPr>
          <p:cNvPr id="7" name="Rounded Rectangle 6"/>
          <p:cNvSpPr/>
          <p:nvPr/>
        </p:nvSpPr>
        <p:spPr>
          <a:xfrm>
            <a:off x="7562088" y="749808"/>
            <a:ext cx="1581912" cy="292608"/>
          </a:xfrm>
          <a:prstGeom prst="roundRect">
            <a:avLst/>
          </a:prstGeom>
          <a:solidFill>
            <a:srgbClr val="FBE3E3"/>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1000" b="1" i="0">
                <a:solidFill>
                  <a:srgbClr val="B8424C"/>
                </a:solidFill>
                <a:latin typeface="Trebuchet MS"/>
              </a:rPr>
              <a:t>RẤT TIẾC!</a:t>
            </a:r>
          </a:p>
        </p:txBody>
      </p:sp>
      <p:sp>
        <p:nvSpPr>
          <p:cNvPr id="8"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1" name="TextBox 10"/>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1860" b="1" i="0">
                <a:solidFill>
                  <a:srgbClr val="FFFFFF"/>
                </a:solidFill>
                <a:latin typeface="Aptos"/>
              </a:rPr>
              <a:t>Sự nhấn mạnh từ “nhân dân là trung tâm” ở Đại hội XII đến “nhân dân là trung tâm, đồng thời là chủ thể” ở Đại hội XIII hàm ý điểm mới nào?</a:t>
            </a:r>
          </a:p>
        </p:txBody>
      </p:sp>
      <p:sp>
        <p:nvSpPr>
          <p:cNvPr id="12"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4" name="TextBox 13"/>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5" name="Rounded Rectangle 14"/>
          <p:cNvSpPr/>
          <p:nvPr/>
        </p:nvSpPr>
        <p:spPr>
          <a:xfrm>
            <a:off x="9646920" y="1371600"/>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01</a:t>
            </a:r>
          </a:p>
        </p:txBody>
      </p:sp>
      <p:sp>
        <p:nvSpPr>
          <p:cNvPr id="17" name="TextBox 16"/>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nhỏ</a:t>
            </a:r>
          </a:p>
        </p:txBody>
      </p:sp>
      <p:sp>
        <p:nvSpPr>
          <p:cNvPr id="18" name="Rounded Rectangle 17"/>
          <p:cNvSpPr/>
          <p:nvPr/>
        </p:nvSpPr>
        <p:spPr>
          <a:xfrm>
            <a:off x="9646920" y="2487168"/>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02</a:t>
            </a:r>
          </a:p>
        </p:txBody>
      </p:sp>
      <p:sp>
        <p:nvSpPr>
          <p:cNvPr id="20" name="TextBox 19"/>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vừa</a:t>
            </a:r>
          </a:p>
        </p:txBody>
      </p:sp>
      <p:sp>
        <p:nvSpPr>
          <p:cNvPr id="21" name="Rounded Rectangle 20"/>
          <p:cNvSpPr/>
          <p:nvPr/>
        </p:nvSpPr>
        <p:spPr>
          <a:xfrm>
            <a:off x="9646920" y="3602736"/>
            <a:ext cx="1956816" cy="877824"/>
          </a:xfrm>
          <a:prstGeom prst="roundRect">
            <a:avLst/>
          </a:prstGeom>
          <a:solidFill>
            <a:srgbClr val="263F53"/>
          </a:solidFill>
          <a:ln w="12700">
            <a:solidFill>
              <a:srgbClr val="4059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B9C7CC"/>
                </a:solidFill>
                <a:latin typeface="Trebuchet MS"/>
              </a:rPr>
              <a:t>CHƯA MỞ  ·  CÂU 03</a:t>
            </a:r>
          </a:p>
        </p:txBody>
      </p:sp>
      <p:sp>
        <p:nvSpPr>
          <p:cNvPr id="23" name="TextBox 22"/>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B9C7CC"/>
                </a:solidFill>
                <a:latin typeface="Trebuchet MS"/>
              </a:rPr>
              <a:t>Quà lớn</a:t>
            </a:r>
          </a:p>
        </p:txBody>
      </p:sp>
      <p:sp>
        <p:nvSpPr>
          <p:cNvPr id="24" name="TextBox 23"/>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QUÀ GIỮ LẠI</a:t>
            </a:r>
          </a:p>
        </p:txBody>
      </p:sp>
      <p:sp>
        <p:nvSpPr>
          <p:cNvPr id="25" name="TextBox 24"/>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Quà nhỏ</a:t>
            </a:r>
          </a:p>
        </p:txBody>
      </p:sp>
      <p:sp>
        <p:nvSpPr>
          <p:cNvPr id="26" name="TextBox 25"/>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7" name="Đáp án A"/>
          <p:cNvSpPr/>
          <p:nvPr/>
        </p:nvSpPr>
        <p:spPr>
          <a:xfrm>
            <a:off x="530352" y="2770632"/>
            <a:ext cx="4215384" cy="1170432"/>
          </a:xfrm>
          <a:prstGeom prst="roundRect">
            <a:avLst/>
          </a:prstGeom>
          <a:solidFill>
            <a:srgbClr val="2F9C72"/>
          </a:solidFill>
          <a:ln w="15875">
            <a:solidFill>
              <a:srgbClr val="2F9C72"/>
            </a:solidFill>
          </a:ln>
          <a:effectLst>
            <a:glow rad="190000">
              <a:srgbClr val="73D9A5">
                <a:alpha val="52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380" b="1" i="0">
                <a:solidFill>
                  <a:srgbClr val="FFFFFF"/>
                </a:solidFill>
                <a:latin typeface="Aptos"/>
              </a:rPr>
              <a:t>Nhân dân vừa là mục tiêu, người thụ hưởng, vừa là chủ thể tham gia, sáng tạo và góp phần quyết định thực tiễn phát triển.</a:t>
            </a:r>
          </a:p>
        </p:txBody>
      </p:sp>
      <p:sp>
        <p:nvSpPr>
          <p:cNvPr id="28" name="Oval 27"/>
          <p:cNvSpPr/>
          <p:nvPr/>
        </p:nvSpPr>
        <p:spPr>
          <a:xfrm>
            <a:off x="685800" y="3154679"/>
            <a:ext cx="402336" cy="402336"/>
          </a:xfrm>
          <a:prstGeom prst="ellipse">
            <a:avLst/>
          </a:prstGeom>
          <a:solidFill>
            <a:srgbClr val="FFFFFF"/>
          </a:solidFill>
          <a:ln w="12700">
            <a:solidFill>
              <a:srgbClr val="2F9C72"/>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F9C72"/>
                </a:solidFill>
                <a:latin typeface="Trebuchet MS"/>
              </a:rPr>
              <a:t>A</a:t>
            </a:r>
          </a:p>
        </p:txBody>
      </p:sp>
      <p:sp>
        <p:nvSpPr>
          <p:cNvPr id="29" name="Đáp án B"/>
          <p:cNvSpPr/>
          <p:nvPr/>
        </p:nvSpPr>
        <p:spPr>
          <a:xfrm>
            <a:off x="4937760" y="2770632"/>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8A979B"/>
                </a:solidFill>
                <a:latin typeface="Aptos"/>
              </a:rPr>
              <a:t>Chỉ cơ quan nhà nước mới là chủ thể; nhân dân chủ yếu tiếp nhận chính sách.</a:t>
            </a:r>
          </a:p>
        </p:txBody>
      </p:sp>
      <p:sp>
        <p:nvSpPr>
          <p:cNvPr id="30" name="Oval 29"/>
          <p:cNvSpPr/>
          <p:nvPr/>
        </p:nvSpPr>
        <p:spPr>
          <a:xfrm>
            <a:off x="5093208" y="3154679"/>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B</a:t>
            </a:r>
          </a:p>
        </p:txBody>
      </p:sp>
      <p:sp>
        <p:nvSpPr>
          <p:cNvPr id="31" name="Đáp án C"/>
          <p:cNvSpPr/>
          <p:nvPr/>
        </p:nvSpPr>
        <p:spPr>
          <a:xfrm>
            <a:off x="530352" y="4105656"/>
            <a:ext cx="4215384"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Vai trò của nhân dân được thu hẹp vào riêng lĩnh vực kinh tế.</a:t>
            </a:r>
          </a:p>
        </p:txBody>
      </p:sp>
      <p:sp>
        <p:nvSpPr>
          <p:cNvPr id="32" name="Oval 31"/>
          <p:cNvSpPr/>
          <p:nvPr/>
        </p:nvSpPr>
        <p:spPr>
          <a:xfrm>
            <a:off x="685800"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C</a:t>
            </a:r>
          </a:p>
        </p:txBody>
      </p:sp>
      <p:sp>
        <p:nvSpPr>
          <p:cNvPr id="33" name="Đáp án D"/>
          <p:cNvSpPr/>
          <p:nvPr/>
        </p:nvSpPr>
        <p:spPr>
          <a:xfrm>
            <a:off x="4937760" y="4105656"/>
            <a:ext cx="4279392" cy="1170432"/>
          </a:xfrm>
          <a:prstGeom prst="roundRect">
            <a:avLst/>
          </a:prstGeom>
          <a:solidFill>
            <a:srgbClr val="E45C64"/>
          </a:solidFill>
          <a:ln w="15875">
            <a:solidFill>
              <a:srgbClr val="B8424C"/>
            </a:solidFill>
          </a:ln>
          <a:effectLst>
            <a:glow rad="110000">
              <a:srgbClr val="E45C64">
                <a:alpha val="35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1" i="0">
                <a:solidFill>
                  <a:srgbClr val="FFFFFF"/>
                </a:solidFill>
                <a:latin typeface="Aptos"/>
              </a:rPr>
              <a:t>Vai trò trung tâm của nhân dân được thay thế bằng vai trò của thị trường.</a:t>
            </a:r>
          </a:p>
        </p:txBody>
      </p:sp>
      <p:sp>
        <p:nvSpPr>
          <p:cNvPr id="34" name="Oval 33"/>
          <p:cNvSpPr/>
          <p:nvPr/>
        </p:nvSpPr>
        <p:spPr>
          <a:xfrm>
            <a:off x="5093208" y="4489704"/>
            <a:ext cx="402336" cy="402336"/>
          </a:xfrm>
          <a:prstGeom prst="ellipse">
            <a:avLst/>
          </a:prstGeom>
          <a:solidFill>
            <a:srgbClr val="FFFFFF"/>
          </a:solidFill>
          <a:ln w="12700">
            <a:solidFill>
              <a:srgbClr val="B8424C"/>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B8424C"/>
                </a:solidFill>
                <a:latin typeface="Trebuchet MS"/>
              </a:rPr>
              <a:t>D</a:t>
            </a:r>
          </a:p>
        </p:txBody>
      </p:sp>
      <p:cxnSp>
        <p:nvCxnSpPr>
          <p:cNvPr id="35" name="Connector 34"/>
          <p:cNvCxnSpPr/>
          <p:nvPr/>
        </p:nvCxnSpPr>
        <p:spPr>
          <a:xfrm>
            <a:off x="4846320" y="4306824"/>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4846320" y="4599432"/>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846320" y="489204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9235440" y="4306824"/>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9235440" y="4599432"/>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9235440" y="489204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530352" y="5431536"/>
            <a:ext cx="5989320" cy="868680"/>
          </a:xfrm>
          <a:prstGeom prst="roundRect">
            <a:avLst/>
          </a:prstGeom>
          <a:solidFill>
            <a:srgbClr val="FBE5E3"/>
          </a:solidFill>
          <a:ln w="12700">
            <a:solidFill>
              <a:srgbClr val="F0C7C4"/>
            </a:solid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l">
              <a:lnSpc>
                <a:spcPct val="100000"/>
              </a:lnSpc>
              <a:spcBef>
                <a:spcPts val="0"/>
              </a:spcBef>
              <a:spcAft>
                <a:spcPts val="0"/>
              </a:spcAft>
            </a:pPr>
            <a:r>
              <a:rPr sz="980" b="1" i="0">
                <a:solidFill>
                  <a:srgbClr val="18324A"/>
                </a:solidFill>
                <a:latin typeface="Aptos"/>
              </a:rPr>
              <a:t>BẠN CHỌN: D  ·  ĐÁP ÁN ĐÚNG: A
Nhân dân vừa là mục tiêu, người thụ hưởng, vừa là chủ thể tham gia, sáng tạo và góp phần quyết định thực tiễn phát triển.
QUÀ ĐẠT ĐƯỢC LƯỢT NÀY: Quà nhỏ</a:t>
            </a:r>
          </a:p>
        </p:txBody>
      </p:sp>
      <p:sp>
        <p:nvSpPr>
          <p:cNvPr id="42" name="Nút: NGƯỜI CHƠI TIẾP THEO  →">
            <a:hlinkClick r:id="rId2" action="ppaction://hlinksldjump"/>
          </p:cNvPr>
          <p:cNvSpPr/>
          <p:nvPr/>
        </p:nvSpPr>
        <p:spPr>
          <a:xfrm>
            <a:off x="6711696" y="5431536"/>
            <a:ext cx="2505456" cy="86868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240" b="1" i="0">
                <a:solidFill>
                  <a:srgbClr val="FFFFFF"/>
                </a:solidFill>
                <a:latin typeface="Trebuchet MS"/>
              </a:rPr>
              <a:t>NGƯỜI CHƠI TIẾP THEO  →</a:t>
            </a:r>
          </a:p>
        </p:txBody>
      </p:sp>
    </p:spTree>
  </p:cSld>
  <p:clrMapOvr>
    <a:masterClrMapping/>
  </p:clrMapOvr>
  <p:transition spd="med" advClick="0">
    <p:fade/>
  </p:transition>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04 / 05</a:t>
            </a:r>
          </a:p>
        </p:txBody>
      </p:sp>
      <p:sp>
        <p:nvSpPr>
          <p:cNvPr id="5" name="Rounded Rectangle 4"/>
          <p:cNvSpPr/>
          <p:nvPr/>
        </p:nvSpPr>
        <p:spPr>
          <a:xfrm>
            <a:off x="2240280" y="749808"/>
            <a:ext cx="1389888" cy="292608"/>
          </a:xfrm>
          <a:prstGeom prst="roundRect">
            <a:avLst/>
          </a:prstGeom>
          <a:solidFill>
            <a:srgbClr val="F7E2DD"/>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B8424C"/>
                </a:solidFill>
                <a:latin typeface="Trebuchet MS"/>
              </a:rPr>
              <a:t>KHÓ</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03 / 03</a:t>
            </a:r>
          </a:p>
        </p:txBody>
      </p:sp>
      <p:sp>
        <p:nvSpPr>
          <p:cNvPr id="7"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0" name="TextBox 9"/>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1860" b="1" i="0">
                <a:solidFill>
                  <a:srgbClr val="FFFFFF"/>
                </a:solidFill>
                <a:latin typeface="Aptos"/>
              </a:rPr>
              <a:t>Mệnh đề trong Tuyên ngôn của Đảng Cộng sản (1848): “Sự phát triển tự do của mỗi người là điều kiện cho sự phát triển tự do của tất cả mọi người” có ý nghĩa gì?</a:t>
            </a:r>
          </a:p>
        </p:txBody>
      </p:sp>
      <p:sp>
        <p:nvSpPr>
          <p:cNvPr id="11"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3" name="TextBox 12"/>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4" name="Rounded Rectangle 13"/>
          <p:cNvSpPr/>
          <p:nvPr/>
        </p:nvSpPr>
        <p:spPr>
          <a:xfrm>
            <a:off x="9646920" y="1371600"/>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01</a:t>
            </a:r>
          </a:p>
        </p:txBody>
      </p:sp>
      <p:sp>
        <p:nvSpPr>
          <p:cNvPr id="16" name="TextBox 15"/>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nhỏ</a:t>
            </a:r>
          </a:p>
        </p:txBody>
      </p:sp>
      <p:sp>
        <p:nvSpPr>
          <p:cNvPr id="17" name="Rounded Rectangle 16"/>
          <p:cNvSpPr/>
          <p:nvPr/>
        </p:nvSpPr>
        <p:spPr>
          <a:xfrm>
            <a:off x="9646920" y="2487168"/>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02</a:t>
            </a:r>
          </a:p>
        </p:txBody>
      </p:sp>
      <p:sp>
        <p:nvSpPr>
          <p:cNvPr id="19" name="TextBox 18"/>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vừa</a:t>
            </a:r>
          </a:p>
        </p:txBody>
      </p:sp>
      <p:sp>
        <p:nvSpPr>
          <p:cNvPr id="20" name="Rounded Rectangle 19"/>
          <p:cNvSpPr/>
          <p:nvPr/>
        </p:nvSpPr>
        <p:spPr>
          <a:xfrm>
            <a:off x="9646920" y="3602736"/>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03</a:t>
            </a:r>
          </a:p>
        </p:txBody>
      </p:sp>
      <p:sp>
        <p:nvSpPr>
          <p:cNvPr id="22" name="TextBox 21"/>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lớn</a:t>
            </a:r>
          </a:p>
        </p:txBody>
      </p:sp>
      <p:sp>
        <p:nvSpPr>
          <p:cNvPr id="23" name="TextBox 22"/>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MỐC AN TOÀN</a:t>
            </a:r>
          </a:p>
        </p:txBody>
      </p:sp>
      <p:sp>
        <p:nvSpPr>
          <p:cNvPr id="24" name="TextBox 23"/>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Quà vừa</a:t>
            </a:r>
          </a:p>
        </p:txBody>
      </p:sp>
      <p:sp>
        <p:nvSpPr>
          <p:cNvPr id="25" name="TextBox 24"/>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6" name="Đáp án A">
            <a:hlinkClick r:id="rId2" action="ppaction://hlinksldjump"/>
          </p:cNvPr>
          <p:cNvSpPr/>
          <p:nvPr/>
        </p:nvSpPr>
        <p:spPr>
          <a:xfrm>
            <a:off x="530352" y="2770632"/>
            <a:ext cx="4215384" cy="1170432"/>
          </a:xfrm>
          <a:prstGeom prst="roundRect">
            <a:avLst/>
          </a:prstGeom>
          <a:solidFill>
            <a:srgbClr val="FBFCF9"/>
          </a:solidFill>
          <a:ln w="15875">
            <a:solidFill>
              <a:srgbClr val="D7DED8"/>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380" b="0" i="0">
                <a:solidFill>
                  <a:srgbClr val="18324A"/>
                </a:solidFill>
                <a:latin typeface="Aptos"/>
              </a:rPr>
              <a:t>Tự do cá nhân gắn với điều kiện xã hội chung; thiết chế và chính sách cần mở rộng cơ hội, hạnh phúc cho mọi người, không hy sinh một nhóm người.</a:t>
            </a:r>
          </a:p>
        </p:txBody>
      </p:sp>
      <p:sp>
        <p:nvSpPr>
          <p:cNvPr id="27" name="Oval 26">
            <a:hlinkClick r:id="rId2" action="ppaction://hlinksldjump"/>
          </p:cNvPr>
          <p:cNvSpPr/>
          <p:nvPr/>
        </p:nvSpPr>
        <p:spPr>
          <a:xfrm>
            <a:off x="685800" y="3154679"/>
            <a:ext cx="402336" cy="402336"/>
          </a:xfrm>
          <a:prstGeom prst="ellipse">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E8177"/>
                </a:solidFill>
                <a:latin typeface="Trebuchet MS"/>
              </a:rPr>
              <a:t>A</a:t>
            </a:r>
          </a:p>
        </p:txBody>
      </p:sp>
      <p:sp>
        <p:nvSpPr>
          <p:cNvPr id="28" name="Đáp án B">
            <a:hlinkClick r:id="rId3" action="ppaction://hlinksldjump"/>
          </p:cNvPr>
          <p:cNvSpPr/>
          <p:nvPr/>
        </p:nvSpPr>
        <p:spPr>
          <a:xfrm>
            <a:off x="4937760" y="2770632"/>
            <a:ext cx="4279392" cy="1170432"/>
          </a:xfrm>
          <a:prstGeom prst="roundRect">
            <a:avLst/>
          </a:prstGeom>
          <a:solidFill>
            <a:srgbClr val="FBFCF9"/>
          </a:solidFill>
          <a:ln w="15875">
            <a:solidFill>
              <a:srgbClr val="D7DED8"/>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18324A"/>
                </a:solidFill>
                <a:latin typeface="Aptos"/>
              </a:rPr>
              <a:t>Tự do cá nhân là được làm mọi điều, bất kể ảnh hưởng tới người khác.</a:t>
            </a:r>
          </a:p>
        </p:txBody>
      </p:sp>
      <p:sp>
        <p:nvSpPr>
          <p:cNvPr id="29" name="Oval 28">
            <a:hlinkClick r:id="rId3" action="ppaction://hlinksldjump"/>
          </p:cNvPr>
          <p:cNvSpPr/>
          <p:nvPr/>
        </p:nvSpPr>
        <p:spPr>
          <a:xfrm>
            <a:off x="5093208" y="3154679"/>
            <a:ext cx="402336" cy="402336"/>
          </a:xfrm>
          <a:prstGeom prst="ellipse">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E8177"/>
                </a:solidFill>
                <a:latin typeface="Trebuchet MS"/>
              </a:rPr>
              <a:t>B</a:t>
            </a:r>
          </a:p>
        </p:txBody>
      </p:sp>
      <p:sp>
        <p:nvSpPr>
          <p:cNvPr id="30" name="Đáp án C">
            <a:hlinkClick r:id="rId4" action="ppaction://hlinksldjump"/>
          </p:cNvPr>
          <p:cNvSpPr/>
          <p:nvPr/>
        </p:nvSpPr>
        <p:spPr>
          <a:xfrm>
            <a:off x="530352" y="4105656"/>
            <a:ext cx="4215384" cy="1170432"/>
          </a:xfrm>
          <a:prstGeom prst="roundRect">
            <a:avLst/>
          </a:prstGeom>
          <a:solidFill>
            <a:srgbClr val="FBFCF9"/>
          </a:solidFill>
          <a:ln w="15875">
            <a:solidFill>
              <a:srgbClr val="D7DED8"/>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18324A"/>
                </a:solidFill>
                <a:latin typeface="Aptos"/>
              </a:rPr>
              <a:t>Chỉ cần tập thể phát triển; quyền và hạnh phúc cá nhân có thể bị hy sinh.</a:t>
            </a:r>
          </a:p>
        </p:txBody>
      </p:sp>
      <p:sp>
        <p:nvSpPr>
          <p:cNvPr id="31" name="Oval 30">
            <a:hlinkClick r:id="rId4" action="ppaction://hlinksldjump"/>
          </p:cNvPr>
          <p:cNvSpPr/>
          <p:nvPr/>
        </p:nvSpPr>
        <p:spPr>
          <a:xfrm>
            <a:off x="685800" y="4489704"/>
            <a:ext cx="402336" cy="402336"/>
          </a:xfrm>
          <a:prstGeom prst="ellipse">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E8177"/>
                </a:solidFill>
                <a:latin typeface="Trebuchet MS"/>
              </a:rPr>
              <a:t>C</a:t>
            </a:r>
          </a:p>
        </p:txBody>
      </p:sp>
      <p:sp>
        <p:nvSpPr>
          <p:cNvPr id="32" name="Đáp án D">
            <a:hlinkClick r:id="rId5" action="ppaction://hlinksldjump"/>
          </p:cNvPr>
          <p:cNvSpPr/>
          <p:nvPr/>
        </p:nvSpPr>
        <p:spPr>
          <a:xfrm>
            <a:off x="4937760" y="4105656"/>
            <a:ext cx="4279392" cy="1170432"/>
          </a:xfrm>
          <a:prstGeom prst="roundRect">
            <a:avLst/>
          </a:prstGeom>
          <a:solidFill>
            <a:srgbClr val="FBFCF9"/>
          </a:solidFill>
          <a:ln w="15875">
            <a:solidFill>
              <a:srgbClr val="D7DED8"/>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18324A"/>
                </a:solidFill>
                <a:latin typeface="Aptos"/>
              </a:rPr>
              <a:t>Hạnh phúc là vấn đề riêng tư, không liên quan đến tổ chức xã hội.</a:t>
            </a:r>
          </a:p>
        </p:txBody>
      </p:sp>
      <p:sp>
        <p:nvSpPr>
          <p:cNvPr id="33" name="Oval 32">
            <a:hlinkClick r:id="rId5" action="ppaction://hlinksldjump"/>
          </p:cNvPr>
          <p:cNvSpPr/>
          <p:nvPr/>
        </p:nvSpPr>
        <p:spPr>
          <a:xfrm>
            <a:off x="5093208" y="4489704"/>
            <a:ext cx="402336" cy="402336"/>
          </a:xfrm>
          <a:prstGeom prst="ellipse">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E8177"/>
                </a:solidFill>
                <a:latin typeface="Trebuchet MS"/>
              </a:rPr>
              <a:t>D</a:t>
            </a:r>
          </a:p>
        </p:txBody>
      </p:sp>
      <p:sp>
        <p:nvSpPr>
          <p:cNvPr id="34" name="TextBox 33"/>
          <p:cNvSpPr txBox="1"/>
          <p:nvPr/>
        </p:nvSpPr>
        <p:spPr>
          <a:xfrm>
            <a:off x="621792" y="5431536"/>
            <a:ext cx="8485632" cy="36576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080" b="1" i="0">
                <a:solidFill>
                  <a:srgbClr val="657883"/>
                </a:solidFill>
                <a:latin typeface="Trebuchet MS"/>
              </a:rPr>
              <a:t>CHỌN MỘT ĐÁP ÁN  ·  BẤM TRỰC TIẾP VÀO THẺ A / B / C / D</a:t>
            </a:r>
          </a:p>
        </p:txBody>
      </p:sp>
    </p:spTree>
  </p:cSld>
  <p:clrMapOvr>
    <a:masterClrMapping/>
  </p:clrMapOvr>
  <p:transition spd="med" advClick="0">
    <p:fade/>
  </p:transition>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04 / 05</a:t>
            </a:r>
          </a:p>
        </p:txBody>
      </p:sp>
      <p:sp>
        <p:nvSpPr>
          <p:cNvPr id="5" name="Rounded Rectangle 4"/>
          <p:cNvSpPr/>
          <p:nvPr/>
        </p:nvSpPr>
        <p:spPr>
          <a:xfrm>
            <a:off x="2240280" y="749808"/>
            <a:ext cx="1389888" cy="292608"/>
          </a:xfrm>
          <a:prstGeom prst="roundRect">
            <a:avLst/>
          </a:prstGeom>
          <a:solidFill>
            <a:srgbClr val="F7E2DD"/>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B8424C"/>
                </a:solidFill>
                <a:latin typeface="Trebuchet MS"/>
              </a:rPr>
              <a:t>KHÓ</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03 / 03</a:t>
            </a:r>
          </a:p>
        </p:txBody>
      </p:sp>
      <p:sp>
        <p:nvSpPr>
          <p:cNvPr id="7" name="Rounded Rectangle 6"/>
          <p:cNvSpPr/>
          <p:nvPr/>
        </p:nvSpPr>
        <p:spPr>
          <a:xfrm>
            <a:off x="7562088" y="749808"/>
            <a:ext cx="1581912" cy="292608"/>
          </a:xfrm>
          <a:prstGeom prst="roundRect">
            <a:avLst/>
          </a:prstGeom>
          <a:solidFill>
            <a:srgbClr val="D9F0E3"/>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1000" b="1" i="0">
                <a:solidFill>
                  <a:srgbClr val="2F9C72"/>
                </a:solidFill>
                <a:latin typeface="Trebuchet MS"/>
              </a:rPr>
              <a:t>CHÍNH XÁC!</a:t>
            </a:r>
          </a:p>
        </p:txBody>
      </p:sp>
      <p:sp>
        <p:nvSpPr>
          <p:cNvPr id="8"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1" name="TextBox 10"/>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1860" b="1" i="0">
                <a:solidFill>
                  <a:srgbClr val="FFFFFF"/>
                </a:solidFill>
                <a:latin typeface="Aptos"/>
              </a:rPr>
              <a:t>Mệnh đề trong Tuyên ngôn của Đảng Cộng sản (1848): “Sự phát triển tự do của mỗi người là điều kiện cho sự phát triển tự do của tất cả mọi người” có ý nghĩa gì?</a:t>
            </a:r>
          </a:p>
        </p:txBody>
      </p:sp>
      <p:sp>
        <p:nvSpPr>
          <p:cNvPr id="12"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4" name="TextBox 13"/>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5" name="Rounded Rectangle 14"/>
          <p:cNvSpPr/>
          <p:nvPr/>
        </p:nvSpPr>
        <p:spPr>
          <a:xfrm>
            <a:off x="9646920" y="1371600"/>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01</a:t>
            </a:r>
          </a:p>
        </p:txBody>
      </p:sp>
      <p:sp>
        <p:nvSpPr>
          <p:cNvPr id="17" name="TextBox 16"/>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nhỏ</a:t>
            </a:r>
          </a:p>
        </p:txBody>
      </p:sp>
      <p:sp>
        <p:nvSpPr>
          <p:cNvPr id="18" name="Rounded Rectangle 17"/>
          <p:cNvSpPr/>
          <p:nvPr/>
        </p:nvSpPr>
        <p:spPr>
          <a:xfrm>
            <a:off x="9646920" y="2487168"/>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02</a:t>
            </a:r>
          </a:p>
        </p:txBody>
      </p:sp>
      <p:sp>
        <p:nvSpPr>
          <p:cNvPr id="20" name="TextBox 19"/>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vừa</a:t>
            </a:r>
          </a:p>
        </p:txBody>
      </p:sp>
      <p:sp>
        <p:nvSpPr>
          <p:cNvPr id="21" name="Rounded Rectangle 20"/>
          <p:cNvSpPr/>
          <p:nvPr/>
        </p:nvSpPr>
        <p:spPr>
          <a:xfrm>
            <a:off x="9646920" y="3602736"/>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03</a:t>
            </a:r>
          </a:p>
        </p:txBody>
      </p:sp>
      <p:sp>
        <p:nvSpPr>
          <p:cNvPr id="23" name="TextBox 22"/>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lớn</a:t>
            </a:r>
          </a:p>
        </p:txBody>
      </p:sp>
      <p:sp>
        <p:nvSpPr>
          <p:cNvPr id="24" name="TextBox 23"/>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PHẦN QUÀ CUỐI</a:t>
            </a:r>
          </a:p>
        </p:txBody>
      </p:sp>
      <p:sp>
        <p:nvSpPr>
          <p:cNvPr id="25" name="TextBox 24"/>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Quà lớn</a:t>
            </a:r>
          </a:p>
        </p:txBody>
      </p:sp>
      <p:sp>
        <p:nvSpPr>
          <p:cNvPr id="26" name="TextBox 25"/>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7" name="Đáp án A"/>
          <p:cNvSpPr/>
          <p:nvPr/>
        </p:nvSpPr>
        <p:spPr>
          <a:xfrm>
            <a:off x="530352" y="2770632"/>
            <a:ext cx="4215384" cy="1170432"/>
          </a:xfrm>
          <a:prstGeom prst="roundRect">
            <a:avLst/>
          </a:prstGeom>
          <a:solidFill>
            <a:srgbClr val="FFD05A"/>
          </a:solidFill>
          <a:ln w="15875">
            <a:solidFill>
              <a:srgbClr val="D9A92E"/>
            </a:solidFill>
          </a:ln>
          <a:effectLst>
            <a:glow rad="190000">
              <a:srgbClr val="FFD05A">
                <a:alpha val="52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380" b="1" i="0">
                <a:solidFill>
                  <a:srgbClr val="18324A"/>
                </a:solidFill>
                <a:latin typeface="Aptos"/>
              </a:rPr>
              <a:t>Tự do cá nhân gắn với điều kiện xã hội chung; thiết chế và chính sách cần mở rộng cơ hội, hạnh phúc cho mọi người, không hy sinh một nhóm người.</a:t>
            </a:r>
          </a:p>
        </p:txBody>
      </p:sp>
      <p:sp>
        <p:nvSpPr>
          <p:cNvPr id="28" name="Oval 27"/>
          <p:cNvSpPr/>
          <p:nvPr/>
        </p:nvSpPr>
        <p:spPr>
          <a:xfrm>
            <a:off x="685800" y="3154679"/>
            <a:ext cx="402336" cy="402336"/>
          </a:xfrm>
          <a:prstGeom prst="ellipse">
            <a:avLst/>
          </a:prstGeom>
          <a:solidFill>
            <a:srgbClr val="18324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FFD05A"/>
                </a:solidFill>
                <a:latin typeface="Trebuchet MS"/>
              </a:rPr>
              <a:t>A</a:t>
            </a:r>
          </a:p>
        </p:txBody>
      </p:sp>
      <p:sp>
        <p:nvSpPr>
          <p:cNvPr id="29" name="Đáp án B"/>
          <p:cNvSpPr/>
          <p:nvPr/>
        </p:nvSpPr>
        <p:spPr>
          <a:xfrm>
            <a:off x="4937760" y="2770632"/>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Tự do cá nhân là được làm mọi điều, bất kể ảnh hưởng tới người khác.</a:t>
            </a:r>
          </a:p>
        </p:txBody>
      </p:sp>
      <p:sp>
        <p:nvSpPr>
          <p:cNvPr id="30" name="Oval 29"/>
          <p:cNvSpPr/>
          <p:nvPr/>
        </p:nvSpPr>
        <p:spPr>
          <a:xfrm>
            <a:off x="5093208" y="3154679"/>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B</a:t>
            </a:r>
          </a:p>
        </p:txBody>
      </p:sp>
      <p:sp>
        <p:nvSpPr>
          <p:cNvPr id="31" name="Đáp án C"/>
          <p:cNvSpPr/>
          <p:nvPr/>
        </p:nvSpPr>
        <p:spPr>
          <a:xfrm>
            <a:off x="530352" y="4105656"/>
            <a:ext cx="4215384"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8A979B"/>
                </a:solidFill>
                <a:latin typeface="Aptos"/>
              </a:rPr>
              <a:t>Chỉ cần tập thể phát triển; quyền và hạnh phúc cá nhân có thể bị hy sinh.</a:t>
            </a:r>
          </a:p>
        </p:txBody>
      </p:sp>
      <p:sp>
        <p:nvSpPr>
          <p:cNvPr id="32" name="Oval 31"/>
          <p:cNvSpPr/>
          <p:nvPr/>
        </p:nvSpPr>
        <p:spPr>
          <a:xfrm>
            <a:off x="685800"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C</a:t>
            </a:r>
          </a:p>
        </p:txBody>
      </p:sp>
      <p:sp>
        <p:nvSpPr>
          <p:cNvPr id="33" name="Đáp án D"/>
          <p:cNvSpPr/>
          <p:nvPr/>
        </p:nvSpPr>
        <p:spPr>
          <a:xfrm>
            <a:off x="4937760" y="4105656"/>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Hạnh phúc là vấn đề riêng tư, không liên quan đến tổ chức xã hội.</a:t>
            </a:r>
          </a:p>
        </p:txBody>
      </p:sp>
      <p:sp>
        <p:nvSpPr>
          <p:cNvPr id="34" name="Oval 33"/>
          <p:cNvSpPr/>
          <p:nvPr/>
        </p:nvSpPr>
        <p:spPr>
          <a:xfrm>
            <a:off x="5093208"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D</a:t>
            </a:r>
          </a:p>
        </p:txBody>
      </p:sp>
      <p:sp>
        <p:nvSpPr>
          <p:cNvPr id="35" name="Rounded Rectangle 34"/>
          <p:cNvSpPr/>
          <p:nvPr/>
        </p:nvSpPr>
        <p:spPr>
          <a:xfrm>
            <a:off x="530352" y="5431536"/>
            <a:ext cx="5989320" cy="868680"/>
          </a:xfrm>
          <a:prstGeom prst="roundRect">
            <a:avLst/>
          </a:prstGeom>
          <a:solidFill>
            <a:srgbClr val="D9F0E3"/>
          </a:solidFill>
          <a:ln w="12700">
            <a:solidFill>
              <a:srgbClr val="D7E6DC"/>
            </a:solidFill>
          </a:ln>
        </p:spPr>
        <p:style>
          <a:lnRef idx="1">
            <a:schemeClr val="accent1"/>
          </a:lnRef>
          <a:fillRef idx="3">
            <a:schemeClr val="accent1"/>
          </a:fillRef>
          <a:effectRef idx="2">
            <a:schemeClr val="accent1"/>
          </a:effectRef>
          <a:fontRef idx="minor">
            <a:schemeClr val="lt1"/>
          </a:fontRef>
        </p:style>
        <p:txBody>
          <a:bodyPr wrap="square" lIns="109728" tIns="60350" rIns="109728" bIns="60350" rtlCol="0" anchor="ctr"/>
          <a:lstStyle/>
          <a:p>
            <a:pPr algn="l">
              <a:lnSpc>
                <a:spcPct val="100000"/>
              </a:lnSpc>
              <a:spcBef>
                <a:spcPts val="0"/>
              </a:spcBef>
              <a:spcAft>
                <a:spcPts val="0"/>
              </a:spcAft>
            </a:pPr>
            <a:r>
              <a:rPr sz="1130" b="0" i="0">
                <a:solidFill>
                  <a:srgbClr val="18324A"/>
                </a:solidFill>
                <a:latin typeface="Aptos"/>
              </a:rPr>
              <a:t>MỐC 3 ĐÃ CHINH PHỤC  ·  Quà lớn
Tự do của mỗi người không đối lập với tự do chung; một xã hội tiến bộ tạo điều kiện để mọi người cùng phát triển.</a:t>
            </a:r>
          </a:p>
        </p:txBody>
      </p:sp>
      <p:sp>
        <p:nvSpPr>
          <p:cNvPr id="36" name="Nút: NGƯỜI CHƠI TIẾP THEO  →">
            <a:hlinkClick r:id="rId3" action="ppaction://hlinksldjump"/>
          </p:cNvPr>
          <p:cNvSpPr/>
          <p:nvPr/>
        </p:nvSpPr>
        <p:spPr>
          <a:xfrm>
            <a:off x="6711696" y="5431536"/>
            <a:ext cx="2505456" cy="868680"/>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240" b="1" i="0">
                <a:solidFill>
                  <a:srgbClr val="18324A"/>
                </a:solidFill>
                <a:latin typeface="Trebuchet MS"/>
              </a:rPr>
              <a:t>NGƯỜI CHƠI TIẾP THEO  →</a:t>
            </a:r>
          </a:p>
        </p:txBody>
      </p:sp>
    </p:spTree>
  </p:cSld>
  <p:clrMapOvr>
    <a:masterClrMapping/>
  </p:clrMapOvr>
  <p:transition spd="med" advClick="0">
    <p:sndAc>
      <p:stSnd>
        <p:snd r:embed="rId2" name="Correct answer chime"/>
      </p:stSnd>
    </p:sndAc>
  </p:transition>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04 / 05</a:t>
            </a:r>
          </a:p>
        </p:txBody>
      </p:sp>
      <p:sp>
        <p:nvSpPr>
          <p:cNvPr id="5" name="Rounded Rectangle 4"/>
          <p:cNvSpPr/>
          <p:nvPr/>
        </p:nvSpPr>
        <p:spPr>
          <a:xfrm>
            <a:off x="2240280" y="749808"/>
            <a:ext cx="1389888" cy="292608"/>
          </a:xfrm>
          <a:prstGeom prst="roundRect">
            <a:avLst/>
          </a:prstGeom>
          <a:solidFill>
            <a:srgbClr val="F7E2DD"/>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B8424C"/>
                </a:solidFill>
                <a:latin typeface="Trebuchet MS"/>
              </a:rPr>
              <a:t>KHÓ</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03 / 03</a:t>
            </a:r>
          </a:p>
        </p:txBody>
      </p:sp>
      <p:sp>
        <p:nvSpPr>
          <p:cNvPr id="7" name="Rounded Rectangle 6"/>
          <p:cNvSpPr/>
          <p:nvPr/>
        </p:nvSpPr>
        <p:spPr>
          <a:xfrm>
            <a:off x="7562088" y="749808"/>
            <a:ext cx="1581912" cy="292608"/>
          </a:xfrm>
          <a:prstGeom prst="roundRect">
            <a:avLst/>
          </a:prstGeom>
          <a:solidFill>
            <a:srgbClr val="FBE3E3"/>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1000" b="1" i="0">
                <a:solidFill>
                  <a:srgbClr val="B8424C"/>
                </a:solidFill>
                <a:latin typeface="Trebuchet MS"/>
              </a:rPr>
              <a:t>RẤT TIẾC!</a:t>
            </a:r>
          </a:p>
        </p:txBody>
      </p:sp>
      <p:sp>
        <p:nvSpPr>
          <p:cNvPr id="8"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1" name="TextBox 10"/>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1860" b="1" i="0">
                <a:solidFill>
                  <a:srgbClr val="FFFFFF"/>
                </a:solidFill>
                <a:latin typeface="Aptos"/>
              </a:rPr>
              <a:t>Mệnh đề trong Tuyên ngôn của Đảng Cộng sản (1848): “Sự phát triển tự do của mỗi người là điều kiện cho sự phát triển tự do của tất cả mọi người” có ý nghĩa gì?</a:t>
            </a:r>
          </a:p>
        </p:txBody>
      </p:sp>
      <p:sp>
        <p:nvSpPr>
          <p:cNvPr id="12"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4" name="TextBox 13"/>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5" name="Rounded Rectangle 14"/>
          <p:cNvSpPr/>
          <p:nvPr/>
        </p:nvSpPr>
        <p:spPr>
          <a:xfrm>
            <a:off x="9646920" y="1371600"/>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01</a:t>
            </a:r>
          </a:p>
        </p:txBody>
      </p:sp>
      <p:sp>
        <p:nvSpPr>
          <p:cNvPr id="17" name="TextBox 16"/>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nhỏ</a:t>
            </a:r>
          </a:p>
        </p:txBody>
      </p:sp>
      <p:sp>
        <p:nvSpPr>
          <p:cNvPr id="18" name="Rounded Rectangle 17"/>
          <p:cNvSpPr/>
          <p:nvPr/>
        </p:nvSpPr>
        <p:spPr>
          <a:xfrm>
            <a:off x="9646920" y="2487168"/>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02</a:t>
            </a:r>
          </a:p>
        </p:txBody>
      </p:sp>
      <p:sp>
        <p:nvSpPr>
          <p:cNvPr id="20" name="TextBox 19"/>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vừa</a:t>
            </a:r>
          </a:p>
        </p:txBody>
      </p:sp>
      <p:sp>
        <p:nvSpPr>
          <p:cNvPr id="21" name="Rounded Rectangle 20"/>
          <p:cNvSpPr/>
          <p:nvPr/>
        </p:nvSpPr>
        <p:spPr>
          <a:xfrm>
            <a:off x="9646920" y="3602736"/>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03</a:t>
            </a:r>
          </a:p>
        </p:txBody>
      </p:sp>
      <p:sp>
        <p:nvSpPr>
          <p:cNvPr id="23" name="TextBox 22"/>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lớn</a:t>
            </a:r>
          </a:p>
        </p:txBody>
      </p:sp>
      <p:sp>
        <p:nvSpPr>
          <p:cNvPr id="24" name="TextBox 23"/>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QUÀ GIỮ LẠI</a:t>
            </a:r>
          </a:p>
        </p:txBody>
      </p:sp>
      <p:sp>
        <p:nvSpPr>
          <p:cNvPr id="25" name="TextBox 24"/>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Quà vừa</a:t>
            </a:r>
          </a:p>
        </p:txBody>
      </p:sp>
      <p:sp>
        <p:nvSpPr>
          <p:cNvPr id="26" name="TextBox 25"/>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7" name="Đáp án A"/>
          <p:cNvSpPr/>
          <p:nvPr/>
        </p:nvSpPr>
        <p:spPr>
          <a:xfrm>
            <a:off x="530352" y="2770632"/>
            <a:ext cx="4215384" cy="1170432"/>
          </a:xfrm>
          <a:prstGeom prst="roundRect">
            <a:avLst/>
          </a:prstGeom>
          <a:solidFill>
            <a:srgbClr val="2F9C72"/>
          </a:solidFill>
          <a:ln w="15875">
            <a:solidFill>
              <a:srgbClr val="2F9C72"/>
            </a:solidFill>
          </a:ln>
          <a:effectLst>
            <a:glow rad="190000">
              <a:srgbClr val="73D9A5">
                <a:alpha val="52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380" b="1" i="0">
                <a:solidFill>
                  <a:srgbClr val="FFFFFF"/>
                </a:solidFill>
                <a:latin typeface="Aptos"/>
              </a:rPr>
              <a:t>Tự do cá nhân gắn với điều kiện xã hội chung; thiết chế và chính sách cần mở rộng cơ hội, hạnh phúc cho mọi người, không hy sinh một nhóm người.</a:t>
            </a:r>
          </a:p>
        </p:txBody>
      </p:sp>
      <p:sp>
        <p:nvSpPr>
          <p:cNvPr id="28" name="Oval 27"/>
          <p:cNvSpPr/>
          <p:nvPr/>
        </p:nvSpPr>
        <p:spPr>
          <a:xfrm>
            <a:off x="685800" y="3154679"/>
            <a:ext cx="402336" cy="402336"/>
          </a:xfrm>
          <a:prstGeom prst="ellipse">
            <a:avLst/>
          </a:prstGeom>
          <a:solidFill>
            <a:srgbClr val="FFFFFF"/>
          </a:solidFill>
          <a:ln w="12700">
            <a:solidFill>
              <a:srgbClr val="2F9C72"/>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F9C72"/>
                </a:solidFill>
                <a:latin typeface="Trebuchet MS"/>
              </a:rPr>
              <a:t>A</a:t>
            </a:r>
          </a:p>
        </p:txBody>
      </p:sp>
      <p:sp>
        <p:nvSpPr>
          <p:cNvPr id="29" name="Đáp án B"/>
          <p:cNvSpPr/>
          <p:nvPr/>
        </p:nvSpPr>
        <p:spPr>
          <a:xfrm>
            <a:off x="4937760" y="2770632"/>
            <a:ext cx="4279392" cy="1170432"/>
          </a:xfrm>
          <a:prstGeom prst="roundRect">
            <a:avLst/>
          </a:prstGeom>
          <a:solidFill>
            <a:srgbClr val="E45C64"/>
          </a:solidFill>
          <a:ln w="15875">
            <a:solidFill>
              <a:srgbClr val="B8424C"/>
            </a:solidFill>
          </a:ln>
          <a:effectLst>
            <a:glow rad="110000">
              <a:srgbClr val="E45C64">
                <a:alpha val="35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1" i="0">
                <a:solidFill>
                  <a:srgbClr val="FFFFFF"/>
                </a:solidFill>
                <a:latin typeface="Aptos"/>
              </a:rPr>
              <a:t>Tự do cá nhân là được làm mọi điều, bất kể ảnh hưởng tới người khác.</a:t>
            </a:r>
          </a:p>
        </p:txBody>
      </p:sp>
      <p:sp>
        <p:nvSpPr>
          <p:cNvPr id="30" name="Oval 29"/>
          <p:cNvSpPr/>
          <p:nvPr/>
        </p:nvSpPr>
        <p:spPr>
          <a:xfrm>
            <a:off x="5093208" y="3154679"/>
            <a:ext cx="402336" cy="402336"/>
          </a:xfrm>
          <a:prstGeom prst="ellipse">
            <a:avLst/>
          </a:prstGeom>
          <a:solidFill>
            <a:srgbClr val="FFFFFF"/>
          </a:solidFill>
          <a:ln w="12700">
            <a:solidFill>
              <a:srgbClr val="B8424C"/>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B8424C"/>
                </a:solidFill>
                <a:latin typeface="Trebuchet MS"/>
              </a:rPr>
              <a:t>B</a:t>
            </a:r>
          </a:p>
        </p:txBody>
      </p:sp>
      <p:cxnSp>
        <p:nvCxnSpPr>
          <p:cNvPr id="31" name="Connector 30"/>
          <p:cNvCxnSpPr/>
          <p:nvPr/>
        </p:nvCxnSpPr>
        <p:spPr>
          <a:xfrm>
            <a:off x="4846320" y="297180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4846320" y="3264408"/>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846320" y="3557016"/>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9235440" y="297180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235440" y="3264408"/>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9235440" y="3557016"/>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sp>
        <p:nvSpPr>
          <p:cNvPr id="37" name="Đáp án C"/>
          <p:cNvSpPr/>
          <p:nvPr/>
        </p:nvSpPr>
        <p:spPr>
          <a:xfrm>
            <a:off x="530352" y="4105656"/>
            <a:ext cx="4215384"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8A979B"/>
                </a:solidFill>
                <a:latin typeface="Aptos"/>
              </a:rPr>
              <a:t>Chỉ cần tập thể phát triển; quyền và hạnh phúc cá nhân có thể bị hy sinh.</a:t>
            </a:r>
          </a:p>
        </p:txBody>
      </p:sp>
      <p:sp>
        <p:nvSpPr>
          <p:cNvPr id="38" name="Oval 37"/>
          <p:cNvSpPr/>
          <p:nvPr/>
        </p:nvSpPr>
        <p:spPr>
          <a:xfrm>
            <a:off x="685800"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C</a:t>
            </a:r>
          </a:p>
        </p:txBody>
      </p:sp>
      <p:sp>
        <p:nvSpPr>
          <p:cNvPr id="39" name="Đáp án D"/>
          <p:cNvSpPr/>
          <p:nvPr/>
        </p:nvSpPr>
        <p:spPr>
          <a:xfrm>
            <a:off x="4937760" y="4105656"/>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Hạnh phúc là vấn đề riêng tư, không liên quan đến tổ chức xã hội.</a:t>
            </a:r>
          </a:p>
        </p:txBody>
      </p:sp>
      <p:sp>
        <p:nvSpPr>
          <p:cNvPr id="40" name="Oval 39"/>
          <p:cNvSpPr/>
          <p:nvPr/>
        </p:nvSpPr>
        <p:spPr>
          <a:xfrm>
            <a:off x="5093208"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D</a:t>
            </a:r>
          </a:p>
        </p:txBody>
      </p:sp>
      <p:sp>
        <p:nvSpPr>
          <p:cNvPr id="41" name="Rounded Rectangle 40"/>
          <p:cNvSpPr/>
          <p:nvPr/>
        </p:nvSpPr>
        <p:spPr>
          <a:xfrm>
            <a:off x="530352" y="5431536"/>
            <a:ext cx="5989320" cy="868680"/>
          </a:xfrm>
          <a:prstGeom prst="roundRect">
            <a:avLst/>
          </a:prstGeom>
          <a:solidFill>
            <a:srgbClr val="FBE5E3"/>
          </a:solidFill>
          <a:ln w="12700">
            <a:solidFill>
              <a:srgbClr val="F0C7C4"/>
            </a:solid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l">
              <a:lnSpc>
                <a:spcPct val="100000"/>
              </a:lnSpc>
              <a:spcBef>
                <a:spcPts val="0"/>
              </a:spcBef>
              <a:spcAft>
                <a:spcPts val="0"/>
              </a:spcAft>
            </a:pPr>
            <a:r>
              <a:rPr sz="980" b="1" i="0">
                <a:solidFill>
                  <a:srgbClr val="18324A"/>
                </a:solidFill>
                <a:latin typeface="Aptos"/>
              </a:rPr>
              <a:t>BẠN CHỌN: B  ·  ĐÁP ÁN ĐÚNG: A
Tự do cá nhân gắn với điều kiện xã hội chung; thiết chế và chính sách cần mở rộng cơ hội, hạnh phúc cho mọi người, không hy sinh một nhóm người.
QUÀ ĐẠT ĐƯỢC LƯỢT NÀY: Quà vừa</a:t>
            </a:r>
          </a:p>
        </p:txBody>
      </p:sp>
      <p:sp>
        <p:nvSpPr>
          <p:cNvPr id="42" name="Nút: NGƯỜI CHƠI TIẾP THEO  →">
            <a:hlinkClick r:id="rId2" action="ppaction://hlinksldjump"/>
          </p:cNvPr>
          <p:cNvSpPr/>
          <p:nvPr/>
        </p:nvSpPr>
        <p:spPr>
          <a:xfrm>
            <a:off x="6711696" y="5431536"/>
            <a:ext cx="2505456" cy="86868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240" b="1" i="0">
                <a:solidFill>
                  <a:srgbClr val="FFFFFF"/>
                </a:solidFill>
                <a:latin typeface="Trebuchet MS"/>
              </a:rPr>
              <a:t>NGƯỜI CHƠI TIẾP THEO  →</a:t>
            </a:r>
          </a:p>
        </p:txBody>
      </p:sp>
    </p:spTree>
  </p:cSld>
  <p:clrMapOvr>
    <a:masterClrMapping/>
  </p:clrMapOvr>
  <p:transition spd="med" advClick="0">
    <p:fade/>
  </p:transition>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04 / 05</a:t>
            </a:r>
          </a:p>
        </p:txBody>
      </p:sp>
      <p:sp>
        <p:nvSpPr>
          <p:cNvPr id="5" name="Rounded Rectangle 4"/>
          <p:cNvSpPr/>
          <p:nvPr/>
        </p:nvSpPr>
        <p:spPr>
          <a:xfrm>
            <a:off x="2240280" y="749808"/>
            <a:ext cx="1389888" cy="292608"/>
          </a:xfrm>
          <a:prstGeom prst="roundRect">
            <a:avLst/>
          </a:prstGeom>
          <a:solidFill>
            <a:srgbClr val="F7E2DD"/>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B8424C"/>
                </a:solidFill>
                <a:latin typeface="Trebuchet MS"/>
              </a:rPr>
              <a:t>KHÓ</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03 / 03</a:t>
            </a:r>
          </a:p>
        </p:txBody>
      </p:sp>
      <p:sp>
        <p:nvSpPr>
          <p:cNvPr id="7" name="Rounded Rectangle 6"/>
          <p:cNvSpPr/>
          <p:nvPr/>
        </p:nvSpPr>
        <p:spPr>
          <a:xfrm>
            <a:off x="7562088" y="749808"/>
            <a:ext cx="1581912" cy="292608"/>
          </a:xfrm>
          <a:prstGeom prst="roundRect">
            <a:avLst/>
          </a:prstGeom>
          <a:solidFill>
            <a:srgbClr val="FBE3E3"/>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1000" b="1" i="0">
                <a:solidFill>
                  <a:srgbClr val="B8424C"/>
                </a:solidFill>
                <a:latin typeface="Trebuchet MS"/>
              </a:rPr>
              <a:t>RẤT TIẾC!</a:t>
            </a:r>
          </a:p>
        </p:txBody>
      </p:sp>
      <p:sp>
        <p:nvSpPr>
          <p:cNvPr id="8"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1" name="TextBox 10"/>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1860" b="1" i="0">
                <a:solidFill>
                  <a:srgbClr val="FFFFFF"/>
                </a:solidFill>
                <a:latin typeface="Aptos"/>
              </a:rPr>
              <a:t>Mệnh đề trong Tuyên ngôn của Đảng Cộng sản (1848): “Sự phát triển tự do của mỗi người là điều kiện cho sự phát triển tự do của tất cả mọi người” có ý nghĩa gì?</a:t>
            </a:r>
          </a:p>
        </p:txBody>
      </p:sp>
      <p:sp>
        <p:nvSpPr>
          <p:cNvPr id="12"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4" name="TextBox 13"/>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5" name="Rounded Rectangle 14"/>
          <p:cNvSpPr/>
          <p:nvPr/>
        </p:nvSpPr>
        <p:spPr>
          <a:xfrm>
            <a:off x="9646920" y="1371600"/>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01</a:t>
            </a:r>
          </a:p>
        </p:txBody>
      </p:sp>
      <p:sp>
        <p:nvSpPr>
          <p:cNvPr id="17" name="TextBox 16"/>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nhỏ</a:t>
            </a:r>
          </a:p>
        </p:txBody>
      </p:sp>
      <p:sp>
        <p:nvSpPr>
          <p:cNvPr id="18" name="Rounded Rectangle 17"/>
          <p:cNvSpPr/>
          <p:nvPr/>
        </p:nvSpPr>
        <p:spPr>
          <a:xfrm>
            <a:off x="9646920" y="2487168"/>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02</a:t>
            </a:r>
          </a:p>
        </p:txBody>
      </p:sp>
      <p:sp>
        <p:nvSpPr>
          <p:cNvPr id="20" name="TextBox 19"/>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vừa</a:t>
            </a:r>
          </a:p>
        </p:txBody>
      </p:sp>
      <p:sp>
        <p:nvSpPr>
          <p:cNvPr id="21" name="Rounded Rectangle 20"/>
          <p:cNvSpPr/>
          <p:nvPr/>
        </p:nvSpPr>
        <p:spPr>
          <a:xfrm>
            <a:off x="9646920" y="3602736"/>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03</a:t>
            </a:r>
          </a:p>
        </p:txBody>
      </p:sp>
      <p:sp>
        <p:nvSpPr>
          <p:cNvPr id="23" name="TextBox 22"/>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lớn</a:t>
            </a:r>
          </a:p>
        </p:txBody>
      </p:sp>
      <p:sp>
        <p:nvSpPr>
          <p:cNvPr id="24" name="TextBox 23"/>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QUÀ GIỮ LẠI</a:t>
            </a:r>
          </a:p>
        </p:txBody>
      </p:sp>
      <p:sp>
        <p:nvSpPr>
          <p:cNvPr id="25" name="TextBox 24"/>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Quà vừa</a:t>
            </a:r>
          </a:p>
        </p:txBody>
      </p:sp>
      <p:sp>
        <p:nvSpPr>
          <p:cNvPr id="26" name="TextBox 25"/>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7" name="Đáp án A"/>
          <p:cNvSpPr/>
          <p:nvPr/>
        </p:nvSpPr>
        <p:spPr>
          <a:xfrm>
            <a:off x="530352" y="2770632"/>
            <a:ext cx="4215384" cy="1170432"/>
          </a:xfrm>
          <a:prstGeom prst="roundRect">
            <a:avLst/>
          </a:prstGeom>
          <a:solidFill>
            <a:srgbClr val="2F9C72"/>
          </a:solidFill>
          <a:ln w="15875">
            <a:solidFill>
              <a:srgbClr val="2F9C72"/>
            </a:solidFill>
          </a:ln>
          <a:effectLst>
            <a:glow rad="190000">
              <a:srgbClr val="73D9A5">
                <a:alpha val="52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380" b="1" i="0">
                <a:solidFill>
                  <a:srgbClr val="FFFFFF"/>
                </a:solidFill>
                <a:latin typeface="Aptos"/>
              </a:rPr>
              <a:t>Tự do cá nhân gắn với điều kiện xã hội chung; thiết chế và chính sách cần mở rộng cơ hội, hạnh phúc cho mọi người, không hy sinh một nhóm người.</a:t>
            </a:r>
          </a:p>
        </p:txBody>
      </p:sp>
      <p:sp>
        <p:nvSpPr>
          <p:cNvPr id="28" name="Oval 27"/>
          <p:cNvSpPr/>
          <p:nvPr/>
        </p:nvSpPr>
        <p:spPr>
          <a:xfrm>
            <a:off x="685800" y="3154679"/>
            <a:ext cx="402336" cy="402336"/>
          </a:xfrm>
          <a:prstGeom prst="ellipse">
            <a:avLst/>
          </a:prstGeom>
          <a:solidFill>
            <a:srgbClr val="FFFFFF"/>
          </a:solidFill>
          <a:ln w="12700">
            <a:solidFill>
              <a:srgbClr val="2F9C72"/>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F9C72"/>
                </a:solidFill>
                <a:latin typeface="Trebuchet MS"/>
              </a:rPr>
              <a:t>A</a:t>
            </a:r>
          </a:p>
        </p:txBody>
      </p:sp>
      <p:sp>
        <p:nvSpPr>
          <p:cNvPr id="29" name="Đáp án B"/>
          <p:cNvSpPr/>
          <p:nvPr/>
        </p:nvSpPr>
        <p:spPr>
          <a:xfrm>
            <a:off x="4937760" y="2770632"/>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Tự do cá nhân là được làm mọi điều, bất kể ảnh hưởng tới người khác.</a:t>
            </a:r>
          </a:p>
        </p:txBody>
      </p:sp>
      <p:sp>
        <p:nvSpPr>
          <p:cNvPr id="30" name="Oval 29"/>
          <p:cNvSpPr/>
          <p:nvPr/>
        </p:nvSpPr>
        <p:spPr>
          <a:xfrm>
            <a:off x="5093208" y="3154679"/>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B</a:t>
            </a:r>
          </a:p>
        </p:txBody>
      </p:sp>
      <p:sp>
        <p:nvSpPr>
          <p:cNvPr id="31" name="Đáp án C"/>
          <p:cNvSpPr/>
          <p:nvPr/>
        </p:nvSpPr>
        <p:spPr>
          <a:xfrm>
            <a:off x="530352" y="4105656"/>
            <a:ext cx="4215384" cy="1170432"/>
          </a:xfrm>
          <a:prstGeom prst="roundRect">
            <a:avLst/>
          </a:prstGeom>
          <a:solidFill>
            <a:srgbClr val="E45C64"/>
          </a:solidFill>
          <a:ln w="15875">
            <a:solidFill>
              <a:srgbClr val="B8424C"/>
            </a:solidFill>
          </a:ln>
          <a:effectLst>
            <a:glow rad="110000">
              <a:srgbClr val="E45C64">
                <a:alpha val="35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1" i="0">
                <a:solidFill>
                  <a:srgbClr val="FFFFFF"/>
                </a:solidFill>
                <a:latin typeface="Aptos"/>
              </a:rPr>
              <a:t>Chỉ cần tập thể phát triển; quyền và hạnh phúc cá nhân có thể bị hy sinh.</a:t>
            </a:r>
          </a:p>
        </p:txBody>
      </p:sp>
      <p:sp>
        <p:nvSpPr>
          <p:cNvPr id="32" name="Oval 31"/>
          <p:cNvSpPr/>
          <p:nvPr/>
        </p:nvSpPr>
        <p:spPr>
          <a:xfrm>
            <a:off x="685800" y="4489704"/>
            <a:ext cx="402336" cy="402336"/>
          </a:xfrm>
          <a:prstGeom prst="ellipse">
            <a:avLst/>
          </a:prstGeom>
          <a:solidFill>
            <a:srgbClr val="FFFFFF"/>
          </a:solidFill>
          <a:ln w="12700">
            <a:solidFill>
              <a:srgbClr val="B8424C"/>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B8424C"/>
                </a:solidFill>
                <a:latin typeface="Trebuchet MS"/>
              </a:rPr>
              <a:t>C</a:t>
            </a:r>
          </a:p>
        </p:txBody>
      </p:sp>
      <p:cxnSp>
        <p:nvCxnSpPr>
          <p:cNvPr id="33" name="Connector 32"/>
          <p:cNvCxnSpPr/>
          <p:nvPr/>
        </p:nvCxnSpPr>
        <p:spPr>
          <a:xfrm>
            <a:off x="438912" y="4306824"/>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38912" y="4599432"/>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38912" y="489204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4764024" y="4306824"/>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764024" y="4599432"/>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764024" y="489204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sp>
        <p:nvSpPr>
          <p:cNvPr id="39" name="Đáp án D"/>
          <p:cNvSpPr/>
          <p:nvPr/>
        </p:nvSpPr>
        <p:spPr>
          <a:xfrm>
            <a:off x="4937760" y="4105656"/>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Hạnh phúc là vấn đề riêng tư, không liên quan đến tổ chức xã hội.</a:t>
            </a:r>
          </a:p>
        </p:txBody>
      </p:sp>
      <p:sp>
        <p:nvSpPr>
          <p:cNvPr id="40" name="Oval 39"/>
          <p:cNvSpPr/>
          <p:nvPr/>
        </p:nvSpPr>
        <p:spPr>
          <a:xfrm>
            <a:off x="5093208"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D</a:t>
            </a:r>
          </a:p>
        </p:txBody>
      </p:sp>
      <p:sp>
        <p:nvSpPr>
          <p:cNvPr id="41" name="Rounded Rectangle 40"/>
          <p:cNvSpPr/>
          <p:nvPr/>
        </p:nvSpPr>
        <p:spPr>
          <a:xfrm>
            <a:off x="530352" y="5431536"/>
            <a:ext cx="5989320" cy="868680"/>
          </a:xfrm>
          <a:prstGeom prst="roundRect">
            <a:avLst/>
          </a:prstGeom>
          <a:solidFill>
            <a:srgbClr val="FBE5E3"/>
          </a:solidFill>
          <a:ln w="12700">
            <a:solidFill>
              <a:srgbClr val="F0C7C4"/>
            </a:solid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l">
              <a:lnSpc>
                <a:spcPct val="100000"/>
              </a:lnSpc>
              <a:spcBef>
                <a:spcPts val="0"/>
              </a:spcBef>
              <a:spcAft>
                <a:spcPts val="0"/>
              </a:spcAft>
            </a:pPr>
            <a:r>
              <a:rPr sz="980" b="1" i="0">
                <a:solidFill>
                  <a:srgbClr val="18324A"/>
                </a:solidFill>
                <a:latin typeface="Aptos"/>
              </a:rPr>
              <a:t>BẠN CHỌN: C  ·  ĐÁP ÁN ĐÚNG: A
Tự do cá nhân gắn với điều kiện xã hội chung; thiết chế và chính sách cần mở rộng cơ hội, hạnh phúc cho mọi người, không hy sinh một nhóm người.
QUÀ ĐẠT ĐƯỢC LƯỢT NÀY: Quà vừa</a:t>
            </a:r>
          </a:p>
        </p:txBody>
      </p:sp>
      <p:sp>
        <p:nvSpPr>
          <p:cNvPr id="42" name="Nút: NGƯỜI CHƠI TIẾP THEO  →">
            <a:hlinkClick r:id="rId2" action="ppaction://hlinksldjump"/>
          </p:cNvPr>
          <p:cNvSpPr/>
          <p:nvPr/>
        </p:nvSpPr>
        <p:spPr>
          <a:xfrm>
            <a:off x="6711696" y="5431536"/>
            <a:ext cx="2505456" cy="86868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240" b="1" i="0">
                <a:solidFill>
                  <a:srgbClr val="FFFFFF"/>
                </a:solidFill>
                <a:latin typeface="Trebuchet MS"/>
              </a:rPr>
              <a:t>NGƯỜI CHƠI TIẾP THEO  →</a:t>
            </a:r>
          </a:p>
        </p:txBody>
      </p:sp>
    </p:spTree>
  </p:cSld>
  <p:clrMapOvr>
    <a:masterClrMapping/>
  </p:clrMapOvr>
  <p:transition spd="med" advClick="0">
    <p:fade/>
  </p:transition>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04 / 05</a:t>
            </a:r>
          </a:p>
        </p:txBody>
      </p:sp>
      <p:sp>
        <p:nvSpPr>
          <p:cNvPr id="5" name="Rounded Rectangle 4"/>
          <p:cNvSpPr/>
          <p:nvPr/>
        </p:nvSpPr>
        <p:spPr>
          <a:xfrm>
            <a:off x="2240280" y="749808"/>
            <a:ext cx="1389888" cy="292608"/>
          </a:xfrm>
          <a:prstGeom prst="roundRect">
            <a:avLst/>
          </a:prstGeom>
          <a:solidFill>
            <a:srgbClr val="F7E2DD"/>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B8424C"/>
                </a:solidFill>
                <a:latin typeface="Trebuchet MS"/>
              </a:rPr>
              <a:t>KHÓ</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03 / 03</a:t>
            </a:r>
          </a:p>
        </p:txBody>
      </p:sp>
      <p:sp>
        <p:nvSpPr>
          <p:cNvPr id="7" name="Rounded Rectangle 6"/>
          <p:cNvSpPr/>
          <p:nvPr/>
        </p:nvSpPr>
        <p:spPr>
          <a:xfrm>
            <a:off x="7562088" y="749808"/>
            <a:ext cx="1581912" cy="292608"/>
          </a:xfrm>
          <a:prstGeom prst="roundRect">
            <a:avLst/>
          </a:prstGeom>
          <a:solidFill>
            <a:srgbClr val="FBE3E3"/>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1000" b="1" i="0">
                <a:solidFill>
                  <a:srgbClr val="B8424C"/>
                </a:solidFill>
                <a:latin typeface="Trebuchet MS"/>
              </a:rPr>
              <a:t>RẤT TIẾC!</a:t>
            </a:r>
          </a:p>
        </p:txBody>
      </p:sp>
      <p:sp>
        <p:nvSpPr>
          <p:cNvPr id="8"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1" name="TextBox 10"/>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1860" b="1" i="0">
                <a:solidFill>
                  <a:srgbClr val="FFFFFF"/>
                </a:solidFill>
                <a:latin typeface="Aptos"/>
              </a:rPr>
              <a:t>Mệnh đề trong Tuyên ngôn của Đảng Cộng sản (1848): “Sự phát triển tự do của mỗi người là điều kiện cho sự phát triển tự do của tất cả mọi người” có ý nghĩa gì?</a:t>
            </a:r>
          </a:p>
        </p:txBody>
      </p:sp>
      <p:sp>
        <p:nvSpPr>
          <p:cNvPr id="12"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4" name="TextBox 13"/>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5" name="Rounded Rectangle 14"/>
          <p:cNvSpPr/>
          <p:nvPr/>
        </p:nvSpPr>
        <p:spPr>
          <a:xfrm>
            <a:off x="9646920" y="1371600"/>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01</a:t>
            </a:r>
          </a:p>
        </p:txBody>
      </p:sp>
      <p:sp>
        <p:nvSpPr>
          <p:cNvPr id="17" name="TextBox 16"/>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nhỏ</a:t>
            </a:r>
          </a:p>
        </p:txBody>
      </p:sp>
      <p:sp>
        <p:nvSpPr>
          <p:cNvPr id="18" name="Rounded Rectangle 17"/>
          <p:cNvSpPr/>
          <p:nvPr/>
        </p:nvSpPr>
        <p:spPr>
          <a:xfrm>
            <a:off x="9646920" y="2487168"/>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02</a:t>
            </a:r>
          </a:p>
        </p:txBody>
      </p:sp>
      <p:sp>
        <p:nvSpPr>
          <p:cNvPr id="20" name="TextBox 19"/>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vừa</a:t>
            </a:r>
          </a:p>
        </p:txBody>
      </p:sp>
      <p:sp>
        <p:nvSpPr>
          <p:cNvPr id="21" name="Rounded Rectangle 20"/>
          <p:cNvSpPr/>
          <p:nvPr/>
        </p:nvSpPr>
        <p:spPr>
          <a:xfrm>
            <a:off x="9646920" y="3602736"/>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03</a:t>
            </a:r>
          </a:p>
        </p:txBody>
      </p:sp>
      <p:sp>
        <p:nvSpPr>
          <p:cNvPr id="23" name="TextBox 22"/>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lớn</a:t>
            </a:r>
          </a:p>
        </p:txBody>
      </p:sp>
      <p:sp>
        <p:nvSpPr>
          <p:cNvPr id="24" name="TextBox 23"/>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QUÀ GIỮ LẠI</a:t>
            </a:r>
          </a:p>
        </p:txBody>
      </p:sp>
      <p:sp>
        <p:nvSpPr>
          <p:cNvPr id="25" name="TextBox 24"/>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Quà vừa</a:t>
            </a:r>
          </a:p>
        </p:txBody>
      </p:sp>
      <p:sp>
        <p:nvSpPr>
          <p:cNvPr id="26" name="TextBox 25"/>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7" name="Đáp án A"/>
          <p:cNvSpPr/>
          <p:nvPr/>
        </p:nvSpPr>
        <p:spPr>
          <a:xfrm>
            <a:off x="530352" y="2770632"/>
            <a:ext cx="4215384" cy="1170432"/>
          </a:xfrm>
          <a:prstGeom prst="roundRect">
            <a:avLst/>
          </a:prstGeom>
          <a:solidFill>
            <a:srgbClr val="2F9C72"/>
          </a:solidFill>
          <a:ln w="15875">
            <a:solidFill>
              <a:srgbClr val="2F9C72"/>
            </a:solidFill>
          </a:ln>
          <a:effectLst>
            <a:glow rad="190000">
              <a:srgbClr val="73D9A5">
                <a:alpha val="52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380" b="1" i="0">
                <a:solidFill>
                  <a:srgbClr val="FFFFFF"/>
                </a:solidFill>
                <a:latin typeface="Aptos"/>
              </a:rPr>
              <a:t>Tự do cá nhân gắn với điều kiện xã hội chung; thiết chế và chính sách cần mở rộng cơ hội, hạnh phúc cho mọi người, không hy sinh một nhóm người.</a:t>
            </a:r>
          </a:p>
        </p:txBody>
      </p:sp>
      <p:sp>
        <p:nvSpPr>
          <p:cNvPr id="28" name="Oval 27"/>
          <p:cNvSpPr/>
          <p:nvPr/>
        </p:nvSpPr>
        <p:spPr>
          <a:xfrm>
            <a:off x="685800" y="3154679"/>
            <a:ext cx="402336" cy="402336"/>
          </a:xfrm>
          <a:prstGeom prst="ellipse">
            <a:avLst/>
          </a:prstGeom>
          <a:solidFill>
            <a:srgbClr val="FFFFFF"/>
          </a:solidFill>
          <a:ln w="12700">
            <a:solidFill>
              <a:srgbClr val="2F9C72"/>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F9C72"/>
                </a:solidFill>
                <a:latin typeface="Trebuchet MS"/>
              </a:rPr>
              <a:t>A</a:t>
            </a:r>
          </a:p>
        </p:txBody>
      </p:sp>
      <p:sp>
        <p:nvSpPr>
          <p:cNvPr id="29" name="Đáp án B"/>
          <p:cNvSpPr/>
          <p:nvPr/>
        </p:nvSpPr>
        <p:spPr>
          <a:xfrm>
            <a:off x="4937760" y="2770632"/>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Tự do cá nhân là được làm mọi điều, bất kể ảnh hưởng tới người khác.</a:t>
            </a:r>
          </a:p>
        </p:txBody>
      </p:sp>
      <p:sp>
        <p:nvSpPr>
          <p:cNvPr id="30" name="Oval 29"/>
          <p:cNvSpPr/>
          <p:nvPr/>
        </p:nvSpPr>
        <p:spPr>
          <a:xfrm>
            <a:off x="5093208" y="3154679"/>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B</a:t>
            </a:r>
          </a:p>
        </p:txBody>
      </p:sp>
      <p:sp>
        <p:nvSpPr>
          <p:cNvPr id="31" name="Đáp án C"/>
          <p:cNvSpPr/>
          <p:nvPr/>
        </p:nvSpPr>
        <p:spPr>
          <a:xfrm>
            <a:off x="530352" y="4105656"/>
            <a:ext cx="4215384"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8A979B"/>
                </a:solidFill>
                <a:latin typeface="Aptos"/>
              </a:rPr>
              <a:t>Chỉ cần tập thể phát triển; quyền và hạnh phúc cá nhân có thể bị hy sinh.</a:t>
            </a:r>
          </a:p>
        </p:txBody>
      </p:sp>
      <p:sp>
        <p:nvSpPr>
          <p:cNvPr id="32" name="Oval 31"/>
          <p:cNvSpPr/>
          <p:nvPr/>
        </p:nvSpPr>
        <p:spPr>
          <a:xfrm>
            <a:off x="685800"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C</a:t>
            </a:r>
          </a:p>
        </p:txBody>
      </p:sp>
      <p:sp>
        <p:nvSpPr>
          <p:cNvPr id="33" name="Đáp án D"/>
          <p:cNvSpPr/>
          <p:nvPr/>
        </p:nvSpPr>
        <p:spPr>
          <a:xfrm>
            <a:off x="4937760" y="4105656"/>
            <a:ext cx="4279392" cy="1170432"/>
          </a:xfrm>
          <a:prstGeom prst="roundRect">
            <a:avLst/>
          </a:prstGeom>
          <a:solidFill>
            <a:srgbClr val="E45C64"/>
          </a:solidFill>
          <a:ln w="15875">
            <a:solidFill>
              <a:srgbClr val="B8424C"/>
            </a:solidFill>
          </a:ln>
          <a:effectLst>
            <a:glow rad="110000">
              <a:srgbClr val="E45C64">
                <a:alpha val="35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1" i="0">
                <a:solidFill>
                  <a:srgbClr val="FFFFFF"/>
                </a:solidFill>
                <a:latin typeface="Aptos"/>
              </a:rPr>
              <a:t>Hạnh phúc là vấn đề riêng tư, không liên quan đến tổ chức xã hội.</a:t>
            </a:r>
          </a:p>
        </p:txBody>
      </p:sp>
      <p:sp>
        <p:nvSpPr>
          <p:cNvPr id="34" name="Oval 33"/>
          <p:cNvSpPr/>
          <p:nvPr/>
        </p:nvSpPr>
        <p:spPr>
          <a:xfrm>
            <a:off x="5093208" y="4489704"/>
            <a:ext cx="402336" cy="402336"/>
          </a:xfrm>
          <a:prstGeom prst="ellipse">
            <a:avLst/>
          </a:prstGeom>
          <a:solidFill>
            <a:srgbClr val="FFFFFF"/>
          </a:solidFill>
          <a:ln w="12700">
            <a:solidFill>
              <a:srgbClr val="B8424C"/>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B8424C"/>
                </a:solidFill>
                <a:latin typeface="Trebuchet MS"/>
              </a:rPr>
              <a:t>D</a:t>
            </a:r>
          </a:p>
        </p:txBody>
      </p:sp>
      <p:cxnSp>
        <p:nvCxnSpPr>
          <p:cNvPr id="35" name="Connector 34"/>
          <p:cNvCxnSpPr/>
          <p:nvPr/>
        </p:nvCxnSpPr>
        <p:spPr>
          <a:xfrm>
            <a:off x="4846320" y="4306824"/>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4846320" y="4599432"/>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846320" y="489204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9235440" y="4306824"/>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9235440" y="4599432"/>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9235440" y="489204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530352" y="5431536"/>
            <a:ext cx="5989320" cy="868680"/>
          </a:xfrm>
          <a:prstGeom prst="roundRect">
            <a:avLst/>
          </a:prstGeom>
          <a:solidFill>
            <a:srgbClr val="FBE5E3"/>
          </a:solidFill>
          <a:ln w="12700">
            <a:solidFill>
              <a:srgbClr val="F0C7C4"/>
            </a:solid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l">
              <a:lnSpc>
                <a:spcPct val="100000"/>
              </a:lnSpc>
              <a:spcBef>
                <a:spcPts val="0"/>
              </a:spcBef>
              <a:spcAft>
                <a:spcPts val="0"/>
              </a:spcAft>
            </a:pPr>
            <a:r>
              <a:rPr sz="980" b="1" i="0">
                <a:solidFill>
                  <a:srgbClr val="18324A"/>
                </a:solidFill>
                <a:latin typeface="Aptos"/>
              </a:rPr>
              <a:t>BẠN CHỌN: D  ·  ĐÁP ÁN ĐÚNG: A
Tự do cá nhân gắn với điều kiện xã hội chung; thiết chế và chính sách cần mở rộng cơ hội, hạnh phúc cho mọi người, không hy sinh một nhóm người.
QUÀ ĐẠT ĐƯỢC LƯỢT NÀY: Quà vừa</a:t>
            </a:r>
          </a:p>
        </p:txBody>
      </p:sp>
      <p:sp>
        <p:nvSpPr>
          <p:cNvPr id="42" name="Nút: NGƯỜI CHƠI TIẾP THEO  →">
            <a:hlinkClick r:id="rId2" action="ppaction://hlinksldjump"/>
          </p:cNvPr>
          <p:cNvSpPr/>
          <p:nvPr/>
        </p:nvSpPr>
        <p:spPr>
          <a:xfrm>
            <a:off x="6711696" y="5431536"/>
            <a:ext cx="2505456" cy="86868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240" b="1" i="0">
                <a:solidFill>
                  <a:srgbClr val="FFFFFF"/>
                </a:solidFill>
                <a:latin typeface="Trebuchet MS"/>
              </a:rPr>
              <a:t>NGƯỜI CHƠI TIẾP THEO  →</a:t>
            </a:r>
          </a:p>
        </p:txBody>
      </p:sp>
    </p:spTree>
  </p:cSld>
  <p:clrMapOvr>
    <a:masterClrMapping/>
  </p:clrMapOvr>
  <p:transition spd="med" advClick="0">
    <p:fade/>
  </p:transition>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Oval 1"/>
          <p:cNvSpPr/>
          <p:nvPr/>
        </p:nvSpPr>
        <p:spPr>
          <a:xfrm>
            <a:off x="-685800" y="-548640"/>
            <a:ext cx="2240280" cy="2240280"/>
          </a:xfrm>
          <a:prstGeom prst="ellipse">
            <a:avLst/>
          </a:prstGeom>
          <a:solidFill>
            <a:srgbClr val="DDE9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881360" y="5468112"/>
            <a:ext cx="2103120" cy="2103120"/>
          </a:xfrm>
          <a:prstGeom prst="ellipse">
            <a:avLst/>
          </a:prstGeom>
          <a:solidFill>
            <a:srgbClr val="E9E3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900" b="1" i="0">
                <a:solidFill>
                  <a:srgbClr val="18324A"/>
                </a:solidFill>
                <a:latin typeface="Trebuchet MS"/>
              </a:rPr>
              <a:t>AI LÀ TRIỆU PHÚ</a:t>
            </a:r>
          </a:p>
        </p:txBody>
      </p:sp>
      <p:sp>
        <p:nvSpPr>
          <p:cNvPr id="5" name="Rounded Rectangle 4"/>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960120" y="1143000"/>
            <a:ext cx="10268712" cy="5120640"/>
          </a:xfrm>
          <a:prstGeom prst="roundRect">
            <a:avLst/>
          </a:prstGeom>
          <a:solidFill>
            <a:srgbClr val="FBFCF9"/>
          </a:solidFill>
          <a:ln w="13970">
            <a:solidFill>
              <a:srgbClr val="D8E0D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919472" y="1490472"/>
            <a:ext cx="2340864" cy="38404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1200" b="1" i="0">
                <a:solidFill>
                  <a:srgbClr val="2E8177"/>
                </a:solidFill>
                <a:latin typeface="Trebuchet MS"/>
              </a:rPr>
              <a:t>LƯỢT 05 / 05</a:t>
            </a:r>
          </a:p>
        </p:txBody>
      </p:sp>
      <p:sp>
        <p:nvSpPr>
          <p:cNvPr id="8" name="TextBox 7"/>
          <p:cNvSpPr txBox="1"/>
          <p:nvPr/>
        </p:nvSpPr>
        <p:spPr>
          <a:xfrm>
            <a:off x="1508760" y="2029968"/>
            <a:ext cx="9171432" cy="713232"/>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3500" b="1" i="0">
                <a:solidFill>
                  <a:srgbClr val="18324A"/>
                </a:solidFill>
                <a:latin typeface="Trebuchet MS"/>
              </a:rPr>
              <a:t>NGƯỜI CHƠI 05</a:t>
            </a:r>
          </a:p>
        </p:txBody>
      </p:sp>
      <p:sp>
        <p:nvSpPr>
          <p:cNvPr id="9" name="TextBox 8"/>
          <p:cNvSpPr txBox="1"/>
          <p:nvPr/>
        </p:nvSpPr>
        <p:spPr>
          <a:xfrm>
            <a:off x="1600200" y="2798064"/>
            <a:ext cx="8988552" cy="347472"/>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20" b="1" i="0">
                <a:solidFill>
                  <a:srgbClr val="2E8177"/>
                </a:solidFill>
                <a:latin typeface="Aptos"/>
              </a:rPr>
              <a:t>Chủ đề: Con người trong triết học Mác – Lênin</a:t>
            </a:r>
          </a:p>
        </p:txBody>
      </p:sp>
      <p:sp>
        <p:nvSpPr>
          <p:cNvPr id="10" name="TextBox 9"/>
          <p:cNvSpPr txBox="1"/>
          <p:nvPr/>
        </p:nvSpPr>
        <p:spPr>
          <a:xfrm>
            <a:off x="1601724" y="3337521"/>
            <a:ext cx="8988552" cy="22867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420" b="0" i="0" dirty="0" err="1">
                <a:solidFill>
                  <a:srgbClr val="18324A"/>
                </a:solidFill>
                <a:latin typeface="Aptos"/>
              </a:rPr>
              <a:t>Lượt</a:t>
            </a:r>
            <a:r>
              <a:rPr sz="1420" b="0" i="0" dirty="0">
                <a:solidFill>
                  <a:srgbClr val="18324A"/>
                </a:solidFill>
                <a:latin typeface="Aptos"/>
              </a:rPr>
              <a:t> </a:t>
            </a:r>
            <a:r>
              <a:rPr sz="1420" b="0" i="0" dirty="0" err="1">
                <a:solidFill>
                  <a:srgbClr val="18324A"/>
                </a:solidFill>
                <a:latin typeface="Aptos"/>
              </a:rPr>
              <a:t>này</a:t>
            </a:r>
            <a:r>
              <a:rPr sz="1420" b="0" i="0" dirty="0">
                <a:solidFill>
                  <a:srgbClr val="18324A"/>
                </a:solidFill>
                <a:latin typeface="Aptos"/>
              </a:rPr>
              <a:t> </a:t>
            </a:r>
            <a:r>
              <a:rPr sz="1420" b="0" i="0" dirty="0" err="1">
                <a:solidFill>
                  <a:srgbClr val="18324A"/>
                </a:solidFill>
                <a:latin typeface="Aptos"/>
              </a:rPr>
              <a:t>có</a:t>
            </a:r>
            <a:r>
              <a:rPr sz="1420" b="0" i="0" dirty="0">
                <a:solidFill>
                  <a:srgbClr val="18324A"/>
                </a:solidFill>
                <a:latin typeface="Aptos"/>
              </a:rPr>
              <a:t> </a:t>
            </a:r>
            <a:r>
              <a:rPr sz="1420" b="0" i="0" dirty="0" err="1">
                <a:solidFill>
                  <a:srgbClr val="18324A"/>
                </a:solidFill>
                <a:latin typeface="Aptos"/>
              </a:rPr>
              <a:t>đúng</a:t>
            </a:r>
            <a:r>
              <a:rPr sz="1420" b="0" i="0" dirty="0">
                <a:solidFill>
                  <a:srgbClr val="18324A"/>
                </a:solidFill>
                <a:latin typeface="Aptos"/>
              </a:rPr>
              <a:t> 3 </a:t>
            </a:r>
            <a:r>
              <a:rPr sz="1420" b="0" i="0" dirty="0" err="1">
                <a:solidFill>
                  <a:srgbClr val="18324A"/>
                </a:solidFill>
                <a:latin typeface="Aptos"/>
              </a:rPr>
              <a:t>câu</a:t>
            </a:r>
            <a:r>
              <a:rPr sz="1420" b="0" i="0" dirty="0">
                <a:solidFill>
                  <a:srgbClr val="18324A"/>
                </a:solidFill>
                <a:latin typeface="Aptos"/>
              </a:rPr>
              <a:t>: 1 </a:t>
            </a:r>
            <a:r>
              <a:rPr sz="1420" b="0" i="0" dirty="0" err="1">
                <a:solidFill>
                  <a:srgbClr val="18324A"/>
                </a:solidFill>
                <a:latin typeface="Aptos"/>
              </a:rPr>
              <a:t>Dễ</a:t>
            </a:r>
            <a:r>
              <a:rPr sz="1420" b="0" i="0" dirty="0">
                <a:solidFill>
                  <a:srgbClr val="18324A"/>
                </a:solidFill>
                <a:latin typeface="Aptos"/>
              </a:rPr>
              <a:t>, 1 Trung </a:t>
            </a:r>
            <a:r>
              <a:rPr sz="1420" b="0" i="0" dirty="0" err="1">
                <a:solidFill>
                  <a:srgbClr val="18324A"/>
                </a:solidFill>
                <a:latin typeface="Aptos"/>
              </a:rPr>
              <a:t>bình</a:t>
            </a:r>
            <a:r>
              <a:rPr sz="1420" b="0" i="0" dirty="0">
                <a:solidFill>
                  <a:srgbClr val="18324A"/>
                </a:solidFill>
                <a:latin typeface="Aptos"/>
              </a:rPr>
              <a:t> </a:t>
            </a:r>
            <a:r>
              <a:rPr sz="1420" b="0" i="0" dirty="0" err="1">
                <a:solidFill>
                  <a:srgbClr val="18324A"/>
                </a:solidFill>
                <a:latin typeface="Aptos"/>
              </a:rPr>
              <a:t>và</a:t>
            </a:r>
            <a:r>
              <a:rPr sz="1420" b="0" i="0" dirty="0">
                <a:solidFill>
                  <a:srgbClr val="18324A"/>
                </a:solidFill>
                <a:latin typeface="Aptos"/>
              </a:rPr>
              <a:t> 1 </a:t>
            </a:r>
            <a:r>
              <a:rPr sz="1420" b="0" i="0" dirty="0" err="1">
                <a:solidFill>
                  <a:srgbClr val="18324A"/>
                </a:solidFill>
                <a:latin typeface="Aptos"/>
              </a:rPr>
              <a:t>Khó</a:t>
            </a:r>
            <a:endParaRPr sz="1420" b="0" i="0" dirty="0">
              <a:solidFill>
                <a:srgbClr val="18324A"/>
              </a:solidFill>
              <a:latin typeface="Aptos"/>
            </a:endParaRPr>
          </a:p>
        </p:txBody>
      </p:sp>
      <p:sp>
        <p:nvSpPr>
          <p:cNvPr id="11" name="TextBox 10"/>
          <p:cNvSpPr txBox="1"/>
          <p:nvPr/>
        </p:nvSpPr>
        <p:spPr>
          <a:xfrm>
            <a:off x="1600200" y="3648456"/>
            <a:ext cx="8988552" cy="42062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350" b="0" i="0" dirty="0" err="1">
                <a:solidFill>
                  <a:srgbClr val="657883"/>
                </a:solidFill>
                <a:latin typeface="Aptos"/>
              </a:rPr>
              <a:t>Trả</a:t>
            </a:r>
            <a:r>
              <a:rPr sz="1350" b="0" i="0" dirty="0">
                <a:solidFill>
                  <a:srgbClr val="657883"/>
                </a:solidFill>
                <a:latin typeface="Aptos"/>
              </a:rPr>
              <a:t> </a:t>
            </a:r>
            <a:r>
              <a:rPr sz="1350" b="0" i="0" dirty="0" err="1">
                <a:solidFill>
                  <a:srgbClr val="657883"/>
                </a:solidFill>
                <a:latin typeface="Aptos"/>
              </a:rPr>
              <a:t>lời</a:t>
            </a:r>
            <a:r>
              <a:rPr sz="1350" b="0" i="0" dirty="0">
                <a:solidFill>
                  <a:srgbClr val="657883"/>
                </a:solidFill>
                <a:latin typeface="Aptos"/>
              </a:rPr>
              <a:t> </a:t>
            </a:r>
            <a:r>
              <a:rPr sz="1350" b="0" i="0" dirty="0" err="1">
                <a:solidFill>
                  <a:srgbClr val="657883"/>
                </a:solidFill>
                <a:latin typeface="Aptos"/>
              </a:rPr>
              <a:t>đúng</a:t>
            </a:r>
            <a:r>
              <a:rPr sz="1350" b="0" i="0" dirty="0">
                <a:solidFill>
                  <a:srgbClr val="657883"/>
                </a:solidFill>
                <a:latin typeface="Aptos"/>
              </a:rPr>
              <a:t> </a:t>
            </a:r>
            <a:r>
              <a:rPr sz="1350" b="0" i="0" dirty="0" err="1">
                <a:solidFill>
                  <a:srgbClr val="657883"/>
                </a:solidFill>
                <a:latin typeface="Aptos"/>
              </a:rPr>
              <a:t>để</a:t>
            </a:r>
            <a:r>
              <a:rPr sz="1350" b="0" i="0" dirty="0">
                <a:solidFill>
                  <a:srgbClr val="657883"/>
                </a:solidFill>
                <a:latin typeface="Aptos"/>
              </a:rPr>
              <a:t> </a:t>
            </a:r>
            <a:r>
              <a:rPr sz="1350" b="0" i="0" dirty="0" err="1">
                <a:solidFill>
                  <a:srgbClr val="657883"/>
                </a:solidFill>
                <a:latin typeface="Aptos"/>
              </a:rPr>
              <a:t>nhận</a:t>
            </a:r>
            <a:r>
              <a:rPr sz="1350" b="0" i="0" dirty="0">
                <a:solidFill>
                  <a:srgbClr val="657883"/>
                </a:solidFill>
                <a:latin typeface="Aptos"/>
              </a:rPr>
              <a:t> </a:t>
            </a:r>
            <a:r>
              <a:rPr sz="1350" b="0" i="0" dirty="0" err="1">
                <a:solidFill>
                  <a:srgbClr val="657883"/>
                </a:solidFill>
                <a:latin typeface="Aptos"/>
              </a:rPr>
              <a:t>quà</a:t>
            </a:r>
            <a:r>
              <a:rPr sz="1350" b="0" i="0" dirty="0">
                <a:solidFill>
                  <a:srgbClr val="657883"/>
                </a:solidFill>
                <a:latin typeface="Aptos"/>
              </a:rPr>
              <a:t> </a:t>
            </a:r>
            <a:r>
              <a:rPr sz="1350" b="0" i="0" dirty="0" err="1">
                <a:solidFill>
                  <a:srgbClr val="657883"/>
                </a:solidFill>
                <a:latin typeface="Aptos"/>
              </a:rPr>
              <a:t>của</a:t>
            </a:r>
            <a:r>
              <a:rPr sz="1350" b="0" i="0" dirty="0">
                <a:solidFill>
                  <a:srgbClr val="657883"/>
                </a:solidFill>
                <a:latin typeface="Aptos"/>
              </a:rPr>
              <a:t> </a:t>
            </a:r>
            <a:r>
              <a:rPr sz="1350" b="0" i="0" dirty="0" err="1">
                <a:solidFill>
                  <a:srgbClr val="657883"/>
                </a:solidFill>
                <a:latin typeface="Aptos"/>
              </a:rPr>
              <a:t>câu</a:t>
            </a:r>
            <a:r>
              <a:rPr sz="1350" b="0" i="0" dirty="0">
                <a:solidFill>
                  <a:srgbClr val="657883"/>
                </a:solidFill>
                <a:latin typeface="Aptos"/>
              </a:rPr>
              <a:t> </a:t>
            </a:r>
            <a:r>
              <a:rPr sz="1350" b="0" i="0" dirty="0" err="1">
                <a:solidFill>
                  <a:srgbClr val="657883"/>
                </a:solidFill>
                <a:latin typeface="Aptos"/>
              </a:rPr>
              <a:t>và</a:t>
            </a:r>
            <a:r>
              <a:rPr sz="1350" b="0" i="0" dirty="0">
                <a:solidFill>
                  <a:srgbClr val="657883"/>
                </a:solidFill>
                <a:latin typeface="Aptos"/>
              </a:rPr>
              <a:t> </a:t>
            </a:r>
            <a:r>
              <a:rPr sz="1350" b="0" i="0" dirty="0" err="1">
                <a:solidFill>
                  <a:srgbClr val="657883"/>
                </a:solidFill>
                <a:latin typeface="Aptos"/>
              </a:rPr>
              <a:t>đi</a:t>
            </a:r>
            <a:r>
              <a:rPr sz="1350" b="0" i="0" dirty="0">
                <a:solidFill>
                  <a:srgbClr val="657883"/>
                </a:solidFill>
                <a:latin typeface="Aptos"/>
              </a:rPr>
              <a:t> </a:t>
            </a:r>
            <a:r>
              <a:rPr sz="1350" b="0" i="0" dirty="0" err="1">
                <a:solidFill>
                  <a:srgbClr val="657883"/>
                </a:solidFill>
                <a:latin typeface="Aptos"/>
              </a:rPr>
              <a:t>tiếp</a:t>
            </a:r>
            <a:r>
              <a:rPr sz="1350" b="0" i="0" dirty="0">
                <a:solidFill>
                  <a:srgbClr val="657883"/>
                </a:solidFill>
                <a:latin typeface="Aptos"/>
              </a:rPr>
              <a:t>; </a:t>
            </a:r>
            <a:r>
              <a:rPr sz="1350" b="0" i="0" dirty="0" err="1">
                <a:solidFill>
                  <a:srgbClr val="657883"/>
                </a:solidFill>
                <a:latin typeface="Aptos"/>
              </a:rPr>
              <a:t>trả</a:t>
            </a:r>
            <a:r>
              <a:rPr sz="1350" b="0" i="0" dirty="0">
                <a:solidFill>
                  <a:srgbClr val="657883"/>
                </a:solidFill>
                <a:latin typeface="Aptos"/>
              </a:rPr>
              <a:t> </a:t>
            </a:r>
            <a:r>
              <a:rPr sz="1350" b="0" i="0" dirty="0" err="1">
                <a:solidFill>
                  <a:srgbClr val="657883"/>
                </a:solidFill>
                <a:latin typeface="Aptos"/>
              </a:rPr>
              <a:t>lời</a:t>
            </a:r>
            <a:r>
              <a:rPr sz="1350" b="0" i="0" dirty="0">
                <a:solidFill>
                  <a:srgbClr val="657883"/>
                </a:solidFill>
                <a:latin typeface="Aptos"/>
              </a:rPr>
              <a:t> </a:t>
            </a:r>
            <a:r>
              <a:rPr sz="1350" b="0" i="0" dirty="0" err="1">
                <a:solidFill>
                  <a:srgbClr val="657883"/>
                </a:solidFill>
                <a:latin typeface="Aptos"/>
              </a:rPr>
              <a:t>sai</a:t>
            </a:r>
            <a:r>
              <a:rPr sz="1350" b="0" i="0" dirty="0">
                <a:solidFill>
                  <a:srgbClr val="657883"/>
                </a:solidFill>
                <a:latin typeface="Aptos"/>
              </a:rPr>
              <a:t> </a:t>
            </a:r>
            <a:r>
              <a:rPr sz="1350" b="0" i="0" dirty="0" err="1">
                <a:solidFill>
                  <a:srgbClr val="657883"/>
                </a:solidFill>
                <a:latin typeface="Aptos"/>
              </a:rPr>
              <a:t>thì</a:t>
            </a:r>
            <a:r>
              <a:rPr sz="1350" b="0" i="0" dirty="0">
                <a:solidFill>
                  <a:srgbClr val="657883"/>
                </a:solidFill>
                <a:latin typeface="Aptos"/>
              </a:rPr>
              <a:t> </a:t>
            </a:r>
            <a:r>
              <a:rPr sz="1350" b="0" i="0" dirty="0" err="1">
                <a:solidFill>
                  <a:srgbClr val="657883"/>
                </a:solidFill>
                <a:latin typeface="Aptos"/>
              </a:rPr>
              <a:t>kết</a:t>
            </a:r>
            <a:r>
              <a:rPr sz="1350" b="0" i="0" dirty="0">
                <a:solidFill>
                  <a:srgbClr val="657883"/>
                </a:solidFill>
                <a:latin typeface="Aptos"/>
              </a:rPr>
              <a:t> </a:t>
            </a:r>
            <a:r>
              <a:rPr sz="1350" b="0" i="0" dirty="0" err="1">
                <a:solidFill>
                  <a:srgbClr val="657883"/>
                </a:solidFill>
                <a:latin typeface="Aptos"/>
              </a:rPr>
              <a:t>thúc</a:t>
            </a:r>
            <a:r>
              <a:rPr sz="1350" b="0" i="0" dirty="0">
                <a:solidFill>
                  <a:srgbClr val="657883"/>
                </a:solidFill>
                <a:latin typeface="Aptos"/>
              </a:rPr>
              <a:t> </a:t>
            </a:r>
            <a:r>
              <a:rPr sz="1350" b="0" i="0" dirty="0" err="1">
                <a:solidFill>
                  <a:srgbClr val="657883"/>
                </a:solidFill>
                <a:latin typeface="Aptos"/>
              </a:rPr>
              <a:t>lượt</a:t>
            </a:r>
            <a:r>
              <a:rPr sz="1350" b="0" i="0" dirty="0">
                <a:solidFill>
                  <a:srgbClr val="657883"/>
                </a:solidFill>
                <a:latin typeface="Aptos"/>
              </a:rPr>
              <a:t>, </a:t>
            </a:r>
            <a:r>
              <a:rPr sz="1350" b="0" i="0" dirty="0" err="1">
                <a:solidFill>
                  <a:srgbClr val="657883"/>
                </a:solidFill>
                <a:latin typeface="Aptos"/>
              </a:rPr>
              <a:t>giữ</a:t>
            </a:r>
            <a:r>
              <a:rPr sz="1350" b="0" i="0" dirty="0">
                <a:solidFill>
                  <a:srgbClr val="657883"/>
                </a:solidFill>
                <a:latin typeface="Aptos"/>
              </a:rPr>
              <a:t> </a:t>
            </a:r>
            <a:r>
              <a:rPr sz="1350" b="0" i="0" dirty="0" err="1">
                <a:solidFill>
                  <a:srgbClr val="657883"/>
                </a:solidFill>
                <a:latin typeface="Aptos"/>
              </a:rPr>
              <a:t>quà</a:t>
            </a:r>
            <a:r>
              <a:rPr sz="1350" b="0" i="0" dirty="0">
                <a:solidFill>
                  <a:srgbClr val="657883"/>
                </a:solidFill>
                <a:latin typeface="Aptos"/>
              </a:rPr>
              <a:t> </a:t>
            </a:r>
            <a:r>
              <a:rPr sz="1350" b="0" i="0" dirty="0" err="1">
                <a:solidFill>
                  <a:srgbClr val="657883"/>
                </a:solidFill>
                <a:latin typeface="Aptos"/>
              </a:rPr>
              <a:t>đã</a:t>
            </a:r>
            <a:r>
              <a:rPr sz="1350" b="0" i="0" dirty="0">
                <a:solidFill>
                  <a:srgbClr val="657883"/>
                </a:solidFill>
                <a:latin typeface="Aptos"/>
              </a:rPr>
              <a:t> </a:t>
            </a:r>
            <a:r>
              <a:rPr sz="1350" b="0" i="0" dirty="0" err="1">
                <a:solidFill>
                  <a:srgbClr val="657883"/>
                </a:solidFill>
                <a:latin typeface="Aptos"/>
              </a:rPr>
              <a:t>đạt</a:t>
            </a:r>
            <a:r>
              <a:rPr sz="1350" b="0" i="0" dirty="0">
                <a:solidFill>
                  <a:srgbClr val="657883"/>
                </a:solidFill>
                <a:latin typeface="Aptos"/>
              </a:rPr>
              <a:t>.</a:t>
            </a:r>
          </a:p>
        </p:txBody>
      </p:sp>
      <p:sp>
        <p:nvSpPr>
          <p:cNvPr id="14" name="TextBox 13"/>
          <p:cNvSpPr txBox="1"/>
          <p:nvPr/>
        </p:nvSpPr>
        <p:spPr>
          <a:xfrm>
            <a:off x="1600200" y="4818888"/>
            <a:ext cx="8988552" cy="31089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330" b="1" i="0">
                <a:solidFill>
                  <a:srgbClr val="18324A"/>
                </a:solidFill>
                <a:latin typeface="Trebuchet MS"/>
              </a:rPr>
              <a:t>CÂU 01  ·  Quà nhỏ     /     CÂU 02  ·  Quà vừa     /     CÂU 03  ·  Quà lớn</a:t>
            </a:r>
          </a:p>
        </p:txBody>
      </p:sp>
      <p:sp>
        <p:nvSpPr>
          <p:cNvPr id="15" name="Nút: VÀO CÂU 01  →">
            <a:hlinkClick r:id="rId2" action="ppaction://hlinksldjump"/>
          </p:cNvPr>
          <p:cNvSpPr/>
          <p:nvPr/>
        </p:nvSpPr>
        <p:spPr>
          <a:xfrm>
            <a:off x="3913632" y="5404104"/>
            <a:ext cx="4370832" cy="6217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720" b="1" i="0">
                <a:solidFill>
                  <a:srgbClr val="18324A"/>
                </a:solidFill>
                <a:latin typeface="Trebuchet MS"/>
              </a:rPr>
              <a:t>VÀO CÂU 01  →</a:t>
            </a:r>
          </a:p>
        </p:txBody>
      </p:sp>
    </p:spTree>
  </p:cSld>
  <p:clrMapOvr>
    <a:masterClrMapping/>
  </p:clrMapOvr>
  <p:transition spd="med" advClick="0">
    <p:fade/>
  </p:transition>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05 / 05</a:t>
            </a:r>
          </a:p>
        </p:txBody>
      </p:sp>
      <p:sp>
        <p:nvSpPr>
          <p:cNvPr id="5" name="Rounded Rectangle 4"/>
          <p:cNvSpPr/>
          <p:nvPr/>
        </p:nvSpPr>
        <p:spPr>
          <a:xfrm>
            <a:off x="2240280" y="749808"/>
            <a:ext cx="138988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DỄ</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01 / 03</a:t>
            </a:r>
          </a:p>
        </p:txBody>
      </p:sp>
      <p:sp>
        <p:nvSpPr>
          <p:cNvPr id="7"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0" name="TextBox 9"/>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2100" b="1" i="0">
                <a:solidFill>
                  <a:srgbClr val="FFFFFF"/>
                </a:solidFill>
                <a:latin typeface="Aptos"/>
              </a:rPr>
              <a:t>Câu nói “Vì lợi ích mười năm thì phải trồng cây, vì lợi ích trăm năm thì phải trồng người” là của ai và hướng tới mục tiêu nào?</a:t>
            </a:r>
          </a:p>
        </p:txBody>
      </p:sp>
      <p:sp>
        <p:nvSpPr>
          <p:cNvPr id="11"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3" name="TextBox 12"/>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4" name="Rounded Rectangle 13"/>
          <p:cNvSpPr/>
          <p:nvPr/>
        </p:nvSpPr>
        <p:spPr>
          <a:xfrm>
            <a:off x="9646920" y="1371600"/>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01</a:t>
            </a:r>
          </a:p>
        </p:txBody>
      </p:sp>
      <p:sp>
        <p:nvSpPr>
          <p:cNvPr id="16" name="TextBox 15"/>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nhỏ</a:t>
            </a:r>
          </a:p>
        </p:txBody>
      </p:sp>
      <p:sp>
        <p:nvSpPr>
          <p:cNvPr id="17" name="Rounded Rectangle 16"/>
          <p:cNvSpPr/>
          <p:nvPr/>
        </p:nvSpPr>
        <p:spPr>
          <a:xfrm>
            <a:off x="9646920" y="2487168"/>
            <a:ext cx="1956816" cy="877824"/>
          </a:xfrm>
          <a:prstGeom prst="roundRect">
            <a:avLst/>
          </a:prstGeom>
          <a:solidFill>
            <a:srgbClr val="263F53"/>
          </a:solidFill>
          <a:ln w="12700">
            <a:solidFill>
              <a:srgbClr val="4059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B9C7CC"/>
                </a:solidFill>
                <a:latin typeface="Trebuchet MS"/>
              </a:rPr>
              <a:t>CHƯA MỞ  ·  CÂU 02</a:t>
            </a:r>
          </a:p>
        </p:txBody>
      </p:sp>
      <p:sp>
        <p:nvSpPr>
          <p:cNvPr id="19" name="TextBox 18"/>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B9C7CC"/>
                </a:solidFill>
                <a:latin typeface="Trebuchet MS"/>
              </a:rPr>
              <a:t>Quà vừa</a:t>
            </a:r>
          </a:p>
        </p:txBody>
      </p:sp>
      <p:sp>
        <p:nvSpPr>
          <p:cNvPr id="20" name="Rounded Rectangle 19"/>
          <p:cNvSpPr/>
          <p:nvPr/>
        </p:nvSpPr>
        <p:spPr>
          <a:xfrm>
            <a:off x="9646920" y="3602736"/>
            <a:ext cx="1956816" cy="877824"/>
          </a:xfrm>
          <a:prstGeom prst="roundRect">
            <a:avLst/>
          </a:prstGeom>
          <a:solidFill>
            <a:srgbClr val="263F53"/>
          </a:solidFill>
          <a:ln w="12700">
            <a:solidFill>
              <a:srgbClr val="4059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B9C7CC"/>
                </a:solidFill>
                <a:latin typeface="Trebuchet MS"/>
              </a:rPr>
              <a:t>CHƯA MỞ  ·  CÂU 03</a:t>
            </a:r>
          </a:p>
        </p:txBody>
      </p:sp>
      <p:sp>
        <p:nvSpPr>
          <p:cNvPr id="22" name="TextBox 21"/>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B9C7CC"/>
                </a:solidFill>
                <a:latin typeface="Trebuchet MS"/>
              </a:rPr>
              <a:t>Quà lớn</a:t>
            </a:r>
          </a:p>
        </p:txBody>
      </p:sp>
      <p:sp>
        <p:nvSpPr>
          <p:cNvPr id="23" name="TextBox 22"/>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MỐC AN TOÀN</a:t>
            </a:r>
          </a:p>
        </p:txBody>
      </p:sp>
      <p:sp>
        <p:nvSpPr>
          <p:cNvPr id="24" name="TextBox 23"/>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Chưa có quà</a:t>
            </a:r>
          </a:p>
        </p:txBody>
      </p:sp>
      <p:sp>
        <p:nvSpPr>
          <p:cNvPr id="25" name="TextBox 24"/>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6" name="Đáp án A">
            <a:hlinkClick r:id="rId2" action="ppaction://hlinksldjump"/>
          </p:cNvPr>
          <p:cNvSpPr/>
          <p:nvPr/>
        </p:nvSpPr>
        <p:spPr>
          <a:xfrm>
            <a:off x="530352" y="2770632"/>
            <a:ext cx="4215384" cy="1170432"/>
          </a:xfrm>
          <a:prstGeom prst="roundRect">
            <a:avLst/>
          </a:prstGeom>
          <a:solidFill>
            <a:srgbClr val="FBFCF9"/>
          </a:solidFill>
          <a:ln w="15875">
            <a:solidFill>
              <a:srgbClr val="D7DED8"/>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18324A"/>
                </a:solidFill>
                <a:latin typeface="Aptos"/>
              </a:rPr>
              <a:t>C. Mác; ưu tiên phát triển máy móc và năng suất trước mắt.</a:t>
            </a:r>
          </a:p>
        </p:txBody>
      </p:sp>
      <p:sp>
        <p:nvSpPr>
          <p:cNvPr id="27" name="Oval 26">
            <a:hlinkClick r:id="rId2" action="ppaction://hlinksldjump"/>
          </p:cNvPr>
          <p:cNvSpPr/>
          <p:nvPr/>
        </p:nvSpPr>
        <p:spPr>
          <a:xfrm>
            <a:off x="685800" y="3154679"/>
            <a:ext cx="402336" cy="402336"/>
          </a:xfrm>
          <a:prstGeom prst="ellipse">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E8177"/>
                </a:solidFill>
                <a:latin typeface="Trebuchet MS"/>
              </a:rPr>
              <a:t>A</a:t>
            </a:r>
          </a:p>
        </p:txBody>
      </p:sp>
      <p:sp>
        <p:nvSpPr>
          <p:cNvPr id="28" name="Đáp án B">
            <a:hlinkClick r:id="rId3" action="ppaction://hlinksldjump"/>
          </p:cNvPr>
          <p:cNvSpPr/>
          <p:nvPr/>
        </p:nvSpPr>
        <p:spPr>
          <a:xfrm>
            <a:off x="4937760" y="2770632"/>
            <a:ext cx="4279392" cy="1170432"/>
          </a:xfrm>
          <a:prstGeom prst="roundRect">
            <a:avLst/>
          </a:prstGeom>
          <a:solidFill>
            <a:srgbClr val="FBFCF9"/>
          </a:solidFill>
          <a:ln w="15875">
            <a:solidFill>
              <a:srgbClr val="D7DED8"/>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18324A"/>
                </a:solidFill>
                <a:latin typeface="Aptos"/>
              </a:rPr>
              <a:t>V. I. Lênin; xây dựng một xã hội không cần giáo dục.</a:t>
            </a:r>
          </a:p>
        </p:txBody>
      </p:sp>
      <p:sp>
        <p:nvSpPr>
          <p:cNvPr id="29" name="Oval 28">
            <a:hlinkClick r:id="rId3" action="ppaction://hlinksldjump"/>
          </p:cNvPr>
          <p:cNvSpPr/>
          <p:nvPr/>
        </p:nvSpPr>
        <p:spPr>
          <a:xfrm>
            <a:off x="5093208" y="3154679"/>
            <a:ext cx="402336" cy="402336"/>
          </a:xfrm>
          <a:prstGeom prst="ellipse">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E8177"/>
                </a:solidFill>
                <a:latin typeface="Trebuchet MS"/>
              </a:rPr>
              <a:t>B</a:t>
            </a:r>
          </a:p>
        </p:txBody>
      </p:sp>
      <p:sp>
        <p:nvSpPr>
          <p:cNvPr id="30" name="Đáp án C">
            <a:hlinkClick r:id="rId4" action="ppaction://hlinksldjump"/>
          </p:cNvPr>
          <p:cNvSpPr/>
          <p:nvPr/>
        </p:nvSpPr>
        <p:spPr>
          <a:xfrm>
            <a:off x="530352" y="4105656"/>
            <a:ext cx="4215384" cy="1170432"/>
          </a:xfrm>
          <a:prstGeom prst="roundRect">
            <a:avLst/>
          </a:prstGeom>
          <a:solidFill>
            <a:srgbClr val="FBFCF9"/>
          </a:solidFill>
          <a:ln w="15875">
            <a:solidFill>
              <a:srgbClr val="D7DED8"/>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18324A"/>
                </a:solidFill>
                <a:latin typeface="Aptos"/>
              </a:rPr>
              <a:t>Hồ Chí Minh; bồi dưỡng, đào tạo con người và các thế hệ tương lai.</a:t>
            </a:r>
          </a:p>
        </p:txBody>
      </p:sp>
      <p:sp>
        <p:nvSpPr>
          <p:cNvPr id="31" name="Oval 30">
            <a:hlinkClick r:id="rId4" action="ppaction://hlinksldjump"/>
          </p:cNvPr>
          <p:cNvSpPr/>
          <p:nvPr/>
        </p:nvSpPr>
        <p:spPr>
          <a:xfrm>
            <a:off x="685800" y="4489704"/>
            <a:ext cx="402336" cy="402336"/>
          </a:xfrm>
          <a:prstGeom prst="ellipse">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E8177"/>
                </a:solidFill>
                <a:latin typeface="Trebuchet MS"/>
              </a:rPr>
              <a:t>C</a:t>
            </a:r>
          </a:p>
        </p:txBody>
      </p:sp>
      <p:sp>
        <p:nvSpPr>
          <p:cNvPr id="32" name="Đáp án D">
            <a:hlinkClick r:id="rId5" action="ppaction://hlinksldjump"/>
          </p:cNvPr>
          <p:cNvSpPr/>
          <p:nvPr/>
        </p:nvSpPr>
        <p:spPr>
          <a:xfrm>
            <a:off x="4937760" y="4105656"/>
            <a:ext cx="4279392" cy="1170432"/>
          </a:xfrm>
          <a:prstGeom prst="roundRect">
            <a:avLst/>
          </a:prstGeom>
          <a:solidFill>
            <a:srgbClr val="FBFCF9"/>
          </a:solidFill>
          <a:ln w="15875">
            <a:solidFill>
              <a:srgbClr val="D7DED8"/>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18324A"/>
                </a:solidFill>
                <a:latin typeface="Aptos"/>
              </a:rPr>
              <a:t>Ph. Ăngghen; chỉ tập trung vào giáo dục nghề nghiệp.</a:t>
            </a:r>
          </a:p>
        </p:txBody>
      </p:sp>
      <p:sp>
        <p:nvSpPr>
          <p:cNvPr id="33" name="Oval 32">
            <a:hlinkClick r:id="rId5" action="ppaction://hlinksldjump"/>
          </p:cNvPr>
          <p:cNvSpPr/>
          <p:nvPr/>
        </p:nvSpPr>
        <p:spPr>
          <a:xfrm>
            <a:off x="5093208" y="4489704"/>
            <a:ext cx="402336" cy="402336"/>
          </a:xfrm>
          <a:prstGeom prst="ellipse">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E8177"/>
                </a:solidFill>
                <a:latin typeface="Trebuchet MS"/>
              </a:rPr>
              <a:t>D</a:t>
            </a:r>
          </a:p>
        </p:txBody>
      </p:sp>
      <p:sp>
        <p:nvSpPr>
          <p:cNvPr id="34" name="TextBox 33"/>
          <p:cNvSpPr txBox="1"/>
          <p:nvPr/>
        </p:nvSpPr>
        <p:spPr>
          <a:xfrm>
            <a:off x="621792" y="5431536"/>
            <a:ext cx="8485632" cy="36576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080" b="1" i="0">
                <a:solidFill>
                  <a:srgbClr val="657883"/>
                </a:solidFill>
                <a:latin typeface="Trebuchet MS"/>
              </a:rPr>
              <a:t>CHỌN MỘT ĐÁP ÁN  ·  BẤM TRỰC TIẾP VÀO THẺ A / B / C / D</a:t>
            </a:r>
          </a:p>
        </p:txBody>
      </p:sp>
    </p:spTree>
  </p:cSld>
  <p:clrMapOvr>
    <a:masterClrMapping/>
  </p:clrMapOvr>
  <p:transition spd="med" advClick="0">
    <p:fade/>
  </p:transition>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05 / 05</a:t>
            </a:r>
          </a:p>
        </p:txBody>
      </p:sp>
      <p:sp>
        <p:nvSpPr>
          <p:cNvPr id="5" name="Rounded Rectangle 4"/>
          <p:cNvSpPr/>
          <p:nvPr/>
        </p:nvSpPr>
        <p:spPr>
          <a:xfrm>
            <a:off x="2240280" y="749808"/>
            <a:ext cx="138988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DỄ</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01 / 03</a:t>
            </a:r>
          </a:p>
        </p:txBody>
      </p:sp>
      <p:sp>
        <p:nvSpPr>
          <p:cNvPr id="7" name="Rounded Rectangle 6"/>
          <p:cNvSpPr/>
          <p:nvPr/>
        </p:nvSpPr>
        <p:spPr>
          <a:xfrm>
            <a:off x="7562088" y="749808"/>
            <a:ext cx="1581912" cy="292608"/>
          </a:xfrm>
          <a:prstGeom prst="roundRect">
            <a:avLst/>
          </a:prstGeom>
          <a:solidFill>
            <a:srgbClr val="D9F0E3"/>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1000" b="1" i="0">
                <a:solidFill>
                  <a:srgbClr val="2F9C72"/>
                </a:solidFill>
                <a:latin typeface="Trebuchet MS"/>
              </a:rPr>
              <a:t>CHÍNH XÁC!</a:t>
            </a:r>
          </a:p>
        </p:txBody>
      </p:sp>
      <p:sp>
        <p:nvSpPr>
          <p:cNvPr id="8"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1" name="TextBox 10"/>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2100" b="1" i="0">
                <a:solidFill>
                  <a:srgbClr val="FFFFFF"/>
                </a:solidFill>
                <a:latin typeface="Aptos"/>
              </a:rPr>
              <a:t>Câu nói “Vì lợi ích mười năm thì phải trồng cây, vì lợi ích trăm năm thì phải trồng người” là của ai và hướng tới mục tiêu nào?</a:t>
            </a:r>
          </a:p>
        </p:txBody>
      </p:sp>
      <p:sp>
        <p:nvSpPr>
          <p:cNvPr id="12"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4" name="TextBox 13"/>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5" name="Rounded Rectangle 14"/>
          <p:cNvSpPr/>
          <p:nvPr/>
        </p:nvSpPr>
        <p:spPr>
          <a:xfrm>
            <a:off x="9646920" y="1371600"/>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01</a:t>
            </a:r>
          </a:p>
        </p:txBody>
      </p:sp>
      <p:sp>
        <p:nvSpPr>
          <p:cNvPr id="17" name="TextBox 16"/>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nhỏ</a:t>
            </a:r>
          </a:p>
        </p:txBody>
      </p:sp>
      <p:sp>
        <p:nvSpPr>
          <p:cNvPr id="18" name="Rounded Rectangle 17"/>
          <p:cNvSpPr/>
          <p:nvPr/>
        </p:nvSpPr>
        <p:spPr>
          <a:xfrm>
            <a:off x="9646920" y="2487168"/>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02</a:t>
            </a:r>
          </a:p>
        </p:txBody>
      </p:sp>
      <p:sp>
        <p:nvSpPr>
          <p:cNvPr id="20" name="TextBox 19"/>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vừa</a:t>
            </a:r>
          </a:p>
        </p:txBody>
      </p:sp>
      <p:sp>
        <p:nvSpPr>
          <p:cNvPr id="21" name="Rounded Rectangle 20"/>
          <p:cNvSpPr/>
          <p:nvPr/>
        </p:nvSpPr>
        <p:spPr>
          <a:xfrm>
            <a:off x="9646920" y="3602736"/>
            <a:ext cx="1956816" cy="877824"/>
          </a:xfrm>
          <a:prstGeom prst="roundRect">
            <a:avLst/>
          </a:prstGeom>
          <a:solidFill>
            <a:srgbClr val="263F53"/>
          </a:solidFill>
          <a:ln w="12700">
            <a:solidFill>
              <a:srgbClr val="4059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B9C7CC"/>
                </a:solidFill>
                <a:latin typeface="Trebuchet MS"/>
              </a:rPr>
              <a:t>CHƯA MỞ  ·  CÂU 03</a:t>
            </a:r>
          </a:p>
        </p:txBody>
      </p:sp>
      <p:sp>
        <p:nvSpPr>
          <p:cNvPr id="23" name="TextBox 22"/>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B9C7CC"/>
                </a:solidFill>
                <a:latin typeface="Trebuchet MS"/>
              </a:rPr>
              <a:t>Quà lớn</a:t>
            </a:r>
          </a:p>
        </p:txBody>
      </p:sp>
      <p:sp>
        <p:nvSpPr>
          <p:cNvPr id="24" name="TextBox 23"/>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MỐC VỪA CHẠM</a:t>
            </a:r>
          </a:p>
        </p:txBody>
      </p:sp>
      <p:sp>
        <p:nvSpPr>
          <p:cNvPr id="25" name="TextBox 24"/>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Quà nhỏ</a:t>
            </a:r>
          </a:p>
        </p:txBody>
      </p:sp>
      <p:sp>
        <p:nvSpPr>
          <p:cNvPr id="26" name="TextBox 25"/>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7" name="Đáp án A"/>
          <p:cNvSpPr/>
          <p:nvPr/>
        </p:nvSpPr>
        <p:spPr>
          <a:xfrm>
            <a:off x="530352" y="2770632"/>
            <a:ext cx="4215384"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C. Mác; ưu tiên phát triển máy móc và năng suất trước mắt.</a:t>
            </a:r>
          </a:p>
        </p:txBody>
      </p:sp>
      <p:sp>
        <p:nvSpPr>
          <p:cNvPr id="28" name="Oval 27"/>
          <p:cNvSpPr/>
          <p:nvPr/>
        </p:nvSpPr>
        <p:spPr>
          <a:xfrm>
            <a:off x="685800" y="3154679"/>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A</a:t>
            </a:r>
          </a:p>
        </p:txBody>
      </p:sp>
      <p:sp>
        <p:nvSpPr>
          <p:cNvPr id="29" name="Đáp án B"/>
          <p:cNvSpPr/>
          <p:nvPr/>
        </p:nvSpPr>
        <p:spPr>
          <a:xfrm>
            <a:off x="4937760" y="2770632"/>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V. I. Lênin; xây dựng một xã hội không cần giáo dục.</a:t>
            </a:r>
          </a:p>
        </p:txBody>
      </p:sp>
      <p:sp>
        <p:nvSpPr>
          <p:cNvPr id="30" name="Oval 29"/>
          <p:cNvSpPr/>
          <p:nvPr/>
        </p:nvSpPr>
        <p:spPr>
          <a:xfrm>
            <a:off x="5093208" y="3154679"/>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B</a:t>
            </a:r>
          </a:p>
        </p:txBody>
      </p:sp>
      <p:sp>
        <p:nvSpPr>
          <p:cNvPr id="31" name="Đáp án C"/>
          <p:cNvSpPr/>
          <p:nvPr/>
        </p:nvSpPr>
        <p:spPr>
          <a:xfrm>
            <a:off x="530352" y="4105656"/>
            <a:ext cx="4215384" cy="1170432"/>
          </a:xfrm>
          <a:prstGeom prst="roundRect">
            <a:avLst/>
          </a:prstGeom>
          <a:solidFill>
            <a:srgbClr val="FFD05A"/>
          </a:solidFill>
          <a:ln w="15875">
            <a:solidFill>
              <a:srgbClr val="D9A92E"/>
            </a:solidFill>
          </a:ln>
          <a:effectLst>
            <a:glow rad="190000">
              <a:srgbClr val="FFD05A">
                <a:alpha val="52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1" i="0">
                <a:solidFill>
                  <a:srgbClr val="18324A"/>
                </a:solidFill>
                <a:latin typeface="Aptos"/>
              </a:rPr>
              <a:t>Hồ Chí Minh; bồi dưỡng, đào tạo con người và các thế hệ tương lai.</a:t>
            </a:r>
          </a:p>
        </p:txBody>
      </p:sp>
      <p:sp>
        <p:nvSpPr>
          <p:cNvPr id="32" name="Oval 31"/>
          <p:cNvSpPr/>
          <p:nvPr/>
        </p:nvSpPr>
        <p:spPr>
          <a:xfrm>
            <a:off x="685800" y="4489704"/>
            <a:ext cx="402336" cy="402336"/>
          </a:xfrm>
          <a:prstGeom prst="ellipse">
            <a:avLst/>
          </a:prstGeom>
          <a:solidFill>
            <a:srgbClr val="18324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FFD05A"/>
                </a:solidFill>
                <a:latin typeface="Trebuchet MS"/>
              </a:rPr>
              <a:t>C</a:t>
            </a:r>
          </a:p>
        </p:txBody>
      </p:sp>
      <p:sp>
        <p:nvSpPr>
          <p:cNvPr id="33" name="Đáp án D"/>
          <p:cNvSpPr/>
          <p:nvPr/>
        </p:nvSpPr>
        <p:spPr>
          <a:xfrm>
            <a:off x="4937760" y="4105656"/>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Ph. Ăngghen; chỉ tập trung vào giáo dục nghề nghiệp.</a:t>
            </a:r>
          </a:p>
        </p:txBody>
      </p:sp>
      <p:sp>
        <p:nvSpPr>
          <p:cNvPr id="34" name="Oval 33"/>
          <p:cNvSpPr/>
          <p:nvPr/>
        </p:nvSpPr>
        <p:spPr>
          <a:xfrm>
            <a:off x="5093208"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D</a:t>
            </a:r>
          </a:p>
        </p:txBody>
      </p:sp>
      <p:sp>
        <p:nvSpPr>
          <p:cNvPr id="35" name="Rounded Rectangle 34"/>
          <p:cNvSpPr/>
          <p:nvPr/>
        </p:nvSpPr>
        <p:spPr>
          <a:xfrm>
            <a:off x="530352" y="5431536"/>
            <a:ext cx="5989320" cy="868680"/>
          </a:xfrm>
          <a:prstGeom prst="roundRect">
            <a:avLst/>
          </a:prstGeom>
          <a:solidFill>
            <a:srgbClr val="D9F0E3"/>
          </a:solidFill>
          <a:ln w="12700">
            <a:solidFill>
              <a:srgbClr val="D7E6DC"/>
            </a:solidFill>
          </a:ln>
        </p:spPr>
        <p:style>
          <a:lnRef idx="1">
            <a:schemeClr val="accent1"/>
          </a:lnRef>
          <a:fillRef idx="3">
            <a:schemeClr val="accent1"/>
          </a:fillRef>
          <a:effectRef idx="2">
            <a:schemeClr val="accent1"/>
          </a:effectRef>
          <a:fontRef idx="minor">
            <a:schemeClr val="lt1"/>
          </a:fontRef>
        </p:style>
        <p:txBody>
          <a:bodyPr wrap="square" lIns="109728" tIns="60350" rIns="109728" bIns="60350" rtlCol="0" anchor="ctr"/>
          <a:lstStyle/>
          <a:p>
            <a:pPr algn="l">
              <a:lnSpc>
                <a:spcPct val="100000"/>
              </a:lnSpc>
              <a:spcBef>
                <a:spcPts val="0"/>
              </a:spcBef>
              <a:spcAft>
                <a:spcPts val="0"/>
              </a:spcAft>
            </a:pPr>
            <a:r>
              <a:rPr sz="1130" b="0" i="0">
                <a:solidFill>
                  <a:srgbClr val="18324A"/>
                </a:solidFill>
                <a:latin typeface="Aptos"/>
              </a:rPr>
              <a:t>MỐC 1 ĐÃ CHINH PHỤC  ·  Quà nhỏ
Tư tưởng của Hồ Chí Minh nhấn mạnh vai trò lâu dài của giáo dục, bồi dưỡng con người vì tương lai đất nước.</a:t>
            </a:r>
          </a:p>
        </p:txBody>
      </p:sp>
      <p:sp>
        <p:nvSpPr>
          <p:cNvPr id="36" name="Nút: CÂU TIẾP THEO  →">
            <a:hlinkClick r:id="rId3" action="ppaction://hlinksldjump"/>
          </p:cNvPr>
          <p:cNvSpPr/>
          <p:nvPr/>
        </p:nvSpPr>
        <p:spPr>
          <a:xfrm>
            <a:off x="6711696" y="5431536"/>
            <a:ext cx="2505456" cy="868680"/>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240" b="1" i="0">
                <a:solidFill>
                  <a:srgbClr val="18324A"/>
                </a:solidFill>
                <a:latin typeface="Trebuchet MS"/>
              </a:rPr>
              <a:t>CÂU TIẾP THEO  →</a:t>
            </a:r>
          </a:p>
        </p:txBody>
      </p:sp>
    </p:spTree>
  </p:cSld>
  <p:clrMapOvr>
    <a:masterClrMapping/>
  </p:clrMapOvr>
  <p:transition spd="med" advClick="0">
    <p:sndAc>
      <p:stSnd>
        <p:snd r:embed="rId2" name="Correct answer chime"/>
      </p:stSnd>
    </p:sndAc>
  </p:transition>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05 / 05</a:t>
            </a:r>
          </a:p>
        </p:txBody>
      </p:sp>
      <p:sp>
        <p:nvSpPr>
          <p:cNvPr id="5" name="Rounded Rectangle 4"/>
          <p:cNvSpPr/>
          <p:nvPr/>
        </p:nvSpPr>
        <p:spPr>
          <a:xfrm>
            <a:off x="2240280" y="749808"/>
            <a:ext cx="138988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DỄ</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01 / 03</a:t>
            </a:r>
          </a:p>
        </p:txBody>
      </p:sp>
      <p:sp>
        <p:nvSpPr>
          <p:cNvPr id="7" name="Rounded Rectangle 6"/>
          <p:cNvSpPr/>
          <p:nvPr/>
        </p:nvSpPr>
        <p:spPr>
          <a:xfrm>
            <a:off x="7562088" y="749808"/>
            <a:ext cx="1581912" cy="292608"/>
          </a:xfrm>
          <a:prstGeom prst="roundRect">
            <a:avLst/>
          </a:prstGeom>
          <a:solidFill>
            <a:srgbClr val="FBE3E3"/>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1000" b="1" i="0">
                <a:solidFill>
                  <a:srgbClr val="B8424C"/>
                </a:solidFill>
                <a:latin typeface="Trebuchet MS"/>
              </a:rPr>
              <a:t>RẤT TIẾC!</a:t>
            </a:r>
          </a:p>
        </p:txBody>
      </p:sp>
      <p:sp>
        <p:nvSpPr>
          <p:cNvPr id="8"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1" name="TextBox 10"/>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2100" b="1" i="0">
                <a:solidFill>
                  <a:srgbClr val="FFFFFF"/>
                </a:solidFill>
                <a:latin typeface="Aptos"/>
              </a:rPr>
              <a:t>Câu nói “Vì lợi ích mười năm thì phải trồng cây, vì lợi ích trăm năm thì phải trồng người” là của ai và hướng tới mục tiêu nào?</a:t>
            </a:r>
          </a:p>
        </p:txBody>
      </p:sp>
      <p:sp>
        <p:nvSpPr>
          <p:cNvPr id="12"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4" name="TextBox 13"/>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5" name="Rounded Rectangle 14"/>
          <p:cNvSpPr/>
          <p:nvPr/>
        </p:nvSpPr>
        <p:spPr>
          <a:xfrm>
            <a:off x="9646920" y="1371600"/>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01</a:t>
            </a:r>
          </a:p>
        </p:txBody>
      </p:sp>
      <p:sp>
        <p:nvSpPr>
          <p:cNvPr id="17" name="TextBox 16"/>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nhỏ</a:t>
            </a:r>
          </a:p>
        </p:txBody>
      </p:sp>
      <p:sp>
        <p:nvSpPr>
          <p:cNvPr id="18" name="Rounded Rectangle 17"/>
          <p:cNvSpPr/>
          <p:nvPr/>
        </p:nvSpPr>
        <p:spPr>
          <a:xfrm>
            <a:off x="9646920" y="2487168"/>
            <a:ext cx="1956816" cy="877824"/>
          </a:xfrm>
          <a:prstGeom prst="roundRect">
            <a:avLst/>
          </a:prstGeom>
          <a:solidFill>
            <a:srgbClr val="263F53"/>
          </a:solidFill>
          <a:ln w="12700">
            <a:solidFill>
              <a:srgbClr val="4059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B9C7CC"/>
                </a:solidFill>
                <a:latin typeface="Trebuchet MS"/>
              </a:rPr>
              <a:t>CHƯA MỞ  ·  CÂU 02</a:t>
            </a:r>
          </a:p>
        </p:txBody>
      </p:sp>
      <p:sp>
        <p:nvSpPr>
          <p:cNvPr id="20" name="TextBox 19"/>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B9C7CC"/>
                </a:solidFill>
                <a:latin typeface="Trebuchet MS"/>
              </a:rPr>
              <a:t>Quà vừa</a:t>
            </a:r>
          </a:p>
        </p:txBody>
      </p:sp>
      <p:sp>
        <p:nvSpPr>
          <p:cNvPr id="21" name="Rounded Rectangle 20"/>
          <p:cNvSpPr/>
          <p:nvPr/>
        </p:nvSpPr>
        <p:spPr>
          <a:xfrm>
            <a:off x="9646920" y="3602736"/>
            <a:ext cx="1956816" cy="877824"/>
          </a:xfrm>
          <a:prstGeom prst="roundRect">
            <a:avLst/>
          </a:prstGeom>
          <a:solidFill>
            <a:srgbClr val="263F53"/>
          </a:solidFill>
          <a:ln w="12700">
            <a:solidFill>
              <a:srgbClr val="4059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B9C7CC"/>
                </a:solidFill>
                <a:latin typeface="Trebuchet MS"/>
              </a:rPr>
              <a:t>CHƯA MỞ  ·  CÂU 03</a:t>
            </a:r>
          </a:p>
        </p:txBody>
      </p:sp>
      <p:sp>
        <p:nvSpPr>
          <p:cNvPr id="23" name="TextBox 22"/>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B9C7CC"/>
                </a:solidFill>
                <a:latin typeface="Trebuchet MS"/>
              </a:rPr>
              <a:t>Quà lớn</a:t>
            </a:r>
          </a:p>
        </p:txBody>
      </p:sp>
      <p:sp>
        <p:nvSpPr>
          <p:cNvPr id="24" name="TextBox 23"/>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QUÀ GIỮ LẠI</a:t>
            </a:r>
          </a:p>
        </p:txBody>
      </p:sp>
      <p:sp>
        <p:nvSpPr>
          <p:cNvPr id="25" name="TextBox 24"/>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Chưa có quà</a:t>
            </a:r>
          </a:p>
        </p:txBody>
      </p:sp>
      <p:sp>
        <p:nvSpPr>
          <p:cNvPr id="26" name="TextBox 25"/>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7" name="Đáp án A"/>
          <p:cNvSpPr/>
          <p:nvPr/>
        </p:nvSpPr>
        <p:spPr>
          <a:xfrm>
            <a:off x="530352" y="2770632"/>
            <a:ext cx="4215384" cy="1170432"/>
          </a:xfrm>
          <a:prstGeom prst="roundRect">
            <a:avLst/>
          </a:prstGeom>
          <a:solidFill>
            <a:srgbClr val="E45C64"/>
          </a:solidFill>
          <a:ln w="15875">
            <a:solidFill>
              <a:srgbClr val="B8424C"/>
            </a:solidFill>
          </a:ln>
          <a:effectLst>
            <a:glow rad="110000">
              <a:srgbClr val="E45C64">
                <a:alpha val="35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1" i="0">
                <a:solidFill>
                  <a:srgbClr val="FFFFFF"/>
                </a:solidFill>
                <a:latin typeface="Aptos"/>
              </a:rPr>
              <a:t>C. Mác; ưu tiên phát triển máy móc và năng suất trước mắt.</a:t>
            </a:r>
          </a:p>
        </p:txBody>
      </p:sp>
      <p:sp>
        <p:nvSpPr>
          <p:cNvPr id="28" name="Oval 27"/>
          <p:cNvSpPr/>
          <p:nvPr/>
        </p:nvSpPr>
        <p:spPr>
          <a:xfrm>
            <a:off x="685800" y="3154679"/>
            <a:ext cx="402336" cy="402336"/>
          </a:xfrm>
          <a:prstGeom prst="ellipse">
            <a:avLst/>
          </a:prstGeom>
          <a:solidFill>
            <a:srgbClr val="FFFFFF"/>
          </a:solidFill>
          <a:ln w="12700">
            <a:solidFill>
              <a:srgbClr val="B8424C"/>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B8424C"/>
                </a:solidFill>
                <a:latin typeface="Trebuchet MS"/>
              </a:rPr>
              <a:t>A</a:t>
            </a:r>
          </a:p>
        </p:txBody>
      </p:sp>
      <p:cxnSp>
        <p:nvCxnSpPr>
          <p:cNvPr id="29" name="Connector 28"/>
          <p:cNvCxnSpPr/>
          <p:nvPr/>
        </p:nvCxnSpPr>
        <p:spPr>
          <a:xfrm>
            <a:off x="438912" y="297180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38912" y="3264408"/>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38912" y="3557016"/>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4764024" y="297180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764024" y="3264408"/>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764024" y="3557016"/>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sp>
        <p:nvSpPr>
          <p:cNvPr id="35" name="Đáp án B"/>
          <p:cNvSpPr/>
          <p:nvPr/>
        </p:nvSpPr>
        <p:spPr>
          <a:xfrm>
            <a:off x="4937760" y="2770632"/>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V. I. Lênin; xây dựng một xã hội không cần giáo dục.</a:t>
            </a:r>
          </a:p>
        </p:txBody>
      </p:sp>
      <p:sp>
        <p:nvSpPr>
          <p:cNvPr id="36" name="Oval 35"/>
          <p:cNvSpPr/>
          <p:nvPr/>
        </p:nvSpPr>
        <p:spPr>
          <a:xfrm>
            <a:off x="5093208" y="3154679"/>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B</a:t>
            </a:r>
          </a:p>
        </p:txBody>
      </p:sp>
      <p:sp>
        <p:nvSpPr>
          <p:cNvPr id="37" name="Đáp án C"/>
          <p:cNvSpPr/>
          <p:nvPr/>
        </p:nvSpPr>
        <p:spPr>
          <a:xfrm>
            <a:off x="530352" y="4105656"/>
            <a:ext cx="4215384" cy="1170432"/>
          </a:xfrm>
          <a:prstGeom prst="roundRect">
            <a:avLst/>
          </a:prstGeom>
          <a:solidFill>
            <a:srgbClr val="2F9C72"/>
          </a:solidFill>
          <a:ln w="15875">
            <a:solidFill>
              <a:srgbClr val="2F9C72"/>
            </a:solidFill>
          </a:ln>
          <a:effectLst>
            <a:glow rad="190000">
              <a:srgbClr val="73D9A5">
                <a:alpha val="52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1" i="0">
                <a:solidFill>
                  <a:srgbClr val="FFFFFF"/>
                </a:solidFill>
                <a:latin typeface="Aptos"/>
              </a:rPr>
              <a:t>Hồ Chí Minh; bồi dưỡng, đào tạo con người và các thế hệ tương lai.</a:t>
            </a:r>
          </a:p>
        </p:txBody>
      </p:sp>
      <p:sp>
        <p:nvSpPr>
          <p:cNvPr id="38" name="Oval 37"/>
          <p:cNvSpPr/>
          <p:nvPr/>
        </p:nvSpPr>
        <p:spPr>
          <a:xfrm>
            <a:off x="685800" y="4489704"/>
            <a:ext cx="402336" cy="402336"/>
          </a:xfrm>
          <a:prstGeom prst="ellipse">
            <a:avLst/>
          </a:prstGeom>
          <a:solidFill>
            <a:srgbClr val="FFFFFF"/>
          </a:solidFill>
          <a:ln w="12700">
            <a:solidFill>
              <a:srgbClr val="2F9C72"/>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F9C72"/>
                </a:solidFill>
                <a:latin typeface="Trebuchet MS"/>
              </a:rPr>
              <a:t>C</a:t>
            </a:r>
          </a:p>
        </p:txBody>
      </p:sp>
      <p:sp>
        <p:nvSpPr>
          <p:cNvPr id="39" name="Đáp án D"/>
          <p:cNvSpPr/>
          <p:nvPr/>
        </p:nvSpPr>
        <p:spPr>
          <a:xfrm>
            <a:off x="4937760" y="4105656"/>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Ph. Ăngghen; chỉ tập trung vào giáo dục nghề nghiệp.</a:t>
            </a:r>
          </a:p>
        </p:txBody>
      </p:sp>
      <p:sp>
        <p:nvSpPr>
          <p:cNvPr id="40" name="Oval 39"/>
          <p:cNvSpPr/>
          <p:nvPr/>
        </p:nvSpPr>
        <p:spPr>
          <a:xfrm>
            <a:off x="5093208"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D</a:t>
            </a:r>
          </a:p>
        </p:txBody>
      </p:sp>
      <p:sp>
        <p:nvSpPr>
          <p:cNvPr id="41" name="Rounded Rectangle 40"/>
          <p:cNvSpPr/>
          <p:nvPr/>
        </p:nvSpPr>
        <p:spPr>
          <a:xfrm>
            <a:off x="530352" y="5431536"/>
            <a:ext cx="5989320" cy="868680"/>
          </a:xfrm>
          <a:prstGeom prst="roundRect">
            <a:avLst/>
          </a:prstGeom>
          <a:solidFill>
            <a:srgbClr val="FBE5E3"/>
          </a:solidFill>
          <a:ln w="12700">
            <a:solidFill>
              <a:srgbClr val="F0C7C4"/>
            </a:solid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l">
              <a:lnSpc>
                <a:spcPct val="100000"/>
              </a:lnSpc>
              <a:spcBef>
                <a:spcPts val="0"/>
              </a:spcBef>
              <a:spcAft>
                <a:spcPts val="0"/>
              </a:spcAft>
            </a:pPr>
            <a:r>
              <a:rPr sz="980" b="1" i="0">
                <a:solidFill>
                  <a:srgbClr val="18324A"/>
                </a:solidFill>
                <a:latin typeface="Aptos"/>
              </a:rPr>
              <a:t>BẠN CHỌN: A  ·  ĐÁP ÁN ĐÚNG: C
Hồ Chí Minh; bồi dưỡng, đào tạo con người và các thế hệ tương lai.
QUÀ ĐẠT ĐƯỢC LƯỢT NÀY: Chưa có quà</a:t>
            </a:r>
          </a:p>
        </p:txBody>
      </p:sp>
      <p:sp>
        <p:nvSpPr>
          <p:cNvPr id="42" name="Nút: XEM BẢNG KẾT QUẢ  →">
            <a:hlinkClick r:id="" action="ppaction://noaction"/>
          </p:cNvPr>
          <p:cNvSpPr/>
          <p:nvPr/>
        </p:nvSpPr>
        <p:spPr>
          <a:xfrm>
            <a:off x="6711696" y="5431536"/>
            <a:ext cx="2505456" cy="86868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240" b="1" i="0">
                <a:solidFill>
                  <a:srgbClr val="FFFFFF"/>
                </a:solidFill>
                <a:latin typeface="Trebuchet MS"/>
              </a:rPr>
              <a:t>XEM BẢNG KẾT QUẢ  →</a:t>
            </a:r>
          </a:p>
        </p:txBody>
      </p:sp>
    </p:spTree>
  </p:cSld>
  <p:clrMapOvr>
    <a:masterClrMapping/>
  </p:clrMapOvr>
  <p:transition spd="med" advClick="0">
    <p:fade/>
  </p:transition>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05 / 05</a:t>
            </a:r>
          </a:p>
        </p:txBody>
      </p:sp>
      <p:sp>
        <p:nvSpPr>
          <p:cNvPr id="5" name="Rounded Rectangle 4"/>
          <p:cNvSpPr/>
          <p:nvPr/>
        </p:nvSpPr>
        <p:spPr>
          <a:xfrm>
            <a:off x="2240280" y="749808"/>
            <a:ext cx="138988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DỄ</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01 / 03</a:t>
            </a:r>
          </a:p>
        </p:txBody>
      </p:sp>
      <p:sp>
        <p:nvSpPr>
          <p:cNvPr id="7" name="Rounded Rectangle 6"/>
          <p:cNvSpPr/>
          <p:nvPr/>
        </p:nvSpPr>
        <p:spPr>
          <a:xfrm>
            <a:off x="7562088" y="749808"/>
            <a:ext cx="1581912" cy="292608"/>
          </a:xfrm>
          <a:prstGeom prst="roundRect">
            <a:avLst/>
          </a:prstGeom>
          <a:solidFill>
            <a:srgbClr val="FBE3E3"/>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1000" b="1" i="0">
                <a:solidFill>
                  <a:srgbClr val="B8424C"/>
                </a:solidFill>
                <a:latin typeface="Trebuchet MS"/>
              </a:rPr>
              <a:t>RẤT TIẾC!</a:t>
            </a:r>
          </a:p>
        </p:txBody>
      </p:sp>
      <p:sp>
        <p:nvSpPr>
          <p:cNvPr id="8"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1" name="TextBox 10"/>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2100" b="1" i="0">
                <a:solidFill>
                  <a:srgbClr val="FFFFFF"/>
                </a:solidFill>
                <a:latin typeface="Aptos"/>
              </a:rPr>
              <a:t>Câu nói “Vì lợi ích mười năm thì phải trồng cây, vì lợi ích trăm năm thì phải trồng người” là của ai và hướng tới mục tiêu nào?</a:t>
            </a:r>
          </a:p>
        </p:txBody>
      </p:sp>
      <p:sp>
        <p:nvSpPr>
          <p:cNvPr id="12"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4" name="TextBox 13"/>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5" name="Rounded Rectangle 14"/>
          <p:cNvSpPr/>
          <p:nvPr/>
        </p:nvSpPr>
        <p:spPr>
          <a:xfrm>
            <a:off x="9646920" y="1371600"/>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01</a:t>
            </a:r>
          </a:p>
        </p:txBody>
      </p:sp>
      <p:sp>
        <p:nvSpPr>
          <p:cNvPr id="17" name="TextBox 16"/>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nhỏ</a:t>
            </a:r>
          </a:p>
        </p:txBody>
      </p:sp>
      <p:sp>
        <p:nvSpPr>
          <p:cNvPr id="18" name="Rounded Rectangle 17"/>
          <p:cNvSpPr/>
          <p:nvPr/>
        </p:nvSpPr>
        <p:spPr>
          <a:xfrm>
            <a:off x="9646920" y="2487168"/>
            <a:ext cx="1956816" cy="877824"/>
          </a:xfrm>
          <a:prstGeom prst="roundRect">
            <a:avLst/>
          </a:prstGeom>
          <a:solidFill>
            <a:srgbClr val="263F53"/>
          </a:solidFill>
          <a:ln w="12700">
            <a:solidFill>
              <a:srgbClr val="4059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B9C7CC"/>
                </a:solidFill>
                <a:latin typeface="Trebuchet MS"/>
              </a:rPr>
              <a:t>CHƯA MỞ  ·  CÂU 02</a:t>
            </a:r>
          </a:p>
        </p:txBody>
      </p:sp>
      <p:sp>
        <p:nvSpPr>
          <p:cNvPr id="20" name="TextBox 19"/>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B9C7CC"/>
                </a:solidFill>
                <a:latin typeface="Trebuchet MS"/>
              </a:rPr>
              <a:t>Quà vừa</a:t>
            </a:r>
          </a:p>
        </p:txBody>
      </p:sp>
      <p:sp>
        <p:nvSpPr>
          <p:cNvPr id="21" name="Rounded Rectangle 20"/>
          <p:cNvSpPr/>
          <p:nvPr/>
        </p:nvSpPr>
        <p:spPr>
          <a:xfrm>
            <a:off x="9646920" y="3602736"/>
            <a:ext cx="1956816" cy="877824"/>
          </a:xfrm>
          <a:prstGeom prst="roundRect">
            <a:avLst/>
          </a:prstGeom>
          <a:solidFill>
            <a:srgbClr val="263F53"/>
          </a:solidFill>
          <a:ln w="12700">
            <a:solidFill>
              <a:srgbClr val="4059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B9C7CC"/>
                </a:solidFill>
                <a:latin typeface="Trebuchet MS"/>
              </a:rPr>
              <a:t>CHƯA MỞ  ·  CÂU 03</a:t>
            </a:r>
          </a:p>
        </p:txBody>
      </p:sp>
      <p:sp>
        <p:nvSpPr>
          <p:cNvPr id="23" name="TextBox 22"/>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B9C7CC"/>
                </a:solidFill>
                <a:latin typeface="Trebuchet MS"/>
              </a:rPr>
              <a:t>Quà lớn</a:t>
            </a:r>
          </a:p>
        </p:txBody>
      </p:sp>
      <p:sp>
        <p:nvSpPr>
          <p:cNvPr id="24" name="TextBox 23"/>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QUÀ GIỮ LẠI</a:t>
            </a:r>
          </a:p>
        </p:txBody>
      </p:sp>
      <p:sp>
        <p:nvSpPr>
          <p:cNvPr id="25" name="TextBox 24"/>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Chưa có quà</a:t>
            </a:r>
          </a:p>
        </p:txBody>
      </p:sp>
      <p:sp>
        <p:nvSpPr>
          <p:cNvPr id="26" name="TextBox 25"/>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7" name="Đáp án A"/>
          <p:cNvSpPr/>
          <p:nvPr/>
        </p:nvSpPr>
        <p:spPr>
          <a:xfrm>
            <a:off x="530352" y="2770632"/>
            <a:ext cx="4215384"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C. Mác; ưu tiên phát triển máy móc và năng suất trước mắt.</a:t>
            </a:r>
          </a:p>
        </p:txBody>
      </p:sp>
      <p:sp>
        <p:nvSpPr>
          <p:cNvPr id="28" name="Oval 27"/>
          <p:cNvSpPr/>
          <p:nvPr/>
        </p:nvSpPr>
        <p:spPr>
          <a:xfrm>
            <a:off x="685800" y="3154679"/>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A</a:t>
            </a:r>
          </a:p>
        </p:txBody>
      </p:sp>
      <p:sp>
        <p:nvSpPr>
          <p:cNvPr id="29" name="Đáp án B"/>
          <p:cNvSpPr/>
          <p:nvPr/>
        </p:nvSpPr>
        <p:spPr>
          <a:xfrm>
            <a:off x="4937760" y="2770632"/>
            <a:ext cx="4279392" cy="1170432"/>
          </a:xfrm>
          <a:prstGeom prst="roundRect">
            <a:avLst/>
          </a:prstGeom>
          <a:solidFill>
            <a:srgbClr val="E45C64"/>
          </a:solidFill>
          <a:ln w="15875">
            <a:solidFill>
              <a:srgbClr val="B8424C"/>
            </a:solidFill>
          </a:ln>
          <a:effectLst>
            <a:glow rad="110000">
              <a:srgbClr val="E45C64">
                <a:alpha val="35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1" i="0">
                <a:solidFill>
                  <a:srgbClr val="FFFFFF"/>
                </a:solidFill>
                <a:latin typeface="Aptos"/>
              </a:rPr>
              <a:t>V. I. Lênin; xây dựng một xã hội không cần giáo dục.</a:t>
            </a:r>
          </a:p>
        </p:txBody>
      </p:sp>
      <p:sp>
        <p:nvSpPr>
          <p:cNvPr id="30" name="Oval 29"/>
          <p:cNvSpPr/>
          <p:nvPr/>
        </p:nvSpPr>
        <p:spPr>
          <a:xfrm>
            <a:off x="5093208" y="3154679"/>
            <a:ext cx="402336" cy="402336"/>
          </a:xfrm>
          <a:prstGeom prst="ellipse">
            <a:avLst/>
          </a:prstGeom>
          <a:solidFill>
            <a:srgbClr val="FFFFFF"/>
          </a:solidFill>
          <a:ln w="12700">
            <a:solidFill>
              <a:srgbClr val="B8424C"/>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B8424C"/>
                </a:solidFill>
                <a:latin typeface="Trebuchet MS"/>
              </a:rPr>
              <a:t>B</a:t>
            </a:r>
          </a:p>
        </p:txBody>
      </p:sp>
      <p:cxnSp>
        <p:nvCxnSpPr>
          <p:cNvPr id="31" name="Connector 30"/>
          <p:cNvCxnSpPr/>
          <p:nvPr/>
        </p:nvCxnSpPr>
        <p:spPr>
          <a:xfrm>
            <a:off x="4846320" y="297180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4846320" y="3264408"/>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846320" y="3557016"/>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9235440" y="297180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235440" y="3264408"/>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9235440" y="3557016"/>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sp>
        <p:nvSpPr>
          <p:cNvPr id="37" name="Đáp án C"/>
          <p:cNvSpPr/>
          <p:nvPr/>
        </p:nvSpPr>
        <p:spPr>
          <a:xfrm>
            <a:off x="530352" y="4105656"/>
            <a:ext cx="4215384" cy="1170432"/>
          </a:xfrm>
          <a:prstGeom prst="roundRect">
            <a:avLst/>
          </a:prstGeom>
          <a:solidFill>
            <a:srgbClr val="2F9C72"/>
          </a:solidFill>
          <a:ln w="15875">
            <a:solidFill>
              <a:srgbClr val="2F9C72"/>
            </a:solidFill>
          </a:ln>
          <a:effectLst>
            <a:glow rad="190000">
              <a:srgbClr val="73D9A5">
                <a:alpha val="52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1" i="0">
                <a:solidFill>
                  <a:srgbClr val="FFFFFF"/>
                </a:solidFill>
                <a:latin typeface="Aptos"/>
              </a:rPr>
              <a:t>Hồ Chí Minh; bồi dưỡng, đào tạo con người và các thế hệ tương lai.</a:t>
            </a:r>
          </a:p>
        </p:txBody>
      </p:sp>
      <p:sp>
        <p:nvSpPr>
          <p:cNvPr id="38" name="Oval 37"/>
          <p:cNvSpPr/>
          <p:nvPr/>
        </p:nvSpPr>
        <p:spPr>
          <a:xfrm>
            <a:off x="685800" y="4489704"/>
            <a:ext cx="402336" cy="402336"/>
          </a:xfrm>
          <a:prstGeom prst="ellipse">
            <a:avLst/>
          </a:prstGeom>
          <a:solidFill>
            <a:srgbClr val="FFFFFF"/>
          </a:solidFill>
          <a:ln w="12700">
            <a:solidFill>
              <a:srgbClr val="2F9C72"/>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F9C72"/>
                </a:solidFill>
                <a:latin typeface="Trebuchet MS"/>
              </a:rPr>
              <a:t>C</a:t>
            </a:r>
          </a:p>
        </p:txBody>
      </p:sp>
      <p:sp>
        <p:nvSpPr>
          <p:cNvPr id="39" name="Đáp án D"/>
          <p:cNvSpPr/>
          <p:nvPr/>
        </p:nvSpPr>
        <p:spPr>
          <a:xfrm>
            <a:off x="4937760" y="4105656"/>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Ph. Ăngghen; chỉ tập trung vào giáo dục nghề nghiệp.</a:t>
            </a:r>
          </a:p>
        </p:txBody>
      </p:sp>
      <p:sp>
        <p:nvSpPr>
          <p:cNvPr id="40" name="Oval 39"/>
          <p:cNvSpPr/>
          <p:nvPr/>
        </p:nvSpPr>
        <p:spPr>
          <a:xfrm>
            <a:off x="5093208"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D</a:t>
            </a:r>
          </a:p>
        </p:txBody>
      </p:sp>
      <p:sp>
        <p:nvSpPr>
          <p:cNvPr id="41" name="Rounded Rectangle 40"/>
          <p:cNvSpPr/>
          <p:nvPr/>
        </p:nvSpPr>
        <p:spPr>
          <a:xfrm>
            <a:off x="530352" y="5431536"/>
            <a:ext cx="5989320" cy="868680"/>
          </a:xfrm>
          <a:prstGeom prst="roundRect">
            <a:avLst/>
          </a:prstGeom>
          <a:solidFill>
            <a:srgbClr val="FBE5E3"/>
          </a:solidFill>
          <a:ln w="12700">
            <a:solidFill>
              <a:srgbClr val="F0C7C4"/>
            </a:solid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l">
              <a:lnSpc>
                <a:spcPct val="100000"/>
              </a:lnSpc>
              <a:spcBef>
                <a:spcPts val="0"/>
              </a:spcBef>
              <a:spcAft>
                <a:spcPts val="0"/>
              </a:spcAft>
            </a:pPr>
            <a:r>
              <a:rPr sz="980" b="1" i="0">
                <a:solidFill>
                  <a:srgbClr val="18324A"/>
                </a:solidFill>
                <a:latin typeface="Aptos"/>
              </a:rPr>
              <a:t>BẠN CHỌN: B  ·  ĐÁP ÁN ĐÚNG: C
Hồ Chí Minh; bồi dưỡng, đào tạo con người và các thế hệ tương lai.
QUÀ ĐẠT ĐƯỢC LƯỢT NÀY: Chưa có quà</a:t>
            </a:r>
          </a:p>
        </p:txBody>
      </p:sp>
      <p:sp>
        <p:nvSpPr>
          <p:cNvPr id="42" name="Nút: XEM BẢNG KẾT QUẢ  →">
            <a:hlinkClick r:id="" action="ppaction://noaction"/>
          </p:cNvPr>
          <p:cNvSpPr/>
          <p:nvPr/>
        </p:nvSpPr>
        <p:spPr>
          <a:xfrm>
            <a:off x="6711696" y="5431536"/>
            <a:ext cx="2505456" cy="86868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240" b="1" i="0">
                <a:solidFill>
                  <a:srgbClr val="FFFFFF"/>
                </a:solidFill>
                <a:latin typeface="Trebuchet MS"/>
              </a:rPr>
              <a:t>XEM BẢNG KẾT QUẢ  →</a:t>
            </a:r>
          </a:p>
        </p:txBody>
      </p:sp>
    </p:spTree>
  </p:cSld>
  <p:clrMapOvr>
    <a:masterClrMapping/>
  </p:clrMapOvr>
  <p:transition spd="med" advClick="0">
    <p:fade/>
  </p:transition>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05 / 05</a:t>
            </a:r>
          </a:p>
        </p:txBody>
      </p:sp>
      <p:sp>
        <p:nvSpPr>
          <p:cNvPr id="5" name="Rounded Rectangle 4"/>
          <p:cNvSpPr/>
          <p:nvPr/>
        </p:nvSpPr>
        <p:spPr>
          <a:xfrm>
            <a:off x="2240280" y="749808"/>
            <a:ext cx="138988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DỄ</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01 / 03</a:t>
            </a:r>
          </a:p>
        </p:txBody>
      </p:sp>
      <p:sp>
        <p:nvSpPr>
          <p:cNvPr id="7" name="Rounded Rectangle 6"/>
          <p:cNvSpPr/>
          <p:nvPr/>
        </p:nvSpPr>
        <p:spPr>
          <a:xfrm>
            <a:off x="7562088" y="749808"/>
            <a:ext cx="1581912" cy="292608"/>
          </a:xfrm>
          <a:prstGeom prst="roundRect">
            <a:avLst/>
          </a:prstGeom>
          <a:solidFill>
            <a:srgbClr val="FBE3E3"/>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1000" b="1" i="0">
                <a:solidFill>
                  <a:srgbClr val="B8424C"/>
                </a:solidFill>
                <a:latin typeface="Trebuchet MS"/>
              </a:rPr>
              <a:t>RẤT TIẾC!</a:t>
            </a:r>
          </a:p>
        </p:txBody>
      </p:sp>
      <p:sp>
        <p:nvSpPr>
          <p:cNvPr id="8"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1" name="TextBox 10"/>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2100" b="1" i="0">
                <a:solidFill>
                  <a:srgbClr val="FFFFFF"/>
                </a:solidFill>
                <a:latin typeface="Aptos"/>
              </a:rPr>
              <a:t>Câu nói “Vì lợi ích mười năm thì phải trồng cây, vì lợi ích trăm năm thì phải trồng người” là của ai và hướng tới mục tiêu nào?</a:t>
            </a:r>
          </a:p>
        </p:txBody>
      </p:sp>
      <p:sp>
        <p:nvSpPr>
          <p:cNvPr id="12"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4" name="TextBox 13"/>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5" name="Rounded Rectangle 14"/>
          <p:cNvSpPr/>
          <p:nvPr/>
        </p:nvSpPr>
        <p:spPr>
          <a:xfrm>
            <a:off x="9646920" y="1371600"/>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01</a:t>
            </a:r>
          </a:p>
        </p:txBody>
      </p:sp>
      <p:sp>
        <p:nvSpPr>
          <p:cNvPr id="17" name="TextBox 16"/>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nhỏ</a:t>
            </a:r>
          </a:p>
        </p:txBody>
      </p:sp>
      <p:sp>
        <p:nvSpPr>
          <p:cNvPr id="18" name="Rounded Rectangle 17"/>
          <p:cNvSpPr/>
          <p:nvPr/>
        </p:nvSpPr>
        <p:spPr>
          <a:xfrm>
            <a:off x="9646920" y="2487168"/>
            <a:ext cx="1956816" cy="877824"/>
          </a:xfrm>
          <a:prstGeom prst="roundRect">
            <a:avLst/>
          </a:prstGeom>
          <a:solidFill>
            <a:srgbClr val="263F53"/>
          </a:solidFill>
          <a:ln w="12700">
            <a:solidFill>
              <a:srgbClr val="4059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B9C7CC"/>
                </a:solidFill>
                <a:latin typeface="Trebuchet MS"/>
              </a:rPr>
              <a:t>CHƯA MỞ  ·  CÂU 02</a:t>
            </a:r>
          </a:p>
        </p:txBody>
      </p:sp>
      <p:sp>
        <p:nvSpPr>
          <p:cNvPr id="20" name="TextBox 19"/>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B9C7CC"/>
                </a:solidFill>
                <a:latin typeface="Trebuchet MS"/>
              </a:rPr>
              <a:t>Quà vừa</a:t>
            </a:r>
          </a:p>
        </p:txBody>
      </p:sp>
      <p:sp>
        <p:nvSpPr>
          <p:cNvPr id="21" name="Rounded Rectangle 20"/>
          <p:cNvSpPr/>
          <p:nvPr/>
        </p:nvSpPr>
        <p:spPr>
          <a:xfrm>
            <a:off x="9646920" y="3602736"/>
            <a:ext cx="1956816" cy="877824"/>
          </a:xfrm>
          <a:prstGeom prst="roundRect">
            <a:avLst/>
          </a:prstGeom>
          <a:solidFill>
            <a:srgbClr val="263F53"/>
          </a:solidFill>
          <a:ln w="12700">
            <a:solidFill>
              <a:srgbClr val="4059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B9C7CC"/>
                </a:solidFill>
                <a:latin typeface="Trebuchet MS"/>
              </a:rPr>
              <a:t>CHƯA MỞ  ·  CÂU 03</a:t>
            </a:r>
          </a:p>
        </p:txBody>
      </p:sp>
      <p:sp>
        <p:nvSpPr>
          <p:cNvPr id="23" name="TextBox 22"/>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B9C7CC"/>
                </a:solidFill>
                <a:latin typeface="Trebuchet MS"/>
              </a:rPr>
              <a:t>Quà lớn</a:t>
            </a:r>
          </a:p>
        </p:txBody>
      </p:sp>
      <p:sp>
        <p:nvSpPr>
          <p:cNvPr id="24" name="TextBox 23"/>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QUÀ GIỮ LẠI</a:t>
            </a:r>
          </a:p>
        </p:txBody>
      </p:sp>
      <p:sp>
        <p:nvSpPr>
          <p:cNvPr id="25" name="TextBox 24"/>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Chưa có quà</a:t>
            </a:r>
          </a:p>
        </p:txBody>
      </p:sp>
      <p:sp>
        <p:nvSpPr>
          <p:cNvPr id="26" name="TextBox 25"/>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7" name="Đáp án A"/>
          <p:cNvSpPr/>
          <p:nvPr/>
        </p:nvSpPr>
        <p:spPr>
          <a:xfrm>
            <a:off x="530352" y="2770632"/>
            <a:ext cx="4215384"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C. Mác; ưu tiên phát triển máy móc và năng suất trước mắt.</a:t>
            </a:r>
          </a:p>
        </p:txBody>
      </p:sp>
      <p:sp>
        <p:nvSpPr>
          <p:cNvPr id="28" name="Oval 27"/>
          <p:cNvSpPr/>
          <p:nvPr/>
        </p:nvSpPr>
        <p:spPr>
          <a:xfrm>
            <a:off x="685800" y="3154679"/>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A</a:t>
            </a:r>
          </a:p>
        </p:txBody>
      </p:sp>
      <p:sp>
        <p:nvSpPr>
          <p:cNvPr id="29" name="Đáp án B"/>
          <p:cNvSpPr/>
          <p:nvPr/>
        </p:nvSpPr>
        <p:spPr>
          <a:xfrm>
            <a:off x="4937760" y="2770632"/>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V. I. Lênin; xây dựng một xã hội không cần giáo dục.</a:t>
            </a:r>
          </a:p>
        </p:txBody>
      </p:sp>
      <p:sp>
        <p:nvSpPr>
          <p:cNvPr id="30" name="Oval 29"/>
          <p:cNvSpPr/>
          <p:nvPr/>
        </p:nvSpPr>
        <p:spPr>
          <a:xfrm>
            <a:off x="5093208" y="3154679"/>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B</a:t>
            </a:r>
          </a:p>
        </p:txBody>
      </p:sp>
      <p:sp>
        <p:nvSpPr>
          <p:cNvPr id="31" name="Đáp án C"/>
          <p:cNvSpPr/>
          <p:nvPr/>
        </p:nvSpPr>
        <p:spPr>
          <a:xfrm>
            <a:off x="530352" y="4105656"/>
            <a:ext cx="4215384" cy="1170432"/>
          </a:xfrm>
          <a:prstGeom prst="roundRect">
            <a:avLst/>
          </a:prstGeom>
          <a:solidFill>
            <a:srgbClr val="2F9C72"/>
          </a:solidFill>
          <a:ln w="15875">
            <a:solidFill>
              <a:srgbClr val="2F9C72"/>
            </a:solidFill>
          </a:ln>
          <a:effectLst>
            <a:glow rad="190000">
              <a:srgbClr val="73D9A5">
                <a:alpha val="52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1" i="0">
                <a:solidFill>
                  <a:srgbClr val="FFFFFF"/>
                </a:solidFill>
                <a:latin typeface="Aptos"/>
              </a:rPr>
              <a:t>Hồ Chí Minh; bồi dưỡng, đào tạo con người và các thế hệ tương lai.</a:t>
            </a:r>
          </a:p>
        </p:txBody>
      </p:sp>
      <p:sp>
        <p:nvSpPr>
          <p:cNvPr id="32" name="Oval 31"/>
          <p:cNvSpPr/>
          <p:nvPr/>
        </p:nvSpPr>
        <p:spPr>
          <a:xfrm>
            <a:off x="685800" y="4489704"/>
            <a:ext cx="402336" cy="402336"/>
          </a:xfrm>
          <a:prstGeom prst="ellipse">
            <a:avLst/>
          </a:prstGeom>
          <a:solidFill>
            <a:srgbClr val="FFFFFF"/>
          </a:solidFill>
          <a:ln w="12700">
            <a:solidFill>
              <a:srgbClr val="2F9C72"/>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F9C72"/>
                </a:solidFill>
                <a:latin typeface="Trebuchet MS"/>
              </a:rPr>
              <a:t>C</a:t>
            </a:r>
          </a:p>
        </p:txBody>
      </p:sp>
      <p:sp>
        <p:nvSpPr>
          <p:cNvPr id="33" name="Đáp án D"/>
          <p:cNvSpPr/>
          <p:nvPr/>
        </p:nvSpPr>
        <p:spPr>
          <a:xfrm>
            <a:off x="4937760" y="4105656"/>
            <a:ext cx="4279392" cy="1170432"/>
          </a:xfrm>
          <a:prstGeom prst="roundRect">
            <a:avLst/>
          </a:prstGeom>
          <a:solidFill>
            <a:srgbClr val="E45C64"/>
          </a:solidFill>
          <a:ln w="15875">
            <a:solidFill>
              <a:srgbClr val="B8424C"/>
            </a:solidFill>
          </a:ln>
          <a:effectLst>
            <a:glow rad="110000">
              <a:srgbClr val="E45C64">
                <a:alpha val="35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1" i="0">
                <a:solidFill>
                  <a:srgbClr val="FFFFFF"/>
                </a:solidFill>
                <a:latin typeface="Aptos"/>
              </a:rPr>
              <a:t>Ph. Ăngghen; chỉ tập trung vào giáo dục nghề nghiệp.</a:t>
            </a:r>
          </a:p>
        </p:txBody>
      </p:sp>
      <p:sp>
        <p:nvSpPr>
          <p:cNvPr id="34" name="Oval 33"/>
          <p:cNvSpPr/>
          <p:nvPr/>
        </p:nvSpPr>
        <p:spPr>
          <a:xfrm>
            <a:off x="5093208" y="4489704"/>
            <a:ext cx="402336" cy="402336"/>
          </a:xfrm>
          <a:prstGeom prst="ellipse">
            <a:avLst/>
          </a:prstGeom>
          <a:solidFill>
            <a:srgbClr val="FFFFFF"/>
          </a:solidFill>
          <a:ln w="12700">
            <a:solidFill>
              <a:srgbClr val="B8424C"/>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B8424C"/>
                </a:solidFill>
                <a:latin typeface="Trebuchet MS"/>
              </a:rPr>
              <a:t>D</a:t>
            </a:r>
          </a:p>
        </p:txBody>
      </p:sp>
      <p:cxnSp>
        <p:nvCxnSpPr>
          <p:cNvPr id="35" name="Connector 34"/>
          <p:cNvCxnSpPr/>
          <p:nvPr/>
        </p:nvCxnSpPr>
        <p:spPr>
          <a:xfrm>
            <a:off x="4846320" y="4306824"/>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4846320" y="4599432"/>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846320" y="489204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9235440" y="4306824"/>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9235440" y="4599432"/>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9235440" y="489204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530352" y="5431536"/>
            <a:ext cx="5989320" cy="868680"/>
          </a:xfrm>
          <a:prstGeom prst="roundRect">
            <a:avLst/>
          </a:prstGeom>
          <a:solidFill>
            <a:srgbClr val="FBE5E3"/>
          </a:solidFill>
          <a:ln w="12700">
            <a:solidFill>
              <a:srgbClr val="F0C7C4"/>
            </a:solid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l">
              <a:lnSpc>
                <a:spcPct val="100000"/>
              </a:lnSpc>
              <a:spcBef>
                <a:spcPts val="0"/>
              </a:spcBef>
              <a:spcAft>
                <a:spcPts val="0"/>
              </a:spcAft>
            </a:pPr>
            <a:r>
              <a:rPr sz="980" b="1" i="0">
                <a:solidFill>
                  <a:srgbClr val="18324A"/>
                </a:solidFill>
                <a:latin typeface="Aptos"/>
              </a:rPr>
              <a:t>BẠN CHỌN: D  ·  ĐÁP ÁN ĐÚNG: C
Hồ Chí Minh; bồi dưỡng, đào tạo con người và các thế hệ tương lai.
QUÀ ĐẠT ĐƯỢC LƯỢT NÀY: Chưa có quà</a:t>
            </a:r>
          </a:p>
        </p:txBody>
      </p:sp>
      <p:sp>
        <p:nvSpPr>
          <p:cNvPr id="42" name="Nút: XEM BẢNG KẾT QUẢ  →">
            <a:hlinkClick r:id="" action="ppaction://noaction"/>
          </p:cNvPr>
          <p:cNvSpPr/>
          <p:nvPr/>
        </p:nvSpPr>
        <p:spPr>
          <a:xfrm>
            <a:off x="6711696" y="5431536"/>
            <a:ext cx="2505456" cy="86868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240" b="1" i="0">
                <a:solidFill>
                  <a:srgbClr val="FFFFFF"/>
                </a:solidFill>
                <a:latin typeface="Trebuchet MS"/>
              </a:rPr>
              <a:t>XEM BẢNG KẾT QUẢ  →</a:t>
            </a:r>
          </a:p>
        </p:txBody>
      </p:sp>
    </p:spTree>
  </p:cSld>
  <p:clrMapOvr>
    <a:masterClrMapping/>
  </p:clrMapOvr>
  <p:transition spd="med" advClick="0">
    <p:fade/>
  </p:transition>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05 / 05</a:t>
            </a:r>
          </a:p>
        </p:txBody>
      </p:sp>
      <p:sp>
        <p:nvSpPr>
          <p:cNvPr id="5" name="Rounded Rectangle 4"/>
          <p:cNvSpPr/>
          <p:nvPr/>
        </p:nvSpPr>
        <p:spPr>
          <a:xfrm>
            <a:off x="2240280" y="749808"/>
            <a:ext cx="1389888" cy="292608"/>
          </a:xfrm>
          <a:prstGeom prst="roundRect">
            <a:avLst/>
          </a:prstGeom>
          <a:solidFill>
            <a:srgbClr val="FFF0C2"/>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18324A"/>
                </a:solidFill>
                <a:latin typeface="Trebuchet MS"/>
              </a:rPr>
              <a:t>TRUNG BÌNH</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02 / 03</a:t>
            </a:r>
          </a:p>
        </p:txBody>
      </p:sp>
      <p:sp>
        <p:nvSpPr>
          <p:cNvPr id="7"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0" name="TextBox 9"/>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2100" b="1" i="0">
                <a:solidFill>
                  <a:srgbClr val="FFFFFF"/>
                </a:solidFill>
                <a:latin typeface="Aptos"/>
              </a:rPr>
              <a:t>Quá trình giải phóng con người trong tư tưởng Mác – Lênin có thể khái quát theo ba nấc nào?</a:t>
            </a:r>
          </a:p>
        </p:txBody>
      </p:sp>
      <p:sp>
        <p:nvSpPr>
          <p:cNvPr id="11"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3" name="TextBox 12"/>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4" name="Rounded Rectangle 13"/>
          <p:cNvSpPr/>
          <p:nvPr/>
        </p:nvSpPr>
        <p:spPr>
          <a:xfrm>
            <a:off x="9646920" y="1371600"/>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01</a:t>
            </a:r>
          </a:p>
        </p:txBody>
      </p:sp>
      <p:sp>
        <p:nvSpPr>
          <p:cNvPr id="16" name="TextBox 15"/>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nhỏ</a:t>
            </a:r>
          </a:p>
        </p:txBody>
      </p:sp>
      <p:sp>
        <p:nvSpPr>
          <p:cNvPr id="17" name="Rounded Rectangle 16"/>
          <p:cNvSpPr/>
          <p:nvPr/>
        </p:nvSpPr>
        <p:spPr>
          <a:xfrm>
            <a:off x="9646920" y="2487168"/>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02</a:t>
            </a:r>
          </a:p>
        </p:txBody>
      </p:sp>
      <p:sp>
        <p:nvSpPr>
          <p:cNvPr id="19" name="TextBox 18"/>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vừa</a:t>
            </a:r>
          </a:p>
        </p:txBody>
      </p:sp>
      <p:sp>
        <p:nvSpPr>
          <p:cNvPr id="20" name="Rounded Rectangle 19"/>
          <p:cNvSpPr/>
          <p:nvPr/>
        </p:nvSpPr>
        <p:spPr>
          <a:xfrm>
            <a:off x="9646920" y="3602736"/>
            <a:ext cx="1956816" cy="877824"/>
          </a:xfrm>
          <a:prstGeom prst="roundRect">
            <a:avLst/>
          </a:prstGeom>
          <a:solidFill>
            <a:srgbClr val="263F53"/>
          </a:solidFill>
          <a:ln w="12700">
            <a:solidFill>
              <a:srgbClr val="4059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B9C7CC"/>
                </a:solidFill>
                <a:latin typeface="Trebuchet MS"/>
              </a:rPr>
              <a:t>CHƯA MỞ  ·  CÂU 03</a:t>
            </a:r>
          </a:p>
        </p:txBody>
      </p:sp>
      <p:sp>
        <p:nvSpPr>
          <p:cNvPr id="22" name="TextBox 21"/>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B9C7CC"/>
                </a:solidFill>
                <a:latin typeface="Trebuchet MS"/>
              </a:rPr>
              <a:t>Quà lớn</a:t>
            </a:r>
          </a:p>
        </p:txBody>
      </p:sp>
      <p:sp>
        <p:nvSpPr>
          <p:cNvPr id="23" name="TextBox 22"/>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MỐC AN TOÀN</a:t>
            </a:r>
          </a:p>
        </p:txBody>
      </p:sp>
      <p:sp>
        <p:nvSpPr>
          <p:cNvPr id="24" name="TextBox 23"/>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Quà nhỏ</a:t>
            </a:r>
          </a:p>
        </p:txBody>
      </p:sp>
      <p:sp>
        <p:nvSpPr>
          <p:cNvPr id="25" name="TextBox 24"/>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6" name="Đáp án A">
            <a:hlinkClick r:id="rId2" action="ppaction://hlinksldjump"/>
          </p:cNvPr>
          <p:cNvSpPr/>
          <p:nvPr/>
        </p:nvSpPr>
        <p:spPr>
          <a:xfrm>
            <a:off x="530352" y="2770632"/>
            <a:ext cx="4215384" cy="1170432"/>
          </a:xfrm>
          <a:prstGeom prst="roundRect">
            <a:avLst/>
          </a:prstGeom>
          <a:solidFill>
            <a:srgbClr val="FBFCF9"/>
          </a:solidFill>
          <a:ln w="15875">
            <a:solidFill>
              <a:srgbClr val="D7DED8"/>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380" b="0" i="0">
                <a:solidFill>
                  <a:srgbClr val="18324A"/>
                </a:solidFill>
                <a:latin typeface="Aptos"/>
              </a:rPr>
              <a:t>Giải phóng chính trị → giải phóng kinh tế – xã hội khỏi áp bức, bóc lột và tha hóa → tạo điều kiện phát triển tự do, toàn diện.</a:t>
            </a:r>
          </a:p>
        </p:txBody>
      </p:sp>
      <p:sp>
        <p:nvSpPr>
          <p:cNvPr id="27" name="Oval 26">
            <a:hlinkClick r:id="rId2" action="ppaction://hlinksldjump"/>
          </p:cNvPr>
          <p:cNvSpPr/>
          <p:nvPr/>
        </p:nvSpPr>
        <p:spPr>
          <a:xfrm>
            <a:off x="685800" y="3154679"/>
            <a:ext cx="402336" cy="402336"/>
          </a:xfrm>
          <a:prstGeom prst="ellipse">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E8177"/>
                </a:solidFill>
                <a:latin typeface="Trebuchet MS"/>
              </a:rPr>
              <a:t>A</a:t>
            </a:r>
          </a:p>
        </p:txBody>
      </p:sp>
      <p:sp>
        <p:nvSpPr>
          <p:cNvPr id="28" name="Đáp án B">
            <a:hlinkClick r:id="rId3" action="ppaction://hlinksldjump"/>
          </p:cNvPr>
          <p:cNvSpPr/>
          <p:nvPr/>
        </p:nvSpPr>
        <p:spPr>
          <a:xfrm>
            <a:off x="4937760" y="2770632"/>
            <a:ext cx="4279392" cy="1170432"/>
          </a:xfrm>
          <a:prstGeom prst="roundRect">
            <a:avLst/>
          </a:prstGeom>
          <a:solidFill>
            <a:srgbClr val="FBFCF9"/>
          </a:solidFill>
          <a:ln w="15875">
            <a:solidFill>
              <a:srgbClr val="D7DED8"/>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18324A"/>
                </a:solidFill>
                <a:latin typeface="Aptos"/>
              </a:rPr>
              <a:t>Giải phóng tinh thần → tư hữu hóa mọi nguồn lực → tăng cạnh tranh bằng mọi giá.</a:t>
            </a:r>
          </a:p>
        </p:txBody>
      </p:sp>
      <p:sp>
        <p:nvSpPr>
          <p:cNvPr id="29" name="Oval 28">
            <a:hlinkClick r:id="rId3" action="ppaction://hlinksldjump"/>
          </p:cNvPr>
          <p:cNvSpPr/>
          <p:nvPr/>
        </p:nvSpPr>
        <p:spPr>
          <a:xfrm>
            <a:off x="5093208" y="3154679"/>
            <a:ext cx="402336" cy="402336"/>
          </a:xfrm>
          <a:prstGeom prst="ellipse">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E8177"/>
                </a:solidFill>
                <a:latin typeface="Trebuchet MS"/>
              </a:rPr>
              <a:t>B</a:t>
            </a:r>
          </a:p>
        </p:txBody>
      </p:sp>
      <p:sp>
        <p:nvSpPr>
          <p:cNvPr id="30" name="Đáp án C">
            <a:hlinkClick r:id="rId4" action="ppaction://hlinksldjump"/>
          </p:cNvPr>
          <p:cNvSpPr/>
          <p:nvPr/>
        </p:nvSpPr>
        <p:spPr>
          <a:xfrm>
            <a:off x="530352" y="4105656"/>
            <a:ext cx="4215384" cy="1170432"/>
          </a:xfrm>
          <a:prstGeom prst="roundRect">
            <a:avLst/>
          </a:prstGeom>
          <a:solidFill>
            <a:srgbClr val="FBFCF9"/>
          </a:solidFill>
          <a:ln w="15875">
            <a:solidFill>
              <a:srgbClr val="D7DED8"/>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18324A"/>
                </a:solidFill>
                <a:latin typeface="Aptos"/>
              </a:rPr>
              <a:t>Đổi mới công nghệ → tăng sản lượng → mở rộng tiêu dùng.</a:t>
            </a:r>
          </a:p>
        </p:txBody>
      </p:sp>
      <p:sp>
        <p:nvSpPr>
          <p:cNvPr id="31" name="Oval 30">
            <a:hlinkClick r:id="rId4" action="ppaction://hlinksldjump"/>
          </p:cNvPr>
          <p:cNvSpPr/>
          <p:nvPr/>
        </p:nvSpPr>
        <p:spPr>
          <a:xfrm>
            <a:off x="685800" y="4489704"/>
            <a:ext cx="402336" cy="402336"/>
          </a:xfrm>
          <a:prstGeom prst="ellipse">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E8177"/>
                </a:solidFill>
                <a:latin typeface="Trebuchet MS"/>
              </a:rPr>
              <a:t>C</a:t>
            </a:r>
          </a:p>
        </p:txBody>
      </p:sp>
      <p:sp>
        <p:nvSpPr>
          <p:cNvPr id="32" name="Đáp án D">
            <a:hlinkClick r:id="rId5" action="ppaction://hlinksldjump"/>
          </p:cNvPr>
          <p:cNvSpPr/>
          <p:nvPr/>
        </p:nvSpPr>
        <p:spPr>
          <a:xfrm>
            <a:off x="4937760" y="4105656"/>
            <a:ext cx="4279392" cy="1170432"/>
          </a:xfrm>
          <a:prstGeom prst="roundRect">
            <a:avLst/>
          </a:prstGeom>
          <a:solidFill>
            <a:srgbClr val="FBFCF9"/>
          </a:solidFill>
          <a:ln w="15875">
            <a:solidFill>
              <a:srgbClr val="D7DED8"/>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18324A"/>
                </a:solidFill>
                <a:latin typeface="Aptos"/>
              </a:rPr>
              <a:t>Cá nhân tự lực → xóa bỏ mọi quan hệ xã hội → đạt tự do tuyệt đối.</a:t>
            </a:r>
          </a:p>
        </p:txBody>
      </p:sp>
      <p:sp>
        <p:nvSpPr>
          <p:cNvPr id="33" name="Oval 32">
            <a:hlinkClick r:id="rId5" action="ppaction://hlinksldjump"/>
          </p:cNvPr>
          <p:cNvSpPr/>
          <p:nvPr/>
        </p:nvSpPr>
        <p:spPr>
          <a:xfrm>
            <a:off x="5093208" y="4489704"/>
            <a:ext cx="402336" cy="402336"/>
          </a:xfrm>
          <a:prstGeom prst="ellipse">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E8177"/>
                </a:solidFill>
                <a:latin typeface="Trebuchet MS"/>
              </a:rPr>
              <a:t>D</a:t>
            </a:r>
          </a:p>
        </p:txBody>
      </p:sp>
      <p:sp>
        <p:nvSpPr>
          <p:cNvPr id="34" name="TextBox 33"/>
          <p:cNvSpPr txBox="1"/>
          <p:nvPr/>
        </p:nvSpPr>
        <p:spPr>
          <a:xfrm>
            <a:off x="621792" y="5431536"/>
            <a:ext cx="8485632" cy="36576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080" b="1" i="0">
                <a:solidFill>
                  <a:srgbClr val="657883"/>
                </a:solidFill>
                <a:latin typeface="Trebuchet MS"/>
              </a:rPr>
              <a:t>CHỌN MỘT ĐÁP ÁN  ·  BẤM TRỰC TIẾP VÀO THẺ A / B / C / D</a:t>
            </a:r>
          </a:p>
        </p:txBody>
      </p:sp>
    </p:spTree>
  </p:cSld>
  <p:clrMapOvr>
    <a:masterClrMapping/>
  </p:clrMapOvr>
  <p:transition spd="med" advClick="0">
    <p:fade/>
  </p:transition>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05 / 05</a:t>
            </a:r>
          </a:p>
        </p:txBody>
      </p:sp>
      <p:sp>
        <p:nvSpPr>
          <p:cNvPr id="5" name="Rounded Rectangle 4"/>
          <p:cNvSpPr/>
          <p:nvPr/>
        </p:nvSpPr>
        <p:spPr>
          <a:xfrm>
            <a:off x="2240280" y="749808"/>
            <a:ext cx="1389888" cy="292608"/>
          </a:xfrm>
          <a:prstGeom prst="roundRect">
            <a:avLst/>
          </a:prstGeom>
          <a:solidFill>
            <a:srgbClr val="FFF0C2"/>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18324A"/>
                </a:solidFill>
                <a:latin typeface="Trebuchet MS"/>
              </a:rPr>
              <a:t>TRUNG BÌNH</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02 / 03</a:t>
            </a:r>
          </a:p>
        </p:txBody>
      </p:sp>
      <p:sp>
        <p:nvSpPr>
          <p:cNvPr id="7" name="Rounded Rectangle 6"/>
          <p:cNvSpPr/>
          <p:nvPr/>
        </p:nvSpPr>
        <p:spPr>
          <a:xfrm>
            <a:off x="7562088" y="749808"/>
            <a:ext cx="1581912" cy="292608"/>
          </a:xfrm>
          <a:prstGeom prst="roundRect">
            <a:avLst/>
          </a:prstGeom>
          <a:solidFill>
            <a:srgbClr val="D9F0E3"/>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1000" b="1" i="0">
                <a:solidFill>
                  <a:srgbClr val="2F9C72"/>
                </a:solidFill>
                <a:latin typeface="Trebuchet MS"/>
              </a:rPr>
              <a:t>CHÍNH XÁC!</a:t>
            </a:r>
          </a:p>
        </p:txBody>
      </p:sp>
      <p:sp>
        <p:nvSpPr>
          <p:cNvPr id="8"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1" name="TextBox 10"/>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2100" b="1" i="0">
                <a:solidFill>
                  <a:srgbClr val="FFFFFF"/>
                </a:solidFill>
                <a:latin typeface="Aptos"/>
              </a:rPr>
              <a:t>Quá trình giải phóng con người trong tư tưởng Mác – Lênin có thể khái quát theo ba nấc nào?</a:t>
            </a:r>
          </a:p>
        </p:txBody>
      </p:sp>
      <p:sp>
        <p:nvSpPr>
          <p:cNvPr id="12"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4" name="TextBox 13"/>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5" name="Rounded Rectangle 14"/>
          <p:cNvSpPr/>
          <p:nvPr/>
        </p:nvSpPr>
        <p:spPr>
          <a:xfrm>
            <a:off x="9646920" y="1371600"/>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01</a:t>
            </a:r>
          </a:p>
        </p:txBody>
      </p:sp>
      <p:sp>
        <p:nvSpPr>
          <p:cNvPr id="17" name="TextBox 16"/>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nhỏ</a:t>
            </a:r>
          </a:p>
        </p:txBody>
      </p:sp>
      <p:sp>
        <p:nvSpPr>
          <p:cNvPr id="18" name="Rounded Rectangle 17"/>
          <p:cNvSpPr/>
          <p:nvPr/>
        </p:nvSpPr>
        <p:spPr>
          <a:xfrm>
            <a:off x="9646920" y="2487168"/>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02</a:t>
            </a:r>
          </a:p>
        </p:txBody>
      </p:sp>
      <p:sp>
        <p:nvSpPr>
          <p:cNvPr id="20" name="TextBox 19"/>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vừa</a:t>
            </a:r>
          </a:p>
        </p:txBody>
      </p:sp>
      <p:sp>
        <p:nvSpPr>
          <p:cNvPr id="21" name="Rounded Rectangle 20"/>
          <p:cNvSpPr/>
          <p:nvPr/>
        </p:nvSpPr>
        <p:spPr>
          <a:xfrm>
            <a:off x="9646920" y="3602736"/>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03</a:t>
            </a:r>
          </a:p>
        </p:txBody>
      </p:sp>
      <p:sp>
        <p:nvSpPr>
          <p:cNvPr id="23" name="TextBox 22"/>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lớn</a:t>
            </a:r>
          </a:p>
        </p:txBody>
      </p:sp>
      <p:sp>
        <p:nvSpPr>
          <p:cNvPr id="24" name="TextBox 23"/>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MỐC VỪA CHẠM</a:t>
            </a:r>
          </a:p>
        </p:txBody>
      </p:sp>
      <p:sp>
        <p:nvSpPr>
          <p:cNvPr id="25" name="TextBox 24"/>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Quà vừa</a:t>
            </a:r>
          </a:p>
        </p:txBody>
      </p:sp>
      <p:sp>
        <p:nvSpPr>
          <p:cNvPr id="26" name="TextBox 25"/>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7" name="Đáp án A"/>
          <p:cNvSpPr/>
          <p:nvPr/>
        </p:nvSpPr>
        <p:spPr>
          <a:xfrm>
            <a:off x="530352" y="2770632"/>
            <a:ext cx="4215384" cy="1170432"/>
          </a:xfrm>
          <a:prstGeom prst="roundRect">
            <a:avLst/>
          </a:prstGeom>
          <a:solidFill>
            <a:srgbClr val="FFD05A"/>
          </a:solidFill>
          <a:ln w="15875">
            <a:solidFill>
              <a:srgbClr val="D9A92E"/>
            </a:solidFill>
          </a:ln>
          <a:effectLst>
            <a:glow rad="190000">
              <a:srgbClr val="FFD05A">
                <a:alpha val="52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380" b="1" i="0">
                <a:solidFill>
                  <a:srgbClr val="18324A"/>
                </a:solidFill>
                <a:latin typeface="Aptos"/>
              </a:rPr>
              <a:t>Giải phóng chính trị → giải phóng kinh tế – xã hội khỏi áp bức, bóc lột và tha hóa → tạo điều kiện phát triển tự do, toàn diện.</a:t>
            </a:r>
          </a:p>
        </p:txBody>
      </p:sp>
      <p:sp>
        <p:nvSpPr>
          <p:cNvPr id="28" name="Oval 27"/>
          <p:cNvSpPr/>
          <p:nvPr/>
        </p:nvSpPr>
        <p:spPr>
          <a:xfrm>
            <a:off x="685800" y="3154679"/>
            <a:ext cx="402336" cy="402336"/>
          </a:xfrm>
          <a:prstGeom prst="ellipse">
            <a:avLst/>
          </a:prstGeom>
          <a:solidFill>
            <a:srgbClr val="18324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FFD05A"/>
                </a:solidFill>
                <a:latin typeface="Trebuchet MS"/>
              </a:rPr>
              <a:t>A</a:t>
            </a:r>
          </a:p>
        </p:txBody>
      </p:sp>
      <p:sp>
        <p:nvSpPr>
          <p:cNvPr id="29" name="Đáp án B"/>
          <p:cNvSpPr/>
          <p:nvPr/>
        </p:nvSpPr>
        <p:spPr>
          <a:xfrm>
            <a:off x="4937760" y="2770632"/>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8A979B"/>
                </a:solidFill>
                <a:latin typeface="Aptos"/>
              </a:rPr>
              <a:t>Giải phóng tinh thần → tư hữu hóa mọi nguồn lực → tăng cạnh tranh bằng mọi giá.</a:t>
            </a:r>
          </a:p>
        </p:txBody>
      </p:sp>
      <p:sp>
        <p:nvSpPr>
          <p:cNvPr id="30" name="Oval 29"/>
          <p:cNvSpPr/>
          <p:nvPr/>
        </p:nvSpPr>
        <p:spPr>
          <a:xfrm>
            <a:off x="5093208" y="3154679"/>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B</a:t>
            </a:r>
          </a:p>
        </p:txBody>
      </p:sp>
      <p:sp>
        <p:nvSpPr>
          <p:cNvPr id="31" name="Đáp án C"/>
          <p:cNvSpPr/>
          <p:nvPr/>
        </p:nvSpPr>
        <p:spPr>
          <a:xfrm>
            <a:off x="530352" y="4105656"/>
            <a:ext cx="4215384"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Đổi mới công nghệ → tăng sản lượng → mở rộng tiêu dùng.</a:t>
            </a:r>
          </a:p>
        </p:txBody>
      </p:sp>
      <p:sp>
        <p:nvSpPr>
          <p:cNvPr id="32" name="Oval 31"/>
          <p:cNvSpPr/>
          <p:nvPr/>
        </p:nvSpPr>
        <p:spPr>
          <a:xfrm>
            <a:off x="685800"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C</a:t>
            </a:r>
          </a:p>
        </p:txBody>
      </p:sp>
      <p:sp>
        <p:nvSpPr>
          <p:cNvPr id="33" name="Đáp án D"/>
          <p:cNvSpPr/>
          <p:nvPr/>
        </p:nvSpPr>
        <p:spPr>
          <a:xfrm>
            <a:off x="4937760" y="4105656"/>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Cá nhân tự lực → xóa bỏ mọi quan hệ xã hội → đạt tự do tuyệt đối.</a:t>
            </a:r>
          </a:p>
        </p:txBody>
      </p:sp>
      <p:sp>
        <p:nvSpPr>
          <p:cNvPr id="34" name="Oval 33"/>
          <p:cNvSpPr/>
          <p:nvPr/>
        </p:nvSpPr>
        <p:spPr>
          <a:xfrm>
            <a:off x="5093208"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D</a:t>
            </a:r>
          </a:p>
        </p:txBody>
      </p:sp>
      <p:sp>
        <p:nvSpPr>
          <p:cNvPr id="35" name="Rounded Rectangle 34"/>
          <p:cNvSpPr/>
          <p:nvPr/>
        </p:nvSpPr>
        <p:spPr>
          <a:xfrm>
            <a:off x="530352" y="5431536"/>
            <a:ext cx="5989320" cy="868680"/>
          </a:xfrm>
          <a:prstGeom prst="roundRect">
            <a:avLst/>
          </a:prstGeom>
          <a:solidFill>
            <a:srgbClr val="D9F0E3"/>
          </a:solidFill>
          <a:ln w="12700">
            <a:solidFill>
              <a:srgbClr val="D7E6DC"/>
            </a:solidFill>
          </a:ln>
        </p:spPr>
        <p:style>
          <a:lnRef idx="1">
            <a:schemeClr val="accent1"/>
          </a:lnRef>
          <a:fillRef idx="3">
            <a:schemeClr val="accent1"/>
          </a:fillRef>
          <a:effectRef idx="2">
            <a:schemeClr val="accent1"/>
          </a:effectRef>
          <a:fontRef idx="minor">
            <a:schemeClr val="lt1"/>
          </a:fontRef>
        </p:style>
        <p:txBody>
          <a:bodyPr wrap="square" lIns="109728" tIns="60350" rIns="109728" bIns="60350" rtlCol="0" anchor="ctr"/>
          <a:lstStyle/>
          <a:p>
            <a:pPr algn="l">
              <a:lnSpc>
                <a:spcPct val="100000"/>
              </a:lnSpc>
              <a:spcBef>
                <a:spcPts val="0"/>
              </a:spcBef>
              <a:spcAft>
                <a:spcPts val="0"/>
              </a:spcAft>
            </a:pPr>
            <a:r>
              <a:rPr sz="1130" b="0" i="0">
                <a:solidFill>
                  <a:srgbClr val="18324A"/>
                </a:solidFill>
                <a:latin typeface="Aptos"/>
              </a:rPr>
              <a:t>MỐC 2 ĐÃ CHINH PHỤC  ·  Quà vừa
Giải phóng chính trị là bước đầu; giải phóng kinh tế – xã hội và xây dựng điều kiện phát triển toàn diện là những bước sâu hơn.</a:t>
            </a:r>
          </a:p>
        </p:txBody>
      </p:sp>
      <p:sp>
        <p:nvSpPr>
          <p:cNvPr id="36" name="Nút: CÂU TIẾP THEO  →">
            <a:hlinkClick r:id="rId3" action="ppaction://hlinksldjump"/>
          </p:cNvPr>
          <p:cNvSpPr/>
          <p:nvPr/>
        </p:nvSpPr>
        <p:spPr>
          <a:xfrm>
            <a:off x="6711696" y="5431536"/>
            <a:ext cx="2505456" cy="868680"/>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240" b="1" i="0">
                <a:solidFill>
                  <a:srgbClr val="18324A"/>
                </a:solidFill>
                <a:latin typeface="Trebuchet MS"/>
              </a:rPr>
              <a:t>CÂU TIẾP THEO  →</a:t>
            </a:r>
          </a:p>
        </p:txBody>
      </p:sp>
    </p:spTree>
  </p:cSld>
  <p:clrMapOvr>
    <a:masterClrMapping/>
  </p:clrMapOvr>
  <p:transition spd="med" advClick="0">
    <p:sndAc>
      <p:stSnd>
        <p:snd r:embed="rId2" name="Correct answer chime"/>
      </p:stSnd>
    </p:sndAc>
  </p:transition>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05 / 05</a:t>
            </a:r>
          </a:p>
        </p:txBody>
      </p:sp>
      <p:sp>
        <p:nvSpPr>
          <p:cNvPr id="5" name="Rounded Rectangle 4"/>
          <p:cNvSpPr/>
          <p:nvPr/>
        </p:nvSpPr>
        <p:spPr>
          <a:xfrm>
            <a:off x="2240280" y="749808"/>
            <a:ext cx="1389888" cy="292608"/>
          </a:xfrm>
          <a:prstGeom prst="roundRect">
            <a:avLst/>
          </a:prstGeom>
          <a:solidFill>
            <a:srgbClr val="FFF0C2"/>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18324A"/>
                </a:solidFill>
                <a:latin typeface="Trebuchet MS"/>
              </a:rPr>
              <a:t>TRUNG BÌNH</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02 / 03</a:t>
            </a:r>
          </a:p>
        </p:txBody>
      </p:sp>
      <p:sp>
        <p:nvSpPr>
          <p:cNvPr id="7" name="Rounded Rectangle 6"/>
          <p:cNvSpPr/>
          <p:nvPr/>
        </p:nvSpPr>
        <p:spPr>
          <a:xfrm>
            <a:off x="7562088" y="749808"/>
            <a:ext cx="1581912" cy="292608"/>
          </a:xfrm>
          <a:prstGeom prst="roundRect">
            <a:avLst/>
          </a:prstGeom>
          <a:solidFill>
            <a:srgbClr val="FBE3E3"/>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1000" b="1" i="0">
                <a:solidFill>
                  <a:srgbClr val="B8424C"/>
                </a:solidFill>
                <a:latin typeface="Trebuchet MS"/>
              </a:rPr>
              <a:t>RẤT TIẾC!</a:t>
            </a:r>
          </a:p>
        </p:txBody>
      </p:sp>
      <p:sp>
        <p:nvSpPr>
          <p:cNvPr id="8"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1" name="TextBox 10"/>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2100" b="1" i="0">
                <a:solidFill>
                  <a:srgbClr val="FFFFFF"/>
                </a:solidFill>
                <a:latin typeface="Aptos"/>
              </a:rPr>
              <a:t>Quá trình giải phóng con người trong tư tưởng Mác – Lênin có thể khái quát theo ba nấc nào?</a:t>
            </a:r>
          </a:p>
        </p:txBody>
      </p:sp>
      <p:sp>
        <p:nvSpPr>
          <p:cNvPr id="12"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4" name="TextBox 13"/>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5" name="Rounded Rectangle 14"/>
          <p:cNvSpPr/>
          <p:nvPr/>
        </p:nvSpPr>
        <p:spPr>
          <a:xfrm>
            <a:off x="9646920" y="1371600"/>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01</a:t>
            </a:r>
          </a:p>
        </p:txBody>
      </p:sp>
      <p:sp>
        <p:nvSpPr>
          <p:cNvPr id="17" name="TextBox 16"/>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nhỏ</a:t>
            </a:r>
          </a:p>
        </p:txBody>
      </p:sp>
      <p:sp>
        <p:nvSpPr>
          <p:cNvPr id="18" name="Rounded Rectangle 17"/>
          <p:cNvSpPr/>
          <p:nvPr/>
        </p:nvSpPr>
        <p:spPr>
          <a:xfrm>
            <a:off x="9646920" y="2487168"/>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02</a:t>
            </a:r>
          </a:p>
        </p:txBody>
      </p:sp>
      <p:sp>
        <p:nvSpPr>
          <p:cNvPr id="20" name="TextBox 19"/>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vừa</a:t>
            </a:r>
          </a:p>
        </p:txBody>
      </p:sp>
      <p:sp>
        <p:nvSpPr>
          <p:cNvPr id="21" name="Rounded Rectangle 20"/>
          <p:cNvSpPr/>
          <p:nvPr/>
        </p:nvSpPr>
        <p:spPr>
          <a:xfrm>
            <a:off x="9646920" y="3602736"/>
            <a:ext cx="1956816" cy="877824"/>
          </a:xfrm>
          <a:prstGeom prst="roundRect">
            <a:avLst/>
          </a:prstGeom>
          <a:solidFill>
            <a:srgbClr val="263F53"/>
          </a:solidFill>
          <a:ln w="12700">
            <a:solidFill>
              <a:srgbClr val="4059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B9C7CC"/>
                </a:solidFill>
                <a:latin typeface="Trebuchet MS"/>
              </a:rPr>
              <a:t>CHƯA MỞ  ·  CÂU 03</a:t>
            </a:r>
          </a:p>
        </p:txBody>
      </p:sp>
      <p:sp>
        <p:nvSpPr>
          <p:cNvPr id="23" name="TextBox 22"/>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B9C7CC"/>
                </a:solidFill>
                <a:latin typeface="Trebuchet MS"/>
              </a:rPr>
              <a:t>Quà lớn</a:t>
            </a:r>
          </a:p>
        </p:txBody>
      </p:sp>
      <p:sp>
        <p:nvSpPr>
          <p:cNvPr id="24" name="TextBox 23"/>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QUÀ GIỮ LẠI</a:t>
            </a:r>
          </a:p>
        </p:txBody>
      </p:sp>
      <p:sp>
        <p:nvSpPr>
          <p:cNvPr id="25" name="TextBox 24"/>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Quà nhỏ</a:t>
            </a:r>
          </a:p>
        </p:txBody>
      </p:sp>
      <p:sp>
        <p:nvSpPr>
          <p:cNvPr id="26" name="TextBox 25"/>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7" name="Đáp án A"/>
          <p:cNvSpPr/>
          <p:nvPr/>
        </p:nvSpPr>
        <p:spPr>
          <a:xfrm>
            <a:off x="530352" y="2770632"/>
            <a:ext cx="4215384" cy="1170432"/>
          </a:xfrm>
          <a:prstGeom prst="roundRect">
            <a:avLst/>
          </a:prstGeom>
          <a:solidFill>
            <a:srgbClr val="2F9C72"/>
          </a:solidFill>
          <a:ln w="15875">
            <a:solidFill>
              <a:srgbClr val="2F9C72"/>
            </a:solidFill>
          </a:ln>
          <a:effectLst>
            <a:glow rad="190000">
              <a:srgbClr val="73D9A5">
                <a:alpha val="52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380" b="1" i="0">
                <a:solidFill>
                  <a:srgbClr val="FFFFFF"/>
                </a:solidFill>
                <a:latin typeface="Aptos"/>
              </a:rPr>
              <a:t>Giải phóng chính trị → giải phóng kinh tế – xã hội khỏi áp bức, bóc lột và tha hóa → tạo điều kiện phát triển tự do, toàn diện.</a:t>
            </a:r>
          </a:p>
        </p:txBody>
      </p:sp>
      <p:sp>
        <p:nvSpPr>
          <p:cNvPr id="28" name="Oval 27"/>
          <p:cNvSpPr/>
          <p:nvPr/>
        </p:nvSpPr>
        <p:spPr>
          <a:xfrm>
            <a:off x="685800" y="3154679"/>
            <a:ext cx="402336" cy="402336"/>
          </a:xfrm>
          <a:prstGeom prst="ellipse">
            <a:avLst/>
          </a:prstGeom>
          <a:solidFill>
            <a:srgbClr val="FFFFFF"/>
          </a:solidFill>
          <a:ln w="12700">
            <a:solidFill>
              <a:srgbClr val="2F9C72"/>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F9C72"/>
                </a:solidFill>
                <a:latin typeface="Trebuchet MS"/>
              </a:rPr>
              <a:t>A</a:t>
            </a:r>
          </a:p>
        </p:txBody>
      </p:sp>
      <p:sp>
        <p:nvSpPr>
          <p:cNvPr id="29" name="Đáp án B"/>
          <p:cNvSpPr/>
          <p:nvPr/>
        </p:nvSpPr>
        <p:spPr>
          <a:xfrm>
            <a:off x="4937760" y="2770632"/>
            <a:ext cx="4279392" cy="1170432"/>
          </a:xfrm>
          <a:prstGeom prst="roundRect">
            <a:avLst/>
          </a:prstGeom>
          <a:solidFill>
            <a:srgbClr val="E45C64"/>
          </a:solidFill>
          <a:ln w="15875">
            <a:solidFill>
              <a:srgbClr val="B8424C"/>
            </a:solidFill>
          </a:ln>
          <a:effectLst>
            <a:glow rad="110000">
              <a:srgbClr val="E45C64">
                <a:alpha val="35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1" i="0">
                <a:solidFill>
                  <a:srgbClr val="FFFFFF"/>
                </a:solidFill>
                <a:latin typeface="Aptos"/>
              </a:rPr>
              <a:t>Giải phóng tinh thần → tư hữu hóa mọi nguồn lực → tăng cạnh tranh bằng mọi giá.</a:t>
            </a:r>
          </a:p>
        </p:txBody>
      </p:sp>
      <p:sp>
        <p:nvSpPr>
          <p:cNvPr id="30" name="Oval 29"/>
          <p:cNvSpPr/>
          <p:nvPr/>
        </p:nvSpPr>
        <p:spPr>
          <a:xfrm>
            <a:off x="5093208" y="3154679"/>
            <a:ext cx="402336" cy="402336"/>
          </a:xfrm>
          <a:prstGeom prst="ellipse">
            <a:avLst/>
          </a:prstGeom>
          <a:solidFill>
            <a:srgbClr val="FFFFFF"/>
          </a:solidFill>
          <a:ln w="12700">
            <a:solidFill>
              <a:srgbClr val="B8424C"/>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B8424C"/>
                </a:solidFill>
                <a:latin typeface="Trebuchet MS"/>
              </a:rPr>
              <a:t>B</a:t>
            </a:r>
          </a:p>
        </p:txBody>
      </p:sp>
      <p:cxnSp>
        <p:nvCxnSpPr>
          <p:cNvPr id="31" name="Connector 30"/>
          <p:cNvCxnSpPr/>
          <p:nvPr/>
        </p:nvCxnSpPr>
        <p:spPr>
          <a:xfrm>
            <a:off x="4846320" y="297180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4846320" y="3264408"/>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846320" y="3557016"/>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9235440" y="297180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235440" y="3264408"/>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9235440" y="3557016"/>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sp>
        <p:nvSpPr>
          <p:cNvPr id="37" name="Đáp án C"/>
          <p:cNvSpPr/>
          <p:nvPr/>
        </p:nvSpPr>
        <p:spPr>
          <a:xfrm>
            <a:off x="530352" y="4105656"/>
            <a:ext cx="4215384"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Đổi mới công nghệ → tăng sản lượng → mở rộng tiêu dùng.</a:t>
            </a:r>
          </a:p>
        </p:txBody>
      </p:sp>
      <p:sp>
        <p:nvSpPr>
          <p:cNvPr id="38" name="Oval 37"/>
          <p:cNvSpPr/>
          <p:nvPr/>
        </p:nvSpPr>
        <p:spPr>
          <a:xfrm>
            <a:off x="685800"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C</a:t>
            </a:r>
          </a:p>
        </p:txBody>
      </p:sp>
      <p:sp>
        <p:nvSpPr>
          <p:cNvPr id="39" name="Đáp án D"/>
          <p:cNvSpPr/>
          <p:nvPr/>
        </p:nvSpPr>
        <p:spPr>
          <a:xfrm>
            <a:off x="4937760" y="4105656"/>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Cá nhân tự lực → xóa bỏ mọi quan hệ xã hội → đạt tự do tuyệt đối.</a:t>
            </a:r>
          </a:p>
        </p:txBody>
      </p:sp>
      <p:sp>
        <p:nvSpPr>
          <p:cNvPr id="40" name="Oval 39"/>
          <p:cNvSpPr/>
          <p:nvPr/>
        </p:nvSpPr>
        <p:spPr>
          <a:xfrm>
            <a:off x="5093208"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D</a:t>
            </a:r>
          </a:p>
        </p:txBody>
      </p:sp>
      <p:sp>
        <p:nvSpPr>
          <p:cNvPr id="41" name="Rounded Rectangle 40"/>
          <p:cNvSpPr/>
          <p:nvPr/>
        </p:nvSpPr>
        <p:spPr>
          <a:xfrm>
            <a:off x="530352" y="5431536"/>
            <a:ext cx="5989320" cy="868680"/>
          </a:xfrm>
          <a:prstGeom prst="roundRect">
            <a:avLst/>
          </a:prstGeom>
          <a:solidFill>
            <a:srgbClr val="FBE5E3"/>
          </a:solidFill>
          <a:ln w="12700">
            <a:solidFill>
              <a:srgbClr val="F0C7C4"/>
            </a:solid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l">
              <a:lnSpc>
                <a:spcPct val="100000"/>
              </a:lnSpc>
              <a:spcBef>
                <a:spcPts val="0"/>
              </a:spcBef>
              <a:spcAft>
                <a:spcPts val="0"/>
              </a:spcAft>
            </a:pPr>
            <a:r>
              <a:rPr sz="980" b="1" i="0">
                <a:solidFill>
                  <a:srgbClr val="18324A"/>
                </a:solidFill>
                <a:latin typeface="Aptos"/>
              </a:rPr>
              <a:t>BẠN CHỌN: B  ·  ĐÁP ÁN ĐÚNG: A
Giải phóng chính trị → giải phóng kinh tế – xã hội khỏi áp bức, bóc lột và tha hóa → tạo điều kiện phát triển tự do, toàn diện.
QUÀ ĐẠT ĐƯỢC LƯỢT NÀY: Quà nhỏ</a:t>
            </a:r>
          </a:p>
        </p:txBody>
      </p:sp>
      <p:sp>
        <p:nvSpPr>
          <p:cNvPr id="42" name="Nút: XEM BẢNG KẾT QUẢ  →">
            <a:hlinkClick r:id="" action="ppaction://noaction"/>
          </p:cNvPr>
          <p:cNvSpPr/>
          <p:nvPr/>
        </p:nvSpPr>
        <p:spPr>
          <a:xfrm>
            <a:off x="6711696" y="5431536"/>
            <a:ext cx="2505456" cy="86868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240" b="1" i="0">
                <a:solidFill>
                  <a:srgbClr val="FFFFFF"/>
                </a:solidFill>
                <a:latin typeface="Trebuchet MS"/>
              </a:rPr>
              <a:t>XEM BẢNG KẾT QUẢ  →</a:t>
            </a:r>
          </a:p>
        </p:txBody>
      </p:sp>
    </p:spTree>
  </p:cSld>
  <p:clrMapOvr>
    <a:masterClrMapping/>
  </p:clrMapOvr>
  <p:transition spd="med" advClick="0">
    <p:fade/>
  </p:transition>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05 / 05</a:t>
            </a:r>
          </a:p>
        </p:txBody>
      </p:sp>
      <p:sp>
        <p:nvSpPr>
          <p:cNvPr id="5" name="Rounded Rectangle 4"/>
          <p:cNvSpPr/>
          <p:nvPr/>
        </p:nvSpPr>
        <p:spPr>
          <a:xfrm>
            <a:off x="2240280" y="749808"/>
            <a:ext cx="1389888" cy="292608"/>
          </a:xfrm>
          <a:prstGeom prst="roundRect">
            <a:avLst/>
          </a:prstGeom>
          <a:solidFill>
            <a:srgbClr val="FFF0C2"/>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18324A"/>
                </a:solidFill>
                <a:latin typeface="Trebuchet MS"/>
              </a:rPr>
              <a:t>TRUNG BÌNH</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02 / 03</a:t>
            </a:r>
          </a:p>
        </p:txBody>
      </p:sp>
      <p:sp>
        <p:nvSpPr>
          <p:cNvPr id="7" name="Rounded Rectangle 6"/>
          <p:cNvSpPr/>
          <p:nvPr/>
        </p:nvSpPr>
        <p:spPr>
          <a:xfrm>
            <a:off x="7562088" y="749808"/>
            <a:ext cx="1581912" cy="292608"/>
          </a:xfrm>
          <a:prstGeom prst="roundRect">
            <a:avLst/>
          </a:prstGeom>
          <a:solidFill>
            <a:srgbClr val="FBE3E3"/>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1000" b="1" i="0">
                <a:solidFill>
                  <a:srgbClr val="B8424C"/>
                </a:solidFill>
                <a:latin typeface="Trebuchet MS"/>
              </a:rPr>
              <a:t>RẤT TIẾC!</a:t>
            </a:r>
          </a:p>
        </p:txBody>
      </p:sp>
      <p:sp>
        <p:nvSpPr>
          <p:cNvPr id="8"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1" name="TextBox 10"/>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2100" b="1" i="0">
                <a:solidFill>
                  <a:srgbClr val="FFFFFF"/>
                </a:solidFill>
                <a:latin typeface="Aptos"/>
              </a:rPr>
              <a:t>Quá trình giải phóng con người trong tư tưởng Mác – Lênin có thể khái quát theo ba nấc nào?</a:t>
            </a:r>
          </a:p>
        </p:txBody>
      </p:sp>
      <p:sp>
        <p:nvSpPr>
          <p:cNvPr id="12"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4" name="TextBox 13"/>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5" name="Rounded Rectangle 14"/>
          <p:cNvSpPr/>
          <p:nvPr/>
        </p:nvSpPr>
        <p:spPr>
          <a:xfrm>
            <a:off x="9646920" y="1371600"/>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01</a:t>
            </a:r>
          </a:p>
        </p:txBody>
      </p:sp>
      <p:sp>
        <p:nvSpPr>
          <p:cNvPr id="17" name="TextBox 16"/>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nhỏ</a:t>
            </a:r>
          </a:p>
        </p:txBody>
      </p:sp>
      <p:sp>
        <p:nvSpPr>
          <p:cNvPr id="18" name="Rounded Rectangle 17"/>
          <p:cNvSpPr/>
          <p:nvPr/>
        </p:nvSpPr>
        <p:spPr>
          <a:xfrm>
            <a:off x="9646920" y="2487168"/>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02</a:t>
            </a:r>
          </a:p>
        </p:txBody>
      </p:sp>
      <p:sp>
        <p:nvSpPr>
          <p:cNvPr id="20" name="TextBox 19"/>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vừa</a:t>
            </a:r>
          </a:p>
        </p:txBody>
      </p:sp>
      <p:sp>
        <p:nvSpPr>
          <p:cNvPr id="21" name="Rounded Rectangle 20"/>
          <p:cNvSpPr/>
          <p:nvPr/>
        </p:nvSpPr>
        <p:spPr>
          <a:xfrm>
            <a:off x="9646920" y="3602736"/>
            <a:ext cx="1956816" cy="877824"/>
          </a:xfrm>
          <a:prstGeom prst="roundRect">
            <a:avLst/>
          </a:prstGeom>
          <a:solidFill>
            <a:srgbClr val="263F53"/>
          </a:solidFill>
          <a:ln w="12700">
            <a:solidFill>
              <a:srgbClr val="4059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B9C7CC"/>
                </a:solidFill>
                <a:latin typeface="Trebuchet MS"/>
              </a:rPr>
              <a:t>CHƯA MỞ  ·  CÂU 03</a:t>
            </a:r>
          </a:p>
        </p:txBody>
      </p:sp>
      <p:sp>
        <p:nvSpPr>
          <p:cNvPr id="23" name="TextBox 22"/>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B9C7CC"/>
                </a:solidFill>
                <a:latin typeface="Trebuchet MS"/>
              </a:rPr>
              <a:t>Quà lớn</a:t>
            </a:r>
          </a:p>
        </p:txBody>
      </p:sp>
      <p:sp>
        <p:nvSpPr>
          <p:cNvPr id="24" name="TextBox 23"/>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QUÀ GIỮ LẠI</a:t>
            </a:r>
          </a:p>
        </p:txBody>
      </p:sp>
      <p:sp>
        <p:nvSpPr>
          <p:cNvPr id="25" name="TextBox 24"/>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Quà nhỏ</a:t>
            </a:r>
          </a:p>
        </p:txBody>
      </p:sp>
      <p:sp>
        <p:nvSpPr>
          <p:cNvPr id="26" name="TextBox 25"/>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7" name="Đáp án A"/>
          <p:cNvSpPr/>
          <p:nvPr/>
        </p:nvSpPr>
        <p:spPr>
          <a:xfrm>
            <a:off x="530352" y="2770632"/>
            <a:ext cx="4215384" cy="1170432"/>
          </a:xfrm>
          <a:prstGeom prst="roundRect">
            <a:avLst/>
          </a:prstGeom>
          <a:solidFill>
            <a:srgbClr val="2F9C72"/>
          </a:solidFill>
          <a:ln w="15875">
            <a:solidFill>
              <a:srgbClr val="2F9C72"/>
            </a:solidFill>
          </a:ln>
          <a:effectLst>
            <a:glow rad="190000">
              <a:srgbClr val="73D9A5">
                <a:alpha val="52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380" b="1" i="0">
                <a:solidFill>
                  <a:srgbClr val="FFFFFF"/>
                </a:solidFill>
                <a:latin typeface="Aptos"/>
              </a:rPr>
              <a:t>Giải phóng chính trị → giải phóng kinh tế – xã hội khỏi áp bức, bóc lột và tha hóa → tạo điều kiện phát triển tự do, toàn diện.</a:t>
            </a:r>
          </a:p>
        </p:txBody>
      </p:sp>
      <p:sp>
        <p:nvSpPr>
          <p:cNvPr id="28" name="Oval 27"/>
          <p:cNvSpPr/>
          <p:nvPr/>
        </p:nvSpPr>
        <p:spPr>
          <a:xfrm>
            <a:off x="685800" y="3154679"/>
            <a:ext cx="402336" cy="402336"/>
          </a:xfrm>
          <a:prstGeom prst="ellipse">
            <a:avLst/>
          </a:prstGeom>
          <a:solidFill>
            <a:srgbClr val="FFFFFF"/>
          </a:solidFill>
          <a:ln w="12700">
            <a:solidFill>
              <a:srgbClr val="2F9C72"/>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F9C72"/>
                </a:solidFill>
                <a:latin typeface="Trebuchet MS"/>
              </a:rPr>
              <a:t>A</a:t>
            </a:r>
          </a:p>
        </p:txBody>
      </p:sp>
      <p:sp>
        <p:nvSpPr>
          <p:cNvPr id="29" name="Đáp án B"/>
          <p:cNvSpPr/>
          <p:nvPr/>
        </p:nvSpPr>
        <p:spPr>
          <a:xfrm>
            <a:off x="4937760" y="2770632"/>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8A979B"/>
                </a:solidFill>
                <a:latin typeface="Aptos"/>
              </a:rPr>
              <a:t>Giải phóng tinh thần → tư hữu hóa mọi nguồn lực → tăng cạnh tranh bằng mọi giá.</a:t>
            </a:r>
          </a:p>
        </p:txBody>
      </p:sp>
      <p:sp>
        <p:nvSpPr>
          <p:cNvPr id="30" name="Oval 29"/>
          <p:cNvSpPr/>
          <p:nvPr/>
        </p:nvSpPr>
        <p:spPr>
          <a:xfrm>
            <a:off x="5093208" y="3154679"/>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B</a:t>
            </a:r>
          </a:p>
        </p:txBody>
      </p:sp>
      <p:sp>
        <p:nvSpPr>
          <p:cNvPr id="31" name="Đáp án C"/>
          <p:cNvSpPr/>
          <p:nvPr/>
        </p:nvSpPr>
        <p:spPr>
          <a:xfrm>
            <a:off x="530352" y="4105656"/>
            <a:ext cx="4215384" cy="1170432"/>
          </a:xfrm>
          <a:prstGeom prst="roundRect">
            <a:avLst/>
          </a:prstGeom>
          <a:solidFill>
            <a:srgbClr val="E45C64"/>
          </a:solidFill>
          <a:ln w="15875">
            <a:solidFill>
              <a:srgbClr val="B8424C"/>
            </a:solidFill>
          </a:ln>
          <a:effectLst>
            <a:glow rad="110000">
              <a:srgbClr val="E45C64">
                <a:alpha val="35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1" i="0">
                <a:solidFill>
                  <a:srgbClr val="FFFFFF"/>
                </a:solidFill>
                <a:latin typeface="Aptos"/>
              </a:rPr>
              <a:t>Đổi mới công nghệ → tăng sản lượng → mở rộng tiêu dùng.</a:t>
            </a:r>
          </a:p>
        </p:txBody>
      </p:sp>
      <p:sp>
        <p:nvSpPr>
          <p:cNvPr id="32" name="Oval 31"/>
          <p:cNvSpPr/>
          <p:nvPr/>
        </p:nvSpPr>
        <p:spPr>
          <a:xfrm>
            <a:off x="685800" y="4489704"/>
            <a:ext cx="402336" cy="402336"/>
          </a:xfrm>
          <a:prstGeom prst="ellipse">
            <a:avLst/>
          </a:prstGeom>
          <a:solidFill>
            <a:srgbClr val="FFFFFF"/>
          </a:solidFill>
          <a:ln w="12700">
            <a:solidFill>
              <a:srgbClr val="B8424C"/>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B8424C"/>
                </a:solidFill>
                <a:latin typeface="Trebuchet MS"/>
              </a:rPr>
              <a:t>C</a:t>
            </a:r>
          </a:p>
        </p:txBody>
      </p:sp>
      <p:cxnSp>
        <p:nvCxnSpPr>
          <p:cNvPr id="33" name="Connector 32"/>
          <p:cNvCxnSpPr/>
          <p:nvPr/>
        </p:nvCxnSpPr>
        <p:spPr>
          <a:xfrm>
            <a:off x="438912" y="4306824"/>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38912" y="4599432"/>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38912" y="489204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4764024" y="4306824"/>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764024" y="4599432"/>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764024" y="489204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sp>
        <p:nvSpPr>
          <p:cNvPr id="39" name="Đáp án D"/>
          <p:cNvSpPr/>
          <p:nvPr/>
        </p:nvSpPr>
        <p:spPr>
          <a:xfrm>
            <a:off x="4937760" y="4105656"/>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Cá nhân tự lực → xóa bỏ mọi quan hệ xã hội → đạt tự do tuyệt đối.</a:t>
            </a:r>
          </a:p>
        </p:txBody>
      </p:sp>
      <p:sp>
        <p:nvSpPr>
          <p:cNvPr id="40" name="Oval 39"/>
          <p:cNvSpPr/>
          <p:nvPr/>
        </p:nvSpPr>
        <p:spPr>
          <a:xfrm>
            <a:off x="5093208"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D</a:t>
            </a:r>
          </a:p>
        </p:txBody>
      </p:sp>
      <p:sp>
        <p:nvSpPr>
          <p:cNvPr id="41" name="Rounded Rectangle 40"/>
          <p:cNvSpPr/>
          <p:nvPr/>
        </p:nvSpPr>
        <p:spPr>
          <a:xfrm>
            <a:off x="530352" y="5431536"/>
            <a:ext cx="5989320" cy="868680"/>
          </a:xfrm>
          <a:prstGeom prst="roundRect">
            <a:avLst/>
          </a:prstGeom>
          <a:solidFill>
            <a:srgbClr val="FBE5E3"/>
          </a:solidFill>
          <a:ln w="12700">
            <a:solidFill>
              <a:srgbClr val="F0C7C4"/>
            </a:solid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l">
              <a:lnSpc>
                <a:spcPct val="100000"/>
              </a:lnSpc>
              <a:spcBef>
                <a:spcPts val="0"/>
              </a:spcBef>
              <a:spcAft>
                <a:spcPts val="0"/>
              </a:spcAft>
            </a:pPr>
            <a:r>
              <a:rPr sz="980" b="1" i="0">
                <a:solidFill>
                  <a:srgbClr val="18324A"/>
                </a:solidFill>
                <a:latin typeface="Aptos"/>
              </a:rPr>
              <a:t>BẠN CHỌN: C  ·  ĐÁP ÁN ĐÚNG: A
Giải phóng chính trị → giải phóng kinh tế – xã hội khỏi áp bức, bóc lột và tha hóa → tạo điều kiện phát triển tự do, toàn diện.
QUÀ ĐẠT ĐƯỢC LƯỢT NÀY: Quà nhỏ</a:t>
            </a:r>
          </a:p>
        </p:txBody>
      </p:sp>
      <p:sp>
        <p:nvSpPr>
          <p:cNvPr id="42" name="Nút: XEM BẢNG KẾT QUẢ  →">
            <a:hlinkClick r:id="" action="ppaction://noaction"/>
          </p:cNvPr>
          <p:cNvSpPr/>
          <p:nvPr/>
        </p:nvSpPr>
        <p:spPr>
          <a:xfrm>
            <a:off x="6711696" y="5431536"/>
            <a:ext cx="2505456" cy="86868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240" b="1" i="0">
                <a:solidFill>
                  <a:srgbClr val="FFFFFF"/>
                </a:solidFill>
                <a:latin typeface="Trebuchet MS"/>
              </a:rPr>
              <a:t>XEM BẢNG KẾT QUẢ  →</a:t>
            </a:r>
          </a:p>
        </p:txBody>
      </p:sp>
    </p:spTree>
  </p:cSld>
  <p:clrMapOvr>
    <a:masterClrMapping/>
  </p:clrMapOvr>
  <p:transition spd="med" advClick="0">
    <p:fade/>
  </p:transition>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05 / 05</a:t>
            </a:r>
          </a:p>
        </p:txBody>
      </p:sp>
      <p:sp>
        <p:nvSpPr>
          <p:cNvPr id="5" name="Rounded Rectangle 4"/>
          <p:cNvSpPr/>
          <p:nvPr/>
        </p:nvSpPr>
        <p:spPr>
          <a:xfrm>
            <a:off x="2240280" y="749808"/>
            <a:ext cx="1389888" cy="292608"/>
          </a:xfrm>
          <a:prstGeom prst="roundRect">
            <a:avLst/>
          </a:prstGeom>
          <a:solidFill>
            <a:srgbClr val="FFF0C2"/>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18324A"/>
                </a:solidFill>
                <a:latin typeface="Trebuchet MS"/>
              </a:rPr>
              <a:t>TRUNG BÌNH</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02 / 03</a:t>
            </a:r>
          </a:p>
        </p:txBody>
      </p:sp>
      <p:sp>
        <p:nvSpPr>
          <p:cNvPr id="7" name="Rounded Rectangle 6"/>
          <p:cNvSpPr/>
          <p:nvPr/>
        </p:nvSpPr>
        <p:spPr>
          <a:xfrm>
            <a:off x="7562088" y="749808"/>
            <a:ext cx="1581912" cy="292608"/>
          </a:xfrm>
          <a:prstGeom prst="roundRect">
            <a:avLst/>
          </a:prstGeom>
          <a:solidFill>
            <a:srgbClr val="FBE3E3"/>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1000" b="1" i="0">
                <a:solidFill>
                  <a:srgbClr val="B8424C"/>
                </a:solidFill>
                <a:latin typeface="Trebuchet MS"/>
              </a:rPr>
              <a:t>RẤT TIẾC!</a:t>
            </a:r>
          </a:p>
        </p:txBody>
      </p:sp>
      <p:sp>
        <p:nvSpPr>
          <p:cNvPr id="8"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1" name="TextBox 10"/>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2100" b="1" i="0">
                <a:solidFill>
                  <a:srgbClr val="FFFFFF"/>
                </a:solidFill>
                <a:latin typeface="Aptos"/>
              </a:rPr>
              <a:t>Quá trình giải phóng con người trong tư tưởng Mác – Lênin có thể khái quát theo ba nấc nào?</a:t>
            </a:r>
          </a:p>
        </p:txBody>
      </p:sp>
      <p:sp>
        <p:nvSpPr>
          <p:cNvPr id="12"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4" name="TextBox 13"/>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5" name="Rounded Rectangle 14"/>
          <p:cNvSpPr/>
          <p:nvPr/>
        </p:nvSpPr>
        <p:spPr>
          <a:xfrm>
            <a:off x="9646920" y="1371600"/>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01</a:t>
            </a:r>
          </a:p>
        </p:txBody>
      </p:sp>
      <p:sp>
        <p:nvSpPr>
          <p:cNvPr id="17" name="TextBox 16"/>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nhỏ</a:t>
            </a:r>
          </a:p>
        </p:txBody>
      </p:sp>
      <p:sp>
        <p:nvSpPr>
          <p:cNvPr id="18" name="Rounded Rectangle 17"/>
          <p:cNvSpPr/>
          <p:nvPr/>
        </p:nvSpPr>
        <p:spPr>
          <a:xfrm>
            <a:off x="9646920" y="2487168"/>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02</a:t>
            </a:r>
          </a:p>
        </p:txBody>
      </p:sp>
      <p:sp>
        <p:nvSpPr>
          <p:cNvPr id="20" name="TextBox 19"/>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vừa</a:t>
            </a:r>
          </a:p>
        </p:txBody>
      </p:sp>
      <p:sp>
        <p:nvSpPr>
          <p:cNvPr id="21" name="Rounded Rectangle 20"/>
          <p:cNvSpPr/>
          <p:nvPr/>
        </p:nvSpPr>
        <p:spPr>
          <a:xfrm>
            <a:off x="9646920" y="3602736"/>
            <a:ext cx="1956816" cy="877824"/>
          </a:xfrm>
          <a:prstGeom prst="roundRect">
            <a:avLst/>
          </a:prstGeom>
          <a:solidFill>
            <a:srgbClr val="263F53"/>
          </a:solidFill>
          <a:ln w="12700">
            <a:solidFill>
              <a:srgbClr val="4059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B9C7CC"/>
                </a:solidFill>
                <a:latin typeface="Trebuchet MS"/>
              </a:rPr>
              <a:t>CHƯA MỞ  ·  CÂU 03</a:t>
            </a:r>
          </a:p>
        </p:txBody>
      </p:sp>
      <p:sp>
        <p:nvSpPr>
          <p:cNvPr id="23" name="TextBox 22"/>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B9C7CC"/>
                </a:solidFill>
                <a:latin typeface="Trebuchet MS"/>
              </a:rPr>
              <a:t>Quà lớn</a:t>
            </a:r>
          </a:p>
        </p:txBody>
      </p:sp>
      <p:sp>
        <p:nvSpPr>
          <p:cNvPr id="24" name="TextBox 23"/>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QUÀ GIỮ LẠI</a:t>
            </a:r>
          </a:p>
        </p:txBody>
      </p:sp>
      <p:sp>
        <p:nvSpPr>
          <p:cNvPr id="25" name="TextBox 24"/>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Quà nhỏ</a:t>
            </a:r>
          </a:p>
        </p:txBody>
      </p:sp>
      <p:sp>
        <p:nvSpPr>
          <p:cNvPr id="26" name="TextBox 25"/>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7" name="Đáp án A"/>
          <p:cNvSpPr/>
          <p:nvPr/>
        </p:nvSpPr>
        <p:spPr>
          <a:xfrm>
            <a:off x="530352" y="2770632"/>
            <a:ext cx="4215384" cy="1170432"/>
          </a:xfrm>
          <a:prstGeom prst="roundRect">
            <a:avLst/>
          </a:prstGeom>
          <a:solidFill>
            <a:srgbClr val="2F9C72"/>
          </a:solidFill>
          <a:ln w="15875">
            <a:solidFill>
              <a:srgbClr val="2F9C72"/>
            </a:solidFill>
          </a:ln>
          <a:effectLst>
            <a:glow rad="190000">
              <a:srgbClr val="73D9A5">
                <a:alpha val="52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380" b="1" i="0" dirty="0" err="1">
                <a:solidFill>
                  <a:srgbClr val="FFFFFF"/>
                </a:solidFill>
                <a:latin typeface="Aptos"/>
              </a:rPr>
              <a:t>Giải</a:t>
            </a:r>
            <a:r>
              <a:rPr sz="1380" b="1" i="0" dirty="0">
                <a:solidFill>
                  <a:srgbClr val="FFFFFF"/>
                </a:solidFill>
                <a:latin typeface="Aptos"/>
              </a:rPr>
              <a:t> </a:t>
            </a:r>
            <a:r>
              <a:rPr sz="1380" b="1" i="0" dirty="0" err="1">
                <a:solidFill>
                  <a:srgbClr val="FFFFFF"/>
                </a:solidFill>
                <a:latin typeface="Aptos"/>
              </a:rPr>
              <a:t>phóng</a:t>
            </a:r>
            <a:r>
              <a:rPr sz="1380" b="1" i="0" dirty="0">
                <a:solidFill>
                  <a:srgbClr val="FFFFFF"/>
                </a:solidFill>
                <a:latin typeface="Aptos"/>
              </a:rPr>
              <a:t> </a:t>
            </a:r>
            <a:r>
              <a:rPr sz="1380" b="1" i="0" dirty="0" err="1">
                <a:solidFill>
                  <a:srgbClr val="FFFFFF"/>
                </a:solidFill>
                <a:latin typeface="Aptos"/>
              </a:rPr>
              <a:t>chính</a:t>
            </a:r>
            <a:r>
              <a:rPr sz="1380" b="1" i="0" dirty="0">
                <a:solidFill>
                  <a:srgbClr val="FFFFFF"/>
                </a:solidFill>
                <a:latin typeface="Aptos"/>
              </a:rPr>
              <a:t> </a:t>
            </a:r>
            <a:r>
              <a:rPr sz="1380" b="1" i="0" dirty="0" err="1">
                <a:solidFill>
                  <a:srgbClr val="FFFFFF"/>
                </a:solidFill>
                <a:latin typeface="Aptos"/>
              </a:rPr>
              <a:t>trị</a:t>
            </a:r>
            <a:r>
              <a:rPr sz="1380" b="1" i="0" dirty="0">
                <a:solidFill>
                  <a:srgbClr val="FFFFFF"/>
                </a:solidFill>
                <a:latin typeface="Aptos"/>
              </a:rPr>
              <a:t> → </a:t>
            </a:r>
            <a:r>
              <a:rPr sz="1380" b="1" i="0" dirty="0" err="1">
                <a:solidFill>
                  <a:srgbClr val="FFFFFF"/>
                </a:solidFill>
                <a:latin typeface="Aptos"/>
              </a:rPr>
              <a:t>giải</a:t>
            </a:r>
            <a:r>
              <a:rPr sz="1380" b="1" i="0" dirty="0">
                <a:solidFill>
                  <a:srgbClr val="FFFFFF"/>
                </a:solidFill>
                <a:latin typeface="Aptos"/>
              </a:rPr>
              <a:t> </a:t>
            </a:r>
            <a:r>
              <a:rPr sz="1380" b="1" i="0" dirty="0" err="1">
                <a:solidFill>
                  <a:srgbClr val="FFFFFF"/>
                </a:solidFill>
                <a:latin typeface="Aptos"/>
              </a:rPr>
              <a:t>phóng</a:t>
            </a:r>
            <a:r>
              <a:rPr sz="1380" b="1" i="0" dirty="0">
                <a:solidFill>
                  <a:srgbClr val="FFFFFF"/>
                </a:solidFill>
                <a:latin typeface="Aptos"/>
              </a:rPr>
              <a:t> </a:t>
            </a:r>
            <a:r>
              <a:rPr sz="1380" b="1" i="0" dirty="0" err="1">
                <a:solidFill>
                  <a:srgbClr val="FFFFFF"/>
                </a:solidFill>
                <a:latin typeface="Aptos"/>
              </a:rPr>
              <a:t>kinh</a:t>
            </a:r>
            <a:r>
              <a:rPr sz="1380" b="1" i="0" dirty="0">
                <a:solidFill>
                  <a:srgbClr val="FFFFFF"/>
                </a:solidFill>
                <a:latin typeface="Aptos"/>
              </a:rPr>
              <a:t> </a:t>
            </a:r>
            <a:r>
              <a:rPr sz="1380" b="1" i="0" dirty="0" err="1">
                <a:solidFill>
                  <a:srgbClr val="FFFFFF"/>
                </a:solidFill>
                <a:latin typeface="Aptos"/>
              </a:rPr>
              <a:t>tế</a:t>
            </a:r>
            <a:r>
              <a:rPr sz="1380" b="1" i="0" dirty="0">
                <a:solidFill>
                  <a:srgbClr val="FFFFFF"/>
                </a:solidFill>
                <a:latin typeface="Aptos"/>
              </a:rPr>
              <a:t> – </a:t>
            </a:r>
            <a:r>
              <a:rPr sz="1380" b="1" i="0" dirty="0" err="1">
                <a:solidFill>
                  <a:srgbClr val="FFFFFF"/>
                </a:solidFill>
                <a:latin typeface="Aptos"/>
              </a:rPr>
              <a:t>xã</a:t>
            </a:r>
            <a:r>
              <a:rPr sz="1380" b="1" i="0" dirty="0">
                <a:solidFill>
                  <a:srgbClr val="FFFFFF"/>
                </a:solidFill>
                <a:latin typeface="Aptos"/>
              </a:rPr>
              <a:t> </a:t>
            </a:r>
            <a:r>
              <a:rPr sz="1380" b="1" i="0" dirty="0" err="1">
                <a:solidFill>
                  <a:srgbClr val="FFFFFF"/>
                </a:solidFill>
                <a:latin typeface="Aptos"/>
              </a:rPr>
              <a:t>hội</a:t>
            </a:r>
            <a:r>
              <a:rPr sz="1380" b="1" i="0" dirty="0">
                <a:solidFill>
                  <a:srgbClr val="FFFFFF"/>
                </a:solidFill>
                <a:latin typeface="Aptos"/>
              </a:rPr>
              <a:t> </a:t>
            </a:r>
            <a:r>
              <a:rPr sz="1380" b="1" i="0" dirty="0" err="1">
                <a:solidFill>
                  <a:srgbClr val="FFFFFF"/>
                </a:solidFill>
                <a:latin typeface="Aptos"/>
              </a:rPr>
              <a:t>khỏi</a:t>
            </a:r>
            <a:r>
              <a:rPr sz="1380" b="1" i="0" dirty="0">
                <a:solidFill>
                  <a:srgbClr val="FFFFFF"/>
                </a:solidFill>
                <a:latin typeface="Aptos"/>
              </a:rPr>
              <a:t> </a:t>
            </a:r>
            <a:r>
              <a:rPr sz="1380" b="1" i="0" dirty="0" err="1">
                <a:solidFill>
                  <a:srgbClr val="FFFFFF"/>
                </a:solidFill>
                <a:latin typeface="Aptos"/>
              </a:rPr>
              <a:t>áp</a:t>
            </a:r>
            <a:r>
              <a:rPr sz="1380" b="1" i="0" dirty="0">
                <a:solidFill>
                  <a:srgbClr val="FFFFFF"/>
                </a:solidFill>
                <a:latin typeface="Aptos"/>
              </a:rPr>
              <a:t> </a:t>
            </a:r>
            <a:r>
              <a:rPr sz="1380" b="1" i="0" dirty="0" err="1">
                <a:solidFill>
                  <a:srgbClr val="FFFFFF"/>
                </a:solidFill>
                <a:latin typeface="Aptos"/>
              </a:rPr>
              <a:t>bức</a:t>
            </a:r>
            <a:r>
              <a:rPr sz="1380" b="1" i="0" dirty="0">
                <a:solidFill>
                  <a:srgbClr val="FFFFFF"/>
                </a:solidFill>
                <a:latin typeface="Aptos"/>
              </a:rPr>
              <a:t>, </a:t>
            </a:r>
            <a:r>
              <a:rPr sz="1380" b="1" i="0" dirty="0" err="1">
                <a:solidFill>
                  <a:srgbClr val="FFFFFF"/>
                </a:solidFill>
                <a:latin typeface="Aptos"/>
              </a:rPr>
              <a:t>bóc</a:t>
            </a:r>
            <a:r>
              <a:rPr sz="1380" b="1" i="0" dirty="0">
                <a:solidFill>
                  <a:srgbClr val="FFFFFF"/>
                </a:solidFill>
                <a:latin typeface="Aptos"/>
              </a:rPr>
              <a:t> </a:t>
            </a:r>
            <a:r>
              <a:rPr sz="1380" b="1" i="0" dirty="0" err="1">
                <a:solidFill>
                  <a:srgbClr val="FFFFFF"/>
                </a:solidFill>
                <a:latin typeface="Aptos"/>
              </a:rPr>
              <a:t>lột</a:t>
            </a:r>
            <a:r>
              <a:rPr sz="1380" b="1" i="0" dirty="0">
                <a:solidFill>
                  <a:srgbClr val="FFFFFF"/>
                </a:solidFill>
                <a:latin typeface="Aptos"/>
              </a:rPr>
              <a:t> </a:t>
            </a:r>
            <a:r>
              <a:rPr sz="1380" b="1" i="0" dirty="0" err="1">
                <a:solidFill>
                  <a:srgbClr val="FFFFFF"/>
                </a:solidFill>
                <a:latin typeface="Aptos"/>
              </a:rPr>
              <a:t>và</a:t>
            </a:r>
            <a:r>
              <a:rPr sz="1380" b="1" i="0" dirty="0">
                <a:solidFill>
                  <a:srgbClr val="FFFFFF"/>
                </a:solidFill>
                <a:latin typeface="Aptos"/>
              </a:rPr>
              <a:t> </a:t>
            </a:r>
            <a:r>
              <a:rPr sz="1380" b="1" i="0" dirty="0" err="1">
                <a:solidFill>
                  <a:srgbClr val="FFFFFF"/>
                </a:solidFill>
                <a:latin typeface="Aptos"/>
              </a:rPr>
              <a:t>tha</a:t>
            </a:r>
            <a:r>
              <a:rPr sz="1380" b="1" i="0" dirty="0">
                <a:solidFill>
                  <a:srgbClr val="FFFFFF"/>
                </a:solidFill>
                <a:latin typeface="Aptos"/>
              </a:rPr>
              <a:t> </a:t>
            </a:r>
            <a:r>
              <a:rPr sz="1380" b="1" i="0" dirty="0" err="1">
                <a:solidFill>
                  <a:srgbClr val="FFFFFF"/>
                </a:solidFill>
                <a:latin typeface="Aptos"/>
              </a:rPr>
              <a:t>hóa</a:t>
            </a:r>
            <a:r>
              <a:rPr sz="1380" b="1" i="0" dirty="0">
                <a:solidFill>
                  <a:srgbClr val="FFFFFF"/>
                </a:solidFill>
                <a:latin typeface="Aptos"/>
              </a:rPr>
              <a:t> → </a:t>
            </a:r>
            <a:r>
              <a:rPr sz="1380" b="1" i="0" dirty="0" err="1">
                <a:solidFill>
                  <a:srgbClr val="FFFFFF"/>
                </a:solidFill>
                <a:latin typeface="Aptos"/>
              </a:rPr>
              <a:t>tạo</a:t>
            </a:r>
            <a:r>
              <a:rPr sz="1380" b="1" i="0" dirty="0">
                <a:solidFill>
                  <a:srgbClr val="FFFFFF"/>
                </a:solidFill>
                <a:latin typeface="Aptos"/>
              </a:rPr>
              <a:t> </a:t>
            </a:r>
            <a:r>
              <a:rPr sz="1380" b="1" i="0" dirty="0" err="1">
                <a:solidFill>
                  <a:srgbClr val="FFFFFF"/>
                </a:solidFill>
                <a:latin typeface="Aptos"/>
              </a:rPr>
              <a:t>điều</a:t>
            </a:r>
            <a:r>
              <a:rPr sz="1380" b="1" i="0" dirty="0">
                <a:solidFill>
                  <a:srgbClr val="FFFFFF"/>
                </a:solidFill>
                <a:latin typeface="Aptos"/>
              </a:rPr>
              <a:t> </a:t>
            </a:r>
            <a:r>
              <a:rPr sz="1380" b="1" i="0" dirty="0" err="1">
                <a:solidFill>
                  <a:srgbClr val="FFFFFF"/>
                </a:solidFill>
                <a:latin typeface="Aptos"/>
              </a:rPr>
              <a:t>kiện</a:t>
            </a:r>
            <a:r>
              <a:rPr sz="1380" b="1" i="0" dirty="0">
                <a:solidFill>
                  <a:srgbClr val="FFFFFF"/>
                </a:solidFill>
                <a:latin typeface="Aptos"/>
              </a:rPr>
              <a:t> </a:t>
            </a:r>
            <a:r>
              <a:rPr sz="1380" b="1" i="0" dirty="0" err="1">
                <a:solidFill>
                  <a:srgbClr val="FFFFFF"/>
                </a:solidFill>
                <a:latin typeface="Aptos"/>
              </a:rPr>
              <a:t>phát</a:t>
            </a:r>
            <a:r>
              <a:rPr sz="1380" b="1" i="0" dirty="0">
                <a:solidFill>
                  <a:srgbClr val="FFFFFF"/>
                </a:solidFill>
                <a:latin typeface="Aptos"/>
              </a:rPr>
              <a:t> </a:t>
            </a:r>
            <a:r>
              <a:rPr sz="1380" b="1" i="0" dirty="0" err="1">
                <a:solidFill>
                  <a:srgbClr val="FFFFFF"/>
                </a:solidFill>
                <a:latin typeface="Aptos"/>
              </a:rPr>
              <a:t>triển</a:t>
            </a:r>
            <a:r>
              <a:rPr sz="1380" b="1" i="0" dirty="0">
                <a:solidFill>
                  <a:srgbClr val="FFFFFF"/>
                </a:solidFill>
                <a:latin typeface="Aptos"/>
              </a:rPr>
              <a:t> </a:t>
            </a:r>
            <a:r>
              <a:rPr sz="1380" b="1" i="0" dirty="0" err="1">
                <a:solidFill>
                  <a:srgbClr val="FFFFFF"/>
                </a:solidFill>
                <a:latin typeface="Aptos"/>
              </a:rPr>
              <a:t>tự</a:t>
            </a:r>
            <a:r>
              <a:rPr sz="1380" b="1" i="0" dirty="0">
                <a:solidFill>
                  <a:srgbClr val="FFFFFF"/>
                </a:solidFill>
                <a:latin typeface="Aptos"/>
              </a:rPr>
              <a:t> do, </a:t>
            </a:r>
            <a:r>
              <a:rPr sz="1380" b="1" i="0" dirty="0" err="1">
                <a:solidFill>
                  <a:srgbClr val="FFFFFF"/>
                </a:solidFill>
                <a:latin typeface="Aptos"/>
              </a:rPr>
              <a:t>toàn</a:t>
            </a:r>
            <a:r>
              <a:rPr sz="1380" b="1" i="0" dirty="0">
                <a:solidFill>
                  <a:srgbClr val="FFFFFF"/>
                </a:solidFill>
                <a:latin typeface="Aptos"/>
              </a:rPr>
              <a:t> </a:t>
            </a:r>
            <a:r>
              <a:rPr sz="1380" b="1" i="0" dirty="0" err="1">
                <a:solidFill>
                  <a:srgbClr val="FFFFFF"/>
                </a:solidFill>
                <a:latin typeface="Aptos"/>
              </a:rPr>
              <a:t>diện</a:t>
            </a:r>
            <a:r>
              <a:rPr sz="1380" b="1" i="0" dirty="0">
                <a:solidFill>
                  <a:srgbClr val="FFFFFF"/>
                </a:solidFill>
                <a:latin typeface="Aptos"/>
              </a:rPr>
              <a:t>.</a:t>
            </a:r>
          </a:p>
        </p:txBody>
      </p:sp>
      <p:sp>
        <p:nvSpPr>
          <p:cNvPr id="28" name="Oval 27"/>
          <p:cNvSpPr/>
          <p:nvPr/>
        </p:nvSpPr>
        <p:spPr>
          <a:xfrm>
            <a:off x="685800" y="3154679"/>
            <a:ext cx="402336" cy="402336"/>
          </a:xfrm>
          <a:prstGeom prst="ellipse">
            <a:avLst/>
          </a:prstGeom>
          <a:solidFill>
            <a:srgbClr val="FFFFFF"/>
          </a:solidFill>
          <a:ln w="12700">
            <a:solidFill>
              <a:srgbClr val="2F9C72"/>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F9C72"/>
                </a:solidFill>
                <a:latin typeface="Trebuchet MS"/>
              </a:rPr>
              <a:t>A</a:t>
            </a:r>
          </a:p>
        </p:txBody>
      </p:sp>
      <p:sp>
        <p:nvSpPr>
          <p:cNvPr id="29" name="Đáp án B"/>
          <p:cNvSpPr/>
          <p:nvPr/>
        </p:nvSpPr>
        <p:spPr>
          <a:xfrm>
            <a:off x="4937760" y="2770632"/>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8A979B"/>
                </a:solidFill>
                <a:latin typeface="Aptos"/>
              </a:rPr>
              <a:t>Giải phóng tinh thần → tư hữu hóa mọi nguồn lực → tăng cạnh tranh bằng mọi giá.</a:t>
            </a:r>
          </a:p>
        </p:txBody>
      </p:sp>
      <p:sp>
        <p:nvSpPr>
          <p:cNvPr id="30" name="Oval 29"/>
          <p:cNvSpPr/>
          <p:nvPr/>
        </p:nvSpPr>
        <p:spPr>
          <a:xfrm>
            <a:off x="5093208" y="3154679"/>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B</a:t>
            </a:r>
          </a:p>
        </p:txBody>
      </p:sp>
      <p:sp>
        <p:nvSpPr>
          <p:cNvPr id="31" name="Đáp án C"/>
          <p:cNvSpPr/>
          <p:nvPr/>
        </p:nvSpPr>
        <p:spPr>
          <a:xfrm>
            <a:off x="530352" y="4105656"/>
            <a:ext cx="4215384"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0" i="0">
                <a:solidFill>
                  <a:srgbClr val="8A979B"/>
                </a:solidFill>
                <a:latin typeface="Aptos"/>
              </a:rPr>
              <a:t>Đổi mới công nghệ → tăng sản lượng → mở rộng tiêu dùng.</a:t>
            </a:r>
          </a:p>
        </p:txBody>
      </p:sp>
      <p:sp>
        <p:nvSpPr>
          <p:cNvPr id="32" name="Oval 31"/>
          <p:cNvSpPr/>
          <p:nvPr/>
        </p:nvSpPr>
        <p:spPr>
          <a:xfrm>
            <a:off x="685800"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C</a:t>
            </a:r>
          </a:p>
        </p:txBody>
      </p:sp>
      <p:sp>
        <p:nvSpPr>
          <p:cNvPr id="33" name="Đáp án D"/>
          <p:cNvSpPr/>
          <p:nvPr/>
        </p:nvSpPr>
        <p:spPr>
          <a:xfrm>
            <a:off x="4937760" y="4105656"/>
            <a:ext cx="4279392" cy="1170432"/>
          </a:xfrm>
          <a:prstGeom prst="roundRect">
            <a:avLst/>
          </a:prstGeom>
          <a:solidFill>
            <a:srgbClr val="E45C64"/>
          </a:solidFill>
          <a:ln w="15875">
            <a:solidFill>
              <a:srgbClr val="B8424C"/>
            </a:solidFill>
          </a:ln>
          <a:effectLst>
            <a:glow rad="110000">
              <a:srgbClr val="E45C64">
                <a:alpha val="35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730" b="1" i="0">
                <a:solidFill>
                  <a:srgbClr val="FFFFFF"/>
                </a:solidFill>
                <a:latin typeface="Aptos"/>
              </a:rPr>
              <a:t>Cá nhân tự lực → xóa bỏ mọi quan hệ xã hội → đạt tự do tuyệt đối.</a:t>
            </a:r>
          </a:p>
        </p:txBody>
      </p:sp>
      <p:sp>
        <p:nvSpPr>
          <p:cNvPr id="34" name="Oval 33"/>
          <p:cNvSpPr/>
          <p:nvPr/>
        </p:nvSpPr>
        <p:spPr>
          <a:xfrm>
            <a:off x="5093208" y="4489704"/>
            <a:ext cx="402336" cy="402336"/>
          </a:xfrm>
          <a:prstGeom prst="ellipse">
            <a:avLst/>
          </a:prstGeom>
          <a:solidFill>
            <a:srgbClr val="FFFFFF"/>
          </a:solidFill>
          <a:ln w="12700">
            <a:solidFill>
              <a:srgbClr val="B8424C"/>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B8424C"/>
                </a:solidFill>
                <a:latin typeface="Trebuchet MS"/>
              </a:rPr>
              <a:t>D</a:t>
            </a:r>
          </a:p>
        </p:txBody>
      </p:sp>
      <p:cxnSp>
        <p:nvCxnSpPr>
          <p:cNvPr id="35" name="Connector 34"/>
          <p:cNvCxnSpPr/>
          <p:nvPr/>
        </p:nvCxnSpPr>
        <p:spPr>
          <a:xfrm>
            <a:off x="4846320" y="4306824"/>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4846320" y="4599432"/>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846320" y="489204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9235440" y="4306824"/>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9235440" y="4599432"/>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9235440" y="489204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530352" y="5431536"/>
            <a:ext cx="5989320" cy="868680"/>
          </a:xfrm>
          <a:prstGeom prst="roundRect">
            <a:avLst/>
          </a:prstGeom>
          <a:solidFill>
            <a:srgbClr val="FBE5E3"/>
          </a:solidFill>
          <a:ln w="12700">
            <a:solidFill>
              <a:srgbClr val="F0C7C4"/>
            </a:solid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l">
              <a:lnSpc>
                <a:spcPct val="100000"/>
              </a:lnSpc>
              <a:spcBef>
                <a:spcPts val="0"/>
              </a:spcBef>
              <a:spcAft>
                <a:spcPts val="0"/>
              </a:spcAft>
            </a:pPr>
            <a:r>
              <a:rPr sz="980" b="1" i="0">
                <a:solidFill>
                  <a:srgbClr val="18324A"/>
                </a:solidFill>
                <a:latin typeface="Aptos"/>
              </a:rPr>
              <a:t>BẠN CHỌN: D  ·  ĐÁP ÁN ĐÚNG: A
Giải phóng chính trị → giải phóng kinh tế – xã hội khỏi áp bức, bóc lột và tha hóa → tạo điều kiện phát triển tự do, toàn diện.
QUÀ ĐẠT ĐƯỢC LƯỢT NÀY: Quà nhỏ</a:t>
            </a:r>
          </a:p>
        </p:txBody>
      </p:sp>
      <p:sp>
        <p:nvSpPr>
          <p:cNvPr id="42" name="Nút: XEM BẢNG KẾT QUẢ  →">
            <a:hlinkClick r:id="" action="ppaction://noaction"/>
          </p:cNvPr>
          <p:cNvSpPr/>
          <p:nvPr/>
        </p:nvSpPr>
        <p:spPr>
          <a:xfrm>
            <a:off x="6711696" y="5431536"/>
            <a:ext cx="2505456" cy="86868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240" b="1" i="0">
                <a:solidFill>
                  <a:srgbClr val="FFFFFF"/>
                </a:solidFill>
                <a:latin typeface="Trebuchet MS"/>
              </a:rPr>
              <a:t>XEM BẢNG KẾT QUẢ  →</a:t>
            </a:r>
          </a:p>
        </p:txBody>
      </p:sp>
    </p:spTree>
  </p:cSld>
  <p:clrMapOvr>
    <a:masterClrMapping/>
  </p:clrMapOvr>
  <p:transition spd="med" advClick="0">
    <p:fade/>
  </p:transition>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05 / 05</a:t>
            </a:r>
          </a:p>
        </p:txBody>
      </p:sp>
      <p:sp>
        <p:nvSpPr>
          <p:cNvPr id="5" name="Rounded Rectangle 4"/>
          <p:cNvSpPr/>
          <p:nvPr/>
        </p:nvSpPr>
        <p:spPr>
          <a:xfrm>
            <a:off x="2240280" y="749808"/>
            <a:ext cx="1389888" cy="292608"/>
          </a:xfrm>
          <a:prstGeom prst="roundRect">
            <a:avLst/>
          </a:prstGeom>
          <a:solidFill>
            <a:srgbClr val="F7E2DD"/>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B8424C"/>
                </a:solidFill>
                <a:latin typeface="Trebuchet MS"/>
              </a:rPr>
              <a:t>KHÓ</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03 / 03</a:t>
            </a:r>
          </a:p>
        </p:txBody>
      </p:sp>
      <p:sp>
        <p:nvSpPr>
          <p:cNvPr id="7"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0" name="TextBox 9"/>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2100" b="1" i="0">
                <a:solidFill>
                  <a:srgbClr val="FFFFFF"/>
                </a:solidFill>
                <a:latin typeface="Aptos"/>
              </a:rPr>
              <a:t>Vận dụng tư tưởng Hồ Chí Minh về con người, vì sao kiến thiết đất nước cần đồng thời thực hiện “chống” và “xây”?</a:t>
            </a:r>
          </a:p>
        </p:txBody>
      </p:sp>
      <p:sp>
        <p:nvSpPr>
          <p:cNvPr id="11"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3" name="TextBox 12"/>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4" name="Rounded Rectangle 13"/>
          <p:cNvSpPr/>
          <p:nvPr/>
        </p:nvSpPr>
        <p:spPr>
          <a:xfrm>
            <a:off x="9646920" y="1371600"/>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01</a:t>
            </a:r>
          </a:p>
        </p:txBody>
      </p:sp>
      <p:sp>
        <p:nvSpPr>
          <p:cNvPr id="16" name="TextBox 15"/>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nhỏ</a:t>
            </a:r>
          </a:p>
        </p:txBody>
      </p:sp>
      <p:sp>
        <p:nvSpPr>
          <p:cNvPr id="17" name="Rounded Rectangle 16"/>
          <p:cNvSpPr/>
          <p:nvPr/>
        </p:nvSpPr>
        <p:spPr>
          <a:xfrm>
            <a:off x="9646920" y="2487168"/>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02</a:t>
            </a:r>
          </a:p>
        </p:txBody>
      </p:sp>
      <p:sp>
        <p:nvSpPr>
          <p:cNvPr id="19" name="TextBox 18"/>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vừa</a:t>
            </a:r>
          </a:p>
        </p:txBody>
      </p:sp>
      <p:sp>
        <p:nvSpPr>
          <p:cNvPr id="20" name="Rounded Rectangle 19"/>
          <p:cNvSpPr/>
          <p:nvPr/>
        </p:nvSpPr>
        <p:spPr>
          <a:xfrm>
            <a:off x="9646920" y="3602736"/>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03</a:t>
            </a:r>
          </a:p>
        </p:txBody>
      </p:sp>
      <p:sp>
        <p:nvSpPr>
          <p:cNvPr id="22" name="TextBox 21"/>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lớn</a:t>
            </a:r>
          </a:p>
        </p:txBody>
      </p:sp>
      <p:sp>
        <p:nvSpPr>
          <p:cNvPr id="23" name="TextBox 22"/>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MỐC AN TOÀN</a:t>
            </a:r>
          </a:p>
        </p:txBody>
      </p:sp>
      <p:sp>
        <p:nvSpPr>
          <p:cNvPr id="24" name="TextBox 23"/>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Quà vừa</a:t>
            </a:r>
          </a:p>
        </p:txBody>
      </p:sp>
      <p:sp>
        <p:nvSpPr>
          <p:cNvPr id="25" name="TextBox 24"/>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6" name="Đáp án A">
            <a:hlinkClick r:id="rId2" action="ppaction://hlinksldjump"/>
          </p:cNvPr>
          <p:cNvSpPr/>
          <p:nvPr/>
        </p:nvSpPr>
        <p:spPr>
          <a:xfrm>
            <a:off x="530352" y="2770632"/>
            <a:ext cx="4215384" cy="1170432"/>
          </a:xfrm>
          <a:prstGeom prst="roundRect">
            <a:avLst/>
          </a:prstGeom>
          <a:solidFill>
            <a:srgbClr val="FBFCF9"/>
          </a:solidFill>
          <a:ln w="15875">
            <a:solidFill>
              <a:srgbClr val="D7DED8"/>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250" b="0" i="0">
                <a:solidFill>
                  <a:srgbClr val="18324A"/>
                </a:solidFill>
                <a:latin typeface="Aptos"/>
              </a:rPr>
              <a:t>Chống suy thoái, tham nhũng để bảo vệ niềm tin và công bằng; đồng thời xây dựng con người toàn diện, có đạo đức và năng lực, kết hợp truyền thống với hiện đại.</a:t>
            </a:r>
          </a:p>
        </p:txBody>
      </p:sp>
      <p:sp>
        <p:nvSpPr>
          <p:cNvPr id="27" name="Oval 26">
            <a:hlinkClick r:id="rId2" action="ppaction://hlinksldjump"/>
          </p:cNvPr>
          <p:cNvSpPr/>
          <p:nvPr/>
        </p:nvSpPr>
        <p:spPr>
          <a:xfrm>
            <a:off x="685800" y="3154679"/>
            <a:ext cx="402336" cy="402336"/>
          </a:xfrm>
          <a:prstGeom prst="ellipse">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E8177"/>
                </a:solidFill>
                <a:latin typeface="Trebuchet MS"/>
              </a:rPr>
              <a:t>A</a:t>
            </a:r>
          </a:p>
        </p:txBody>
      </p:sp>
      <p:sp>
        <p:nvSpPr>
          <p:cNvPr id="28" name="Đáp án B">
            <a:hlinkClick r:id="rId3" action="ppaction://hlinksldjump"/>
          </p:cNvPr>
          <p:cNvSpPr/>
          <p:nvPr/>
        </p:nvSpPr>
        <p:spPr>
          <a:xfrm>
            <a:off x="4937760" y="2770632"/>
            <a:ext cx="4279392" cy="1170432"/>
          </a:xfrm>
          <a:prstGeom prst="roundRect">
            <a:avLst/>
          </a:prstGeom>
          <a:solidFill>
            <a:srgbClr val="FBFCF9"/>
          </a:solidFill>
          <a:ln w="15875">
            <a:solidFill>
              <a:srgbClr val="D7DED8"/>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18324A"/>
                </a:solidFill>
                <a:latin typeface="Aptos"/>
              </a:rPr>
              <a:t>Chỉ cần chống cái xấu; khi trở ngại biến mất, con người sẽ tự phát triển toàn diện.</a:t>
            </a:r>
          </a:p>
        </p:txBody>
      </p:sp>
      <p:sp>
        <p:nvSpPr>
          <p:cNvPr id="29" name="Oval 28">
            <a:hlinkClick r:id="rId3" action="ppaction://hlinksldjump"/>
          </p:cNvPr>
          <p:cNvSpPr/>
          <p:nvPr/>
        </p:nvSpPr>
        <p:spPr>
          <a:xfrm>
            <a:off x="5093208" y="3154679"/>
            <a:ext cx="402336" cy="402336"/>
          </a:xfrm>
          <a:prstGeom prst="ellipse">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E8177"/>
                </a:solidFill>
                <a:latin typeface="Trebuchet MS"/>
              </a:rPr>
              <a:t>B</a:t>
            </a:r>
          </a:p>
        </p:txBody>
      </p:sp>
      <p:sp>
        <p:nvSpPr>
          <p:cNvPr id="30" name="Đáp án C">
            <a:hlinkClick r:id="rId4" action="ppaction://hlinksldjump"/>
          </p:cNvPr>
          <p:cNvSpPr/>
          <p:nvPr/>
        </p:nvSpPr>
        <p:spPr>
          <a:xfrm>
            <a:off x="530352" y="4105656"/>
            <a:ext cx="4215384" cy="1170432"/>
          </a:xfrm>
          <a:prstGeom prst="roundRect">
            <a:avLst/>
          </a:prstGeom>
          <a:solidFill>
            <a:srgbClr val="FBFCF9"/>
          </a:solidFill>
          <a:ln w="15875">
            <a:solidFill>
              <a:srgbClr val="D7DED8"/>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18324A"/>
                </a:solidFill>
                <a:latin typeface="Aptos"/>
              </a:rPr>
              <a:t>Chỉ cần xây con người mới; tham nhũng và suy thoái không ảnh hưởng tới môi trường phát triển.</a:t>
            </a:r>
          </a:p>
        </p:txBody>
      </p:sp>
      <p:sp>
        <p:nvSpPr>
          <p:cNvPr id="31" name="Oval 30">
            <a:hlinkClick r:id="rId4" action="ppaction://hlinksldjump"/>
          </p:cNvPr>
          <p:cNvSpPr/>
          <p:nvPr/>
        </p:nvSpPr>
        <p:spPr>
          <a:xfrm>
            <a:off x="685800" y="4489704"/>
            <a:ext cx="402336" cy="402336"/>
          </a:xfrm>
          <a:prstGeom prst="ellipse">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E8177"/>
                </a:solidFill>
                <a:latin typeface="Trebuchet MS"/>
              </a:rPr>
              <a:t>C</a:t>
            </a:r>
          </a:p>
        </p:txBody>
      </p:sp>
      <p:sp>
        <p:nvSpPr>
          <p:cNvPr id="32" name="Đáp án D">
            <a:hlinkClick r:id="rId5" action="ppaction://hlinksldjump"/>
          </p:cNvPr>
          <p:cNvSpPr/>
          <p:nvPr/>
        </p:nvSpPr>
        <p:spPr>
          <a:xfrm>
            <a:off x="4937760" y="4105656"/>
            <a:ext cx="4279392" cy="1170432"/>
          </a:xfrm>
          <a:prstGeom prst="roundRect">
            <a:avLst/>
          </a:prstGeom>
          <a:solidFill>
            <a:srgbClr val="FBFCF9"/>
          </a:solidFill>
          <a:ln w="15875">
            <a:solidFill>
              <a:srgbClr val="D7DED8"/>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18324A"/>
                </a:solidFill>
                <a:latin typeface="Aptos"/>
              </a:rPr>
              <a:t>“Chống” và “xây” tách rời, nên chỉ nên thực hiện ở hai thời kỳ không liên hệ.</a:t>
            </a:r>
          </a:p>
        </p:txBody>
      </p:sp>
      <p:sp>
        <p:nvSpPr>
          <p:cNvPr id="33" name="Oval 32">
            <a:hlinkClick r:id="rId5" action="ppaction://hlinksldjump"/>
          </p:cNvPr>
          <p:cNvSpPr/>
          <p:nvPr/>
        </p:nvSpPr>
        <p:spPr>
          <a:xfrm>
            <a:off x="5093208" y="4489704"/>
            <a:ext cx="402336" cy="402336"/>
          </a:xfrm>
          <a:prstGeom prst="ellipse">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E8177"/>
                </a:solidFill>
                <a:latin typeface="Trebuchet MS"/>
              </a:rPr>
              <a:t>D</a:t>
            </a:r>
          </a:p>
        </p:txBody>
      </p:sp>
      <p:sp>
        <p:nvSpPr>
          <p:cNvPr id="34" name="TextBox 33"/>
          <p:cNvSpPr txBox="1"/>
          <p:nvPr/>
        </p:nvSpPr>
        <p:spPr>
          <a:xfrm>
            <a:off x="621792" y="5431536"/>
            <a:ext cx="8485632" cy="36576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080" b="1" i="0">
                <a:solidFill>
                  <a:srgbClr val="657883"/>
                </a:solidFill>
                <a:latin typeface="Trebuchet MS"/>
              </a:rPr>
              <a:t>CHỌN MỘT ĐÁP ÁN  ·  BẤM TRỰC TIẾP VÀO THẺ A / B / C / D</a:t>
            </a:r>
          </a:p>
        </p:txBody>
      </p:sp>
    </p:spTree>
  </p:cSld>
  <p:clrMapOvr>
    <a:masterClrMapping/>
  </p:clrMapOvr>
  <p:transition spd="med" advClick="0">
    <p:fade/>
  </p:transition>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05 / 05</a:t>
            </a:r>
          </a:p>
        </p:txBody>
      </p:sp>
      <p:sp>
        <p:nvSpPr>
          <p:cNvPr id="5" name="Rounded Rectangle 4"/>
          <p:cNvSpPr/>
          <p:nvPr/>
        </p:nvSpPr>
        <p:spPr>
          <a:xfrm>
            <a:off x="2240280" y="749808"/>
            <a:ext cx="1389888" cy="292608"/>
          </a:xfrm>
          <a:prstGeom prst="roundRect">
            <a:avLst/>
          </a:prstGeom>
          <a:solidFill>
            <a:srgbClr val="F7E2DD"/>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B8424C"/>
                </a:solidFill>
                <a:latin typeface="Trebuchet MS"/>
              </a:rPr>
              <a:t>KHÓ</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03 / 03</a:t>
            </a:r>
          </a:p>
        </p:txBody>
      </p:sp>
      <p:sp>
        <p:nvSpPr>
          <p:cNvPr id="7" name="Rounded Rectangle 6"/>
          <p:cNvSpPr/>
          <p:nvPr/>
        </p:nvSpPr>
        <p:spPr>
          <a:xfrm>
            <a:off x="7562088" y="749808"/>
            <a:ext cx="1581912" cy="292608"/>
          </a:xfrm>
          <a:prstGeom prst="roundRect">
            <a:avLst/>
          </a:prstGeom>
          <a:solidFill>
            <a:srgbClr val="D9F0E3"/>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1000" b="1" i="0">
                <a:solidFill>
                  <a:srgbClr val="2F9C72"/>
                </a:solidFill>
                <a:latin typeface="Trebuchet MS"/>
              </a:rPr>
              <a:t>CHÍNH XÁC!</a:t>
            </a:r>
          </a:p>
        </p:txBody>
      </p:sp>
      <p:sp>
        <p:nvSpPr>
          <p:cNvPr id="8"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1" name="TextBox 10"/>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2100" b="1" i="0">
                <a:solidFill>
                  <a:srgbClr val="FFFFFF"/>
                </a:solidFill>
                <a:latin typeface="Aptos"/>
              </a:rPr>
              <a:t>Vận dụng tư tưởng Hồ Chí Minh về con người, vì sao kiến thiết đất nước cần đồng thời thực hiện “chống” và “xây”?</a:t>
            </a:r>
          </a:p>
        </p:txBody>
      </p:sp>
      <p:sp>
        <p:nvSpPr>
          <p:cNvPr id="12"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4" name="TextBox 13"/>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5" name="Rounded Rectangle 14"/>
          <p:cNvSpPr/>
          <p:nvPr/>
        </p:nvSpPr>
        <p:spPr>
          <a:xfrm>
            <a:off x="9646920" y="1371600"/>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01</a:t>
            </a:r>
          </a:p>
        </p:txBody>
      </p:sp>
      <p:sp>
        <p:nvSpPr>
          <p:cNvPr id="17" name="TextBox 16"/>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nhỏ</a:t>
            </a:r>
          </a:p>
        </p:txBody>
      </p:sp>
      <p:sp>
        <p:nvSpPr>
          <p:cNvPr id="18" name="Rounded Rectangle 17"/>
          <p:cNvSpPr/>
          <p:nvPr/>
        </p:nvSpPr>
        <p:spPr>
          <a:xfrm>
            <a:off x="9646920" y="2487168"/>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02</a:t>
            </a:r>
          </a:p>
        </p:txBody>
      </p:sp>
      <p:sp>
        <p:nvSpPr>
          <p:cNvPr id="20" name="TextBox 19"/>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vừa</a:t>
            </a:r>
          </a:p>
        </p:txBody>
      </p:sp>
      <p:sp>
        <p:nvSpPr>
          <p:cNvPr id="21" name="Rounded Rectangle 20"/>
          <p:cNvSpPr/>
          <p:nvPr/>
        </p:nvSpPr>
        <p:spPr>
          <a:xfrm>
            <a:off x="9646920" y="3602736"/>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03</a:t>
            </a:r>
          </a:p>
        </p:txBody>
      </p:sp>
      <p:sp>
        <p:nvSpPr>
          <p:cNvPr id="23" name="TextBox 22"/>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lớn</a:t>
            </a:r>
          </a:p>
        </p:txBody>
      </p:sp>
      <p:sp>
        <p:nvSpPr>
          <p:cNvPr id="24" name="TextBox 23"/>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PHẦN QUÀ CUỐI</a:t>
            </a:r>
          </a:p>
        </p:txBody>
      </p:sp>
      <p:sp>
        <p:nvSpPr>
          <p:cNvPr id="25" name="TextBox 24"/>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Quà lớn</a:t>
            </a:r>
          </a:p>
        </p:txBody>
      </p:sp>
      <p:sp>
        <p:nvSpPr>
          <p:cNvPr id="26" name="TextBox 25"/>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7" name="Đáp án A"/>
          <p:cNvSpPr/>
          <p:nvPr/>
        </p:nvSpPr>
        <p:spPr>
          <a:xfrm>
            <a:off x="530352" y="2770632"/>
            <a:ext cx="4215384" cy="1170432"/>
          </a:xfrm>
          <a:prstGeom prst="roundRect">
            <a:avLst/>
          </a:prstGeom>
          <a:solidFill>
            <a:srgbClr val="FFD05A"/>
          </a:solidFill>
          <a:ln w="15875">
            <a:solidFill>
              <a:srgbClr val="D9A92E"/>
            </a:solidFill>
          </a:ln>
          <a:effectLst>
            <a:glow rad="190000">
              <a:srgbClr val="FFD05A">
                <a:alpha val="52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250" b="1" i="0">
                <a:solidFill>
                  <a:srgbClr val="18324A"/>
                </a:solidFill>
                <a:latin typeface="Aptos"/>
              </a:rPr>
              <a:t>Chống suy thoái, tham nhũng để bảo vệ niềm tin và công bằng; đồng thời xây dựng con người toàn diện, có đạo đức và năng lực, kết hợp truyền thống với hiện đại.</a:t>
            </a:r>
            <a:endParaRPr sz="1250" b="1" i="0" dirty="0">
              <a:solidFill>
                <a:srgbClr val="18324A"/>
              </a:solidFill>
              <a:latin typeface="Aptos"/>
            </a:endParaRPr>
          </a:p>
        </p:txBody>
      </p:sp>
      <p:sp>
        <p:nvSpPr>
          <p:cNvPr id="28" name="Oval 27"/>
          <p:cNvSpPr/>
          <p:nvPr/>
        </p:nvSpPr>
        <p:spPr>
          <a:xfrm>
            <a:off x="685800" y="3154679"/>
            <a:ext cx="402336" cy="402336"/>
          </a:xfrm>
          <a:prstGeom prst="ellipse">
            <a:avLst/>
          </a:prstGeom>
          <a:solidFill>
            <a:srgbClr val="18324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FFD05A"/>
                </a:solidFill>
                <a:latin typeface="Trebuchet MS"/>
              </a:rPr>
              <a:t>A</a:t>
            </a:r>
          </a:p>
        </p:txBody>
      </p:sp>
      <p:sp>
        <p:nvSpPr>
          <p:cNvPr id="29" name="Đáp án B"/>
          <p:cNvSpPr/>
          <p:nvPr/>
        </p:nvSpPr>
        <p:spPr>
          <a:xfrm>
            <a:off x="4937760" y="2770632"/>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8A979B"/>
                </a:solidFill>
                <a:latin typeface="Aptos"/>
              </a:rPr>
              <a:t>Chỉ cần chống cái xấu; khi trở ngại biến mất, con người sẽ tự phát triển toàn diện.</a:t>
            </a:r>
          </a:p>
        </p:txBody>
      </p:sp>
      <p:sp>
        <p:nvSpPr>
          <p:cNvPr id="30" name="Oval 29"/>
          <p:cNvSpPr/>
          <p:nvPr/>
        </p:nvSpPr>
        <p:spPr>
          <a:xfrm>
            <a:off x="5093208" y="3154679"/>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B</a:t>
            </a:r>
          </a:p>
        </p:txBody>
      </p:sp>
      <p:sp>
        <p:nvSpPr>
          <p:cNvPr id="31" name="Đáp án C"/>
          <p:cNvSpPr/>
          <p:nvPr/>
        </p:nvSpPr>
        <p:spPr>
          <a:xfrm>
            <a:off x="530352" y="4105656"/>
            <a:ext cx="4215384"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8A979B"/>
                </a:solidFill>
                <a:latin typeface="Aptos"/>
              </a:rPr>
              <a:t>Chỉ cần xây con người mới; tham nhũng và suy thoái không ảnh hưởng tới môi trường phát triển.</a:t>
            </a:r>
          </a:p>
        </p:txBody>
      </p:sp>
      <p:sp>
        <p:nvSpPr>
          <p:cNvPr id="32" name="Oval 31"/>
          <p:cNvSpPr/>
          <p:nvPr/>
        </p:nvSpPr>
        <p:spPr>
          <a:xfrm>
            <a:off x="685800"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C</a:t>
            </a:r>
          </a:p>
        </p:txBody>
      </p:sp>
      <p:sp>
        <p:nvSpPr>
          <p:cNvPr id="33" name="Đáp án D"/>
          <p:cNvSpPr/>
          <p:nvPr/>
        </p:nvSpPr>
        <p:spPr>
          <a:xfrm>
            <a:off x="4937760" y="4105656"/>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8A979B"/>
                </a:solidFill>
                <a:latin typeface="Aptos"/>
              </a:rPr>
              <a:t>“Chống” và “xây” tách rời, nên chỉ nên thực hiện ở hai thời kỳ không liên hệ.</a:t>
            </a:r>
          </a:p>
        </p:txBody>
      </p:sp>
      <p:sp>
        <p:nvSpPr>
          <p:cNvPr id="34" name="Oval 33"/>
          <p:cNvSpPr/>
          <p:nvPr/>
        </p:nvSpPr>
        <p:spPr>
          <a:xfrm>
            <a:off x="5093208"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D</a:t>
            </a:r>
          </a:p>
        </p:txBody>
      </p:sp>
      <p:sp>
        <p:nvSpPr>
          <p:cNvPr id="35" name="Rounded Rectangle 34"/>
          <p:cNvSpPr/>
          <p:nvPr/>
        </p:nvSpPr>
        <p:spPr>
          <a:xfrm>
            <a:off x="530352" y="5431536"/>
            <a:ext cx="5989320" cy="868680"/>
          </a:xfrm>
          <a:prstGeom prst="roundRect">
            <a:avLst/>
          </a:prstGeom>
          <a:solidFill>
            <a:srgbClr val="D9F0E3"/>
          </a:solidFill>
          <a:ln w="12700">
            <a:solidFill>
              <a:srgbClr val="D7E6DC"/>
            </a:solidFill>
          </a:ln>
        </p:spPr>
        <p:style>
          <a:lnRef idx="1">
            <a:schemeClr val="accent1"/>
          </a:lnRef>
          <a:fillRef idx="3">
            <a:schemeClr val="accent1"/>
          </a:fillRef>
          <a:effectRef idx="2">
            <a:schemeClr val="accent1"/>
          </a:effectRef>
          <a:fontRef idx="minor">
            <a:schemeClr val="lt1"/>
          </a:fontRef>
        </p:style>
        <p:txBody>
          <a:bodyPr wrap="square" lIns="109728" tIns="60350" rIns="109728" bIns="60350" rtlCol="0" anchor="ctr"/>
          <a:lstStyle/>
          <a:p>
            <a:pPr algn="l">
              <a:lnSpc>
                <a:spcPct val="100000"/>
              </a:lnSpc>
              <a:spcBef>
                <a:spcPts val="0"/>
              </a:spcBef>
              <a:spcAft>
                <a:spcPts val="0"/>
              </a:spcAft>
            </a:pPr>
            <a:r>
              <a:rPr sz="1130" b="0" i="0">
                <a:solidFill>
                  <a:srgbClr val="18324A"/>
                </a:solidFill>
                <a:latin typeface="Aptos"/>
              </a:rPr>
              <a:t>MỐC 3 ĐÃ CHINH PHỤC  ·  Quà lớn
“Chống” loại bỏ lực cản và bảo vệ niềm tin; “xây” tạo năng lực, phẩm chất và môi trường phát triển. Hai mặt hỗ trợ nhau.</a:t>
            </a:r>
          </a:p>
        </p:txBody>
      </p:sp>
      <p:sp>
        <p:nvSpPr>
          <p:cNvPr id="36" name="Nút: XEM BẢNG KẾT QUẢ  →">
            <a:hlinkClick r:id="" action="ppaction://noaction"/>
          </p:cNvPr>
          <p:cNvSpPr/>
          <p:nvPr/>
        </p:nvSpPr>
        <p:spPr>
          <a:xfrm>
            <a:off x="6711696" y="5431536"/>
            <a:ext cx="2505456" cy="868680"/>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240" b="1" i="0">
                <a:solidFill>
                  <a:srgbClr val="18324A"/>
                </a:solidFill>
                <a:latin typeface="Trebuchet MS"/>
              </a:rPr>
              <a:t>XEM BẢNG KẾT QUẢ  →</a:t>
            </a:r>
          </a:p>
        </p:txBody>
      </p:sp>
    </p:spTree>
  </p:cSld>
  <p:clrMapOvr>
    <a:masterClrMapping/>
  </p:clrMapOvr>
  <p:transition spd="med" advClick="0">
    <p:sndAc>
      <p:stSnd>
        <p:snd r:embed="rId2" name="Correct answer chime"/>
      </p:stSnd>
    </p:sndAc>
  </p:transition>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05 / 05</a:t>
            </a:r>
          </a:p>
        </p:txBody>
      </p:sp>
      <p:sp>
        <p:nvSpPr>
          <p:cNvPr id="5" name="Rounded Rectangle 4"/>
          <p:cNvSpPr/>
          <p:nvPr/>
        </p:nvSpPr>
        <p:spPr>
          <a:xfrm>
            <a:off x="2240280" y="749808"/>
            <a:ext cx="1389888" cy="292608"/>
          </a:xfrm>
          <a:prstGeom prst="roundRect">
            <a:avLst/>
          </a:prstGeom>
          <a:solidFill>
            <a:srgbClr val="F7E2DD"/>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B8424C"/>
                </a:solidFill>
                <a:latin typeface="Trebuchet MS"/>
              </a:rPr>
              <a:t>KHÓ</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03 / 03</a:t>
            </a:r>
          </a:p>
        </p:txBody>
      </p:sp>
      <p:sp>
        <p:nvSpPr>
          <p:cNvPr id="7" name="Rounded Rectangle 6"/>
          <p:cNvSpPr/>
          <p:nvPr/>
        </p:nvSpPr>
        <p:spPr>
          <a:xfrm>
            <a:off x="7562088" y="749808"/>
            <a:ext cx="1581912" cy="292608"/>
          </a:xfrm>
          <a:prstGeom prst="roundRect">
            <a:avLst/>
          </a:prstGeom>
          <a:solidFill>
            <a:srgbClr val="FBE3E3"/>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1000" b="1" i="0">
                <a:solidFill>
                  <a:srgbClr val="B8424C"/>
                </a:solidFill>
                <a:latin typeface="Trebuchet MS"/>
              </a:rPr>
              <a:t>RẤT TIẾC!</a:t>
            </a:r>
          </a:p>
        </p:txBody>
      </p:sp>
      <p:sp>
        <p:nvSpPr>
          <p:cNvPr id="8"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1" name="TextBox 10"/>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2100" b="1" i="0">
                <a:solidFill>
                  <a:srgbClr val="FFFFFF"/>
                </a:solidFill>
                <a:latin typeface="Aptos"/>
              </a:rPr>
              <a:t>Vận dụng tư tưởng Hồ Chí Minh về con người, vì sao kiến thiết đất nước cần đồng thời thực hiện “chống” và “xây”?</a:t>
            </a:r>
          </a:p>
        </p:txBody>
      </p:sp>
      <p:sp>
        <p:nvSpPr>
          <p:cNvPr id="12"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4" name="TextBox 13"/>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5" name="Rounded Rectangle 14"/>
          <p:cNvSpPr/>
          <p:nvPr/>
        </p:nvSpPr>
        <p:spPr>
          <a:xfrm>
            <a:off x="9646920" y="1371600"/>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01</a:t>
            </a:r>
          </a:p>
        </p:txBody>
      </p:sp>
      <p:sp>
        <p:nvSpPr>
          <p:cNvPr id="17" name="TextBox 16"/>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nhỏ</a:t>
            </a:r>
          </a:p>
        </p:txBody>
      </p:sp>
      <p:sp>
        <p:nvSpPr>
          <p:cNvPr id="18" name="Rounded Rectangle 17"/>
          <p:cNvSpPr/>
          <p:nvPr/>
        </p:nvSpPr>
        <p:spPr>
          <a:xfrm>
            <a:off x="9646920" y="2487168"/>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02</a:t>
            </a:r>
          </a:p>
        </p:txBody>
      </p:sp>
      <p:sp>
        <p:nvSpPr>
          <p:cNvPr id="20" name="TextBox 19"/>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vừa</a:t>
            </a:r>
          </a:p>
        </p:txBody>
      </p:sp>
      <p:sp>
        <p:nvSpPr>
          <p:cNvPr id="21" name="Rounded Rectangle 20"/>
          <p:cNvSpPr/>
          <p:nvPr/>
        </p:nvSpPr>
        <p:spPr>
          <a:xfrm>
            <a:off x="9646920" y="3602736"/>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03</a:t>
            </a:r>
          </a:p>
        </p:txBody>
      </p:sp>
      <p:sp>
        <p:nvSpPr>
          <p:cNvPr id="23" name="TextBox 22"/>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lớn</a:t>
            </a:r>
          </a:p>
        </p:txBody>
      </p:sp>
      <p:sp>
        <p:nvSpPr>
          <p:cNvPr id="24" name="TextBox 23"/>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QUÀ GIỮ LẠI</a:t>
            </a:r>
          </a:p>
        </p:txBody>
      </p:sp>
      <p:sp>
        <p:nvSpPr>
          <p:cNvPr id="25" name="TextBox 24"/>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Quà vừa</a:t>
            </a:r>
          </a:p>
        </p:txBody>
      </p:sp>
      <p:sp>
        <p:nvSpPr>
          <p:cNvPr id="26" name="TextBox 25"/>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7" name="Đáp án A"/>
          <p:cNvSpPr/>
          <p:nvPr/>
        </p:nvSpPr>
        <p:spPr>
          <a:xfrm>
            <a:off x="530352" y="2770632"/>
            <a:ext cx="4215384" cy="1170432"/>
          </a:xfrm>
          <a:prstGeom prst="roundRect">
            <a:avLst/>
          </a:prstGeom>
          <a:solidFill>
            <a:srgbClr val="2F9C72"/>
          </a:solidFill>
          <a:ln w="15875">
            <a:solidFill>
              <a:srgbClr val="2F9C72"/>
            </a:solidFill>
          </a:ln>
          <a:effectLst>
            <a:glow rad="190000">
              <a:srgbClr val="73D9A5">
                <a:alpha val="52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250" b="1" i="0">
                <a:solidFill>
                  <a:srgbClr val="FFFFFF"/>
                </a:solidFill>
                <a:latin typeface="Aptos"/>
              </a:rPr>
              <a:t>Chống suy thoái, tham nhũng để bảo vệ niềm tin và công bằng; đồng thời xây dựng con người toàn diện, có đạo đức và năng lực, kết hợp truyền thống với hiện đại.</a:t>
            </a:r>
          </a:p>
        </p:txBody>
      </p:sp>
      <p:sp>
        <p:nvSpPr>
          <p:cNvPr id="28" name="Oval 27"/>
          <p:cNvSpPr/>
          <p:nvPr/>
        </p:nvSpPr>
        <p:spPr>
          <a:xfrm>
            <a:off x="685800" y="3154679"/>
            <a:ext cx="402336" cy="402336"/>
          </a:xfrm>
          <a:prstGeom prst="ellipse">
            <a:avLst/>
          </a:prstGeom>
          <a:solidFill>
            <a:srgbClr val="FFFFFF"/>
          </a:solidFill>
          <a:ln w="12700">
            <a:solidFill>
              <a:srgbClr val="2F9C72"/>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F9C72"/>
                </a:solidFill>
                <a:latin typeface="Trebuchet MS"/>
              </a:rPr>
              <a:t>A</a:t>
            </a:r>
          </a:p>
        </p:txBody>
      </p:sp>
      <p:sp>
        <p:nvSpPr>
          <p:cNvPr id="29" name="Đáp án B"/>
          <p:cNvSpPr/>
          <p:nvPr/>
        </p:nvSpPr>
        <p:spPr>
          <a:xfrm>
            <a:off x="4937760" y="2770632"/>
            <a:ext cx="4279392" cy="1170432"/>
          </a:xfrm>
          <a:prstGeom prst="roundRect">
            <a:avLst/>
          </a:prstGeom>
          <a:solidFill>
            <a:srgbClr val="E45C64"/>
          </a:solidFill>
          <a:ln w="15875">
            <a:solidFill>
              <a:srgbClr val="B8424C"/>
            </a:solidFill>
          </a:ln>
          <a:effectLst>
            <a:glow rad="110000">
              <a:srgbClr val="E45C64">
                <a:alpha val="35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1" i="0">
                <a:solidFill>
                  <a:srgbClr val="FFFFFF"/>
                </a:solidFill>
                <a:latin typeface="Aptos"/>
              </a:rPr>
              <a:t>Chỉ cần chống cái xấu; khi trở ngại biến mất, con người sẽ tự phát triển toàn diện.</a:t>
            </a:r>
          </a:p>
        </p:txBody>
      </p:sp>
      <p:sp>
        <p:nvSpPr>
          <p:cNvPr id="30" name="Oval 29"/>
          <p:cNvSpPr/>
          <p:nvPr/>
        </p:nvSpPr>
        <p:spPr>
          <a:xfrm>
            <a:off x="5093208" y="3154679"/>
            <a:ext cx="402336" cy="402336"/>
          </a:xfrm>
          <a:prstGeom prst="ellipse">
            <a:avLst/>
          </a:prstGeom>
          <a:solidFill>
            <a:srgbClr val="FFFFFF"/>
          </a:solidFill>
          <a:ln w="12700">
            <a:solidFill>
              <a:srgbClr val="B8424C"/>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B8424C"/>
                </a:solidFill>
                <a:latin typeface="Trebuchet MS"/>
              </a:rPr>
              <a:t>B</a:t>
            </a:r>
          </a:p>
        </p:txBody>
      </p:sp>
      <p:cxnSp>
        <p:nvCxnSpPr>
          <p:cNvPr id="31" name="Connector 30"/>
          <p:cNvCxnSpPr/>
          <p:nvPr/>
        </p:nvCxnSpPr>
        <p:spPr>
          <a:xfrm>
            <a:off x="4846320" y="297180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4846320" y="3264408"/>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846320" y="3557016"/>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9235440" y="297180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235440" y="3264408"/>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9235440" y="3557016"/>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sp>
        <p:nvSpPr>
          <p:cNvPr id="37" name="Đáp án C"/>
          <p:cNvSpPr/>
          <p:nvPr/>
        </p:nvSpPr>
        <p:spPr>
          <a:xfrm>
            <a:off x="530352" y="4105656"/>
            <a:ext cx="4215384"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8A979B"/>
                </a:solidFill>
                <a:latin typeface="Aptos"/>
              </a:rPr>
              <a:t>Chỉ cần xây con người mới; tham nhũng và suy thoái không ảnh hưởng tới môi trường phát triển.</a:t>
            </a:r>
          </a:p>
        </p:txBody>
      </p:sp>
      <p:sp>
        <p:nvSpPr>
          <p:cNvPr id="38" name="Oval 37"/>
          <p:cNvSpPr/>
          <p:nvPr/>
        </p:nvSpPr>
        <p:spPr>
          <a:xfrm>
            <a:off x="685800"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C</a:t>
            </a:r>
          </a:p>
        </p:txBody>
      </p:sp>
      <p:sp>
        <p:nvSpPr>
          <p:cNvPr id="39" name="Đáp án D"/>
          <p:cNvSpPr/>
          <p:nvPr/>
        </p:nvSpPr>
        <p:spPr>
          <a:xfrm>
            <a:off x="4937760" y="4105656"/>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8A979B"/>
                </a:solidFill>
                <a:latin typeface="Aptos"/>
              </a:rPr>
              <a:t>“Chống” và “xây” tách rời, nên chỉ nên thực hiện ở hai thời kỳ không liên hệ.</a:t>
            </a:r>
          </a:p>
        </p:txBody>
      </p:sp>
      <p:sp>
        <p:nvSpPr>
          <p:cNvPr id="40" name="Oval 39"/>
          <p:cNvSpPr/>
          <p:nvPr/>
        </p:nvSpPr>
        <p:spPr>
          <a:xfrm>
            <a:off x="5093208"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D</a:t>
            </a:r>
          </a:p>
        </p:txBody>
      </p:sp>
      <p:sp>
        <p:nvSpPr>
          <p:cNvPr id="41" name="Rounded Rectangle 40"/>
          <p:cNvSpPr/>
          <p:nvPr/>
        </p:nvSpPr>
        <p:spPr>
          <a:xfrm>
            <a:off x="530352" y="5431536"/>
            <a:ext cx="5989320" cy="868680"/>
          </a:xfrm>
          <a:prstGeom prst="roundRect">
            <a:avLst/>
          </a:prstGeom>
          <a:solidFill>
            <a:srgbClr val="FBE5E3"/>
          </a:solidFill>
          <a:ln w="12700">
            <a:solidFill>
              <a:srgbClr val="F0C7C4"/>
            </a:solid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l">
              <a:lnSpc>
                <a:spcPct val="100000"/>
              </a:lnSpc>
              <a:spcBef>
                <a:spcPts val="0"/>
              </a:spcBef>
              <a:spcAft>
                <a:spcPts val="0"/>
              </a:spcAft>
            </a:pPr>
            <a:r>
              <a:rPr sz="980" b="1" i="0">
                <a:solidFill>
                  <a:srgbClr val="18324A"/>
                </a:solidFill>
                <a:latin typeface="Aptos"/>
              </a:rPr>
              <a:t>BẠN CHỌN: B  ·  ĐÁP ÁN ĐÚNG: A
Chống suy thoái, tham nhũng để bảo vệ niềm tin và công bằng; đồng thời xây dựng con người toàn diện, có đạo đức và năng lực, kết hợp truyền thống với hiện đại.
QUÀ ĐẠT ĐƯỢC LƯỢT NÀY: Quà vừa</a:t>
            </a:r>
          </a:p>
        </p:txBody>
      </p:sp>
      <p:sp>
        <p:nvSpPr>
          <p:cNvPr id="42" name="Nút: XEM BẢNG KẾT QUẢ  →">
            <a:hlinkClick r:id="" action="ppaction://noaction"/>
          </p:cNvPr>
          <p:cNvSpPr/>
          <p:nvPr/>
        </p:nvSpPr>
        <p:spPr>
          <a:xfrm>
            <a:off x="6711696" y="5431536"/>
            <a:ext cx="2505456" cy="86868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240" b="1" i="0">
                <a:solidFill>
                  <a:srgbClr val="FFFFFF"/>
                </a:solidFill>
                <a:latin typeface="Trebuchet MS"/>
              </a:rPr>
              <a:t>XEM BẢNG KẾT QUẢ  →</a:t>
            </a:r>
          </a:p>
        </p:txBody>
      </p:sp>
    </p:spTree>
  </p:cSld>
  <p:clrMapOvr>
    <a:masterClrMapping/>
  </p:clrMapOvr>
  <p:transition spd="med" advClick="0">
    <p:fade/>
  </p:transition>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05 / 05</a:t>
            </a:r>
          </a:p>
        </p:txBody>
      </p:sp>
      <p:sp>
        <p:nvSpPr>
          <p:cNvPr id="5" name="Rounded Rectangle 4"/>
          <p:cNvSpPr/>
          <p:nvPr/>
        </p:nvSpPr>
        <p:spPr>
          <a:xfrm>
            <a:off x="2240280" y="749808"/>
            <a:ext cx="1389888" cy="292608"/>
          </a:xfrm>
          <a:prstGeom prst="roundRect">
            <a:avLst/>
          </a:prstGeom>
          <a:solidFill>
            <a:srgbClr val="F7E2DD"/>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B8424C"/>
                </a:solidFill>
                <a:latin typeface="Trebuchet MS"/>
              </a:rPr>
              <a:t>KHÓ</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03 / 03</a:t>
            </a:r>
          </a:p>
        </p:txBody>
      </p:sp>
      <p:sp>
        <p:nvSpPr>
          <p:cNvPr id="7" name="Rounded Rectangle 6"/>
          <p:cNvSpPr/>
          <p:nvPr/>
        </p:nvSpPr>
        <p:spPr>
          <a:xfrm>
            <a:off x="7562088" y="749808"/>
            <a:ext cx="1581912" cy="292608"/>
          </a:xfrm>
          <a:prstGeom prst="roundRect">
            <a:avLst/>
          </a:prstGeom>
          <a:solidFill>
            <a:srgbClr val="FBE3E3"/>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1000" b="1" i="0">
                <a:solidFill>
                  <a:srgbClr val="B8424C"/>
                </a:solidFill>
                <a:latin typeface="Trebuchet MS"/>
              </a:rPr>
              <a:t>RẤT TIẾC!</a:t>
            </a:r>
          </a:p>
        </p:txBody>
      </p:sp>
      <p:sp>
        <p:nvSpPr>
          <p:cNvPr id="8"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1" name="TextBox 10"/>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2100" b="1" i="0">
                <a:solidFill>
                  <a:srgbClr val="FFFFFF"/>
                </a:solidFill>
                <a:latin typeface="Aptos"/>
              </a:rPr>
              <a:t>Vận dụng tư tưởng Hồ Chí Minh về con người, vì sao kiến thiết đất nước cần đồng thời thực hiện “chống” và “xây”?</a:t>
            </a:r>
          </a:p>
        </p:txBody>
      </p:sp>
      <p:sp>
        <p:nvSpPr>
          <p:cNvPr id="12"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4" name="TextBox 13"/>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5" name="Rounded Rectangle 14"/>
          <p:cNvSpPr/>
          <p:nvPr/>
        </p:nvSpPr>
        <p:spPr>
          <a:xfrm>
            <a:off x="9646920" y="1371600"/>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01</a:t>
            </a:r>
          </a:p>
        </p:txBody>
      </p:sp>
      <p:sp>
        <p:nvSpPr>
          <p:cNvPr id="17" name="TextBox 16"/>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nhỏ</a:t>
            </a:r>
          </a:p>
        </p:txBody>
      </p:sp>
      <p:sp>
        <p:nvSpPr>
          <p:cNvPr id="18" name="Rounded Rectangle 17"/>
          <p:cNvSpPr/>
          <p:nvPr/>
        </p:nvSpPr>
        <p:spPr>
          <a:xfrm>
            <a:off x="9646920" y="2487168"/>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02</a:t>
            </a:r>
          </a:p>
        </p:txBody>
      </p:sp>
      <p:sp>
        <p:nvSpPr>
          <p:cNvPr id="20" name="TextBox 19"/>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vừa</a:t>
            </a:r>
          </a:p>
        </p:txBody>
      </p:sp>
      <p:sp>
        <p:nvSpPr>
          <p:cNvPr id="21" name="Rounded Rectangle 20"/>
          <p:cNvSpPr/>
          <p:nvPr/>
        </p:nvSpPr>
        <p:spPr>
          <a:xfrm>
            <a:off x="9646920" y="3602736"/>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03</a:t>
            </a:r>
          </a:p>
        </p:txBody>
      </p:sp>
      <p:sp>
        <p:nvSpPr>
          <p:cNvPr id="23" name="TextBox 22"/>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lớn</a:t>
            </a:r>
          </a:p>
        </p:txBody>
      </p:sp>
      <p:sp>
        <p:nvSpPr>
          <p:cNvPr id="24" name="TextBox 23"/>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QUÀ GIỮ LẠI</a:t>
            </a:r>
          </a:p>
        </p:txBody>
      </p:sp>
      <p:sp>
        <p:nvSpPr>
          <p:cNvPr id="25" name="TextBox 24"/>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Quà vừa</a:t>
            </a:r>
          </a:p>
        </p:txBody>
      </p:sp>
      <p:sp>
        <p:nvSpPr>
          <p:cNvPr id="26" name="TextBox 25"/>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7" name="Đáp án A"/>
          <p:cNvSpPr/>
          <p:nvPr/>
        </p:nvSpPr>
        <p:spPr>
          <a:xfrm>
            <a:off x="530352" y="2770632"/>
            <a:ext cx="4215384" cy="1170432"/>
          </a:xfrm>
          <a:prstGeom prst="roundRect">
            <a:avLst/>
          </a:prstGeom>
          <a:solidFill>
            <a:srgbClr val="2F9C72"/>
          </a:solidFill>
          <a:ln w="15875">
            <a:solidFill>
              <a:srgbClr val="2F9C72"/>
            </a:solidFill>
          </a:ln>
          <a:effectLst>
            <a:glow rad="190000">
              <a:srgbClr val="73D9A5">
                <a:alpha val="52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250" b="1" i="0">
                <a:solidFill>
                  <a:srgbClr val="FFFFFF"/>
                </a:solidFill>
                <a:latin typeface="Aptos"/>
              </a:rPr>
              <a:t>Chống suy thoái, tham nhũng để bảo vệ niềm tin và công bằng; đồng thời xây dựng con người toàn diện, có đạo đức và năng lực, kết hợp truyền thống với hiện đại.</a:t>
            </a:r>
          </a:p>
        </p:txBody>
      </p:sp>
      <p:sp>
        <p:nvSpPr>
          <p:cNvPr id="28" name="Oval 27"/>
          <p:cNvSpPr/>
          <p:nvPr/>
        </p:nvSpPr>
        <p:spPr>
          <a:xfrm>
            <a:off x="685800" y="3154679"/>
            <a:ext cx="402336" cy="402336"/>
          </a:xfrm>
          <a:prstGeom prst="ellipse">
            <a:avLst/>
          </a:prstGeom>
          <a:solidFill>
            <a:srgbClr val="FFFFFF"/>
          </a:solidFill>
          <a:ln w="12700">
            <a:solidFill>
              <a:srgbClr val="2F9C72"/>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F9C72"/>
                </a:solidFill>
                <a:latin typeface="Trebuchet MS"/>
              </a:rPr>
              <a:t>A</a:t>
            </a:r>
          </a:p>
        </p:txBody>
      </p:sp>
      <p:sp>
        <p:nvSpPr>
          <p:cNvPr id="29" name="Đáp án B"/>
          <p:cNvSpPr/>
          <p:nvPr/>
        </p:nvSpPr>
        <p:spPr>
          <a:xfrm>
            <a:off x="4937760" y="2770632"/>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8A979B"/>
                </a:solidFill>
                <a:latin typeface="Aptos"/>
              </a:rPr>
              <a:t>Chỉ cần chống cái xấu; khi trở ngại biến mất, con người sẽ tự phát triển toàn diện.</a:t>
            </a:r>
          </a:p>
        </p:txBody>
      </p:sp>
      <p:sp>
        <p:nvSpPr>
          <p:cNvPr id="30" name="Oval 29"/>
          <p:cNvSpPr/>
          <p:nvPr/>
        </p:nvSpPr>
        <p:spPr>
          <a:xfrm>
            <a:off x="5093208" y="3154679"/>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B</a:t>
            </a:r>
          </a:p>
        </p:txBody>
      </p:sp>
      <p:sp>
        <p:nvSpPr>
          <p:cNvPr id="31" name="Đáp án C"/>
          <p:cNvSpPr/>
          <p:nvPr/>
        </p:nvSpPr>
        <p:spPr>
          <a:xfrm>
            <a:off x="530352" y="4105656"/>
            <a:ext cx="4215384" cy="1170432"/>
          </a:xfrm>
          <a:prstGeom prst="roundRect">
            <a:avLst/>
          </a:prstGeom>
          <a:solidFill>
            <a:srgbClr val="E45C64"/>
          </a:solidFill>
          <a:ln w="15875">
            <a:solidFill>
              <a:srgbClr val="B8424C"/>
            </a:solidFill>
          </a:ln>
          <a:effectLst>
            <a:glow rad="110000">
              <a:srgbClr val="E45C64">
                <a:alpha val="35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1" i="0">
                <a:solidFill>
                  <a:srgbClr val="FFFFFF"/>
                </a:solidFill>
                <a:latin typeface="Aptos"/>
              </a:rPr>
              <a:t>Chỉ cần xây con người mới; tham nhũng và suy thoái không ảnh hưởng tới môi trường phát triển.</a:t>
            </a:r>
          </a:p>
        </p:txBody>
      </p:sp>
      <p:sp>
        <p:nvSpPr>
          <p:cNvPr id="32" name="Oval 31"/>
          <p:cNvSpPr/>
          <p:nvPr/>
        </p:nvSpPr>
        <p:spPr>
          <a:xfrm>
            <a:off x="685800" y="4489704"/>
            <a:ext cx="402336" cy="402336"/>
          </a:xfrm>
          <a:prstGeom prst="ellipse">
            <a:avLst/>
          </a:prstGeom>
          <a:solidFill>
            <a:srgbClr val="FFFFFF"/>
          </a:solidFill>
          <a:ln w="12700">
            <a:solidFill>
              <a:srgbClr val="B8424C"/>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B8424C"/>
                </a:solidFill>
                <a:latin typeface="Trebuchet MS"/>
              </a:rPr>
              <a:t>C</a:t>
            </a:r>
          </a:p>
        </p:txBody>
      </p:sp>
      <p:cxnSp>
        <p:nvCxnSpPr>
          <p:cNvPr id="33" name="Connector 32"/>
          <p:cNvCxnSpPr/>
          <p:nvPr/>
        </p:nvCxnSpPr>
        <p:spPr>
          <a:xfrm>
            <a:off x="438912" y="4306824"/>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38912" y="4599432"/>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38912" y="489204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4764024" y="4306824"/>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764024" y="4599432"/>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764024" y="489204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sp>
        <p:nvSpPr>
          <p:cNvPr id="39" name="Đáp án D"/>
          <p:cNvSpPr/>
          <p:nvPr/>
        </p:nvSpPr>
        <p:spPr>
          <a:xfrm>
            <a:off x="4937760" y="4105656"/>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8A979B"/>
                </a:solidFill>
                <a:latin typeface="Aptos"/>
              </a:rPr>
              <a:t>“Chống” và “xây” tách rời, nên chỉ nên thực hiện ở hai thời kỳ không liên hệ.</a:t>
            </a:r>
          </a:p>
        </p:txBody>
      </p:sp>
      <p:sp>
        <p:nvSpPr>
          <p:cNvPr id="40" name="Oval 39"/>
          <p:cNvSpPr/>
          <p:nvPr/>
        </p:nvSpPr>
        <p:spPr>
          <a:xfrm>
            <a:off x="5093208"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D</a:t>
            </a:r>
          </a:p>
        </p:txBody>
      </p:sp>
      <p:sp>
        <p:nvSpPr>
          <p:cNvPr id="41" name="Rounded Rectangle 40"/>
          <p:cNvSpPr/>
          <p:nvPr/>
        </p:nvSpPr>
        <p:spPr>
          <a:xfrm>
            <a:off x="530352" y="5431536"/>
            <a:ext cx="5989320" cy="868680"/>
          </a:xfrm>
          <a:prstGeom prst="roundRect">
            <a:avLst/>
          </a:prstGeom>
          <a:solidFill>
            <a:srgbClr val="FBE5E3"/>
          </a:solidFill>
          <a:ln w="12700">
            <a:solidFill>
              <a:srgbClr val="F0C7C4"/>
            </a:solid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l">
              <a:lnSpc>
                <a:spcPct val="100000"/>
              </a:lnSpc>
              <a:spcBef>
                <a:spcPts val="0"/>
              </a:spcBef>
              <a:spcAft>
                <a:spcPts val="0"/>
              </a:spcAft>
            </a:pPr>
            <a:r>
              <a:rPr sz="980" b="1" i="0">
                <a:solidFill>
                  <a:srgbClr val="18324A"/>
                </a:solidFill>
                <a:latin typeface="Aptos"/>
              </a:rPr>
              <a:t>BẠN CHỌN: C  ·  ĐÁP ÁN ĐÚNG: A
Chống suy thoái, tham nhũng để bảo vệ niềm tin và công bằng; đồng thời xây dựng con người toàn diện, có đạo đức và năng lực, kết hợp truyền thống với hiện đại.
QUÀ ĐẠT ĐƯỢC LƯỢT NÀY: Quà vừa</a:t>
            </a:r>
          </a:p>
        </p:txBody>
      </p:sp>
      <p:sp>
        <p:nvSpPr>
          <p:cNvPr id="42" name="Nút: XEM BẢNG KẾT QUẢ  →">
            <a:hlinkClick r:id="" action="ppaction://noaction"/>
          </p:cNvPr>
          <p:cNvSpPr/>
          <p:nvPr/>
        </p:nvSpPr>
        <p:spPr>
          <a:xfrm>
            <a:off x="6711696" y="5431536"/>
            <a:ext cx="2505456" cy="86868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240" b="1" i="0">
                <a:solidFill>
                  <a:srgbClr val="FFFFFF"/>
                </a:solidFill>
                <a:latin typeface="Trebuchet MS"/>
              </a:rPr>
              <a:t>XEM BẢNG KẾT QUẢ  →</a:t>
            </a:r>
          </a:p>
        </p:txBody>
      </p:sp>
    </p:spTree>
  </p:cSld>
  <p:clrMapOvr>
    <a:masterClrMapping/>
  </p:clrMapOvr>
  <p:transition spd="med" advClick="0">
    <p:fade/>
  </p:transition>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EFF0EA"/>
        </a:solidFill>
        <a:effectLst/>
      </p:bgPr>
    </p:bg>
    <p:spTree>
      <p:nvGrpSpPr>
        <p:cNvPr id="1" name=""/>
        <p:cNvGrpSpPr/>
        <p:nvPr/>
      </p:nvGrpSpPr>
      <p:grpSpPr>
        <a:xfrm>
          <a:off x="0" y="0"/>
          <a:ext cx="0" cy="0"/>
          <a:chOff x="0" y="0"/>
          <a:chExt cx="0" cy="0"/>
        </a:xfrm>
      </p:grpSpPr>
      <p:sp>
        <p:nvSpPr>
          <p:cNvPr id="2" name="Tiêu đề"/>
          <p:cNvSpPr txBox="1"/>
          <p:nvPr/>
        </p:nvSpPr>
        <p:spPr>
          <a:xfrm>
            <a:off x="411480" y="137160"/>
            <a:ext cx="11365992" cy="47548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2500" b="1" i="0">
                <a:solidFill>
                  <a:srgbClr val="18324A"/>
                </a:solidFill>
                <a:latin typeface="Trebuchet MS"/>
              </a:rPr>
              <a:t>AI LÀ TRIỆU PHÚ</a:t>
            </a:r>
          </a:p>
        </p:txBody>
      </p:sp>
      <p:sp>
        <p:nvSpPr>
          <p:cNvPr id="3" name="Rounded Rectangle 2"/>
          <p:cNvSpPr/>
          <p:nvPr/>
        </p:nvSpPr>
        <p:spPr>
          <a:xfrm>
            <a:off x="5376672" y="640080"/>
            <a:ext cx="1444752" cy="50292"/>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749808"/>
            <a:ext cx="1572768" cy="292608"/>
          </a:xfrm>
          <a:prstGeom prst="roundRect">
            <a:avLst/>
          </a:prstGeom>
          <a:solidFill>
            <a:srgbClr val="DDEDE8"/>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2E8177"/>
                </a:solidFill>
                <a:latin typeface="Trebuchet MS"/>
              </a:rPr>
              <a:t>NGƯỜI CHƠI 05 / 05</a:t>
            </a:r>
          </a:p>
        </p:txBody>
      </p:sp>
      <p:sp>
        <p:nvSpPr>
          <p:cNvPr id="5" name="Rounded Rectangle 4"/>
          <p:cNvSpPr/>
          <p:nvPr/>
        </p:nvSpPr>
        <p:spPr>
          <a:xfrm>
            <a:off x="2240280" y="749808"/>
            <a:ext cx="1389888" cy="292608"/>
          </a:xfrm>
          <a:prstGeom prst="roundRect">
            <a:avLst/>
          </a:prstGeom>
          <a:solidFill>
            <a:srgbClr val="F7E2DD"/>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980" b="1" i="0">
                <a:solidFill>
                  <a:srgbClr val="B8424C"/>
                </a:solidFill>
                <a:latin typeface="Trebuchet MS"/>
              </a:rPr>
              <a:t>KHÓ</a:t>
            </a:r>
          </a:p>
        </p:txBody>
      </p:sp>
      <p:sp>
        <p:nvSpPr>
          <p:cNvPr id="6" name="TextBox 5"/>
          <p:cNvSpPr txBox="1"/>
          <p:nvPr/>
        </p:nvSpPr>
        <p:spPr>
          <a:xfrm>
            <a:off x="3767328" y="749808"/>
            <a:ext cx="1280160" cy="29260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50" b="1" i="0">
                <a:solidFill>
                  <a:srgbClr val="657883"/>
                </a:solidFill>
                <a:latin typeface="Trebuchet MS"/>
              </a:rPr>
              <a:t>CÂU 03 / 03</a:t>
            </a:r>
          </a:p>
        </p:txBody>
      </p:sp>
      <p:sp>
        <p:nvSpPr>
          <p:cNvPr id="7" name="Rounded Rectangle 6"/>
          <p:cNvSpPr/>
          <p:nvPr/>
        </p:nvSpPr>
        <p:spPr>
          <a:xfrm>
            <a:off x="7562088" y="749808"/>
            <a:ext cx="1581912" cy="292608"/>
          </a:xfrm>
          <a:prstGeom prst="roundRect">
            <a:avLst/>
          </a:prstGeom>
          <a:solidFill>
            <a:srgbClr val="FBE3E3"/>
          </a:solidFill>
          <a:ln>
            <a:noFill/>
          </a:ln>
        </p:spPr>
        <p:style>
          <a:lnRef idx="1">
            <a:schemeClr val="accent1"/>
          </a:lnRef>
          <a:fillRef idx="3">
            <a:schemeClr val="accent1"/>
          </a:fillRef>
          <a:effectRef idx="2">
            <a:schemeClr val="accent1"/>
          </a:effectRef>
          <a:fontRef idx="minor">
            <a:schemeClr val="lt1"/>
          </a:fontRef>
        </p:style>
        <p:txBody>
          <a:bodyPr wrap="square" lIns="36576" tIns="20116" rIns="36576" bIns="20116" rtlCol="0" anchor="ctr"/>
          <a:lstStyle/>
          <a:p>
            <a:pPr algn="ctr">
              <a:lnSpc>
                <a:spcPct val="100000"/>
              </a:lnSpc>
              <a:spcBef>
                <a:spcPts val="0"/>
              </a:spcBef>
              <a:spcAft>
                <a:spcPts val="0"/>
              </a:spcAft>
            </a:pPr>
            <a:r>
              <a:rPr sz="1000" b="1" i="0">
                <a:solidFill>
                  <a:srgbClr val="B8424C"/>
                </a:solidFill>
                <a:latin typeface="Trebuchet MS"/>
              </a:rPr>
              <a:t>RẤT TIẾC!</a:t>
            </a:r>
          </a:p>
        </p:txBody>
      </p:sp>
      <p:sp>
        <p:nvSpPr>
          <p:cNvPr id="8" name="Khung câu hỏi"/>
          <p:cNvSpPr/>
          <p:nvPr/>
        </p:nvSpPr>
        <p:spPr>
          <a:xfrm>
            <a:off x="530352" y="1143000"/>
            <a:ext cx="8686800" cy="1435608"/>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85800" y="1325880"/>
            <a:ext cx="59436" cy="1069848"/>
          </a:xfrm>
          <a:prstGeom prst="roundRect">
            <a:avLst/>
          </a:prstGeom>
          <a:solidFill>
            <a:srgbClr val="FFD0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7824" y="1252728"/>
            <a:ext cx="1234440" cy="228600"/>
          </a:xfrm>
          <a:prstGeom prst="rect">
            <a:avLst/>
          </a:prstGeom>
          <a:noFill/>
        </p:spPr>
        <p:txBody>
          <a:bodyPr wrap="square" lIns="9144" tIns="5029" rIns="9144" bIns="5029" anchor="ctr">
            <a:spAutoFit/>
          </a:bodyPr>
          <a:lstStyle/>
          <a:p>
            <a:pPr algn="l">
              <a:lnSpc>
                <a:spcPct val="100000"/>
              </a:lnSpc>
              <a:spcBef>
                <a:spcPts val="0"/>
              </a:spcBef>
              <a:spcAft>
                <a:spcPts val="0"/>
              </a:spcAft>
            </a:pPr>
            <a:r>
              <a:rPr sz="1019" b="1" i="0">
                <a:solidFill>
                  <a:srgbClr val="FFD05A"/>
                </a:solidFill>
                <a:latin typeface="Trebuchet MS"/>
              </a:rPr>
              <a:t>CÂU HỎI</a:t>
            </a:r>
          </a:p>
        </p:txBody>
      </p:sp>
      <p:sp>
        <p:nvSpPr>
          <p:cNvPr id="11" name="TextBox 10"/>
          <p:cNvSpPr txBox="1"/>
          <p:nvPr/>
        </p:nvSpPr>
        <p:spPr>
          <a:xfrm>
            <a:off x="886968" y="1508760"/>
            <a:ext cx="8019288" cy="950976"/>
          </a:xfrm>
          <a:prstGeom prst="rect">
            <a:avLst/>
          </a:prstGeom>
          <a:noFill/>
        </p:spPr>
        <p:txBody>
          <a:bodyPr wrap="square" lIns="27432" tIns="15087" rIns="27432" bIns="15087" anchor="ctr">
            <a:spAutoFit/>
          </a:bodyPr>
          <a:lstStyle/>
          <a:p>
            <a:pPr algn="l">
              <a:lnSpc>
                <a:spcPct val="100000"/>
              </a:lnSpc>
              <a:spcBef>
                <a:spcPts val="0"/>
              </a:spcBef>
              <a:spcAft>
                <a:spcPts val="0"/>
              </a:spcAft>
            </a:pPr>
            <a:r>
              <a:rPr sz="2100" b="1" i="0">
                <a:solidFill>
                  <a:srgbClr val="FFFFFF"/>
                </a:solidFill>
                <a:latin typeface="Aptos"/>
              </a:rPr>
              <a:t>Vận dụng tư tưởng Hồ Chí Minh về con người, vì sao kiến thiết đất nước cần đồng thời thực hiện “chống” và “xây”?</a:t>
            </a:r>
          </a:p>
        </p:txBody>
      </p:sp>
      <p:sp>
        <p:nvSpPr>
          <p:cNvPr id="12" name="Bảng mốc thưởng"/>
          <p:cNvSpPr/>
          <p:nvPr/>
        </p:nvSpPr>
        <p:spPr>
          <a:xfrm>
            <a:off x="9491472" y="512064"/>
            <a:ext cx="2267712" cy="598932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56064" y="685800"/>
            <a:ext cx="1938528" cy="283464"/>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500" b="1" i="0">
                <a:solidFill>
                  <a:srgbClr val="FFFFFF"/>
                </a:solidFill>
                <a:latin typeface="Trebuchet MS"/>
              </a:rPr>
              <a:t>MỐC THƯỞNG</a:t>
            </a:r>
          </a:p>
        </p:txBody>
      </p:sp>
      <p:sp>
        <p:nvSpPr>
          <p:cNvPr id="14" name="TextBox 13"/>
          <p:cNvSpPr txBox="1"/>
          <p:nvPr/>
        </p:nvSpPr>
        <p:spPr>
          <a:xfrm>
            <a:off x="9656064" y="978408"/>
            <a:ext cx="1938528" cy="20116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860" b="1" i="0">
                <a:solidFill>
                  <a:srgbClr val="B9C7CC"/>
                </a:solidFill>
                <a:latin typeface="Aptos"/>
              </a:rPr>
              <a:t>BA NẤC CHINH PHỤC</a:t>
            </a:r>
          </a:p>
        </p:txBody>
      </p:sp>
      <p:sp>
        <p:nvSpPr>
          <p:cNvPr id="15" name="Rounded Rectangle 14"/>
          <p:cNvSpPr/>
          <p:nvPr/>
        </p:nvSpPr>
        <p:spPr>
          <a:xfrm>
            <a:off x="9646920" y="1371600"/>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65792" y="1463040"/>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01</a:t>
            </a:r>
          </a:p>
        </p:txBody>
      </p:sp>
      <p:sp>
        <p:nvSpPr>
          <p:cNvPr id="17" name="TextBox 16"/>
          <p:cNvSpPr txBox="1"/>
          <p:nvPr/>
        </p:nvSpPr>
        <p:spPr>
          <a:xfrm>
            <a:off x="9765792" y="1709928"/>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nhỏ</a:t>
            </a:r>
          </a:p>
        </p:txBody>
      </p:sp>
      <p:sp>
        <p:nvSpPr>
          <p:cNvPr id="18" name="Rounded Rectangle 17"/>
          <p:cNvSpPr/>
          <p:nvPr/>
        </p:nvSpPr>
        <p:spPr>
          <a:xfrm>
            <a:off x="9646920" y="2487168"/>
            <a:ext cx="1956816" cy="877824"/>
          </a:xfrm>
          <a:prstGeom prst="roundRect">
            <a:avLst/>
          </a:prstGeom>
          <a:solidFill>
            <a:srgbClr val="2E8177"/>
          </a:solidFill>
          <a:ln w="12700">
            <a:solidFill>
              <a:srgbClr val="2E817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65792" y="2578608"/>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FFFFFF"/>
                </a:solidFill>
                <a:latin typeface="Trebuchet MS"/>
              </a:rPr>
              <a:t>ĐÃ ĐẠT  ·  CÂU 02</a:t>
            </a:r>
          </a:p>
        </p:txBody>
      </p:sp>
      <p:sp>
        <p:nvSpPr>
          <p:cNvPr id="20" name="TextBox 19"/>
          <p:cNvSpPr txBox="1"/>
          <p:nvPr/>
        </p:nvSpPr>
        <p:spPr>
          <a:xfrm>
            <a:off x="9765792" y="2825496"/>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FFFFFF"/>
                </a:solidFill>
                <a:latin typeface="Trebuchet MS"/>
              </a:rPr>
              <a:t>Quà vừa</a:t>
            </a:r>
          </a:p>
        </p:txBody>
      </p:sp>
      <p:sp>
        <p:nvSpPr>
          <p:cNvPr id="21" name="Rounded Rectangle 20"/>
          <p:cNvSpPr/>
          <p:nvPr/>
        </p:nvSpPr>
        <p:spPr>
          <a:xfrm>
            <a:off x="9646920" y="3602736"/>
            <a:ext cx="1956816" cy="877824"/>
          </a:xfrm>
          <a:prstGeom prst="roundRect">
            <a:avLst/>
          </a:prstGeom>
          <a:solidFill>
            <a:srgbClr val="FFD05A"/>
          </a:solidFill>
          <a:ln w="12700">
            <a:solidFill>
              <a:srgbClr val="D9A92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765792" y="3694176"/>
            <a:ext cx="1719072" cy="210312"/>
          </a:xfrm>
          <a:prstGeom prst="rect">
            <a:avLst/>
          </a:prstGeom>
          <a:noFill/>
        </p:spPr>
        <p:txBody>
          <a:bodyPr wrap="square" lIns="9144" tIns="5029" rIns="9144" bIns="5029" anchor="ctr">
            <a:spAutoFit/>
          </a:bodyPr>
          <a:lstStyle/>
          <a:p>
            <a:pPr algn="l">
              <a:lnSpc>
                <a:spcPct val="100000"/>
              </a:lnSpc>
              <a:spcBef>
                <a:spcPts val="0"/>
              </a:spcBef>
              <a:spcAft>
                <a:spcPts val="0"/>
              </a:spcAft>
            </a:pPr>
            <a:r>
              <a:rPr sz="940" b="1" i="0">
                <a:solidFill>
                  <a:srgbClr val="18324A"/>
                </a:solidFill>
                <a:latin typeface="Trebuchet MS"/>
              </a:rPr>
              <a:t>MỤC TIÊU  ·  CÂU 03</a:t>
            </a:r>
          </a:p>
        </p:txBody>
      </p:sp>
      <p:sp>
        <p:nvSpPr>
          <p:cNvPr id="23" name="TextBox 22"/>
          <p:cNvSpPr txBox="1"/>
          <p:nvPr/>
        </p:nvSpPr>
        <p:spPr>
          <a:xfrm>
            <a:off x="9765792" y="3941063"/>
            <a:ext cx="1719072" cy="384048"/>
          </a:xfrm>
          <a:prstGeom prst="rect">
            <a:avLst/>
          </a:prstGeom>
          <a:noFill/>
        </p:spPr>
        <p:txBody>
          <a:bodyPr wrap="square" lIns="9144" tIns="5029" rIns="9144" bIns="5029" anchor="ctr">
            <a:spAutoFit/>
          </a:bodyPr>
          <a:lstStyle/>
          <a:p>
            <a:pPr algn="l">
              <a:lnSpc>
                <a:spcPct val="100000"/>
              </a:lnSpc>
              <a:spcBef>
                <a:spcPts val="0"/>
              </a:spcBef>
              <a:spcAft>
                <a:spcPts val="0"/>
              </a:spcAft>
            </a:pPr>
            <a:r>
              <a:rPr sz="1620" b="1" i="0">
                <a:solidFill>
                  <a:srgbClr val="18324A"/>
                </a:solidFill>
                <a:latin typeface="Trebuchet MS"/>
              </a:rPr>
              <a:t>Quà lớn</a:t>
            </a:r>
          </a:p>
        </p:txBody>
      </p:sp>
      <p:sp>
        <p:nvSpPr>
          <p:cNvPr id="24" name="TextBox 23"/>
          <p:cNvSpPr txBox="1"/>
          <p:nvPr/>
        </p:nvSpPr>
        <p:spPr>
          <a:xfrm>
            <a:off x="9674352" y="5102352"/>
            <a:ext cx="1901952" cy="228600"/>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50" b="1" i="0">
                <a:solidFill>
                  <a:srgbClr val="B9C7CC"/>
                </a:solidFill>
                <a:latin typeface="Trebuchet MS"/>
              </a:rPr>
              <a:t>QUÀ GIỮ LẠI</a:t>
            </a:r>
          </a:p>
        </p:txBody>
      </p:sp>
      <p:sp>
        <p:nvSpPr>
          <p:cNvPr id="25" name="TextBox 24"/>
          <p:cNvSpPr txBox="1"/>
          <p:nvPr/>
        </p:nvSpPr>
        <p:spPr>
          <a:xfrm>
            <a:off x="9674352" y="5340096"/>
            <a:ext cx="1901952" cy="384048"/>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1700" b="1" i="0">
                <a:solidFill>
                  <a:srgbClr val="FFD05A"/>
                </a:solidFill>
                <a:latin typeface="Trebuchet MS"/>
              </a:rPr>
              <a:t>Quà vừa</a:t>
            </a:r>
          </a:p>
        </p:txBody>
      </p:sp>
      <p:sp>
        <p:nvSpPr>
          <p:cNvPr id="26" name="TextBox 25"/>
          <p:cNvSpPr txBox="1"/>
          <p:nvPr/>
        </p:nvSpPr>
        <p:spPr>
          <a:xfrm>
            <a:off x="9692640" y="5806440"/>
            <a:ext cx="1865376" cy="448056"/>
          </a:xfrm>
          <a:prstGeom prst="rect">
            <a:avLst/>
          </a:prstGeom>
          <a:noFill/>
        </p:spPr>
        <p:txBody>
          <a:bodyPr wrap="square" lIns="9144" tIns="5029" rIns="9144" bIns="5029" anchor="ctr">
            <a:spAutoFit/>
          </a:bodyPr>
          <a:lstStyle/>
          <a:p>
            <a:pPr algn="ctr">
              <a:lnSpc>
                <a:spcPct val="100000"/>
              </a:lnSpc>
              <a:spcBef>
                <a:spcPts val="0"/>
              </a:spcBef>
              <a:spcAft>
                <a:spcPts val="0"/>
              </a:spcAft>
            </a:pPr>
            <a:r>
              <a:rPr sz="930" b="0" i="0">
                <a:solidFill>
                  <a:srgbClr val="D3DDE0"/>
                </a:solidFill>
                <a:latin typeface="Aptos"/>
              </a:rPr>
              <a:t>Quà được nhận sau khi
trả lời đúng câu tương ứng.</a:t>
            </a:r>
          </a:p>
        </p:txBody>
      </p:sp>
      <p:sp>
        <p:nvSpPr>
          <p:cNvPr id="27" name="Đáp án A"/>
          <p:cNvSpPr/>
          <p:nvPr/>
        </p:nvSpPr>
        <p:spPr>
          <a:xfrm>
            <a:off x="530352" y="2770632"/>
            <a:ext cx="4215384" cy="1170432"/>
          </a:xfrm>
          <a:prstGeom prst="roundRect">
            <a:avLst/>
          </a:prstGeom>
          <a:solidFill>
            <a:srgbClr val="2F9C72"/>
          </a:solidFill>
          <a:ln w="15875">
            <a:solidFill>
              <a:srgbClr val="2F9C72"/>
            </a:solidFill>
          </a:ln>
          <a:effectLst>
            <a:glow rad="190000">
              <a:srgbClr val="73D9A5">
                <a:alpha val="52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250" b="1" i="0">
                <a:solidFill>
                  <a:srgbClr val="FFFFFF"/>
                </a:solidFill>
                <a:latin typeface="Aptos"/>
              </a:rPr>
              <a:t>Chống suy thoái, tham nhũng để bảo vệ niềm tin và công bằng; đồng thời xây dựng con người toàn diện, có đạo đức và năng lực, kết hợp truyền thống với hiện đại.</a:t>
            </a:r>
          </a:p>
        </p:txBody>
      </p:sp>
      <p:sp>
        <p:nvSpPr>
          <p:cNvPr id="28" name="Oval 27"/>
          <p:cNvSpPr/>
          <p:nvPr/>
        </p:nvSpPr>
        <p:spPr>
          <a:xfrm>
            <a:off x="685800" y="3154679"/>
            <a:ext cx="402336" cy="402336"/>
          </a:xfrm>
          <a:prstGeom prst="ellipse">
            <a:avLst/>
          </a:prstGeom>
          <a:solidFill>
            <a:srgbClr val="FFFFFF"/>
          </a:solidFill>
          <a:ln w="12700">
            <a:solidFill>
              <a:srgbClr val="2F9C72"/>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2F9C72"/>
                </a:solidFill>
                <a:latin typeface="Trebuchet MS"/>
              </a:rPr>
              <a:t>A</a:t>
            </a:r>
          </a:p>
        </p:txBody>
      </p:sp>
      <p:sp>
        <p:nvSpPr>
          <p:cNvPr id="29" name="Đáp án B"/>
          <p:cNvSpPr/>
          <p:nvPr/>
        </p:nvSpPr>
        <p:spPr>
          <a:xfrm>
            <a:off x="4937760" y="2770632"/>
            <a:ext cx="4279392"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8A979B"/>
                </a:solidFill>
                <a:latin typeface="Aptos"/>
              </a:rPr>
              <a:t>Chỉ cần chống cái xấu; khi trở ngại biến mất, con người sẽ tự phát triển toàn diện.</a:t>
            </a:r>
          </a:p>
        </p:txBody>
      </p:sp>
      <p:sp>
        <p:nvSpPr>
          <p:cNvPr id="30" name="Oval 29"/>
          <p:cNvSpPr/>
          <p:nvPr/>
        </p:nvSpPr>
        <p:spPr>
          <a:xfrm>
            <a:off x="5093208" y="3154679"/>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B</a:t>
            </a:r>
          </a:p>
        </p:txBody>
      </p:sp>
      <p:sp>
        <p:nvSpPr>
          <p:cNvPr id="31" name="Đáp án C"/>
          <p:cNvSpPr/>
          <p:nvPr/>
        </p:nvSpPr>
        <p:spPr>
          <a:xfrm>
            <a:off x="530352" y="4105656"/>
            <a:ext cx="4215384" cy="1170432"/>
          </a:xfrm>
          <a:prstGeom prst="roundRect">
            <a:avLst/>
          </a:prstGeom>
          <a:solidFill>
            <a:srgbClr val="E5E9E5"/>
          </a:solidFill>
          <a:ln w="15875">
            <a:solidFill>
              <a:srgbClr val="D9DFDA"/>
            </a:solidFill>
          </a:ln>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0" i="0">
                <a:solidFill>
                  <a:srgbClr val="8A979B"/>
                </a:solidFill>
                <a:latin typeface="Aptos"/>
              </a:rPr>
              <a:t>Chỉ cần xây con người mới; tham nhũng và suy thoái không ảnh hưởng tới môi trường phát triển.</a:t>
            </a:r>
          </a:p>
        </p:txBody>
      </p:sp>
      <p:sp>
        <p:nvSpPr>
          <p:cNvPr id="32" name="Oval 31"/>
          <p:cNvSpPr/>
          <p:nvPr/>
        </p:nvSpPr>
        <p:spPr>
          <a:xfrm>
            <a:off x="685800" y="4489704"/>
            <a:ext cx="402336" cy="402336"/>
          </a:xfrm>
          <a:prstGeom prst="ellipse">
            <a:avLst/>
          </a:prstGeom>
          <a:solidFill>
            <a:srgbClr val="D5DBD8"/>
          </a:solidFill>
          <a:ln>
            <a:no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7E8B8E"/>
                </a:solidFill>
                <a:latin typeface="Trebuchet MS"/>
              </a:rPr>
              <a:t>C</a:t>
            </a:r>
          </a:p>
        </p:txBody>
      </p:sp>
      <p:sp>
        <p:nvSpPr>
          <p:cNvPr id="33" name="Đáp án D"/>
          <p:cNvSpPr/>
          <p:nvPr/>
        </p:nvSpPr>
        <p:spPr>
          <a:xfrm>
            <a:off x="4937760" y="4105656"/>
            <a:ext cx="4279392" cy="1170432"/>
          </a:xfrm>
          <a:prstGeom prst="roundRect">
            <a:avLst/>
          </a:prstGeom>
          <a:solidFill>
            <a:srgbClr val="E45C64"/>
          </a:solidFill>
          <a:ln w="15875">
            <a:solidFill>
              <a:srgbClr val="B8424C"/>
            </a:solidFill>
          </a:ln>
          <a:effectLst>
            <a:glow rad="110000">
              <a:srgbClr val="E45C64">
                <a:alpha val="35000"/>
              </a:srgbClr>
            </a:glow>
          </a:effectLst>
        </p:spPr>
        <p:style>
          <a:lnRef idx="1">
            <a:schemeClr val="accent1"/>
          </a:lnRef>
          <a:fillRef idx="3">
            <a:schemeClr val="accent1"/>
          </a:fillRef>
          <a:effectRef idx="2">
            <a:schemeClr val="accent1"/>
          </a:effectRef>
          <a:fontRef idx="minor">
            <a:schemeClr val="lt1"/>
          </a:fontRef>
        </p:style>
        <p:txBody>
          <a:bodyPr wrap="square" lIns="667512" tIns="54864" rIns="137160" bIns="54864" rtlCol="0" anchor="ctr"/>
          <a:lstStyle/>
          <a:p>
            <a:pPr algn="l">
              <a:lnSpc>
                <a:spcPct val="100000"/>
              </a:lnSpc>
              <a:spcBef>
                <a:spcPts val="0"/>
              </a:spcBef>
              <a:spcAft>
                <a:spcPts val="0"/>
              </a:spcAft>
            </a:pPr>
            <a:r>
              <a:rPr sz="1540" b="1" i="0">
                <a:solidFill>
                  <a:srgbClr val="FFFFFF"/>
                </a:solidFill>
                <a:latin typeface="Aptos"/>
              </a:rPr>
              <a:t>“Chống” và “xây” tách rời, nên chỉ nên thực hiện ở hai thời kỳ không liên hệ.</a:t>
            </a:r>
          </a:p>
        </p:txBody>
      </p:sp>
      <p:sp>
        <p:nvSpPr>
          <p:cNvPr id="34" name="Oval 33"/>
          <p:cNvSpPr/>
          <p:nvPr/>
        </p:nvSpPr>
        <p:spPr>
          <a:xfrm>
            <a:off x="5093208" y="4489704"/>
            <a:ext cx="402336" cy="402336"/>
          </a:xfrm>
          <a:prstGeom prst="ellipse">
            <a:avLst/>
          </a:prstGeom>
          <a:solidFill>
            <a:srgbClr val="FFFFFF"/>
          </a:solidFill>
          <a:ln w="12700">
            <a:solidFill>
              <a:srgbClr val="B8424C"/>
            </a:solidFill>
          </a:ln>
        </p:spPr>
        <p:style>
          <a:lnRef idx="1">
            <a:schemeClr val="accent1"/>
          </a:lnRef>
          <a:fillRef idx="3">
            <a:schemeClr val="accent1"/>
          </a:fillRef>
          <a:effectRef idx="2">
            <a:schemeClr val="accent1"/>
          </a:effectRef>
          <a:fontRef idx="minor">
            <a:schemeClr val="lt1"/>
          </a:fontRef>
        </p:style>
        <p:txBody>
          <a:bodyPr wrap="square" lIns="18288" tIns="10058" rIns="18288" bIns="10058" rtlCol="0" anchor="ctr"/>
          <a:lstStyle/>
          <a:p>
            <a:pPr algn="ctr">
              <a:lnSpc>
                <a:spcPct val="100000"/>
              </a:lnSpc>
              <a:spcBef>
                <a:spcPts val="0"/>
              </a:spcBef>
              <a:spcAft>
                <a:spcPts val="0"/>
              </a:spcAft>
            </a:pPr>
            <a:r>
              <a:rPr sz="1450" b="1" i="0">
                <a:solidFill>
                  <a:srgbClr val="B8424C"/>
                </a:solidFill>
                <a:latin typeface="Trebuchet MS"/>
              </a:rPr>
              <a:t>D</a:t>
            </a:r>
          </a:p>
        </p:txBody>
      </p:sp>
      <p:cxnSp>
        <p:nvCxnSpPr>
          <p:cNvPr id="35" name="Connector 34"/>
          <p:cNvCxnSpPr/>
          <p:nvPr/>
        </p:nvCxnSpPr>
        <p:spPr>
          <a:xfrm>
            <a:off x="4846320" y="4306824"/>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4846320" y="4599432"/>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846320" y="489204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9235440" y="4306824"/>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9235440" y="4599432"/>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9235440" y="4892040"/>
            <a:ext cx="64008" cy="109728"/>
          </a:xfrm>
          <a:prstGeom prst="line">
            <a:avLst/>
          </a:prstGeom>
          <a:ln w="25400">
            <a:solidFill>
              <a:srgbClr val="E45C64"/>
            </a:solidFill>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530352" y="5431536"/>
            <a:ext cx="5989320" cy="868680"/>
          </a:xfrm>
          <a:prstGeom prst="roundRect">
            <a:avLst/>
          </a:prstGeom>
          <a:solidFill>
            <a:srgbClr val="FBE5E3"/>
          </a:solidFill>
          <a:ln w="12700">
            <a:solidFill>
              <a:srgbClr val="F0C7C4"/>
            </a:solid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l">
              <a:lnSpc>
                <a:spcPct val="100000"/>
              </a:lnSpc>
              <a:spcBef>
                <a:spcPts val="0"/>
              </a:spcBef>
              <a:spcAft>
                <a:spcPts val="0"/>
              </a:spcAft>
            </a:pPr>
            <a:r>
              <a:rPr sz="980" b="1" i="0">
                <a:solidFill>
                  <a:srgbClr val="18324A"/>
                </a:solidFill>
                <a:latin typeface="Aptos"/>
              </a:rPr>
              <a:t>BẠN CHỌN: D  ·  ĐÁP ÁN ĐÚNG: A
Chống suy thoái, tham nhũng để bảo vệ niềm tin và công bằng; đồng thời xây dựng con người toàn diện, có đạo đức và năng lực, kết hợp truyền thống với hiện đại.
QUÀ ĐẠT ĐƯỢC LƯỢT NÀY: Quà vừa</a:t>
            </a:r>
          </a:p>
        </p:txBody>
      </p:sp>
      <p:sp>
        <p:nvSpPr>
          <p:cNvPr id="42" name="Nút: XEM BẢNG KẾT QUẢ  →">
            <a:hlinkClick r:id="" action="ppaction://noaction"/>
          </p:cNvPr>
          <p:cNvSpPr/>
          <p:nvPr/>
        </p:nvSpPr>
        <p:spPr>
          <a:xfrm>
            <a:off x="6711696" y="5431536"/>
            <a:ext cx="2505456" cy="868680"/>
          </a:xfrm>
          <a:prstGeom prst="roundRect">
            <a:avLst/>
          </a:prstGeom>
          <a:solidFill>
            <a:srgbClr val="18324A"/>
          </a:solidFill>
          <a:ln>
            <a:noFill/>
          </a:ln>
        </p:spPr>
        <p:style>
          <a:lnRef idx="1">
            <a:schemeClr val="accent1"/>
          </a:lnRef>
          <a:fillRef idx="3">
            <a:schemeClr val="accent1"/>
          </a:fillRef>
          <a:effectRef idx="2">
            <a:schemeClr val="accent1"/>
          </a:effectRef>
          <a:fontRef idx="minor">
            <a:schemeClr val="lt1"/>
          </a:fontRef>
        </p:style>
        <p:txBody>
          <a:bodyPr wrap="square" tIns="50292" bIns="50292" rtlCol="0" anchor="ctr"/>
          <a:lstStyle/>
          <a:p>
            <a:pPr algn="ctr">
              <a:lnSpc>
                <a:spcPct val="100000"/>
              </a:lnSpc>
              <a:spcBef>
                <a:spcPts val="0"/>
              </a:spcBef>
              <a:spcAft>
                <a:spcPts val="0"/>
              </a:spcAft>
            </a:pPr>
            <a:r>
              <a:rPr sz="1240" b="1" i="0">
                <a:solidFill>
                  <a:srgbClr val="FFFFFF"/>
                </a:solidFill>
                <a:latin typeface="Trebuchet MS"/>
              </a:rPr>
              <a:t>XEM BẢNG KẾT QUẢ  →</a:t>
            </a:r>
          </a:p>
        </p:txBody>
      </p:sp>
    </p:spTree>
  </p:cSld>
  <p:clrMapOvr>
    <a:masterClrMapping/>
  </p:clrMapOvr>
  <p:transition spd="med" advClick="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12</TotalTime>
  <Words>17311</Words>
  <Application>Microsoft Office PowerPoint</Application>
  <PresentationFormat>Widescreen</PresentationFormat>
  <Paragraphs>2123</Paragraphs>
  <Slides>81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81</vt:i4>
      </vt:variant>
    </vt:vector>
  </HeadingPairs>
  <TitlesOfParts>
    <vt:vector size="86" baseType="lpstr">
      <vt:lpstr>Aptos</vt:lpstr>
      <vt:lpstr>Arial</vt:lpstr>
      <vt:lpstr>Calibri</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LÀ TRIỆU PHÚ – Triết học Mác–Lênin</dc:title>
  <dc:subject>Trò chơi tương tác 5 người chơi, 15 câu hỏi, 3 mốc thưởng</dc:subject>
  <dc:creator>Arena.ai</dc:creator>
  <cp:keywords>Ai là triệu phú, triết học, tương tác, trò chơi</cp:keywords>
  <dc:description>generated using python-pptx</dc:description>
  <cp:lastModifiedBy>Nguyên Mai Lê</cp:lastModifiedBy>
  <cp:revision>3</cp:revision>
  <dcterms:created xsi:type="dcterms:W3CDTF">2013-01-27T09:14:16Z</dcterms:created>
  <dcterms:modified xsi:type="dcterms:W3CDTF">2026-10-04T14:03:05Z</dcterms:modified>
  <cp:category/>
</cp:coreProperties>
</file>