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ricolage Grotesque" charset="1" panose="020B0605040402000204"/>
      <p:regular r:id="rId20"/>
    </p:embeddedFont>
    <p:embeddedFont>
      <p:font typeface="Bricolage Grotesque Bold" charset="1" panose="020B0605040402000204"/>
      <p:regular r:id="rId21"/>
    </p:embeddedFont>
    <p:embeddedFont>
      <p:font typeface="Aileron" charset="1" panose="00000500000000000000"/>
      <p:regular r:id="rId22"/>
    </p:embeddedFont>
    <p:embeddedFont>
      <p:font typeface="Aileron Bold" charset="1" panose="00000800000000000000"/>
      <p:regular r:id="rId23"/>
    </p:embeddedFont>
    <p:embeddedFont>
      <p:font typeface="Canva Sans Bold" charset="1" panose="020B0803030501040103"/>
      <p:regular r:id="rId24"/>
    </p:embeddedFont>
    <p:embeddedFont>
      <p:font typeface="Aileron Light" charset="1" panose="00000400000000000000"/>
      <p:regular r:id="rId25"/>
    </p:embeddedFont>
    <p:embeddedFont>
      <p:font typeface="Proxima Nova" charset="1" panose="020005060300000200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media/image17.jpe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7314118">
            <a:off x="-2046524" y="3776605"/>
            <a:ext cx="7730547" cy="8766599"/>
          </a:xfrm>
          <a:custGeom>
            <a:avLst/>
            <a:gdLst/>
            <a:ahLst/>
            <a:cxnLst/>
            <a:rect r="r" b="b" t="t" l="l"/>
            <a:pathLst>
              <a:path h="8766599" w="7730547">
                <a:moveTo>
                  <a:pt x="0" y="0"/>
                </a:moveTo>
                <a:lnTo>
                  <a:pt x="7730547" y="0"/>
                </a:lnTo>
                <a:lnTo>
                  <a:pt x="7730547" y="8766600"/>
                </a:lnTo>
                <a:lnTo>
                  <a:pt x="0" y="876660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242124"/>
            <a:ext cx="10235751" cy="2413216"/>
          </a:xfrm>
          <a:prstGeom prst="rect">
            <a:avLst/>
          </a:prstGeom>
        </p:spPr>
        <p:txBody>
          <a:bodyPr anchor="t" rtlCol="false" tIns="0" lIns="0" bIns="0" rIns="0">
            <a:spAutoFit/>
          </a:bodyPr>
          <a:lstStyle/>
          <a:p>
            <a:pPr algn="l" marL="0" indent="0" lvl="0">
              <a:lnSpc>
                <a:spcPts val="19763"/>
              </a:lnSpc>
              <a:spcBef>
                <a:spcPct val="0"/>
              </a:spcBef>
            </a:pPr>
            <a:r>
              <a:rPr lang="en-US" sz="14116" spc="-183">
                <a:solidFill>
                  <a:srgbClr val="377272"/>
                </a:solidFill>
                <a:latin typeface="Bricolage Grotesque"/>
                <a:ea typeface="Bricolage Grotesque"/>
                <a:cs typeface="Bricolage Grotesque"/>
                <a:sym typeface="Bricolage Grotesque"/>
              </a:rPr>
              <a:t>Pitch Deck</a:t>
            </a:r>
          </a:p>
        </p:txBody>
      </p:sp>
      <p:sp>
        <p:nvSpPr>
          <p:cNvPr name="Freeform 4" id="4"/>
          <p:cNvSpPr/>
          <p:nvPr/>
        </p:nvSpPr>
        <p:spPr>
          <a:xfrm flipH="false" flipV="false" rot="5262638">
            <a:off x="-2056903" y="5761004"/>
            <a:ext cx="7431557" cy="7772988"/>
          </a:xfrm>
          <a:custGeom>
            <a:avLst/>
            <a:gdLst/>
            <a:ahLst/>
            <a:cxnLst/>
            <a:rect r="r" b="b" t="t" l="l"/>
            <a:pathLst>
              <a:path h="7772988" w="7431557">
                <a:moveTo>
                  <a:pt x="0" y="0"/>
                </a:moveTo>
                <a:lnTo>
                  <a:pt x="7431557" y="0"/>
                </a:lnTo>
                <a:lnTo>
                  <a:pt x="7431557" y="7772988"/>
                </a:lnTo>
                <a:lnTo>
                  <a:pt x="0" y="7772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44661" y="6285457"/>
            <a:ext cx="7014639" cy="929247"/>
            <a:chOff x="0" y="0"/>
            <a:chExt cx="1847477" cy="244740"/>
          </a:xfrm>
        </p:grpSpPr>
        <p:sp>
          <p:nvSpPr>
            <p:cNvPr name="Freeform 6" id="6"/>
            <p:cNvSpPr/>
            <p:nvPr/>
          </p:nvSpPr>
          <p:spPr>
            <a:xfrm flipH="false" flipV="false" rot="0">
              <a:off x="0" y="0"/>
              <a:ext cx="1847477" cy="244740"/>
            </a:xfrm>
            <a:custGeom>
              <a:avLst/>
              <a:gdLst/>
              <a:ahLst/>
              <a:cxnLst/>
              <a:rect r="r" b="b" t="t" l="l"/>
              <a:pathLst>
                <a:path h="244740" w="1847477">
                  <a:moveTo>
                    <a:pt x="110368" y="0"/>
                  </a:moveTo>
                  <a:lnTo>
                    <a:pt x="1737109" y="0"/>
                  </a:lnTo>
                  <a:cubicBezTo>
                    <a:pt x="1766380" y="0"/>
                    <a:pt x="1794453" y="11628"/>
                    <a:pt x="1815151" y="32326"/>
                  </a:cubicBezTo>
                  <a:cubicBezTo>
                    <a:pt x="1835849" y="53024"/>
                    <a:pt x="1847477" y="81097"/>
                    <a:pt x="1847477" y="110368"/>
                  </a:cubicBezTo>
                  <a:lnTo>
                    <a:pt x="1847477" y="134372"/>
                  </a:lnTo>
                  <a:cubicBezTo>
                    <a:pt x="1847477" y="163643"/>
                    <a:pt x="1835849" y="191716"/>
                    <a:pt x="1815151" y="212414"/>
                  </a:cubicBezTo>
                  <a:cubicBezTo>
                    <a:pt x="1794453" y="233112"/>
                    <a:pt x="1766380" y="244740"/>
                    <a:pt x="1737109" y="244740"/>
                  </a:cubicBezTo>
                  <a:lnTo>
                    <a:pt x="110368" y="244740"/>
                  </a:lnTo>
                  <a:cubicBezTo>
                    <a:pt x="81097" y="244740"/>
                    <a:pt x="53024" y="233112"/>
                    <a:pt x="32326" y="212414"/>
                  </a:cubicBezTo>
                  <a:cubicBezTo>
                    <a:pt x="11628" y="191716"/>
                    <a:pt x="0" y="163643"/>
                    <a:pt x="0" y="134372"/>
                  </a:cubicBezTo>
                  <a:lnTo>
                    <a:pt x="0" y="110368"/>
                  </a:lnTo>
                  <a:cubicBezTo>
                    <a:pt x="0" y="81097"/>
                    <a:pt x="11628" y="53024"/>
                    <a:pt x="32326" y="32326"/>
                  </a:cubicBezTo>
                  <a:cubicBezTo>
                    <a:pt x="53024" y="11628"/>
                    <a:pt x="81097" y="0"/>
                    <a:pt x="110368" y="0"/>
                  </a:cubicBezTo>
                  <a:close/>
                </a:path>
              </a:pathLst>
            </a:custGeom>
            <a:ln w="19050" cap="rnd">
              <a:gradFill>
                <a:gsLst>
                  <a:gs pos="0">
                    <a:srgbClr val="3B6261">
                      <a:alpha val="100000"/>
                    </a:srgbClr>
                  </a:gs>
                  <a:gs pos="100000">
                    <a:srgbClr val="6F9F97">
                      <a:alpha val="100000"/>
                    </a:srgbClr>
                  </a:gs>
                </a:gsLst>
                <a:lin ang="0"/>
              </a:gradFill>
              <a:prstDash val="solid"/>
              <a:round/>
            </a:ln>
          </p:spPr>
        </p:sp>
        <p:sp>
          <p:nvSpPr>
            <p:cNvPr name="TextBox 7" id="7"/>
            <p:cNvSpPr txBox="true"/>
            <p:nvPr/>
          </p:nvSpPr>
          <p:spPr>
            <a:xfrm>
              <a:off x="0" y="-38100"/>
              <a:ext cx="1847477" cy="28284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1028700"/>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291582">
            <a:off x="13219273" y="-1371032"/>
            <a:ext cx="6287330" cy="7129962"/>
          </a:xfrm>
          <a:custGeom>
            <a:avLst/>
            <a:gdLst/>
            <a:ahLst/>
            <a:cxnLst/>
            <a:rect r="r" b="b" t="t" l="l"/>
            <a:pathLst>
              <a:path h="7129962" w="6287330">
                <a:moveTo>
                  <a:pt x="0" y="0"/>
                </a:moveTo>
                <a:lnTo>
                  <a:pt x="6287331" y="0"/>
                </a:lnTo>
                <a:lnTo>
                  <a:pt x="6287331" y="7129962"/>
                </a:lnTo>
                <a:lnTo>
                  <a:pt x="0" y="7129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28700" y="1595115"/>
            <a:ext cx="11975624" cy="4347708"/>
          </a:xfrm>
          <a:prstGeom prst="rect">
            <a:avLst/>
          </a:prstGeom>
        </p:spPr>
        <p:txBody>
          <a:bodyPr anchor="t" rtlCol="false" tIns="0" lIns="0" bIns="0" rIns="0">
            <a:spAutoFit/>
          </a:bodyPr>
          <a:lstStyle/>
          <a:p>
            <a:pPr algn="l" marL="0" indent="0" lvl="0">
              <a:lnSpc>
                <a:spcPts val="35593"/>
              </a:lnSpc>
              <a:spcBef>
                <a:spcPct val="0"/>
              </a:spcBef>
            </a:pPr>
            <a:r>
              <a:rPr lang="en-US" b="true" sz="25423" spc="-330">
                <a:solidFill>
                  <a:srgbClr val="2E6D6D"/>
                </a:solidFill>
                <a:latin typeface="Bricolage Grotesque Bold"/>
                <a:ea typeface="Bricolage Grotesque Bold"/>
                <a:cs typeface="Bricolage Grotesque Bold"/>
                <a:sym typeface="Bricolage Grotesque Bold"/>
              </a:rPr>
              <a:t>Startup</a:t>
            </a:r>
          </a:p>
        </p:txBody>
      </p:sp>
      <p:sp>
        <p:nvSpPr>
          <p:cNvPr name="TextBox 11" id="11"/>
          <p:cNvSpPr txBox="true"/>
          <p:nvPr/>
        </p:nvSpPr>
        <p:spPr>
          <a:xfrm rot="0">
            <a:off x="10667411" y="6588786"/>
            <a:ext cx="4780864" cy="427364"/>
          </a:xfrm>
          <a:prstGeom prst="rect">
            <a:avLst/>
          </a:prstGeom>
        </p:spPr>
        <p:txBody>
          <a:bodyPr anchor="t" rtlCol="false" tIns="0" lIns="0" bIns="0" rIns="0">
            <a:spAutoFit/>
          </a:bodyPr>
          <a:lstStyle/>
          <a:p>
            <a:pPr algn="just" marL="0" indent="0" lvl="0">
              <a:lnSpc>
                <a:spcPts val="3191"/>
              </a:lnSpc>
              <a:spcBef>
                <a:spcPct val="0"/>
              </a:spcBef>
            </a:pPr>
            <a:r>
              <a:rPr lang="en-US" sz="3546">
                <a:solidFill>
                  <a:srgbClr val="377272"/>
                </a:solidFill>
                <a:latin typeface="Aileron"/>
                <a:ea typeface="Aileron"/>
                <a:cs typeface="Aileron"/>
                <a:sym typeface="Aileron"/>
              </a:rPr>
              <a:t>Bu</a:t>
            </a:r>
            <a:r>
              <a:rPr lang="en-US" sz="3546" strike="noStrike" u="none">
                <a:solidFill>
                  <a:srgbClr val="377272"/>
                </a:solidFill>
                <a:latin typeface="Aileron"/>
                <a:ea typeface="Aileron"/>
                <a:cs typeface="Aileron"/>
                <a:sym typeface="Aileron"/>
              </a:rPr>
              <a:t>s</a:t>
            </a:r>
            <a:r>
              <a:rPr lang="en-US" sz="3546" strike="noStrike" u="none">
                <a:solidFill>
                  <a:srgbClr val="377272"/>
                </a:solidFill>
                <a:latin typeface="Aileron"/>
                <a:ea typeface="Aileron"/>
                <a:cs typeface="Aileron"/>
                <a:sym typeface="Aileron"/>
              </a:rPr>
              <a:t>in</a:t>
            </a:r>
            <a:r>
              <a:rPr lang="en-US" sz="3546" strike="noStrike" u="none">
                <a:solidFill>
                  <a:srgbClr val="377272"/>
                </a:solidFill>
                <a:latin typeface="Aileron"/>
                <a:ea typeface="Aileron"/>
                <a:cs typeface="Aileron"/>
                <a:sym typeface="Aileron"/>
              </a:rPr>
              <a:t>e</a:t>
            </a:r>
            <a:r>
              <a:rPr lang="en-US" sz="3546" strike="noStrike" u="none">
                <a:solidFill>
                  <a:srgbClr val="377272"/>
                </a:solidFill>
                <a:latin typeface="Aileron"/>
                <a:ea typeface="Aileron"/>
                <a:cs typeface="Aileron"/>
                <a:sym typeface="Aileron"/>
              </a:rPr>
              <a:t>ss</a:t>
            </a:r>
            <a:r>
              <a:rPr lang="en-US" sz="3546" strike="noStrike" u="none">
                <a:solidFill>
                  <a:srgbClr val="377272"/>
                </a:solidFill>
                <a:latin typeface="Aileron"/>
                <a:ea typeface="Aileron"/>
                <a:cs typeface="Aileron"/>
                <a:sym typeface="Aileron"/>
              </a:rPr>
              <a:t> </a:t>
            </a:r>
            <a:r>
              <a:rPr lang="en-US" sz="3546" strike="noStrike" u="none">
                <a:solidFill>
                  <a:srgbClr val="377272"/>
                </a:solidFill>
                <a:latin typeface="Aileron"/>
                <a:ea typeface="Aileron"/>
                <a:cs typeface="Aileron"/>
                <a:sym typeface="Aileron"/>
              </a:rPr>
              <a:t>Pr</a:t>
            </a:r>
            <a:r>
              <a:rPr lang="en-US" sz="3546" strike="noStrike" u="none">
                <a:solidFill>
                  <a:srgbClr val="377272"/>
                </a:solidFill>
                <a:latin typeface="Aileron"/>
                <a:ea typeface="Aileron"/>
                <a:cs typeface="Aileron"/>
                <a:sym typeface="Aileron"/>
              </a:rPr>
              <a:t>es</a:t>
            </a:r>
            <a:r>
              <a:rPr lang="en-US" sz="3546" strike="noStrike" u="none">
                <a:solidFill>
                  <a:srgbClr val="377272"/>
                </a:solidFill>
                <a:latin typeface="Aileron"/>
                <a:ea typeface="Aileron"/>
                <a:cs typeface="Aileron"/>
                <a:sym typeface="Aileron"/>
              </a:rPr>
              <a:t>en</a:t>
            </a:r>
            <a:r>
              <a:rPr lang="en-US" sz="3546" strike="noStrike" u="none">
                <a:solidFill>
                  <a:srgbClr val="377272"/>
                </a:solidFill>
                <a:latin typeface="Aileron"/>
                <a:ea typeface="Aileron"/>
                <a:cs typeface="Aileron"/>
                <a:sym typeface="Aileron"/>
              </a:rPr>
              <a:t>t</a:t>
            </a:r>
            <a:r>
              <a:rPr lang="en-US" sz="3546" strike="noStrike" u="none">
                <a:solidFill>
                  <a:srgbClr val="377272"/>
                </a:solidFill>
                <a:latin typeface="Aileron"/>
                <a:ea typeface="Aileron"/>
                <a:cs typeface="Aileron"/>
                <a:sym typeface="Aileron"/>
              </a:rPr>
              <a:t>ation</a:t>
            </a:r>
          </a:p>
        </p:txBody>
      </p:sp>
      <p:sp>
        <p:nvSpPr>
          <p:cNvPr name="TextBox 12" id="12"/>
          <p:cNvSpPr txBox="true"/>
          <p:nvPr/>
        </p:nvSpPr>
        <p:spPr>
          <a:xfrm rot="0">
            <a:off x="7364643" y="8942089"/>
            <a:ext cx="3558715" cy="264794"/>
          </a:xfrm>
          <a:prstGeom prst="rect">
            <a:avLst/>
          </a:prstGeom>
        </p:spPr>
        <p:txBody>
          <a:bodyPr anchor="t" rtlCol="false" tIns="0" lIns="0" bIns="0" rIns="0">
            <a:spAutoFit/>
          </a:bodyPr>
          <a:lstStyle/>
          <a:p>
            <a:pPr algn="ctr" marL="0" indent="0" lvl="0">
              <a:lnSpc>
                <a:spcPts val="1979"/>
              </a:lnSpc>
              <a:spcBef>
                <a:spcPct val="0"/>
              </a:spcBef>
            </a:pPr>
            <a:r>
              <a:rPr lang="en-US" sz="2199">
                <a:solidFill>
                  <a:srgbClr val="377272"/>
                </a:solidFill>
                <a:latin typeface="Aileron"/>
                <a:ea typeface="Aileron"/>
                <a:cs typeface="Aileron"/>
                <a:sym typeface="Aileron"/>
              </a:rPr>
              <a:t>July 29, 2025</a:t>
            </a:r>
          </a:p>
        </p:txBody>
      </p:sp>
      <p:sp>
        <p:nvSpPr>
          <p:cNvPr name="TextBox 13" id="13"/>
          <p:cNvSpPr txBox="true"/>
          <p:nvPr/>
        </p:nvSpPr>
        <p:spPr>
          <a:xfrm rot="0">
            <a:off x="1658876" y="1168915"/>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14" id="14"/>
          <p:cNvSpPr txBox="true"/>
          <p:nvPr/>
        </p:nvSpPr>
        <p:spPr>
          <a:xfrm rot="0">
            <a:off x="13700585" y="8993506"/>
            <a:ext cx="3558715" cy="264794"/>
          </a:xfrm>
          <a:prstGeom prst="rect">
            <a:avLst/>
          </a:prstGeom>
        </p:spPr>
        <p:txBody>
          <a:bodyPr anchor="t" rtlCol="false" tIns="0" lIns="0" bIns="0" rIns="0">
            <a:spAutoFit/>
          </a:bodyPr>
          <a:lstStyle/>
          <a:p>
            <a:pPr algn="ctr" marL="0" indent="0" lvl="0">
              <a:lnSpc>
                <a:spcPts val="1979"/>
              </a:lnSpc>
              <a:spcBef>
                <a:spcPct val="0"/>
              </a:spcBef>
            </a:pPr>
            <a:r>
              <a:rPr lang="en-US" b="true" sz="2199">
                <a:solidFill>
                  <a:srgbClr val="377272"/>
                </a:solidFill>
                <a:latin typeface="Aileron Bold"/>
                <a:ea typeface="Aileron Bold"/>
                <a:cs typeface="Aileron Bold"/>
                <a:sym typeface="Aileron Bold"/>
              </a:rPr>
              <a:t>www.reallygreatsite.com</a:t>
            </a:r>
            <a:r>
              <a:rPr lang="en-US" b="true" sz="2199">
                <a:solidFill>
                  <a:srgbClr val="377272"/>
                </a:solidFill>
                <a:latin typeface="Aileron Bold"/>
                <a:ea typeface="Aileron Bold"/>
                <a:cs typeface="Aileron Bold"/>
                <a:sym typeface="Aileron Bold"/>
              </a:rPr>
              <a:t> </a:t>
            </a:r>
          </a:p>
        </p:txBody>
      </p:sp>
      <p:sp>
        <p:nvSpPr>
          <p:cNvPr name="TextBox 15" id="15"/>
          <p:cNvSpPr txBox="true"/>
          <p:nvPr/>
        </p:nvSpPr>
        <p:spPr>
          <a:xfrm rot="0">
            <a:off x="1028700" y="8958281"/>
            <a:ext cx="1726777" cy="203835"/>
          </a:xfrm>
          <a:prstGeom prst="rect">
            <a:avLst/>
          </a:prstGeom>
        </p:spPr>
        <p:txBody>
          <a:bodyPr anchor="t" rtlCol="false" tIns="0" lIns="0" bIns="0" rIns="0">
            <a:spAutoFit/>
          </a:bodyPr>
          <a:lstStyle/>
          <a:p>
            <a:pPr algn="just" marL="0" indent="0" lvl="0">
              <a:lnSpc>
                <a:spcPts val="1439"/>
              </a:lnSpc>
              <a:spcBef>
                <a:spcPct val="0"/>
              </a:spcBef>
            </a:pPr>
            <a:r>
              <a:rPr lang="en-US" sz="1599">
                <a:solidFill>
                  <a:srgbClr val="377272"/>
                </a:solidFill>
                <a:latin typeface="Aileron"/>
                <a:ea typeface="Aileron"/>
                <a:cs typeface="Aileron"/>
                <a:sym typeface="Aileron"/>
              </a:rPr>
              <a:t>Presented by :</a:t>
            </a:r>
          </a:p>
        </p:txBody>
      </p:sp>
      <p:sp>
        <p:nvSpPr>
          <p:cNvPr name="TextBox 16" id="16"/>
          <p:cNvSpPr txBox="true"/>
          <p:nvPr/>
        </p:nvSpPr>
        <p:spPr>
          <a:xfrm rot="0">
            <a:off x="2406567" y="8942089"/>
            <a:ext cx="2425086"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James Porter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grpSp>
        <p:nvGrpSpPr>
          <p:cNvPr name="Group 2" id="2"/>
          <p:cNvGrpSpPr/>
          <p:nvPr/>
        </p:nvGrpSpPr>
        <p:grpSpPr>
          <a:xfrm rot="0">
            <a:off x="12421197" y="3419721"/>
            <a:ext cx="530436" cy="5304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4" id="4"/>
            <p:cNvSpPr txBox="true"/>
            <p:nvPr/>
          </p:nvSpPr>
          <p:spPr>
            <a:xfrm>
              <a:off x="76200" y="85725"/>
              <a:ext cx="660400" cy="650875"/>
            </a:xfrm>
            <a:prstGeom prst="rect">
              <a:avLst/>
            </a:prstGeom>
          </p:spPr>
          <p:txBody>
            <a:bodyPr anchor="ctr" rtlCol="false" tIns="50800" lIns="50800" bIns="50800" rIns="50800"/>
            <a:lstStyle/>
            <a:p>
              <a:pPr algn="ctr">
                <a:lnSpc>
                  <a:spcPts val="2666"/>
                </a:lnSpc>
              </a:pPr>
            </a:p>
          </p:txBody>
        </p:sp>
      </p:grpSp>
      <p:grpSp>
        <p:nvGrpSpPr>
          <p:cNvPr name="Group 5" id="5"/>
          <p:cNvGrpSpPr/>
          <p:nvPr/>
        </p:nvGrpSpPr>
        <p:grpSpPr>
          <a:xfrm rot="0">
            <a:off x="12421197" y="4138567"/>
            <a:ext cx="530436" cy="5304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7" id="7"/>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8" id="8"/>
          <p:cNvSpPr txBox="true"/>
          <p:nvPr/>
        </p:nvSpPr>
        <p:spPr>
          <a:xfrm rot="0">
            <a:off x="12538378" y="3532005"/>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1</a:t>
            </a:r>
          </a:p>
        </p:txBody>
      </p:sp>
      <p:sp>
        <p:nvSpPr>
          <p:cNvPr name="TextBox 9" id="9"/>
          <p:cNvSpPr txBox="true"/>
          <p:nvPr/>
        </p:nvSpPr>
        <p:spPr>
          <a:xfrm rot="0">
            <a:off x="12538378" y="4250851"/>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2</a:t>
            </a:r>
          </a:p>
        </p:txBody>
      </p:sp>
      <p:sp>
        <p:nvSpPr>
          <p:cNvPr name="TextBox 10" id="10"/>
          <p:cNvSpPr txBox="true"/>
          <p:nvPr/>
        </p:nvSpPr>
        <p:spPr>
          <a:xfrm rot="0">
            <a:off x="13360576" y="3569229"/>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Who We Are?</a:t>
            </a:r>
          </a:p>
        </p:txBody>
      </p:sp>
      <p:sp>
        <p:nvSpPr>
          <p:cNvPr name="TextBox 11" id="11"/>
          <p:cNvSpPr txBox="true"/>
          <p:nvPr/>
        </p:nvSpPr>
        <p:spPr>
          <a:xfrm rot="0">
            <a:off x="13360576" y="4288074"/>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Market Insights</a:t>
            </a:r>
          </a:p>
        </p:txBody>
      </p:sp>
      <p:grpSp>
        <p:nvGrpSpPr>
          <p:cNvPr name="Group 12" id="12"/>
          <p:cNvGrpSpPr/>
          <p:nvPr/>
        </p:nvGrpSpPr>
        <p:grpSpPr>
          <a:xfrm rot="0">
            <a:off x="12421197" y="4857412"/>
            <a:ext cx="530436" cy="53043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14" id="14"/>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15" id="15"/>
          <p:cNvSpPr txBox="true"/>
          <p:nvPr/>
        </p:nvSpPr>
        <p:spPr>
          <a:xfrm rot="0">
            <a:off x="12538378" y="4969696"/>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3</a:t>
            </a:r>
          </a:p>
        </p:txBody>
      </p:sp>
      <p:sp>
        <p:nvSpPr>
          <p:cNvPr name="TextBox 16" id="16"/>
          <p:cNvSpPr txBox="true"/>
          <p:nvPr/>
        </p:nvSpPr>
        <p:spPr>
          <a:xfrm rot="0">
            <a:off x="13360576" y="5006920"/>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Services We Offer</a:t>
            </a:r>
          </a:p>
        </p:txBody>
      </p:sp>
      <p:grpSp>
        <p:nvGrpSpPr>
          <p:cNvPr name="Group 17" id="17"/>
          <p:cNvGrpSpPr/>
          <p:nvPr/>
        </p:nvGrpSpPr>
        <p:grpSpPr>
          <a:xfrm rot="0">
            <a:off x="12421197" y="5576257"/>
            <a:ext cx="530436" cy="53043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19" id="19"/>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20" id="20"/>
          <p:cNvSpPr txBox="true"/>
          <p:nvPr/>
        </p:nvSpPr>
        <p:spPr>
          <a:xfrm rot="0">
            <a:off x="12538378" y="5688542"/>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4</a:t>
            </a:r>
          </a:p>
        </p:txBody>
      </p:sp>
      <p:sp>
        <p:nvSpPr>
          <p:cNvPr name="TextBox 21" id="21"/>
          <p:cNvSpPr txBox="true"/>
          <p:nvPr/>
        </p:nvSpPr>
        <p:spPr>
          <a:xfrm rot="0">
            <a:off x="13360576" y="5725765"/>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Why Choose Us?</a:t>
            </a:r>
          </a:p>
        </p:txBody>
      </p:sp>
      <p:grpSp>
        <p:nvGrpSpPr>
          <p:cNvPr name="Group 22" id="22"/>
          <p:cNvGrpSpPr/>
          <p:nvPr/>
        </p:nvGrpSpPr>
        <p:grpSpPr>
          <a:xfrm rot="0">
            <a:off x="12421197" y="6295103"/>
            <a:ext cx="530436" cy="53043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24" id="24"/>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25" id="25"/>
          <p:cNvSpPr txBox="true"/>
          <p:nvPr/>
        </p:nvSpPr>
        <p:spPr>
          <a:xfrm rot="0">
            <a:off x="12538378" y="6407387"/>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5</a:t>
            </a:r>
          </a:p>
        </p:txBody>
      </p:sp>
      <p:sp>
        <p:nvSpPr>
          <p:cNvPr name="TextBox 26" id="26"/>
          <p:cNvSpPr txBox="true"/>
          <p:nvPr/>
        </p:nvSpPr>
        <p:spPr>
          <a:xfrm rot="0">
            <a:off x="13360576" y="6444611"/>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Our Team</a:t>
            </a:r>
          </a:p>
        </p:txBody>
      </p:sp>
      <p:grpSp>
        <p:nvGrpSpPr>
          <p:cNvPr name="Group 27" id="27"/>
          <p:cNvGrpSpPr/>
          <p:nvPr/>
        </p:nvGrpSpPr>
        <p:grpSpPr>
          <a:xfrm rot="0">
            <a:off x="12421197" y="7013948"/>
            <a:ext cx="530436" cy="53043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29" id="29"/>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30" id="30"/>
          <p:cNvSpPr txBox="true"/>
          <p:nvPr/>
        </p:nvSpPr>
        <p:spPr>
          <a:xfrm rot="0">
            <a:off x="12538378" y="7126232"/>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6</a:t>
            </a:r>
          </a:p>
        </p:txBody>
      </p:sp>
      <p:sp>
        <p:nvSpPr>
          <p:cNvPr name="TextBox 31" id="31"/>
          <p:cNvSpPr txBox="true"/>
          <p:nvPr/>
        </p:nvSpPr>
        <p:spPr>
          <a:xfrm rot="0">
            <a:off x="13360576" y="7163456"/>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Our Portfolio</a:t>
            </a:r>
          </a:p>
        </p:txBody>
      </p:sp>
      <p:grpSp>
        <p:nvGrpSpPr>
          <p:cNvPr name="Group 32" id="32"/>
          <p:cNvGrpSpPr/>
          <p:nvPr/>
        </p:nvGrpSpPr>
        <p:grpSpPr>
          <a:xfrm rot="0">
            <a:off x="12421197" y="7732794"/>
            <a:ext cx="530436" cy="530436"/>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34" id="34"/>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35" id="35"/>
          <p:cNvSpPr txBox="true"/>
          <p:nvPr/>
        </p:nvSpPr>
        <p:spPr>
          <a:xfrm rot="0">
            <a:off x="12538378" y="7845078"/>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7</a:t>
            </a:r>
          </a:p>
        </p:txBody>
      </p:sp>
      <p:sp>
        <p:nvSpPr>
          <p:cNvPr name="TextBox 36" id="36"/>
          <p:cNvSpPr txBox="true"/>
          <p:nvPr/>
        </p:nvSpPr>
        <p:spPr>
          <a:xfrm rot="0">
            <a:off x="13360576" y="7882301"/>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Our Performance </a:t>
            </a:r>
          </a:p>
        </p:txBody>
      </p:sp>
      <p:grpSp>
        <p:nvGrpSpPr>
          <p:cNvPr name="Group 37" id="37"/>
          <p:cNvGrpSpPr/>
          <p:nvPr/>
        </p:nvGrpSpPr>
        <p:grpSpPr>
          <a:xfrm rot="0">
            <a:off x="12421197" y="8451639"/>
            <a:ext cx="530436" cy="530436"/>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solidFill>
                <a:srgbClr val="163B42"/>
              </a:solidFill>
              <a:prstDash val="solid"/>
              <a:miter/>
            </a:ln>
          </p:spPr>
        </p:sp>
        <p:sp>
          <p:nvSpPr>
            <p:cNvPr name="TextBox 39" id="39"/>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40" id="40"/>
          <p:cNvSpPr txBox="true"/>
          <p:nvPr/>
        </p:nvSpPr>
        <p:spPr>
          <a:xfrm rot="0">
            <a:off x="12538378" y="8563923"/>
            <a:ext cx="311200" cy="314377"/>
          </a:xfrm>
          <a:prstGeom prst="rect">
            <a:avLst/>
          </a:prstGeom>
        </p:spPr>
        <p:txBody>
          <a:bodyPr anchor="t" rtlCol="false" tIns="0" lIns="0" bIns="0" rIns="0">
            <a:spAutoFit/>
          </a:bodyPr>
          <a:lstStyle/>
          <a:p>
            <a:pPr algn="ctr">
              <a:lnSpc>
                <a:spcPts val="2423"/>
              </a:lnSpc>
            </a:pPr>
            <a:r>
              <a:rPr lang="en-US" b="true" sz="2308" spc="-69">
                <a:solidFill>
                  <a:srgbClr val="FFFFFF"/>
                </a:solidFill>
                <a:latin typeface="Canva Sans Bold"/>
                <a:ea typeface="Canva Sans Bold"/>
                <a:cs typeface="Canva Sans Bold"/>
                <a:sym typeface="Canva Sans Bold"/>
              </a:rPr>
              <a:t>8</a:t>
            </a:r>
          </a:p>
        </p:txBody>
      </p:sp>
      <p:sp>
        <p:nvSpPr>
          <p:cNvPr name="TextBox 41" id="41"/>
          <p:cNvSpPr txBox="true"/>
          <p:nvPr/>
        </p:nvSpPr>
        <p:spPr>
          <a:xfrm rot="0">
            <a:off x="13360576" y="8601147"/>
            <a:ext cx="3177945" cy="284480"/>
          </a:xfrm>
          <a:prstGeom prst="rect">
            <a:avLst/>
          </a:prstGeom>
        </p:spPr>
        <p:txBody>
          <a:bodyPr anchor="t" rtlCol="false" tIns="0" lIns="0" bIns="0" rIns="0">
            <a:spAutoFit/>
          </a:bodyPr>
          <a:lstStyle/>
          <a:p>
            <a:pPr algn="l">
              <a:lnSpc>
                <a:spcPts val="2199"/>
              </a:lnSpc>
            </a:pPr>
            <a:r>
              <a:rPr lang="en-US" sz="2199" spc="-109">
                <a:solidFill>
                  <a:srgbClr val="163B42"/>
                </a:solidFill>
                <a:latin typeface="Aileron"/>
                <a:ea typeface="Aileron"/>
                <a:cs typeface="Aileron"/>
                <a:sym typeface="Aileron"/>
              </a:rPr>
              <a:t>What’s Next for Us?</a:t>
            </a:r>
          </a:p>
        </p:txBody>
      </p:sp>
      <p:sp>
        <p:nvSpPr>
          <p:cNvPr name="Freeform 42" id="42"/>
          <p:cNvSpPr/>
          <p:nvPr/>
        </p:nvSpPr>
        <p:spPr>
          <a:xfrm flipH="false" flipV="false" rot="-10800000">
            <a:off x="15063590" y="-1877456"/>
            <a:ext cx="4391419" cy="4979960"/>
          </a:xfrm>
          <a:custGeom>
            <a:avLst/>
            <a:gdLst/>
            <a:ahLst/>
            <a:cxnLst/>
            <a:rect r="r" b="b" t="t" l="l"/>
            <a:pathLst>
              <a:path h="4979960" w="4391419">
                <a:moveTo>
                  <a:pt x="0" y="0"/>
                </a:moveTo>
                <a:lnTo>
                  <a:pt x="4391420" y="0"/>
                </a:lnTo>
                <a:lnTo>
                  <a:pt x="4391420" y="4979960"/>
                </a:lnTo>
                <a:lnTo>
                  <a:pt x="0" y="49799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3" id="43"/>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TextBox 44" id="44"/>
          <p:cNvSpPr txBox="true"/>
          <p:nvPr/>
        </p:nvSpPr>
        <p:spPr>
          <a:xfrm rot="0">
            <a:off x="1028700" y="3090174"/>
            <a:ext cx="10235751" cy="2912745"/>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L</a:t>
            </a:r>
            <a:r>
              <a:rPr lang="en-US" b="true" sz="12000" spc="-156">
                <a:solidFill>
                  <a:srgbClr val="377272"/>
                </a:solidFill>
                <a:latin typeface="Bricolage Grotesque Bold"/>
                <a:ea typeface="Bricolage Grotesque Bold"/>
                <a:cs typeface="Bricolage Grotesque Bold"/>
                <a:sym typeface="Bricolage Grotesque Bold"/>
              </a:rPr>
              <a:t>ist of Contents</a:t>
            </a:r>
          </a:p>
        </p:txBody>
      </p:sp>
      <p:sp>
        <p:nvSpPr>
          <p:cNvPr name="Freeform 45" id="45"/>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6" id="46"/>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Freeform 47" id="47"/>
          <p:cNvSpPr/>
          <p:nvPr/>
        </p:nvSpPr>
        <p:spPr>
          <a:xfrm flipH="false" flipV="false" rot="-1935264">
            <a:off x="-325908" y="5644889"/>
            <a:ext cx="5702562" cy="6466823"/>
          </a:xfrm>
          <a:custGeom>
            <a:avLst/>
            <a:gdLst/>
            <a:ahLst/>
            <a:cxnLst/>
            <a:rect r="r" b="b" t="t" l="l"/>
            <a:pathLst>
              <a:path h="6466823" w="5702562">
                <a:moveTo>
                  <a:pt x="0" y="0"/>
                </a:moveTo>
                <a:lnTo>
                  <a:pt x="5702561" y="0"/>
                </a:lnTo>
                <a:lnTo>
                  <a:pt x="5702561" y="6466823"/>
                </a:lnTo>
                <a:lnTo>
                  <a:pt x="0" y="64668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8" id="48"/>
          <p:cNvSpPr/>
          <p:nvPr/>
        </p:nvSpPr>
        <p:spPr>
          <a:xfrm flipH="false" flipV="false" rot="7314118">
            <a:off x="6077486" y="6033344"/>
            <a:ext cx="6016318" cy="6822629"/>
          </a:xfrm>
          <a:custGeom>
            <a:avLst/>
            <a:gdLst/>
            <a:ahLst/>
            <a:cxnLst/>
            <a:rect r="r" b="b" t="t" l="l"/>
            <a:pathLst>
              <a:path h="6822629" w="6016318">
                <a:moveTo>
                  <a:pt x="0" y="0"/>
                </a:moveTo>
                <a:lnTo>
                  <a:pt x="6016318" y="0"/>
                </a:lnTo>
                <a:lnTo>
                  <a:pt x="6016318" y="6822629"/>
                </a:lnTo>
                <a:lnTo>
                  <a:pt x="0" y="6822629"/>
                </a:lnTo>
                <a:lnTo>
                  <a:pt x="0" y="0"/>
                </a:lnTo>
                <a:close/>
              </a:path>
            </a:pathLst>
          </a:custGeom>
          <a:blipFill>
            <a:blip r:embed="rId6">
              <a:alphaModFix amt="6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2201486">
            <a:off x="12290109" y="1248869"/>
            <a:ext cx="9368655" cy="9799083"/>
          </a:xfrm>
          <a:custGeom>
            <a:avLst/>
            <a:gdLst/>
            <a:ahLst/>
            <a:cxnLst/>
            <a:rect r="r" b="b" t="t" l="l"/>
            <a:pathLst>
              <a:path h="9799083" w="9368655">
                <a:moveTo>
                  <a:pt x="0" y="0"/>
                </a:moveTo>
                <a:lnTo>
                  <a:pt x="9368655" y="0"/>
                </a:lnTo>
                <a:lnTo>
                  <a:pt x="9368655"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44000" y="4527429"/>
            <a:ext cx="8115300" cy="4730871"/>
            <a:chOff x="0" y="0"/>
            <a:chExt cx="1257272" cy="732936"/>
          </a:xfrm>
        </p:grpSpPr>
        <p:sp>
          <p:nvSpPr>
            <p:cNvPr name="Freeform 4" id="4"/>
            <p:cNvSpPr/>
            <p:nvPr/>
          </p:nvSpPr>
          <p:spPr>
            <a:xfrm flipH="false" flipV="false" rot="0">
              <a:off x="0" y="0"/>
              <a:ext cx="1257272" cy="732936"/>
            </a:xfrm>
            <a:custGeom>
              <a:avLst/>
              <a:gdLst/>
              <a:ahLst/>
              <a:cxnLst/>
              <a:rect r="r" b="b" t="t" l="l"/>
              <a:pathLst>
                <a:path h="732936" w="1257272">
                  <a:moveTo>
                    <a:pt x="28620" y="0"/>
                  </a:moveTo>
                  <a:lnTo>
                    <a:pt x="1228653" y="0"/>
                  </a:lnTo>
                  <a:cubicBezTo>
                    <a:pt x="1244459" y="0"/>
                    <a:pt x="1257272" y="12813"/>
                    <a:pt x="1257272" y="28620"/>
                  </a:cubicBezTo>
                  <a:lnTo>
                    <a:pt x="1257272" y="704316"/>
                  </a:lnTo>
                  <a:cubicBezTo>
                    <a:pt x="1257272" y="720122"/>
                    <a:pt x="1244459" y="732936"/>
                    <a:pt x="1228653" y="732936"/>
                  </a:cubicBezTo>
                  <a:lnTo>
                    <a:pt x="28620" y="732936"/>
                  </a:lnTo>
                  <a:cubicBezTo>
                    <a:pt x="12813" y="732936"/>
                    <a:pt x="0" y="720122"/>
                    <a:pt x="0" y="704316"/>
                  </a:cubicBezTo>
                  <a:lnTo>
                    <a:pt x="0" y="28620"/>
                  </a:lnTo>
                  <a:cubicBezTo>
                    <a:pt x="0" y="12813"/>
                    <a:pt x="12813" y="0"/>
                    <a:pt x="28620" y="0"/>
                  </a:cubicBezTo>
                  <a:close/>
                </a:path>
              </a:pathLst>
            </a:custGeom>
            <a:blipFill>
              <a:blip r:embed="rId4"/>
              <a:stretch>
                <a:fillRect l="0" t="-7231" r="0" b="-7231"/>
              </a:stretch>
            </a:blipFill>
            <a:ln w="19050" cap="rnd">
              <a:solidFill>
                <a:srgbClr val="163B42"/>
              </a:solidFill>
              <a:prstDash val="solid"/>
              <a:round/>
            </a:ln>
          </p:spPr>
        </p:sp>
      </p:grpSp>
      <p:sp>
        <p:nvSpPr>
          <p:cNvPr name="Freeform 5" id="5"/>
          <p:cNvSpPr/>
          <p:nvPr/>
        </p:nvSpPr>
        <p:spPr>
          <a:xfrm flipH="false" flipV="false" rot="10614542">
            <a:off x="-4124265" y="-3151675"/>
            <a:ext cx="9368655" cy="9799083"/>
          </a:xfrm>
          <a:custGeom>
            <a:avLst/>
            <a:gdLst/>
            <a:ahLst/>
            <a:cxnLst/>
            <a:rect r="r" b="b" t="t" l="l"/>
            <a:pathLst>
              <a:path h="9799083" w="9368655">
                <a:moveTo>
                  <a:pt x="0" y="0"/>
                </a:moveTo>
                <a:lnTo>
                  <a:pt x="9368656" y="0"/>
                </a:lnTo>
                <a:lnTo>
                  <a:pt x="9368656"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4527429"/>
            <a:ext cx="7375813" cy="2873083"/>
            <a:chOff x="0" y="0"/>
            <a:chExt cx="1942601" cy="756697"/>
          </a:xfrm>
        </p:grpSpPr>
        <p:sp>
          <p:nvSpPr>
            <p:cNvPr name="Freeform 7" id="7"/>
            <p:cNvSpPr/>
            <p:nvPr/>
          </p:nvSpPr>
          <p:spPr>
            <a:xfrm flipH="false" flipV="false" rot="0">
              <a:off x="0" y="0"/>
              <a:ext cx="1942601" cy="756697"/>
            </a:xfrm>
            <a:custGeom>
              <a:avLst/>
              <a:gdLst/>
              <a:ahLst/>
              <a:cxnLst/>
              <a:rect r="r" b="b" t="t" l="l"/>
              <a:pathLst>
                <a:path h="756697" w="1942601">
                  <a:moveTo>
                    <a:pt x="31489" y="0"/>
                  </a:moveTo>
                  <a:lnTo>
                    <a:pt x="1911112" y="0"/>
                  </a:lnTo>
                  <a:cubicBezTo>
                    <a:pt x="1928503" y="0"/>
                    <a:pt x="1942601" y="14098"/>
                    <a:pt x="1942601" y="31489"/>
                  </a:cubicBezTo>
                  <a:lnTo>
                    <a:pt x="1942601" y="725208"/>
                  </a:lnTo>
                  <a:cubicBezTo>
                    <a:pt x="1942601" y="742599"/>
                    <a:pt x="1928503" y="756697"/>
                    <a:pt x="1911112" y="756697"/>
                  </a:cubicBezTo>
                  <a:lnTo>
                    <a:pt x="31489" y="756697"/>
                  </a:lnTo>
                  <a:cubicBezTo>
                    <a:pt x="14098" y="756697"/>
                    <a:pt x="0" y="742599"/>
                    <a:pt x="0" y="725208"/>
                  </a:cubicBezTo>
                  <a:lnTo>
                    <a:pt x="0" y="31489"/>
                  </a:lnTo>
                  <a:cubicBezTo>
                    <a:pt x="0" y="14098"/>
                    <a:pt x="14098" y="0"/>
                    <a:pt x="31489" y="0"/>
                  </a:cubicBezTo>
                  <a:close/>
                </a:path>
              </a:pathLst>
            </a:custGeom>
            <a:ln w="19050" cap="rnd">
              <a:gradFill>
                <a:gsLst>
                  <a:gs pos="0">
                    <a:srgbClr val="3B6261">
                      <a:alpha val="100000"/>
                    </a:srgbClr>
                  </a:gs>
                  <a:gs pos="100000">
                    <a:srgbClr val="6F9F97">
                      <a:alpha val="100000"/>
                    </a:srgbClr>
                  </a:gs>
                </a:gsLst>
                <a:lin ang="0"/>
              </a:gradFill>
              <a:prstDash val="solid"/>
              <a:round/>
            </a:ln>
          </p:spPr>
        </p:sp>
        <p:sp>
          <p:nvSpPr>
            <p:cNvPr name="TextBox 8" id="8"/>
            <p:cNvSpPr txBox="true"/>
            <p:nvPr/>
          </p:nvSpPr>
          <p:spPr>
            <a:xfrm>
              <a:off x="0" y="-38100"/>
              <a:ext cx="1942601" cy="79479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439965" y="4873041"/>
            <a:ext cx="5983635" cy="21628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1028700" y="7819390"/>
            <a:ext cx="6806164" cy="14389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a:t>
            </a:r>
          </a:p>
        </p:txBody>
      </p:sp>
      <p:sp>
        <p:nvSpPr>
          <p:cNvPr name="TextBox 11" id="11"/>
          <p:cNvSpPr txBox="true"/>
          <p:nvPr/>
        </p:nvSpPr>
        <p:spPr>
          <a:xfrm rot="0">
            <a:off x="1954170" y="2214759"/>
            <a:ext cx="14379660" cy="1512570"/>
          </a:xfrm>
          <a:prstGeom prst="rect">
            <a:avLst/>
          </a:prstGeom>
        </p:spPr>
        <p:txBody>
          <a:bodyPr anchor="t" rtlCol="false" tIns="0" lIns="0" bIns="0" rIns="0">
            <a:spAutoFit/>
          </a:bodyPr>
          <a:lstStyle/>
          <a:p>
            <a:pPr algn="ctr"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Introduction</a:t>
            </a:r>
          </a:p>
        </p:txBody>
      </p:sp>
      <p:sp>
        <p:nvSpPr>
          <p:cNvPr name="Freeform 12" id="12"/>
          <p:cNvSpPr/>
          <p:nvPr/>
        </p:nvSpPr>
        <p:spPr>
          <a:xfrm flipH="false" flipV="false" rot="-670073">
            <a:off x="13966277" y="-2197165"/>
            <a:ext cx="6016318" cy="6822629"/>
          </a:xfrm>
          <a:custGeom>
            <a:avLst/>
            <a:gdLst/>
            <a:ahLst/>
            <a:cxnLst/>
            <a:rect r="r" b="b" t="t" l="l"/>
            <a:pathLst>
              <a:path h="6822629" w="6016318">
                <a:moveTo>
                  <a:pt x="0" y="0"/>
                </a:moveTo>
                <a:lnTo>
                  <a:pt x="6016318" y="0"/>
                </a:lnTo>
                <a:lnTo>
                  <a:pt x="6016318" y="6822628"/>
                </a:lnTo>
                <a:lnTo>
                  <a:pt x="0" y="6822628"/>
                </a:lnTo>
                <a:lnTo>
                  <a:pt x="0" y="0"/>
                </a:lnTo>
                <a:close/>
              </a:path>
            </a:pathLst>
          </a:custGeom>
          <a:blipFill>
            <a:blip r:embed="rId5">
              <a:alphaModFix amt="6000"/>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14" id="14"/>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028700" y="2300505"/>
            <a:ext cx="10235751" cy="2912745"/>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Problem Statement</a:t>
            </a:r>
          </a:p>
        </p:txBody>
      </p:sp>
      <p:sp>
        <p:nvSpPr>
          <p:cNvPr name="Freeform 3" id="3"/>
          <p:cNvSpPr/>
          <p:nvPr/>
        </p:nvSpPr>
        <p:spPr>
          <a:xfrm flipH="false" flipV="false" rot="-2201486">
            <a:off x="13263824" y="1583485"/>
            <a:ext cx="9368655" cy="9799083"/>
          </a:xfrm>
          <a:custGeom>
            <a:avLst/>
            <a:gdLst/>
            <a:ahLst/>
            <a:cxnLst/>
            <a:rect r="r" b="b" t="t" l="l"/>
            <a:pathLst>
              <a:path h="9799083" w="9368655">
                <a:moveTo>
                  <a:pt x="0" y="0"/>
                </a:moveTo>
                <a:lnTo>
                  <a:pt x="9368655" y="0"/>
                </a:lnTo>
                <a:lnTo>
                  <a:pt x="9368655"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083533">
            <a:off x="-4457549" y="-2913361"/>
            <a:ext cx="9368655" cy="9799083"/>
          </a:xfrm>
          <a:custGeom>
            <a:avLst/>
            <a:gdLst/>
            <a:ahLst/>
            <a:cxnLst/>
            <a:rect r="r" b="b" t="t" l="l"/>
            <a:pathLst>
              <a:path h="9799083" w="9368655">
                <a:moveTo>
                  <a:pt x="0" y="0"/>
                </a:moveTo>
                <a:lnTo>
                  <a:pt x="9368655" y="0"/>
                </a:lnTo>
                <a:lnTo>
                  <a:pt x="9368655"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318304" y="4301747"/>
            <a:ext cx="3940996" cy="715010"/>
          </a:xfrm>
          <a:prstGeom prst="rect">
            <a:avLst/>
          </a:prstGeom>
        </p:spPr>
        <p:txBody>
          <a:bodyPr anchor="t" rtlCol="false" tIns="0" lIns="0" bIns="0" rIns="0">
            <a:spAutoFit/>
          </a:bodyPr>
          <a:lstStyle/>
          <a:p>
            <a:pPr algn="r">
              <a:lnSpc>
                <a:spcPts val="2859"/>
              </a:lnSpc>
            </a:pPr>
            <a:r>
              <a:rPr lang="en-US" sz="2199">
                <a:solidFill>
                  <a:srgbClr val="2E6D6D"/>
                </a:solidFill>
                <a:latin typeface="Aileron"/>
                <a:ea typeface="Aileron"/>
                <a:cs typeface="Aileron"/>
                <a:sym typeface="Aileron"/>
              </a:rPr>
              <a:t>Lorem ipsum dolor sit amet, consectetur adipiscing elit.</a:t>
            </a:r>
          </a:p>
        </p:txBody>
      </p:sp>
      <p:grpSp>
        <p:nvGrpSpPr>
          <p:cNvPr name="Group 6" id="6"/>
          <p:cNvGrpSpPr/>
          <p:nvPr/>
        </p:nvGrpSpPr>
        <p:grpSpPr>
          <a:xfrm rot="0">
            <a:off x="1028700" y="6060518"/>
            <a:ext cx="16230600" cy="1455632"/>
            <a:chOff x="0" y="0"/>
            <a:chExt cx="4274726" cy="383376"/>
          </a:xfrm>
        </p:grpSpPr>
        <p:sp>
          <p:nvSpPr>
            <p:cNvPr name="Freeform 7" id="7"/>
            <p:cNvSpPr/>
            <p:nvPr/>
          </p:nvSpPr>
          <p:spPr>
            <a:xfrm flipH="false" flipV="false" rot="0">
              <a:off x="0" y="0"/>
              <a:ext cx="4274726" cy="383376"/>
            </a:xfrm>
            <a:custGeom>
              <a:avLst/>
              <a:gdLst/>
              <a:ahLst/>
              <a:cxnLst/>
              <a:rect r="r" b="b" t="t" l="l"/>
              <a:pathLst>
                <a:path h="383376" w="4274726">
                  <a:moveTo>
                    <a:pt x="14310" y="0"/>
                  </a:moveTo>
                  <a:lnTo>
                    <a:pt x="4260416" y="0"/>
                  </a:lnTo>
                  <a:cubicBezTo>
                    <a:pt x="4264211" y="0"/>
                    <a:pt x="4267851" y="1508"/>
                    <a:pt x="4270535" y="4191"/>
                  </a:cubicBezTo>
                  <a:cubicBezTo>
                    <a:pt x="4273218" y="6875"/>
                    <a:pt x="4274726" y="10515"/>
                    <a:pt x="4274726" y="14310"/>
                  </a:cubicBezTo>
                  <a:lnTo>
                    <a:pt x="4274726" y="369067"/>
                  </a:lnTo>
                  <a:cubicBezTo>
                    <a:pt x="4274726" y="372862"/>
                    <a:pt x="4273218" y="376502"/>
                    <a:pt x="4270535" y="379185"/>
                  </a:cubicBezTo>
                  <a:cubicBezTo>
                    <a:pt x="4267851" y="381869"/>
                    <a:pt x="4264211" y="383376"/>
                    <a:pt x="4260416" y="383376"/>
                  </a:cubicBezTo>
                  <a:lnTo>
                    <a:pt x="14310" y="383376"/>
                  </a:lnTo>
                  <a:cubicBezTo>
                    <a:pt x="10515" y="383376"/>
                    <a:pt x="6875" y="381869"/>
                    <a:pt x="4191" y="379185"/>
                  </a:cubicBezTo>
                  <a:cubicBezTo>
                    <a:pt x="1508" y="376502"/>
                    <a:pt x="0" y="372862"/>
                    <a:pt x="0" y="369067"/>
                  </a:cubicBezTo>
                  <a:lnTo>
                    <a:pt x="0" y="14310"/>
                  </a:lnTo>
                  <a:cubicBezTo>
                    <a:pt x="0" y="10515"/>
                    <a:pt x="1508" y="6875"/>
                    <a:pt x="4191" y="4191"/>
                  </a:cubicBezTo>
                  <a:cubicBezTo>
                    <a:pt x="6875" y="1508"/>
                    <a:pt x="10515" y="0"/>
                    <a:pt x="14310" y="0"/>
                  </a:cubicBezTo>
                  <a:close/>
                </a:path>
              </a:pathLst>
            </a:custGeom>
            <a:ln w="19050" cap="rnd">
              <a:gradFill>
                <a:gsLst>
                  <a:gs pos="0">
                    <a:srgbClr val="3B6261">
                      <a:alpha val="100000"/>
                    </a:srgbClr>
                  </a:gs>
                  <a:gs pos="100000">
                    <a:srgbClr val="6F9F97">
                      <a:alpha val="100000"/>
                    </a:srgbClr>
                  </a:gs>
                </a:gsLst>
                <a:lin ang="0"/>
              </a:gradFill>
              <a:prstDash val="solid"/>
              <a:round/>
            </a:ln>
          </p:spPr>
        </p:sp>
        <p:sp>
          <p:nvSpPr>
            <p:cNvPr name="TextBox 8" id="8"/>
            <p:cNvSpPr txBox="true"/>
            <p:nvPr/>
          </p:nvSpPr>
          <p:spPr>
            <a:xfrm>
              <a:off x="0" y="-38100"/>
              <a:ext cx="4274726" cy="42147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28700" y="7802668"/>
            <a:ext cx="16230600" cy="1455632"/>
            <a:chOff x="0" y="0"/>
            <a:chExt cx="4274726" cy="383376"/>
          </a:xfrm>
        </p:grpSpPr>
        <p:sp>
          <p:nvSpPr>
            <p:cNvPr name="Freeform 10" id="10"/>
            <p:cNvSpPr/>
            <p:nvPr/>
          </p:nvSpPr>
          <p:spPr>
            <a:xfrm flipH="false" flipV="false" rot="0">
              <a:off x="0" y="0"/>
              <a:ext cx="4274726" cy="383376"/>
            </a:xfrm>
            <a:custGeom>
              <a:avLst/>
              <a:gdLst/>
              <a:ahLst/>
              <a:cxnLst/>
              <a:rect r="r" b="b" t="t" l="l"/>
              <a:pathLst>
                <a:path h="383376" w="4274726">
                  <a:moveTo>
                    <a:pt x="14310" y="0"/>
                  </a:moveTo>
                  <a:lnTo>
                    <a:pt x="4260416" y="0"/>
                  </a:lnTo>
                  <a:cubicBezTo>
                    <a:pt x="4264211" y="0"/>
                    <a:pt x="4267851" y="1508"/>
                    <a:pt x="4270535" y="4191"/>
                  </a:cubicBezTo>
                  <a:cubicBezTo>
                    <a:pt x="4273218" y="6875"/>
                    <a:pt x="4274726" y="10515"/>
                    <a:pt x="4274726" y="14310"/>
                  </a:cubicBezTo>
                  <a:lnTo>
                    <a:pt x="4274726" y="369067"/>
                  </a:lnTo>
                  <a:cubicBezTo>
                    <a:pt x="4274726" y="372862"/>
                    <a:pt x="4273218" y="376502"/>
                    <a:pt x="4270535" y="379185"/>
                  </a:cubicBezTo>
                  <a:cubicBezTo>
                    <a:pt x="4267851" y="381869"/>
                    <a:pt x="4264211" y="383376"/>
                    <a:pt x="4260416" y="383376"/>
                  </a:cubicBezTo>
                  <a:lnTo>
                    <a:pt x="14310" y="383376"/>
                  </a:lnTo>
                  <a:cubicBezTo>
                    <a:pt x="10515" y="383376"/>
                    <a:pt x="6875" y="381869"/>
                    <a:pt x="4191" y="379185"/>
                  </a:cubicBezTo>
                  <a:cubicBezTo>
                    <a:pt x="1508" y="376502"/>
                    <a:pt x="0" y="372862"/>
                    <a:pt x="0" y="369067"/>
                  </a:cubicBezTo>
                  <a:lnTo>
                    <a:pt x="0" y="14310"/>
                  </a:lnTo>
                  <a:cubicBezTo>
                    <a:pt x="0" y="10515"/>
                    <a:pt x="1508" y="6875"/>
                    <a:pt x="4191" y="4191"/>
                  </a:cubicBezTo>
                  <a:cubicBezTo>
                    <a:pt x="6875" y="1508"/>
                    <a:pt x="10515" y="0"/>
                    <a:pt x="14310" y="0"/>
                  </a:cubicBezTo>
                  <a:close/>
                </a:path>
              </a:pathLst>
            </a:custGeom>
            <a:ln w="19050" cap="rnd">
              <a:gradFill>
                <a:gsLst>
                  <a:gs pos="0">
                    <a:srgbClr val="3B6261">
                      <a:alpha val="100000"/>
                    </a:srgbClr>
                  </a:gs>
                  <a:gs pos="100000">
                    <a:srgbClr val="6F9F97">
                      <a:alpha val="100000"/>
                    </a:srgbClr>
                  </a:gs>
                </a:gsLst>
                <a:lin ang="0"/>
              </a:gradFill>
              <a:prstDash val="solid"/>
              <a:round/>
            </a:ln>
          </p:spPr>
        </p:sp>
        <p:sp>
          <p:nvSpPr>
            <p:cNvPr name="TextBox 11" id="11"/>
            <p:cNvSpPr txBox="true"/>
            <p:nvPr/>
          </p:nvSpPr>
          <p:spPr>
            <a:xfrm>
              <a:off x="0" y="-38100"/>
              <a:ext cx="4274726" cy="421476"/>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8387919" y="6463977"/>
            <a:ext cx="8871381" cy="7150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a:t>
            </a:r>
          </a:p>
        </p:txBody>
      </p:sp>
      <p:sp>
        <p:nvSpPr>
          <p:cNvPr name="TextBox 13" id="13"/>
          <p:cNvSpPr txBox="true"/>
          <p:nvPr/>
        </p:nvSpPr>
        <p:spPr>
          <a:xfrm rot="0">
            <a:off x="8387919" y="8173375"/>
            <a:ext cx="8871381" cy="7150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a:t>
            </a:r>
          </a:p>
        </p:txBody>
      </p:sp>
      <p:grpSp>
        <p:nvGrpSpPr>
          <p:cNvPr name="Group 14" id="14"/>
          <p:cNvGrpSpPr/>
          <p:nvPr/>
        </p:nvGrpSpPr>
        <p:grpSpPr>
          <a:xfrm rot="0">
            <a:off x="16391177" y="2038193"/>
            <a:ext cx="868123" cy="86812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3B6261">
                      <a:alpha val="100000"/>
                    </a:srgbClr>
                  </a:gs>
                  <a:gs pos="100000">
                    <a:srgbClr val="6F9F97">
                      <a:alpha val="100000"/>
                    </a:srgbClr>
                  </a:gs>
                </a:gsLst>
                <a:lin ang="0"/>
              </a:gradFill>
              <a:prstDash val="solid"/>
              <a:miter/>
            </a:ln>
          </p:spPr>
        </p:sp>
        <p:sp>
          <p:nvSpPr>
            <p:cNvPr name="TextBox 16" id="16"/>
            <p:cNvSpPr txBox="true"/>
            <p:nvPr/>
          </p:nvSpPr>
          <p:spPr>
            <a:xfrm>
              <a:off x="76200" y="85725"/>
              <a:ext cx="660400" cy="650875"/>
            </a:xfrm>
            <a:prstGeom prst="rect">
              <a:avLst/>
            </a:prstGeom>
          </p:spPr>
          <p:txBody>
            <a:bodyPr anchor="ctr" rtlCol="false" tIns="50800" lIns="50800" bIns="50800" rIns="50800"/>
            <a:lstStyle/>
            <a:p>
              <a:pPr algn="ctr">
                <a:lnSpc>
                  <a:spcPts val="2666"/>
                </a:lnSpc>
              </a:pPr>
            </a:p>
          </p:txBody>
        </p:sp>
      </p:grpSp>
      <p:sp>
        <p:nvSpPr>
          <p:cNvPr name="Freeform 17" id="17"/>
          <p:cNvSpPr/>
          <p:nvPr/>
        </p:nvSpPr>
        <p:spPr>
          <a:xfrm flipH="false" flipV="false" rot="0">
            <a:off x="16586276" y="2234596"/>
            <a:ext cx="477924" cy="475317"/>
          </a:xfrm>
          <a:custGeom>
            <a:avLst/>
            <a:gdLst/>
            <a:ahLst/>
            <a:cxnLst/>
            <a:rect r="r" b="b" t="t" l="l"/>
            <a:pathLst>
              <a:path h="475317" w="477924">
                <a:moveTo>
                  <a:pt x="0" y="0"/>
                </a:moveTo>
                <a:lnTo>
                  <a:pt x="477924" y="0"/>
                </a:lnTo>
                <a:lnTo>
                  <a:pt x="477924" y="475317"/>
                </a:lnTo>
                <a:lnTo>
                  <a:pt x="0" y="475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19" id="19"/>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21" id="21"/>
          <p:cNvSpPr txBox="true"/>
          <p:nvPr/>
        </p:nvSpPr>
        <p:spPr>
          <a:xfrm rot="0">
            <a:off x="1658876" y="6607359"/>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Problem 01</a:t>
            </a:r>
          </a:p>
        </p:txBody>
      </p:sp>
      <p:sp>
        <p:nvSpPr>
          <p:cNvPr name="TextBox 22" id="22"/>
          <p:cNvSpPr txBox="true"/>
          <p:nvPr/>
        </p:nvSpPr>
        <p:spPr>
          <a:xfrm rot="0">
            <a:off x="1658876" y="8349509"/>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Problem 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grpSp>
        <p:nvGrpSpPr>
          <p:cNvPr name="Group 2" id="2"/>
          <p:cNvGrpSpPr/>
          <p:nvPr/>
        </p:nvGrpSpPr>
        <p:grpSpPr>
          <a:xfrm rot="0">
            <a:off x="1028700" y="7093775"/>
            <a:ext cx="4719538" cy="2164525"/>
            <a:chOff x="0" y="0"/>
            <a:chExt cx="1243006" cy="570081"/>
          </a:xfrm>
        </p:grpSpPr>
        <p:sp>
          <p:nvSpPr>
            <p:cNvPr name="Freeform 3" id="3"/>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4" id="4"/>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758813" y="7103714"/>
            <a:ext cx="4719538" cy="2164525"/>
            <a:chOff x="0" y="0"/>
            <a:chExt cx="1243006" cy="570081"/>
          </a:xfrm>
        </p:grpSpPr>
        <p:sp>
          <p:nvSpPr>
            <p:cNvPr name="Freeform 6" id="6"/>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7" id="7"/>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5916891">
            <a:off x="14077794" y="1904754"/>
            <a:ext cx="5281054" cy="5988824"/>
          </a:xfrm>
          <a:custGeom>
            <a:avLst/>
            <a:gdLst/>
            <a:ahLst/>
            <a:cxnLst/>
            <a:rect r="r" b="b" t="t" l="l"/>
            <a:pathLst>
              <a:path h="5988824" w="5281054">
                <a:moveTo>
                  <a:pt x="0" y="0"/>
                </a:moveTo>
                <a:lnTo>
                  <a:pt x="5281053" y="0"/>
                </a:lnTo>
                <a:lnTo>
                  <a:pt x="5281053" y="5988823"/>
                </a:lnTo>
                <a:lnTo>
                  <a:pt x="0" y="5988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2488925" y="7103714"/>
            <a:ext cx="4719538" cy="2164525"/>
            <a:chOff x="0" y="0"/>
            <a:chExt cx="1243006" cy="570081"/>
          </a:xfrm>
        </p:grpSpPr>
        <p:sp>
          <p:nvSpPr>
            <p:cNvPr name="Freeform 10" id="10"/>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1" id="11"/>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512551" y="7538925"/>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Solution</a:t>
            </a:r>
            <a:r>
              <a:rPr lang="en-US" b="true" sz="3000" spc="-150">
                <a:solidFill>
                  <a:srgbClr val="2E6D6D"/>
                </a:solidFill>
                <a:latin typeface="Bricolage Grotesque Bold"/>
                <a:ea typeface="Bricolage Grotesque Bold"/>
                <a:cs typeface="Bricolage Grotesque Bold"/>
                <a:sym typeface="Bricolage Grotesque Bold"/>
              </a:rPr>
              <a:t> 01</a:t>
            </a:r>
          </a:p>
        </p:txBody>
      </p:sp>
      <p:sp>
        <p:nvSpPr>
          <p:cNvPr name="TextBox 13" id="13"/>
          <p:cNvSpPr txBox="true"/>
          <p:nvPr/>
        </p:nvSpPr>
        <p:spPr>
          <a:xfrm rot="0">
            <a:off x="7242663" y="7548864"/>
            <a:ext cx="3828810"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Solution</a:t>
            </a:r>
            <a:r>
              <a:rPr lang="en-US" b="true" sz="3000" spc="-150">
                <a:solidFill>
                  <a:srgbClr val="2E6D6D"/>
                </a:solidFill>
                <a:latin typeface="Bricolage Grotesque Bold"/>
                <a:ea typeface="Bricolage Grotesque Bold"/>
                <a:cs typeface="Bricolage Grotesque Bold"/>
                <a:sym typeface="Bricolage Grotesque Bold"/>
              </a:rPr>
              <a:t> 02</a:t>
            </a:r>
          </a:p>
        </p:txBody>
      </p:sp>
      <p:sp>
        <p:nvSpPr>
          <p:cNvPr name="TextBox 14" id="14"/>
          <p:cNvSpPr txBox="true"/>
          <p:nvPr/>
        </p:nvSpPr>
        <p:spPr>
          <a:xfrm rot="0">
            <a:off x="12972776" y="7548864"/>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Solution </a:t>
            </a:r>
            <a:r>
              <a:rPr lang="en-US" b="true" sz="3000" spc="-150">
                <a:solidFill>
                  <a:srgbClr val="2E6D6D"/>
                </a:solidFill>
                <a:latin typeface="Bricolage Grotesque Bold"/>
                <a:ea typeface="Bricolage Grotesque Bold"/>
                <a:cs typeface="Bricolage Grotesque Bold"/>
                <a:sym typeface="Bricolage Grotesque Bold"/>
              </a:rPr>
              <a:t>03</a:t>
            </a:r>
          </a:p>
        </p:txBody>
      </p:sp>
      <p:sp>
        <p:nvSpPr>
          <p:cNvPr name="TextBox 15" id="15"/>
          <p:cNvSpPr txBox="true"/>
          <p:nvPr/>
        </p:nvSpPr>
        <p:spPr>
          <a:xfrm rot="0">
            <a:off x="1512551" y="8106690"/>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6" id="16"/>
          <p:cNvSpPr txBox="true"/>
          <p:nvPr/>
        </p:nvSpPr>
        <p:spPr>
          <a:xfrm rot="0">
            <a:off x="7242663" y="8116629"/>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7" id="17"/>
          <p:cNvSpPr txBox="true"/>
          <p:nvPr/>
        </p:nvSpPr>
        <p:spPr>
          <a:xfrm rot="0">
            <a:off x="12972776" y="8116629"/>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8" id="18"/>
          <p:cNvSpPr txBox="true"/>
          <p:nvPr/>
        </p:nvSpPr>
        <p:spPr>
          <a:xfrm rot="0">
            <a:off x="1028700" y="2154217"/>
            <a:ext cx="12249136" cy="2912745"/>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Our Innovative Solutions</a:t>
            </a:r>
          </a:p>
        </p:txBody>
      </p:sp>
      <p:sp>
        <p:nvSpPr>
          <p:cNvPr name="TextBox 19" id="19"/>
          <p:cNvSpPr txBox="true"/>
          <p:nvPr/>
        </p:nvSpPr>
        <p:spPr>
          <a:xfrm rot="0">
            <a:off x="1028700" y="5450781"/>
            <a:ext cx="5912424" cy="1076960"/>
          </a:xfrm>
          <a:prstGeom prst="rect">
            <a:avLst/>
          </a:prstGeom>
        </p:spPr>
        <p:txBody>
          <a:bodyPr anchor="t" rtlCol="false" tIns="0" lIns="0" bIns="0" rIns="0">
            <a:spAutoFit/>
          </a:bodyPr>
          <a:lstStyle/>
          <a:p>
            <a:pPr algn="l">
              <a:lnSpc>
                <a:spcPts val="2859"/>
              </a:lnSpc>
            </a:pPr>
            <a:r>
              <a:rPr lang="en-US" sz="2199">
                <a:solidFill>
                  <a:srgbClr val="377272"/>
                </a:solidFill>
                <a:latin typeface="Aileron"/>
                <a:ea typeface="Aileron"/>
                <a:cs typeface="Aileron"/>
                <a:sym typeface="Aileron"/>
              </a:rPr>
              <a:t>Lorem ipsum dolor sit amet, consectetur adipiscing elit. Quisque molestie nisl eu sem tristique, sit amet convallis ex aliquam.</a:t>
            </a:r>
          </a:p>
        </p:txBody>
      </p:sp>
      <p:sp>
        <p:nvSpPr>
          <p:cNvPr name="TextBox 20" id="20"/>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21" id="21"/>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2784413">
            <a:off x="13920256" y="3243808"/>
            <a:ext cx="5404669" cy="6129006"/>
          </a:xfrm>
          <a:custGeom>
            <a:avLst/>
            <a:gdLst/>
            <a:ahLst/>
            <a:cxnLst/>
            <a:rect r="r" b="b" t="t" l="l"/>
            <a:pathLst>
              <a:path h="6129006" w="5404669">
                <a:moveTo>
                  <a:pt x="0" y="0"/>
                </a:moveTo>
                <a:lnTo>
                  <a:pt x="5404669" y="0"/>
                </a:lnTo>
                <a:lnTo>
                  <a:pt x="5404669" y="6129006"/>
                </a:lnTo>
                <a:lnTo>
                  <a:pt x="0" y="6129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282421"/>
            <a:ext cx="16230600" cy="1512570"/>
          </a:xfrm>
          <a:prstGeom prst="rect">
            <a:avLst/>
          </a:prstGeom>
        </p:spPr>
        <p:txBody>
          <a:bodyPr anchor="t" rtlCol="false" tIns="0" lIns="0" bIns="0" rIns="0">
            <a:spAutoFit/>
          </a:bodyPr>
          <a:lstStyle/>
          <a:p>
            <a:pPr algn="ctr"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Discover Our Services</a:t>
            </a:r>
          </a:p>
        </p:txBody>
      </p:sp>
      <p:grpSp>
        <p:nvGrpSpPr>
          <p:cNvPr name="Group 4" id="4"/>
          <p:cNvGrpSpPr/>
          <p:nvPr/>
        </p:nvGrpSpPr>
        <p:grpSpPr>
          <a:xfrm rot="0">
            <a:off x="1028700" y="4687362"/>
            <a:ext cx="4719538" cy="2164525"/>
            <a:chOff x="0" y="0"/>
            <a:chExt cx="1243006" cy="570081"/>
          </a:xfrm>
        </p:grpSpPr>
        <p:sp>
          <p:nvSpPr>
            <p:cNvPr name="Freeform 5" id="5"/>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6" id="6"/>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6784231" y="5462824"/>
            <a:ext cx="4719538" cy="2164525"/>
            <a:chOff x="0" y="0"/>
            <a:chExt cx="1243006" cy="570081"/>
          </a:xfrm>
        </p:grpSpPr>
        <p:sp>
          <p:nvSpPr>
            <p:cNvPr name="Freeform 8" id="8"/>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9" id="9"/>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2539762" y="7093775"/>
            <a:ext cx="4719538" cy="2164525"/>
            <a:chOff x="0" y="0"/>
            <a:chExt cx="1243006" cy="570081"/>
          </a:xfrm>
        </p:grpSpPr>
        <p:sp>
          <p:nvSpPr>
            <p:cNvPr name="Freeform 11" id="11"/>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2" id="12"/>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512551" y="5132512"/>
            <a:ext cx="3939062"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Service 01</a:t>
            </a:r>
          </a:p>
        </p:txBody>
      </p:sp>
      <p:sp>
        <p:nvSpPr>
          <p:cNvPr name="TextBox 14" id="14"/>
          <p:cNvSpPr txBox="true"/>
          <p:nvPr/>
        </p:nvSpPr>
        <p:spPr>
          <a:xfrm rot="0">
            <a:off x="7268082" y="5907973"/>
            <a:ext cx="3939062"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Service 02</a:t>
            </a:r>
          </a:p>
        </p:txBody>
      </p:sp>
      <p:sp>
        <p:nvSpPr>
          <p:cNvPr name="TextBox 15" id="15"/>
          <p:cNvSpPr txBox="true"/>
          <p:nvPr/>
        </p:nvSpPr>
        <p:spPr>
          <a:xfrm rot="0">
            <a:off x="13023613" y="7538925"/>
            <a:ext cx="3939062"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Service 03</a:t>
            </a:r>
          </a:p>
        </p:txBody>
      </p:sp>
      <p:sp>
        <p:nvSpPr>
          <p:cNvPr name="TextBox 16" id="16"/>
          <p:cNvSpPr txBox="true"/>
          <p:nvPr/>
        </p:nvSpPr>
        <p:spPr>
          <a:xfrm rot="0">
            <a:off x="1512551" y="5700277"/>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7" id="17"/>
          <p:cNvSpPr txBox="true"/>
          <p:nvPr/>
        </p:nvSpPr>
        <p:spPr>
          <a:xfrm rot="0">
            <a:off x="7268082" y="6475738"/>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8" id="18"/>
          <p:cNvSpPr txBox="true"/>
          <p:nvPr/>
        </p:nvSpPr>
        <p:spPr>
          <a:xfrm rot="0">
            <a:off x="13023613" y="8106690"/>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9" id="19"/>
          <p:cNvSpPr txBox="true"/>
          <p:nvPr/>
        </p:nvSpPr>
        <p:spPr>
          <a:xfrm rot="0">
            <a:off x="1028700" y="8181340"/>
            <a:ext cx="5755531" cy="107696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a:t>
            </a:r>
          </a:p>
        </p:txBody>
      </p:sp>
      <p:sp>
        <p:nvSpPr>
          <p:cNvPr name="TextBox 20" id="20"/>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21" id="21"/>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3" id="3"/>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grpSp>
        <p:nvGrpSpPr>
          <p:cNvPr name="Group 5" id="5"/>
          <p:cNvGrpSpPr/>
          <p:nvPr/>
        </p:nvGrpSpPr>
        <p:grpSpPr>
          <a:xfrm rot="0">
            <a:off x="1028700" y="2038183"/>
            <a:ext cx="8614543" cy="3399949"/>
            <a:chOff x="0" y="0"/>
            <a:chExt cx="2268851" cy="895460"/>
          </a:xfrm>
        </p:grpSpPr>
        <p:sp>
          <p:nvSpPr>
            <p:cNvPr name="Freeform 6" id="6"/>
            <p:cNvSpPr/>
            <p:nvPr/>
          </p:nvSpPr>
          <p:spPr>
            <a:xfrm flipH="false" flipV="false" rot="0">
              <a:off x="0" y="0"/>
              <a:ext cx="2268851" cy="895460"/>
            </a:xfrm>
            <a:custGeom>
              <a:avLst/>
              <a:gdLst/>
              <a:ahLst/>
              <a:cxnLst/>
              <a:rect r="r" b="b" t="t" l="l"/>
              <a:pathLst>
                <a:path h="895460" w="2268851">
                  <a:moveTo>
                    <a:pt x="26961" y="0"/>
                  </a:moveTo>
                  <a:lnTo>
                    <a:pt x="2241890" y="0"/>
                  </a:lnTo>
                  <a:cubicBezTo>
                    <a:pt x="2256780" y="0"/>
                    <a:pt x="2268851" y="12071"/>
                    <a:pt x="2268851" y="26961"/>
                  </a:cubicBezTo>
                  <a:lnTo>
                    <a:pt x="2268851" y="868499"/>
                  </a:lnTo>
                  <a:cubicBezTo>
                    <a:pt x="2268851" y="883389"/>
                    <a:pt x="2256780" y="895460"/>
                    <a:pt x="2241890" y="895460"/>
                  </a:cubicBezTo>
                  <a:lnTo>
                    <a:pt x="26961" y="895460"/>
                  </a:lnTo>
                  <a:cubicBezTo>
                    <a:pt x="19811" y="895460"/>
                    <a:pt x="12953" y="892619"/>
                    <a:pt x="7897" y="887563"/>
                  </a:cubicBezTo>
                  <a:cubicBezTo>
                    <a:pt x="2841" y="882507"/>
                    <a:pt x="0" y="875649"/>
                    <a:pt x="0" y="868499"/>
                  </a:cubicBezTo>
                  <a:lnTo>
                    <a:pt x="0" y="26961"/>
                  </a:lnTo>
                  <a:cubicBezTo>
                    <a:pt x="0" y="19811"/>
                    <a:pt x="2841" y="12953"/>
                    <a:pt x="7897" y="7897"/>
                  </a:cubicBezTo>
                  <a:cubicBezTo>
                    <a:pt x="12953" y="2841"/>
                    <a:pt x="19811" y="0"/>
                    <a:pt x="26961"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7" id="7"/>
            <p:cNvSpPr txBox="true"/>
            <p:nvPr/>
          </p:nvSpPr>
          <p:spPr>
            <a:xfrm>
              <a:off x="0" y="-38100"/>
              <a:ext cx="2268851" cy="93356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5858351"/>
            <a:ext cx="8614543" cy="3399949"/>
            <a:chOff x="0" y="0"/>
            <a:chExt cx="2268851" cy="895460"/>
          </a:xfrm>
        </p:grpSpPr>
        <p:sp>
          <p:nvSpPr>
            <p:cNvPr name="Freeform 9" id="9"/>
            <p:cNvSpPr/>
            <p:nvPr/>
          </p:nvSpPr>
          <p:spPr>
            <a:xfrm flipH="false" flipV="false" rot="0">
              <a:off x="0" y="0"/>
              <a:ext cx="2268851" cy="895460"/>
            </a:xfrm>
            <a:custGeom>
              <a:avLst/>
              <a:gdLst/>
              <a:ahLst/>
              <a:cxnLst/>
              <a:rect r="r" b="b" t="t" l="l"/>
              <a:pathLst>
                <a:path h="895460" w="2268851">
                  <a:moveTo>
                    <a:pt x="26961" y="0"/>
                  </a:moveTo>
                  <a:lnTo>
                    <a:pt x="2241890" y="0"/>
                  </a:lnTo>
                  <a:cubicBezTo>
                    <a:pt x="2256780" y="0"/>
                    <a:pt x="2268851" y="12071"/>
                    <a:pt x="2268851" y="26961"/>
                  </a:cubicBezTo>
                  <a:lnTo>
                    <a:pt x="2268851" y="868499"/>
                  </a:lnTo>
                  <a:cubicBezTo>
                    <a:pt x="2268851" y="883389"/>
                    <a:pt x="2256780" y="895460"/>
                    <a:pt x="2241890" y="895460"/>
                  </a:cubicBezTo>
                  <a:lnTo>
                    <a:pt x="26961" y="895460"/>
                  </a:lnTo>
                  <a:cubicBezTo>
                    <a:pt x="19811" y="895460"/>
                    <a:pt x="12953" y="892619"/>
                    <a:pt x="7897" y="887563"/>
                  </a:cubicBezTo>
                  <a:cubicBezTo>
                    <a:pt x="2841" y="882507"/>
                    <a:pt x="0" y="875649"/>
                    <a:pt x="0" y="868499"/>
                  </a:cubicBezTo>
                  <a:lnTo>
                    <a:pt x="0" y="26961"/>
                  </a:lnTo>
                  <a:cubicBezTo>
                    <a:pt x="0" y="19811"/>
                    <a:pt x="2841" y="12953"/>
                    <a:pt x="7897" y="7897"/>
                  </a:cubicBezTo>
                  <a:cubicBezTo>
                    <a:pt x="12953" y="2841"/>
                    <a:pt x="19811" y="0"/>
                    <a:pt x="26961"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0" id="10"/>
            <p:cNvSpPr txBox="true"/>
            <p:nvPr/>
          </p:nvSpPr>
          <p:spPr>
            <a:xfrm>
              <a:off x="0" y="-38100"/>
              <a:ext cx="2268851" cy="93356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658876" y="3046324"/>
            <a:ext cx="4053176" cy="1755141"/>
          </a:xfrm>
          <a:prstGeom prst="rect">
            <a:avLst/>
          </a:prstGeom>
        </p:spPr>
        <p:txBody>
          <a:bodyPr anchor="t" rtlCol="false" tIns="0" lIns="0" bIns="0" rIns="0">
            <a:spAutoFit/>
          </a:bodyPr>
          <a:lstStyle/>
          <a:p>
            <a:pPr algn="ctr" marL="0" indent="0" lvl="0">
              <a:lnSpc>
                <a:spcPts val="12880"/>
              </a:lnSpc>
            </a:pPr>
            <a:r>
              <a:rPr lang="en-US" b="true" sz="14000" spc="-182">
                <a:solidFill>
                  <a:srgbClr val="377272"/>
                </a:solidFill>
                <a:latin typeface="Bricolage Grotesque Bold"/>
                <a:ea typeface="Bricolage Grotesque Bold"/>
                <a:cs typeface="Bricolage Grotesque Bold"/>
                <a:sym typeface="Bricolage Grotesque Bold"/>
              </a:rPr>
              <a:t>10%</a:t>
            </a:r>
          </a:p>
        </p:txBody>
      </p:sp>
      <p:sp>
        <p:nvSpPr>
          <p:cNvPr name="TextBox 12" id="12"/>
          <p:cNvSpPr txBox="true"/>
          <p:nvPr/>
        </p:nvSpPr>
        <p:spPr>
          <a:xfrm rot="0">
            <a:off x="1640176" y="6866493"/>
            <a:ext cx="4053176" cy="1755141"/>
          </a:xfrm>
          <a:prstGeom prst="rect">
            <a:avLst/>
          </a:prstGeom>
        </p:spPr>
        <p:txBody>
          <a:bodyPr anchor="t" rtlCol="false" tIns="0" lIns="0" bIns="0" rIns="0">
            <a:spAutoFit/>
          </a:bodyPr>
          <a:lstStyle/>
          <a:p>
            <a:pPr algn="ctr" marL="0" indent="0" lvl="0">
              <a:lnSpc>
                <a:spcPts val="12880"/>
              </a:lnSpc>
            </a:pPr>
            <a:r>
              <a:rPr lang="en-US" b="true" sz="14000" spc="-182">
                <a:solidFill>
                  <a:srgbClr val="377272"/>
                </a:solidFill>
                <a:latin typeface="Bricolage Grotesque Bold"/>
                <a:ea typeface="Bricolage Grotesque Bold"/>
                <a:cs typeface="Bricolage Grotesque Bold"/>
                <a:sym typeface="Bricolage Grotesque Bold"/>
              </a:rPr>
              <a:t>150K</a:t>
            </a:r>
          </a:p>
        </p:txBody>
      </p:sp>
      <p:sp>
        <p:nvSpPr>
          <p:cNvPr name="TextBox 13" id="13"/>
          <p:cNvSpPr txBox="true"/>
          <p:nvPr/>
        </p:nvSpPr>
        <p:spPr>
          <a:xfrm rot="0">
            <a:off x="6247958" y="3190152"/>
            <a:ext cx="2802509" cy="107696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a:t>
            </a:r>
          </a:p>
        </p:txBody>
      </p:sp>
      <p:sp>
        <p:nvSpPr>
          <p:cNvPr name="TextBox 14" id="14"/>
          <p:cNvSpPr txBox="true"/>
          <p:nvPr/>
        </p:nvSpPr>
        <p:spPr>
          <a:xfrm rot="0">
            <a:off x="6229258" y="7010320"/>
            <a:ext cx="2802509" cy="107696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a:t>
            </a:r>
          </a:p>
        </p:txBody>
      </p:sp>
      <p:sp>
        <p:nvSpPr>
          <p:cNvPr name="TextBox 15" id="15"/>
          <p:cNvSpPr txBox="true"/>
          <p:nvPr/>
        </p:nvSpPr>
        <p:spPr>
          <a:xfrm rot="0">
            <a:off x="10818913" y="2525387"/>
            <a:ext cx="6562051" cy="2912745"/>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Size of Market</a:t>
            </a:r>
          </a:p>
        </p:txBody>
      </p:sp>
      <p:sp>
        <p:nvSpPr>
          <p:cNvPr name="TextBox 16" id="16"/>
          <p:cNvSpPr txBox="true"/>
          <p:nvPr/>
        </p:nvSpPr>
        <p:spPr>
          <a:xfrm rot="0">
            <a:off x="10818913" y="6009640"/>
            <a:ext cx="6440387" cy="3248660"/>
          </a:xfrm>
          <a:prstGeom prst="rect">
            <a:avLst/>
          </a:prstGeom>
        </p:spPr>
        <p:txBody>
          <a:bodyPr anchor="t" rtlCol="false" tIns="0" lIns="0" bIns="0" rIns="0">
            <a:spAutoFit/>
          </a:bodyPr>
          <a:lstStyle/>
          <a:p>
            <a:pPr algn="l">
              <a:lnSpc>
                <a:spcPts val="2859"/>
              </a:lnSpc>
            </a:pPr>
            <a:r>
              <a:rPr lang="en-US" sz="2199">
                <a:solidFill>
                  <a:srgbClr val="377272"/>
                </a:solidFill>
                <a:latin typeface="Aileron"/>
                <a:ea typeface="Aileron"/>
                <a:cs typeface="Aileron"/>
                <a:sym typeface="Ailero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3" id="3"/>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5" id="5"/>
          <p:cNvSpPr txBox="true"/>
          <p:nvPr/>
        </p:nvSpPr>
        <p:spPr>
          <a:xfrm rot="0">
            <a:off x="1028700" y="6634425"/>
            <a:ext cx="8685836" cy="243206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Direct Competitor</a:t>
            </a:r>
          </a:p>
        </p:txBody>
      </p:sp>
      <p:sp>
        <p:nvSpPr>
          <p:cNvPr name="TextBox 6" id="6"/>
          <p:cNvSpPr txBox="true"/>
          <p:nvPr/>
        </p:nvSpPr>
        <p:spPr>
          <a:xfrm rot="0">
            <a:off x="8573464" y="2412954"/>
            <a:ext cx="8685836" cy="2432068"/>
          </a:xfrm>
          <a:prstGeom prst="rect">
            <a:avLst/>
          </a:prstGeom>
        </p:spPr>
        <p:txBody>
          <a:bodyPr anchor="t" rtlCol="false" tIns="0" lIns="0" bIns="0" rIns="0">
            <a:spAutoFit/>
          </a:bodyPr>
          <a:lstStyle/>
          <a:p>
            <a:pPr algn="r"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Indirect Competitor</a:t>
            </a:r>
          </a:p>
        </p:txBody>
      </p:sp>
      <p:sp>
        <p:nvSpPr>
          <p:cNvPr name="AutoShape 7" id="7"/>
          <p:cNvSpPr/>
          <p:nvPr/>
        </p:nvSpPr>
        <p:spPr>
          <a:xfrm flipV="true">
            <a:off x="1028700" y="5659409"/>
            <a:ext cx="16230600" cy="0"/>
          </a:xfrm>
          <a:prstGeom prst="line">
            <a:avLst/>
          </a:prstGeom>
          <a:ln cap="flat" w="28575">
            <a:solidFill>
              <a:srgbClr val="2E6D6D"/>
            </a:solidFill>
            <a:prstDash val="solid"/>
            <a:headEnd type="none" len="sm" w="sm"/>
            <a:tailEnd type="none" len="sm" w="sm"/>
          </a:ln>
        </p:spPr>
      </p:sp>
      <p:sp>
        <p:nvSpPr>
          <p:cNvPr name="TextBox 8" id="8"/>
          <p:cNvSpPr txBox="true"/>
          <p:nvPr/>
        </p:nvSpPr>
        <p:spPr>
          <a:xfrm rot="0">
            <a:off x="1028700" y="2438230"/>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
        <p:nvSpPr>
          <p:cNvPr name="TextBox 9" id="9"/>
          <p:cNvSpPr txBox="true"/>
          <p:nvPr/>
        </p:nvSpPr>
        <p:spPr>
          <a:xfrm rot="0">
            <a:off x="9815629" y="6659701"/>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
        <p:nvSpPr>
          <p:cNvPr name="TextBox 10" id="10"/>
          <p:cNvSpPr txBox="true"/>
          <p:nvPr/>
        </p:nvSpPr>
        <p:spPr>
          <a:xfrm rot="0">
            <a:off x="1028700" y="3319107"/>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
        <p:nvSpPr>
          <p:cNvPr name="TextBox 11" id="11"/>
          <p:cNvSpPr txBox="true"/>
          <p:nvPr/>
        </p:nvSpPr>
        <p:spPr>
          <a:xfrm rot="0">
            <a:off x="9815629" y="7540578"/>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
        <p:nvSpPr>
          <p:cNvPr name="TextBox 12" id="12"/>
          <p:cNvSpPr txBox="true"/>
          <p:nvPr/>
        </p:nvSpPr>
        <p:spPr>
          <a:xfrm rot="0">
            <a:off x="1028700" y="4199985"/>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
        <p:nvSpPr>
          <p:cNvPr name="TextBox 13" id="13"/>
          <p:cNvSpPr txBox="true"/>
          <p:nvPr/>
        </p:nvSpPr>
        <p:spPr>
          <a:xfrm rot="0">
            <a:off x="9815629" y="8421456"/>
            <a:ext cx="7443671" cy="353060"/>
          </a:xfrm>
          <a:prstGeom prst="rect">
            <a:avLst/>
          </a:prstGeom>
        </p:spPr>
        <p:txBody>
          <a:bodyPr anchor="t" rtlCol="false" tIns="0" lIns="0" bIns="0" rIns="0">
            <a:spAutoFit/>
          </a:bodyPr>
          <a:lstStyle/>
          <a:p>
            <a:pPr algn="l" marL="474976" indent="-237488" lvl="1">
              <a:lnSpc>
                <a:spcPts val="2859"/>
              </a:lnSpc>
              <a:buFont typeface="Arial"/>
              <a:buChar char="•"/>
            </a:pPr>
            <a:r>
              <a:rPr lang="en-US" sz="2199" spc="-15">
                <a:solidFill>
                  <a:srgbClr val="377272"/>
                </a:solidFill>
                <a:latin typeface="Aileron"/>
                <a:ea typeface="Aileron"/>
                <a:cs typeface="Aileron"/>
                <a:sym typeface="Aileron"/>
              </a:rPr>
              <a:t>Lorem ipsum dolor sit amet, consectetur adipiscing elit,.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grpSp>
        <p:nvGrpSpPr>
          <p:cNvPr name="Group 2" id="2"/>
          <p:cNvGrpSpPr/>
          <p:nvPr/>
        </p:nvGrpSpPr>
        <p:grpSpPr>
          <a:xfrm rot="0">
            <a:off x="1028700" y="1866641"/>
            <a:ext cx="7297648" cy="6553717"/>
            <a:chOff x="0" y="0"/>
            <a:chExt cx="1423716" cy="1278581"/>
          </a:xfrm>
        </p:grpSpPr>
        <p:sp>
          <p:nvSpPr>
            <p:cNvPr name="Freeform 3" id="3"/>
            <p:cNvSpPr/>
            <p:nvPr/>
          </p:nvSpPr>
          <p:spPr>
            <a:xfrm flipH="false" flipV="false" rot="0">
              <a:off x="0" y="0"/>
              <a:ext cx="1423716" cy="1278581"/>
            </a:xfrm>
            <a:custGeom>
              <a:avLst/>
              <a:gdLst/>
              <a:ahLst/>
              <a:cxnLst/>
              <a:rect r="r" b="b" t="t" l="l"/>
              <a:pathLst>
                <a:path h="1278581" w="1423716">
                  <a:moveTo>
                    <a:pt x="60470" y="0"/>
                  </a:moveTo>
                  <a:lnTo>
                    <a:pt x="1363246" y="0"/>
                  </a:lnTo>
                  <a:cubicBezTo>
                    <a:pt x="1379284" y="0"/>
                    <a:pt x="1394664" y="6371"/>
                    <a:pt x="1406005" y="17711"/>
                  </a:cubicBezTo>
                  <a:cubicBezTo>
                    <a:pt x="1417345" y="29052"/>
                    <a:pt x="1423716" y="44432"/>
                    <a:pt x="1423716" y="60470"/>
                  </a:cubicBezTo>
                  <a:lnTo>
                    <a:pt x="1423716" y="1218111"/>
                  </a:lnTo>
                  <a:cubicBezTo>
                    <a:pt x="1423716" y="1234148"/>
                    <a:pt x="1417345" y="1249529"/>
                    <a:pt x="1406005" y="1260869"/>
                  </a:cubicBezTo>
                  <a:cubicBezTo>
                    <a:pt x="1394664" y="1272210"/>
                    <a:pt x="1379284" y="1278581"/>
                    <a:pt x="1363246" y="1278581"/>
                  </a:cubicBezTo>
                  <a:lnTo>
                    <a:pt x="60470" y="1278581"/>
                  </a:lnTo>
                  <a:cubicBezTo>
                    <a:pt x="44432" y="1278581"/>
                    <a:pt x="29052" y="1272210"/>
                    <a:pt x="17711" y="1260869"/>
                  </a:cubicBezTo>
                  <a:cubicBezTo>
                    <a:pt x="6371" y="1249529"/>
                    <a:pt x="0" y="1234148"/>
                    <a:pt x="0" y="1218111"/>
                  </a:cubicBezTo>
                  <a:lnTo>
                    <a:pt x="0" y="60470"/>
                  </a:lnTo>
                  <a:cubicBezTo>
                    <a:pt x="0" y="44432"/>
                    <a:pt x="6371" y="29052"/>
                    <a:pt x="17711" y="17711"/>
                  </a:cubicBezTo>
                  <a:cubicBezTo>
                    <a:pt x="29052" y="6371"/>
                    <a:pt x="44432" y="0"/>
                    <a:pt x="60470" y="0"/>
                  </a:cubicBezTo>
                  <a:close/>
                </a:path>
              </a:pathLst>
            </a:custGeom>
            <a:blipFill>
              <a:blip r:embed="rId2"/>
              <a:stretch>
                <a:fillRect l="0" t="-33437" r="0" b="-33437"/>
              </a:stretch>
            </a:blipFill>
            <a:ln w="19050" cap="rnd">
              <a:solidFill>
                <a:srgbClr val="163B42"/>
              </a:solidFill>
              <a:prstDash val="solid"/>
              <a:round/>
            </a:ln>
          </p:spPr>
        </p:sp>
      </p:grpSp>
      <p:sp>
        <p:nvSpPr>
          <p:cNvPr name="TextBox 4" id="4"/>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5" id="5"/>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7" id="7"/>
          <p:cNvSpPr txBox="true"/>
          <p:nvPr/>
        </p:nvSpPr>
        <p:spPr>
          <a:xfrm rot="0">
            <a:off x="9277766" y="2357624"/>
            <a:ext cx="8115300" cy="359411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Key Competitive Advantages</a:t>
            </a:r>
          </a:p>
        </p:txBody>
      </p:sp>
      <p:grpSp>
        <p:nvGrpSpPr>
          <p:cNvPr name="Group 8" id="8"/>
          <p:cNvGrpSpPr/>
          <p:nvPr/>
        </p:nvGrpSpPr>
        <p:grpSpPr>
          <a:xfrm rot="0">
            <a:off x="6824384" y="6700898"/>
            <a:ext cx="4719538" cy="2164525"/>
            <a:chOff x="0" y="0"/>
            <a:chExt cx="1243006" cy="570081"/>
          </a:xfrm>
        </p:grpSpPr>
        <p:sp>
          <p:nvSpPr>
            <p:cNvPr name="Freeform 9" id="9"/>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0" id="10"/>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177119" y="6700898"/>
            <a:ext cx="4719538" cy="2164525"/>
            <a:chOff x="0" y="0"/>
            <a:chExt cx="1243006" cy="570081"/>
          </a:xfrm>
        </p:grpSpPr>
        <p:sp>
          <p:nvSpPr>
            <p:cNvPr name="Freeform 12" id="12"/>
            <p:cNvSpPr/>
            <p:nvPr/>
          </p:nvSpPr>
          <p:spPr>
            <a:xfrm flipH="false" flipV="false" rot="0">
              <a:off x="0" y="0"/>
              <a:ext cx="1243006" cy="570081"/>
            </a:xfrm>
            <a:custGeom>
              <a:avLst/>
              <a:gdLst/>
              <a:ahLst/>
              <a:cxnLst/>
              <a:rect r="r" b="b" t="t" l="l"/>
              <a:pathLst>
                <a:path h="570081" w="1243006">
                  <a:moveTo>
                    <a:pt x="49212" y="0"/>
                  </a:moveTo>
                  <a:lnTo>
                    <a:pt x="1193794" y="0"/>
                  </a:lnTo>
                  <a:cubicBezTo>
                    <a:pt x="1220973" y="0"/>
                    <a:pt x="1243006" y="22033"/>
                    <a:pt x="1243006" y="49212"/>
                  </a:cubicBezTo>
                  <a:lnTo>
                    <a:pt x="1243006" y="520869"/>
                  </a:lnTo>
                  <a:cubicBezTo>
                    <a:pt x="1243006" y="548048"/>
                    <a:pt x="1220973" y="570081"/>
                    <a:pt x="1193794" y="570081"/>
                  </a:cubicBezTo>
                  <a:lnTo>
                    <a:pt x="49212" y="570081"/>
                  </a:lnTo>
                  <a:cubicBezTo>
                    <a:pt x="22033" y="570081"/>
                    <a:pt x="0" y="548048"/>
                    <a:pt x="0" y="520869"/>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3" id="13"/>
            <p:cNvSpPr txBox="true"/>
            <p:nvPr/>
          </p:nvSpPr>
          <p:spPr>
            <a:xfrm>
              <a:off x="0" y="-38100"/>
              <a:ext cx="1243006" cy="608181"/>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7308234" y="7146048"/>
            <a:ext cx="3939062"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Advantage 01</a:t>
            </a:r>
          </a:p>
        </p:txBody>
      </p:sp>
      <p:sp>
        <p:nvSpPr>
          <p:cNvPr name="TextBox 15" id="15"/>
          <p:cNvSpPr txBox="true"/>
          <p:nvPr/>
        </p:nvSpPr>
        <p:spPr>
          <a:xfrm rot="0">
            <a:off x="12660970" y="7146048"/>
            <a:ext cx="3939062"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Advantage 02</a:t>
            </a:r>
          </a:p>
        </p:txBody>
      </p:sp>
      <p:sp>
        <p:nvSpPr>
          <p:cNvPr name="TextBox 16" id="16"/>
          <p:cNvSpPr txBox="true"/>
          <p:nvPr/>
        </p:nvSpPr>
        <p:spPr>
          <a:xfrm rot="0">
            <a:off x="7308234" y="7713813"/>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
        <p:nvSpPr>
          <p:cNvPr name="TextBox 17" id="17"/>
          <p:cNvSpPr txBox="true"/>
          <p:nvPr/>
        </p:nvSpPr>
        <p:spPr>
          <a:xfrm rot="0">
            <a:off x="12660970" y="7713813"/>
            <a:ext cx="3633792" cy="71501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Lorem ipsum dolor sit amet, consectetur adipiscing elit.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028700" y="2407681"/>
            <a:ext cx="8115300" cy="127001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Traction</a:t>
            </a:r>
          </a:p>
        </p:txBody>
      </p:sp>
      <p:sp>
        <p:nvSpPr>
          <p:cNvPr name="TextBox 3" id="3"/>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4" id="4"/>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grpSp>
        <p:nvGrpSpPr>
          <p:cNvPr name="Group 6" id="6"/>
          <p:cNvGrpSpPr/>
          <p:nvPr/>
        </p:nvGrpSpPr>
        <p:grpSpPr>
          <a:xfrm rot="0">
            <a:off x="1028700" y="4400706"/>
            <a:ext cx="7490224" cy="4857594"/>
            <a:chOff x="0" y="0"/>
            <a:chExt cx="1972734" cy="1279366"/>
          </a:xfrm>
        </p:grpSpPr>
        <p:sp>
          <p:nvSpPr>
            <p:cNvPr name="Freeform 7" id="7"/>
            <p:cNvSpPr/>
            <p:nvPr/>
          </p:nvSpPr>
          <p:spPr>
            <a:xfrm flipH="false" flipV="false" rot="0">
              <a:off x="0" y="0"/>
              <a:ext cx="1972734" cy="1279366"/>
            </a:xfrm>
            <a:custGeom>
              <a:avLst/>
              <a:gdLst/>
              <a:ahLst/>
              <a:cxnLst/>
              <a:rect r="r" b="b" t="t" l="l"/>
              <a:pathLst>
                <a:path h="1279366" w="1972734">
                  <a:moveTo>
                    <a:pt x="31008" y="0"/>
                  </a:moveTo>
                  <a:lnTo>
                    <a:pt x="1941726" y="0"/>
                  </a:lnTo>
                  <a:cubicBezTo>
                    <a:pt x="1958851" y="0"/>
                    <a:pt x="1972734" y="13883"/>
                    <a:pt x="1972734" y="31008"/>
                  </a:cubicBezTo>
                  <a:lnTo>
                    <a:pt x="1972734" y="1248358"/>
                  </a:lnTo>
                  <a:cubicBezTo>
                    <a:pt x="1972734" y="1265484"/>
                    <a:pt x="1958851" y="1279366"/>
                    <a:pt x="1941726" y="1279366"/>
                  </a:cubicBezTo>
                  <a:lnTo>
                    <a:pt x="31008" y="1279366"/>
                  </a:lnTo>
                  <a:cubicBezTo>
                    <a:pt x="13883" y="1279366"/>
                    <a:pt x="0" y="1265484"/>
                    <a:pt x="0" y="1248358"/>
                  </a:cubicBezTo>
                  <a:lnTo>
                    <a:pt x="0" y="31008"/>
                  </a:lnTo>
                  <a:cubicBezTo>
                    <a:pt x="0" y="13883"/>
                    <a:pt x="13883" y="0"/>
                    <a:pt x="31008"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8" id="8"/>
            <p:cNvSpPr txBox="true"/>
            <p:nvPr/>
          </p:nvSpPr>
          <p:spPr>
            <a:xfrm>
              <a:off x="0" y="-38100"/>
              <a:ext cx="1972734" cy="131746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769076" y="2546612"/>
            <a:ext cx="7490224" cy="11327354"/>
            <a:chOff x="0" y="0"/>
            <a:chExt cx="1972734" cy="2983336"/>
          </a:xfrm>
        </p:grpSpPr>
        <p:sp>
          <p:nvSpPr>
            <p:cNvPr name="Freeform 10" id="10"/>
            <p:cNvSpPr/>
            <p:nvPr/>
          </p:nvSpPr>
          <p:spPr>
            <a:xfrm flipH="false" flipV="false" rot="0">
              <a:off x="0" y="0"/>
              <a:ext cx="1972734" cy="2983336"/>
            </a:xfrm>
            <a:custGeom>
              <a:avLst/>
              <a:gdLst/>
              <a:ahLst/>
              <a:cxnLst/>
              <a:rect r="r" b="b" t="t" l="l"/>
              <a:pathLst>
                <a:path h="2983336" w="1972734">
                  <a:moveTo>
                    <a:pt x="31008" y="0"/>
                  </a:moveTo>
                  <a:lnTo>
                    <a:pt x="1941726" y="0"/>
                  </a:lnTo>
                  <a:cubicBezTo>
                    <a:pt x="1958851" y="0"/>
                    <a:pt x="1972734" y="13883"/>
                    <a:pt x="1972734" y="31008"/>
                  </a:cubicBezTo>
                  <a:lnTo>
                    <a:pt x="1972734" y="2952328"/>
                  </a:lnTo>
                  <a:cubicBezTo>
                    <a:pt x="1972734" y="2969453"/>
                    <a:pt x="1958851" y="2983336"/>
                    <a:pt x="1941726" y="2983336"/>
                  </a:cubicBezTo>
                  <a:lnTo>
                    <a:pt x="31008" y="2983336"/>
                  </a:lnTo>
                  <a:cubicBezTo>
                    <a:pt x="13883" y="2983336"/>
                    <a:pt x="0" y="2969453"/>
                    <a:pt x="0" y="2952328"/>
                  </a:cubicBezTo>
                  <a:lnTo>
                    <a:pt x="0" y="31008"/>
                  </a:lnTo>
                  <a:cubicBezTo>
                    <a:pt x="0" y="13883"/>
                    <a:pt x="13883" y="0"/>
                    <a:pt x="31008"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1" id="11"/>
            <p:cNvSpPr txBox="true"/>
            <p:nvPr/>
          </p:nvSpPr>
          <p:spPr>
            <a:xfrm>
              <a:off x="0" y="-38100"/>
              <a:ext cx="1972734" cy="3021436"/>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414150" y="4805795"/>
            <a:ext cx="5983635" cy="21628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3" id="13"/>
          <p:cNvSpPr txBox="true"/>
          <p:nvPr/>
        </p:nvSpPr>
        <p:spPr>
          <a:xfrm rot="0">
            <a:off x="1449769" y="7385156"/>
            <a:ext cx="6648086" cy="14389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a:t>
            </a:r>
          </a:p>
        </p:txBody>
      </p:sp>
      <p:pic>
        <p:nvPicPr>
          <p:cNvPr name="Picture 14" id="14"/>
          <p:cNvPicPr>
            <a:picLocks noChangeAspect="true"/>
          </p:cNvPicPr>
          <p:nvPr/>
        </p:nvPicPr>
        <p:blipFill>
          <a:blip r:embed="rId4"/>
          <a:stretch>
            <a:fillRect/>
          </a:stretch>
        </p:blipFill>
        <p:spPr>
          <a:xfrm rot="0">
            <a:off x="9531398" y="2254726"/>
            <a:ext cx="7969660" cy="7667713"/>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3" id="3"/>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5" id="5"/>
          <p:cNvSpPr txBox="true"/>
          <p:nvPr/>
        </p:nvSpPr>
        <p:spPr>
          <a:xfrm rot="0">
            <a:off x="2012123" y="2407681"/>
            <a:ext cx="14263754" cy="1270018"/>
          </a:xfrm>
          <a:prstGeom prst="rect">
            <a:avLst/>
          </a:prstGeom>
        </p:spPr>
        <p:txBody>
          <a:bodyPr anchor="t" rtlCol="false" tIns="0" lIns="0" bIns="0" rIns="0">
            <a:spAutoFit/>
          </a:bodyPr>
          <a:lstStyle/>
          <a:p>
            <a:pPr algn="ctr">
              <a:lnSpc>
                <a:spcPts val="9200"/>
              </a:lnSpc>
            </a:pPr>
            <a:r>
              <a:rPr lang="en-US" b="true" sz="10000" spc="-130">
                <a:solidFill>
                  <a:srgbClr val="377272"/>
                </a:solidFill>
                <a:latin typeface="Bricolage Grotesque Bold"/>
                <a:ea typeface="Bricolage Grotesque Bold"/>
                <a:cs typeface="Bricolage Grotesque Bold"/>
                <a:sym typeface="Bricolage Grotesque Bold"/>
              </a:rPr>
              <a:t>Accomplishments Date</a:t>
            </a:r>
          </a:p>
        </p:txBody>
      </p:sp>
      <p:grpSp>
        <p:nvGrpSpPr>
          <p:cNvPr name="Group 6" id="6"/>
          <p:cNvGrpSpPr/>
          <p:nvPr/>
        </p:nvGrpSpPr>
        <p:grpSpPr>
          <a:xfrm rot="0">
            <a:off x="1028700" y="6521475"/>
            <a:ext cx="4718407" cy="966582"/>
            <a:chOff x="0" y="0"/>
            <a:chExt cx="1242708" cy="254573"/>
          </a:xfrm>
        </p:grpSpPr>
        <p:sp>
          <p:nvSpPr>
            <p:cNvPr name="Freeform 7" id="7"/>
            <p:cNvSpPr/>
            <p:nvPr/>
          </p:nvSpPr>
          <p:spPr>
            <a:xfrm flipH="false" flipV="false" rot="0">
              <a:off x="0" y="0"/>
              <a:ext cx="1242708" cy="254573"/>
            </a:xfrm>
            <a:custGeom>
              <a:avLst/>
              <a:gdLst/>
              <a:ahLst/>
              <a:cxnLst/>
              <a:rect r="r" b="b" t="t" l="l"/>
              <a:pathLst>
                <a:path h="254573" w="1242708">
                  <a:moveTo>
                    <a:pt x="127286" y="0"/>
                  </a:moveTo>
                  <a:lnTo>
                    <a:pt x="1115422" y="0"/>
                  </a:lnTo>
                  <a:cubicBezTo>
                    <a:pt x="1185720" y="0"/>
                    <a:pt x="1242708" y="56988"/>
                    <a:pt x="1242708" y="127286"/>
                  </a:cubicBezTo>
                  <a:lnTo>
                    <a:pt x="1242708" y="127286"/>
                  </a:lnTo>
                  <a:cubicBezTo>
                    <a:pt x="1242708" y="161045"/>
                    <a:pt x="1229297" y="193421"/>
                    <a:pt x="1205427" y="217292"/>
                  </a:cubicBezTo>
                  <a:cubicBezTo>
                    <a:pt x="1181556" y="241162"/>
                    <a:pt x="1149180" y="254573"/>
                    <a:pt x="1115422" y="254573"/>
                  </a:cubicBezTo>
                  <a:lnTo>
                    <a:pt x="127286" y="254573"/>
                  </a:lnTo>
                  <a:cubicBezTo>
                    <a:pt x="93528" y="254573"/>
                    <a:pt x="61152" y="241162"/>
                    <a:pt x="37281" y="217292"/>
                  </a:cubicBezTo>
                  <a:cubicBezTo>
                    <a:pt x="13410" y="193421"/>
                    <a:pt x="0" y="161045"/>
                    <a:pt x="0" y="127286"/>
                  </a:cubicBezTo>
                  <a:lnTo>
                    <a:pt x="0" y="127286"/>
                  </a:lnTo>
                  <a:cubicBezTo>
                    <a:pt x="0" y="93528"/>
                    <a:pt x="13410" y="61152"/>
                    <a:pt x="37281" y="37281"/>
                  </a:cubicBezTo>
                  <a:cubicBezTo>
                    <a:pt x="61152" y="13410"/>
                    <a:pt x="93528" y="0"/>
                    <a:pt x="127286"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8" id="8"/>
            <p:cNvSpPr txBox="true"/>
            <p:nvPr/>
          </p:nvSpPr>
          <p:spPr>
            <a:xfrm>
              <a:off x="0" y="-38100"/>
              <a:ext cx="1242708" cy="292673"/>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a:off x="3387903" y="5232249"/>
            <a:ext cx="11561958" cy="1289226"/>
          </a:xfrm>
          <a:custGeom>
            <a:avLst/>
            <a:gdLst/>
            <a:ahLst/>
            <a:cxnLst/>
            <a:rect r="r" b="b" t="t" l="l"/>
            <a:pathLst>
              <a:path h="1289226" w="11561958">
                <a:moveTo>
                  <a:pt x="0" y="1289226"/>
                </a:moveTo>
                <a:lnTo>
                  <a:pt x="0" y="228600"/>
                </a:lnTo>
                <a:cubicBezTo>
                  <a:pt x="0" y="167971"/>
                  <a:pt x="24085" y="109826"/>
                  <a:pt x="66955" y="66955"/>
                </a:cubicBezTo>
                <a:cubicBezTo>
                  <a:pt x="109827" y="24084"/>
                  <a:pt x="167972" y="0"/>
                  <a:pt x="228600" y="0"/>
                </a:cubicBezTo>
                <a:lnTo>
                  <a:pt x="11333358" y="0"/>
                </a:lnTo>
                <a:cubicBezTo>
                  <a:pt x="11393987" y="0"/>
                  <a:pt x="11452132" y="24084"/>
                  <a:pt x="11495003" y="66955"/>
                </a:cubicBezTo>
                <a:cubicBezTo>
                  <a:pt x="11537874" y="109826"/>
                  <a:pt x="11561958" y="167971"/>
                  <a:pt x="11561958" y="228600"/>
                </a:cubicBezTo>
                <a:lnTo>
                  <a:pt x="11561958" y="1262969"/>
                </a:lnTo>
              </a:path>
            </a:pathLst>
          </a:custGeom>
          <a:ln cap="flat" w="28575">
            <a:solidFill>
              <a:srgbClr val="2E6D6D"/>
            </a:solidFill>
            <a:prstDash val="solid"/>
            <a:headEnd type="none" len="sm" w="sm"/>
            <a:tailEnd type="none" len="sm" w="sm"/>
          </a:ln>
        </p:spPr>
      </p:sp>
      <p:grpSp>
        <p:nvGrpSpPr>
          <p:cNvPr name="Group 10" id="10"/>
          <p:cNvGrpSpPr/>
          <p:nvPr/>
        </p:nvGrpSpPr>
        <p:grpSpPr>
          <a:xfrm rot="0">
            <a:off x="6784797" y="4751231"/>
            <a:ext cx="4718407" cy="966582"/>
            <a:chOff x="0" y="0"/>
            <a:chExt cx="1242708" cy="254573"/>
          </a:xfrm>
        </p:grpSpPr>
        <p:sp>
          <p:nvSpPr>
            <p:cNvPr name="Freeform 11" id="11"/>
            <p:cNvSpPr/>
            <p:nvPr/>
          </p:nvSpPr>
          <p:spPr>
            <a:xfrm flipH="false" flipV="false" rot="0">
              <a:off x="0" y="0"/>
              <a:ext cx="1242708" cy="254573"/>
            </a:xfrm>
            <a:custGeom>
              <a:avLst/>
              <a:gdLst/>
              <a:ahLst/>
              <a:cxnLst/>
              <a:rect r="r" b="b" t="t" l="l"/>
              <a:pathLst>
                <a:path h="254573" w="1242708">
                  <a:moveTo>
                    <a:pt x="127286" y="0"/>
                  </a:moveTo>
                  <a:lnTo>
                    <a:pt x="1115422" y="0"/>
                  </a:lnTo>
                  <a:cubicBezTo>
                    <a:pt x="1185720" y="0"/>
                    <a:pt x="1242708" y="56988"/>
                    <a:pt x="1242708" y="127286"/>
                  </a:cubicBezTo>
                  <a:lnTo>
                    <a:pt x="1242708" y="127286"/>
                  </a:lnTo>
                  <a:cubicBezTo>
                    <a:pt x="1242708" y="161045"/>
                    <a:pt x="1229297" y="193421"/>
                    <a:pt x="1205427" y="217292"/>
                  </a:cubicBezTo>
                  <a:cubicBezTo>
                    <a:pt x="1181556" y="241162"/>
                    <a:pt x="1149180" y="254573"/>
                    <a:pt x="1115422" y="254573"/>
                  </a:cubicBezTo>
                  <a:lnTo>
                    <a:pt x="127286" y="254573"/>
                  </a:lnTo>
                  <a:cubicBezTo>
                    <a:pt x="93528" y="254573"/>
                    <a:pt x="61152" y="241162"/>
                    <a:pt x="37281" y="217292"/>
                  </a:cubicBezTo>
                  <a:cubicBezTo>
                    <a:pt x="13410" y="193421"/>
                    <a:pt x="0" y="161045"/>
                    <a:pt x="0" y="127286"/>
                  </a:cubicBezTo>
                  <a:lnTo>
                    <a:pt x="0" y="127286"/>
                  </a:lnTo>
                  <a:cubicBezTo>
                    <a:pt x="0" y="93528"/>
                    <a:pt x="13410" y="61152"/>
                    <a:pt x="37281" y="37281"/>
                  </a:cubicBezTo>
                  <a:cubicBezTo>
                    <a:pt x="61152" y="13410"/>
                    <a:pt x="93528" y="0"/>
                    <a:pt x="127286" y="0"/>
                  </a:cubicBezTo>
                  <a:close/>
                </a:path>
              </a:pathLst>
            </a:custGeom>
            <a:gradFill rotWithShape="true">
              <a:gsLst>
                <a:gs pos="0">
                  <a:srgbClr val="3B6261">
                    <a:alpha val="100000"/>
                  </a:srgbClr>
                </a:gs>
                <a:gs pos="100000">
                  <a:srgbClr val="6F9F97">
                    <a:alpha val="100000"/>
                  </a:srgbClr>
                </a:gs>
              </a:gsLst>
              <a:lin ang="0"/>
            </a:gradFill>
            <a:ln w="19050" cap="rnd">
              <a:gradFill>
                <a:gsLst>
                  <a:gs pos="0">
                    <a:srgbClr val="3B6261">
                      <a:alpha val="100000"/>
                    </a:srgbClr>
                  </a:gs>
                  <a:gs pos="100000">
                    <a:srgbClr val="6F9F97">
                      <a:alpha val="100000"/>
                    </a:srgbClr>
                  </a:gs>
                </a:gsLst>
                <a:lin ang="0"/>
              </a:gradFill>
              <a:prstDash val="solid"/>
              <a:round/>
            </a:ln>
          </p:spPr>
        </p:sp>
        <p:sp>
          <p:nvSpPr>
            <p:cNvPr name="TextBox 12" id="12"/>
            <p:cNvSpPr txBox="true"/>
            <p:nvPr/>
          </p:nvSpPr>
          <p:spPr>
            <a:xfrm>
              <a:off x="0" y="-38100"/>
              <a:ext cx="1242708" cy="292673"/>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2540893" y="6521475"/>
            <a:ext cx="4718407" cy="966582"/>
            <a:chOff x="0" y="0"/>
            <a:chExt cx="1242708" cy="254573"/>
          </a:xfrm>
        </p:grpSpPr>
        <p:sp>
          <p:nvSpPr>
            <p:cNvPr name="Freeform 14" id="14"/>
            <p:cNvSpPr/>
            <p:nvPr/>
          </p:nvSpPr>
          <p:spPr>
            <a:xfrm flipH="false" flipV="false" rot="0">
              <a:off x="0" y="0"/>
              <a:ext cx="1242708" cy="254573"/>
            </a:xfrm>
            <a:custGeom>
              <a:avLst/>
              <a:gdLst/>
              <a:ahLst/>
              <a:cxnLst/>
              <a:rect r="r" b="b" t="t" l="l"/>
              <a:pathLst>
                <a:path h="254573" w="1242708">
                  <a:moveTo>
                    <a:pt x="127286" y="0"/>
                  </a:moveTo>
                  <a:lnTo>
                    <a:pt x="1115422" y="0"/>
                  </a:lnTo>
                  <a:cubicBezTo>
                    <a:pt x="1185720" y="0"/>
                    <a:pt x="1242708" y="56988"/>
                    <a:pt x="1242708" y="127286"/>
                  </a:cubicBezTo>
                  <a:lnTo>
                    <a:pt x="1242708" y="127286"/>
                  </a:lnTo>
                  <a:cubicBezTo>
                    <a:pt x="1242708" y="161045"/>
                    <a:pt x="1229297" y="193421"/>
                    <a:pt x="1205427" y="217292"/>
                  </a:cubicBezTo>
                  <a:cubicBezTo>
                    <a:pt x="1181556" y="241162"/>
                    <a:pt x="1149180" y="254573"/>
                    <a:pt x="1115422" y="254573"/>
                  </a:cubicBezTo>
                  <a:lnTo>
                    <a:pt x="127286" y="254573"/>
                  </a:lnTo>
                  <a:cubicBezTo>
                    <a:pt x="93528" y="254573"/>
                    <a:pt x="61152" y="241162"/>
                    <a:pt x="37281" y="217292"/>
                  </a:cubicBezTo>
                  <a:cubicBezTo>
                    <a:pt x="13410" y="193421"/>
                    <a:pt x="0" y="161045"/>
                    <a:pt x="0" y="127286"/>
                  </a:cubicBezTo>
                  <a:lnTo>
                    <a:pt x="0" y="127286"/>
                  </a:lnTo>
                  <a:cubicBezTo>
                    <a:pt x="0" y="93528"/>
                    <a:pt x="13410" y="61152"/>
                    <a:pt x="37281" y="37281"/>
                  </a:cubicBezTo>
                  <a:cubicBezTo>
                    <a:pt x="61152" y="13410"/>
                    <a:pt x="93528" y="0"/>
                    <a:pt x="127286"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5" id="15"/>
            <p:cNvSpPr txBox="true"/>
            <p:nvPr/>
          </p:nvSpPr>
          <p:spPr>
            <a:xfrm>
              <a:off x="0" y="-38100"/>
              <a:ext cx="1242708" cy="292673"/>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928981" y="6760926"/>
            <a:ext cx="2917845" cy="563880"/>
          </a:xfrm>
          <a:prstGeom prst="rect">
            <a:avLst/>
          </a:prstGeom>
        </p:spPr>
        <p:txBody>
          <a:bodyPr anchor="t" rtlCol="false" tIns="0" lIns="0" bIns="0" rIns="0">
            <a:spAutoFit/>
          </a:bodyPr>
          <a:lstStyle/>
          <a:p>
            <a:pPr algn="ctr">
              <a:lnSpc>
                <a:spcPts val="4200"/>
              </a:lnSpc>
            </a:pPr>
            <a:r>
              <a:rPr lang="en-US" b="true" sz="4200" spc="-210">
                <a:solidFill>
                  <a:srgbClr val="2E6D6D"/>
                </a:solidFill>
                <a:latin typeface="Bricolage Grotesque Bold"/>
                <a:ea typeface="Bricolage Grotesque Bold"/>
                <a:cs typeface="Bricolage Grotesque Bold"/>
                <a:sym typeface="Bricolage Grotesque Bold"/>
              </a:rPr>
              <a:t>2018</a:t>
            </a:r>
          </a:p>
        </p:txBody>
      </p:sp>
      <p:sp>
        <p:nvSpPr>
          <p:cNvPr name="TextBox 17" id="17"/>
          <p:cNvSpPr txBox="true"/>
          <p:nvPr/>
        </p:nvSpPr>
        <p:spPr>
          <a:xfrm rot="0">
            <a:off x="7685078" y="4990682"/>
            <a:ext cx="2917845" cy="563880"/>
          </a:xfrm>
          <a:prstGeom prst="rect">
            <a:avLst/>
          </a:prstGeom>
        </p:spPr>
        <p:txBody>
          <a:bodyPr anchor="t" rtlCol="false" tIns="0" lIns="0" bIns="0" rIns="0">
            <a:spAutoFit/>
          </a:bodyPr>
          <a:lstStyle/>
          <a:p>
            <a:pPr algn="ctr">
              <a:lnSpc>
                <a:spcPts val="4200"/>
              </a:lnSpc>
            </a:pPr>
            <a:r>
              <a:rPr lang="en-US" b="true" sz="4200" spc="-210">
                <a:solidFill>
                  <a:srgbClr val="EFF0EA"/>
                </a:solidFill>
                <a:latin typeface="Bricolage Grotesque Bold"/>
                <a:ea typeface="Bricolage Grotesque Bold"/>
                <a:cs typeface="Bricolage Grotesque Bold"/>
                <a:sym typeface="Bricolage Grotesque Bold"/>
              </a:rPr>
              <a:t>2018</a:t>
            </a:r>
          </a:p>
        </p:txBody>
      </p:sp>
      <p:sp>
        <p:nvSpPr>
          <p:cNvPr name="TextBox 18" id="18"/>
          <p:cNvSpPr txBox="true"/>
          <p:nvPr/>
        </p:nvSpPr>
        <p:spPr>
          <a:xfrm rot="0">
            <a:off x="13441174" y="6760926"/>
            <a:ext cx="2917845" cy="563880"/>
          </a:xfrm>
          <a:prstGeom prst="rect">
            <a:avLst/>
          </a:prstGeom>
        </p:spPr>
        <p:txBody>
          <a:bodyPr anchor="t" rtlCol="false" tIns="0" lIns="0" bIns="0" rIns="0">
            <a:spAutoFit/>
          </a:bodyPr>
          <a:lstStyle/>
          <a:p>
            <a:pPr algn="ctr">
              <a:lnSpc>
                <a:spcPts val="4200"/>
              </a:lnSpc>
            </a:pPr>
            <a:r>
              <a:rPr lang="en-US" b="true" sz="4200" spc="-210">
                <a:solidFill>
                  <a:srgbClr val="2E6D6D"/>
                </a:solidFill>
                <a:latin typeface="Bricolage Grotesque Bold"/>
                <a:ea typeface="Bricolage Grotesque Bold"/>
                <a:cs typeface="Bricolage Grotesque Bold"/>
                <a:sym typeface="Bricolage Grotesque Bold"/>
              </a:rPr>
              <a:t>2018</a:t>
            </a:r>
          </a:p>
        </p:txBody>
      </p:sp>
      <p:sp>
        <p:nvSpPr>
          <p:cNvPr name="TextBox 19" id="19"/>
          <p:cNvSpPr txBox="true"/>
          <p:nvPr/>
        </p:nvSpPr>
        <p:spPr>
          <a:xfrm rot="0">
            <a:off x="1128229" y="7819390"/>
            <a:ext cx="4618878" cy="1438910"/>
          </a:xfrm>
          <a:prstGeom prst="rect">
            <a:avLst/>
          </a:prstGeom>
        </p:spPr>
        <p:txBody>
          <a:bodyPr anchor="t" rtlCol="false" tIns="0" lIns="0" bIns="0" rIns="0">
            <a:spAutoFit/>
          </a:bodyPr>
          <a:lstStyle/>
          <a:p>
            <a:pPr algn="ctr">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a:t>
            </a:r>
          </a:p>
        </p:txBody>
      </p:sp>
      <p:sp>
        <p:nvSpPr>
          <p:cNvPr name="TextBox 20" id="20"/>
          <p:cNvSpPr txBox="true"/>
          <p:nvPr/>
        </p:nvSpPr>
        <p:spPr>
          <a:xfrm rot="0">
            <a:off x="6884325" y="6049146"/>
            <a:ext cx="4618878" cy="1438910"/>
          </a:xfrm>
          <a:prstGeom prst="rect">
            <a:avLst/>
          </a:prstGeom>
        </p:spPr>
        <p:txBody>
          <a:bodyPr anchor="t" rtlCol="false" tIns="0" lIns="0" bIns="0" rIns="0">
            <a:spAutoFit/>
          </a:bodyPr>
          <a:lstStyle/>
          <a:p>
            <a:pPr algn="ctr">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a:t>
            </a:r>
          </a:p>
        </p:txBody>
      </p:sp>
      <p:sp>
        <p:nvSpPr>
          <p:cNvPr name="TextBox 21" id="21"/>
          <p:cNvSpPr txBox="true"/>
          <p:nvPr/>
        </p:nvSpPr>
        <p:spPr>
          <a:xfrm rot="0">
            <a:off x="12640422" y="7819390"/>
            <a:ext cx="4618878" cy="1438910"/>
          </a:xfrm>
          <a:prstGeom prst="rect">
            <a:avLst/>
          </a:prstGeom>
        </p:spPr>
        <p:txBody>
          <a:bodyPr anchor="t" rtlCol="false" tIns="0" lIns="0" bIns="0" rIns="0">
            <a:spAutoFit/>
          </a:bodyPr>
          <a:lstStyle/>
          <a:p>
            <a:pPr algn="ctr">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9396471" y="2400517"/>
            <a:ext cx="8115300" cy="127001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Use of Funds</a:t>
            </a:r>
          </a:p>
        </p:txBody>
      </p:sp>
      <p:grpSp>
        <p:nvGrpSpPr>
          <p:cNvPr name="Group 3" id="3"/>
          <p:cNvGrpSpPr/>
          <p:nvPr/>
        </p:nvGrpSpPr>
        <p:grpSpPr>
          <a:xfrm rot="0">
            <a:off x="9396471" y="4393542"/>
            <a:ext cx="7490224" cy="4857594"/>
            <a:chOff x="0" y="0"/>
            <a:chExt cx="1972734" cy="1279366"/>
          </a:xfrm>
        </p:grpSpPr>
        <p:sp>
          <p:nvSpPr>
            <p:cNvPr name="Freeform 4" id="4"/>
            <p:cNvSpPr/>
            <p:nvPr/>
          </p:nvSpPr>
          <p:spPr>
            <a:xfrm flipH="false" flipV="false" rot="0">
              <a:off x="0" y="0"/>
              <a:ext cx="1972734" cy="1279366"/>
            </a:xfrm>
            <a:custGeom>
              <a:avLst/>
              <a:gdLst/>
              <a:ahLst/>
              <a:cxnLst/>
              <a:rect r="r" b="b" t="t" l="l"/>
              <a:pathLst>
                <a:path h="1279366" w="1972734">
                  <a:moveTo>
                    <a:pt x="31008" y="0"/>
                  </a:moveTo>
                  <a:lnTo>
                    <a:pt x="1941726" y="0"/>
                  </a:lnTo>
                  <a:cubicBezTo>
                    <a:pt x="1958851" y="0"/>
                    <a:pt x="1972734" y="13883"/>
                    <a:pt x="1972734" y="31008"/>
                  </a:cubicBezTo>
                  <a:lnTo>
                    <a:pt x="1972734" y="1248358"/>
                  </a:lnTo>
                  <a:cubicBezTo>
                    <a:pt x="1972734" y="1265484"/>
                    <a:pt x="1958851" y="1279366"/>
                    <a:pt x="1941726" y="1279366"/>
                  </a:cubicBezTo>
                  <a:lnTo>
                    <a:pt x="31008" y="1279366"/>
                  </a:lnTo>
                  <a:cubicBezTo>
                    <a:pt x="13883" y="1279366"/>
                    <a:pt x="0" y="1265484"/>
                    <a:pt x="0" y="1248358"/>
                  </a:cubicBezTo>
                  <a:lnTo>
                    <a:pt x="0" y="31008"/>
                  </a:lnTo>
                  <a:cubicBezTo>
                    <a:pt x="0" y="13883"/>
                    <a:pt x="13883" y="0"/>
                    <a:pt x="31008"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5" id="5"/>
            <p:cNvSpPr txBox="true"/>
            <p:nvPr/>
          </p:nvSpPr>
          <p:spPr>
            <a:xfrm>
              <a:off x="0" y="-38100"/>
              <a:ext cx="1972734" cy="131746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2160031"/>
            <a:ext cx="7490224" cy="11327354"/>
            <a:chOff x="0" y="0"/>
            <a:chExt cx="1972734" cy="2983336"/>
          </a:xfrm>
        </p:grpSpPr>
        <p:sp>
          <p:nvSpPr>
            <p:cNvPr name="Freeform 7" id="7"/>
            <p:cNvSpPr/>
            <p:nvPr/>
          </p:nvSpPr>
          <p:spPr>
            <a:xfrm flipH="false" flipV="false" rot="0">
              <a:off x="0" y="0"/>
              <a:ext cx="1972734" cy="2983336"/>
            </a:xfrm>
            <a:custGeom>
              <a:avLst/>
              <a:gdLst/>
              <a:ahLst/>
              <a:cxnLst/>
              <a:rect r="r" b="b" t="t" l="l"/>
              <a:pathLst>
                <a:path h="2983336" w="1972734">
                  <a:moveTo>
                    <a:pt x="31008" y="0"/>
                  </a:moveTo>
                  <a:lnTo>
                    <a:pt x="1941726" y="0"/>
                  </a:lnTo>
                  <a:cubicBezTo>
                    <a:pt x="1958851" y="0"/>
                    <a:pt x="1972734" y="13883"/>
                    <a:pt x="1972734" y="31008"/>
                  </a:cubicBezTo>
                  <a:lnTo>
                    <a:pt x="1972734" y="2952328"/>
                  </a:lnTo>
                  <a:cubicBezTo>
                    <a:pt x="1972734" y="2969453"/>
                    <a:pt x="1958851" y="2983336"/>
                    <a:pt x="1941726" y="2983336"/>
                  </a:cubicBezTo>
                  <a:lnTo>
                    <a:pt x="31008" y="2983336"/>
                  </a:lnTo>
                  <a:cubicBezTo>
                    <a:pt x="13883" y="2983336"/>
                    <a:pt x="0" y="2969453"/>
                    <a:pt x="0" y="2952328"/>
                  </a:cubicBezTo>
                  <a:lnTo>
                    <a:pt x="0" y="31008"/>
                  </a:lnTo>
                  <a:cubicBezTo>
                    <a:pt x="0" y="13883"/>
                    <a:pt x="13883" y="0"/>
                    <a:pt x="31008"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8" id="8"/>
            <p:cNvSpPr txBox="true"/>
            <p:nvPr/>
          </p:nvSpPr>
          <p:spPr>
            <a:xfrm>
              <a:off x="0" y="-38100"/>
              <a:ext cx="1972734" cy="302143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9781921" y="4798631"/>
            <a:ext cx="5983635" cy="21628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9817540" y="7377992"/>
            <a:ext cx="6648086" cy="143891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a:t>
            </a:r>
          </a:p>
        </p:txBody>
      </p:sp>
      <p:sp>
        <p:nvSpPr>
          <p:cNvPr name="TextBox 11" id="11"/>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12" id="12"/>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pic>
        <p:nvPicPr>
          <p:cNvPr name="Picture 14" id="14"/>
          <p:cNvPicPr>
            <a:picLocks noChangeAspect="true"/>
          </p:cNvPicPr>
          <p:nvPr/>
        </p:nvPicPr>
        <p:blipFill>
          <a:blip r:embed="rId4"/>
          <a:stretch>
            <a:fillRect/>
          </a:stretch>
        </p:blipFill>
        <p:spPr>
          <a:xfrm rot="0">
            <a:off x="651219" y="1958888"/>
            <a:ext cx="8245184" cy="7397771"/>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4703045" y="1060589"/>
            <a:ext cx="2556255" cy="300228"/>
          </a:xfrm>
          <a:prstGeom prst="rect">
            <a:avLst/>
          </a:prstGeom>
        </p:spPr>
        <p:txBody>
          <a:bodyPr anchor="t" rtlCol="false" tIns="0" lIns="0" bIns="0" rIns="0">
            <a:spAutoFit/>
          </a:bodyPr>
          <a:lstStyle/>
          <a:p>
            <a:pPr algn="r">
              <a:lnSpc>
                <a:spcPts val="2375"/>
              </a:lnSpc>
            </a:pPr>
            <a:r>
              <a:rPr lang="en-US" sz="2199" spc="-15">
                <a:solidFill>
                  <a:srgbClr val="163B42"/>
                </a:solidFill>
                <a:latin typeface="Aileron Light"/>
                <a:ea typeface="Aileron Light"/>
                <a:cs typeface="Aileron Light"/>
                <a:sym typeface="Aileron Light"/>
              </a:rPr>
              <a:t>June 23, 2025</a:t>
            </a:r>
          </a:p>
        </p:txBody>
      </p:sp>
      <p:sp>
        <p:nvSpPr>
          <p:cNvPr name="Freeform 3" id="3"/>
          <p:cNvSpPr/>
          <p:nvPr/>
        </p:nvSpPr>
        <p:spPr>
          <a:xfrm flipH="false" flipV="false" rot="0">
            <a:off x="1028700" y="958474"/>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58876" y="1098689"/>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grpSp>
        <p:nvGrpSpPr>
          <p:cNvPr name="Group 5" id="5"/>
          <p:cNvGrpSpPr/>
          <p:nvPr/>
        </p:nvGrpSpPr>
        <p:grpSpPr>
          <a:xfrm rot="0">
            <a:off x="10755715" y="2148419"/>
            <a:ext cx="3749539" cy="7463379"/>
            <a:chOff x="0" y="0"/>
            <a:chExt cx="580902" cy="1156273"/>
          </a:xfrm>
        </p:grpSpPr>
        <p:sp>
          <p:nvSpPr>
            <p:cNvPr name="Freeform 6" id="6"/>
            <p:cNvSpPr/>
            <p:nvPr/>
          </p:nvSpPr>
          <p:spPr>
            <a:xfrm flipH="false" flipV="false" rot="0">
              <a:off x="0" y="0"/>
              <a:ext cx="580902" cy="1156273"/>
            </a:xfrm>
            <a:custGeom>
              <a:avLst/>
              <a:gdLst/>
              <a:ahLst/>
              <a:cxnLst/>
              <a:rect r="r" b="b" t="t" l="l"/>
              <a:pathLst>
                <a:path h="1156273" w="580902">
                  <a:moveTo>
                    <a:pt x="61943" y="0"/>
                  </a:moveTo>
                  <a:lnTo>
                    <a:pt x="518959" y="0"/>
                  </a:lnTo>
                  <a:cubicBezTo>
                    <a:pt x="553169" y="0"/>
                    <a:pt x="580902" y="27733"/>
                    <a:pt x="580902" y="61943"/>
                  </a:cubicBezTo>
                  <a:lnTo>
                    <a:pt x="580902" y="1094330"/>
                  </a:lnTo>
                  <a:cubicBezTo>
                    <a:pt x="580902" y="1128540"/>
                    <a:pt x="553169" y="1156273"/>
                    <a:pt x="518959" y="1156273"/>
                  </a:cubicBezTo>
                  <a:lnTo>
                    <a:pt x="61943" y="1156273"/>
                  </a:lnTo>
                  <a:cubicBezTo>
                    <a:pt x="45515" y="1156273"/>
                    <a:pt x="29759" y="1149747"/>
                    <a:pt x="18143" y="1138130"/>
                  </a:cubicBezTo>
                  <a:cubicBezTo>
                    <a:pt x="6526" y="1126514"/>
                    <a:pt x="0" y="1110758"/>
                    <a:pt x="0" y="1094330"/>
                  </a:cubicBezTo>
                  <a:lnTo>
                    <a:pt x="0" y="61943"/>
                  </a:lnTo>
                  <a:cubicBezTo>
                    <a:pt x="0" y="45515"/>
                    <a:pt x="6526" y="29759"/>
                    <a:pt x="18143" y="18143"/>
                  </a:cubicBezTo>
                  <a:cubicBezTo>
                    <a:pt x="29759" y="6526"/>
                    <a:pt x="45515" y="0"/>
                    <a:pt x="61943" y="0"/>
                  </a:cubicBezTo>
                  <a:close/>
                </a:path>
              </a:pathLst>
            </a:custGeom>
            <a:blipFill>
              <a:blip r:embed="rId4"/>
              <a:stretch>
                <a:fillRect l="-236679" t="0" r="-251720" b="-66077"/>
              </a:stretch>
            </a:blip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grpSp>
      <p:grpSp>
        <p:nvGrpSpPr>
          <p:cNvPr name="Group 7" id="7"/>
          <p:cNvGrpSpPr/>
          <p:nvPr/>
        </p:nvGrpSpPr>
        <p:grpSpPr>
          <a:xfrm rot="0">
            <a:off x="14841063" y="2148419"/>
            <a:ext cx="3749539" cy="7442807"/>
            <a:chOff x="0" y="0"/>
            <a:chExt cx="580902" cy="1153086"/>
          </a:xfrm>
        </p:grpSpPr>
        <p:sp>
          <p:nvSpPr>
            <p:cNvPr name="Freeform 8" id="8"/>
            <p:cNvSpPr/>
            <p:nvPr/>
          </p:nvSpPr>
          <p:spPr>
            <a:xfrm flipH="false" flipV="false" rot="0">
              <a:off x="0" y="0"/>
              <a:ext cx="580902" cy="1153086"/>
            </a:xfrm>
            <a:custGeom>
              <a:avLst/>
              <a:gdLst/>
              <a:ahLst/>
              <a:cxnLst/>
              <a:rect r="r" b="b" t="t" l="l"/>
              <a:pathLst>
                <a:path h="1153086" w="580902">
                  <a:moveTo>
                    <a:pt x="61943" y="0"/>
                  </a:moveTo>
                  <a:lnTo>
                    <a:pt x="518959" y="0"/>
                  </a:lnTo>
                  <a:cubicBezTo>
                    <a:pt x="553169" y="0"/>
                    <a:pt x="580902" y="27733"/>
                    <a:pt x="580902" y="61943"/>
                  </a:cubicBezTo>
                  <a:lnTo>
                    <a:pt x="580902" y="1091143"/>
                  </a:lnTo>
                  <a:cubicBezTo>
                    <a:pt x="580902" y="1107571"/>
                    <a:pt x="574376" y="1123326"/>
                    <a:pt x="562759" y="1134943"/>
                  </a:cubicBezTo>
                  <a:cubicBezTo>
                    <a:pt x="551143" y="1146559"/>
                    <a:pt x="535387" y="1153086"/>
                    <a:pt x="518959" y="1153086"/>
                  </a:cubicBezTo>
                  <a:lnTo>
                    <a:pt x="61943" y="1153086"/>
                  </a:lnTo>
                  <a:cubicBezTo>
                    <a:pt x="27733" y="1153086"/>
                    <a:pt x="0" y="1125353"/>
                    <a:pt x="0" y="1091143"/>
                  </a:cubicBezTo>
                  <a:lnTo>
                    <a:pt x="0" y="61943"/>
                  </a:lnTo>
                  <a:cubicBezTo>
                    <a:pt x="0" y="45515"/>
                    <a:pt x="6526" y="29759"/>
                    <a:pt x="18143" y="18143"/>
                  </a:cubicBezTo>
                  <a:cubicBezTo>
                    <a:pt x="29759" y="6526"/>
                    <a:pt x="45515" y="0"/>
                    <a:pt x="61943" y="0"/>
                  </a:cubicBezTo>
                  <a:close/>
                </a:path>
              </a:pathLst>
            </a:custGeom>
            <a:blipFill>
              <a:blip r:embed="rId5"/>
              <a:stretch>
                <a:fillRect l="-43385" t="-12691" r="-46472" b="0"/>
              </a:stretch>
            </a:blip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grpSp>
      <p:grpSp>
        <p:nvGrpSpPr>
          <p:cNvPr name="Group 9" id="9"/>
          <p:cNvGrpSpPr/>
          <p:nvPr/>
        </p:nvGrpSpPr>
        <p:grpSpPr>
          <a:xfrm rot="0">
            <a:off x="6672801" y="2148419"/>
            <a:ext cx="3749539" cy="7442807"/>
            <a:chOff x="0" y="0"/>
            <a:chExt cx="580902" cy="1153086"/>
          </a:xfrm>
        </p:grpSpPr>
        <p:sp>
          <p:nvSpPr>
            <p:cNvPr name="Freeform 10" id="10"/>
            <p:cNvSpPr/>
            <p:nvPr/>
          </p:nvSpPr>
          <p:spPr>
            <a:xfrm flipH="false" flipV="false" rot="0">
              <a:off x="0" y="0"/>
              <a:ext cx="580902" cy="1153086"/>
            </a:xfrm>
            <a:custGeom>
              <a:avLst/>
              <a:gdLst/>
              <a:ahLst/>
              <a:cxnLst/>
              <a:rect r="r" b="b" t="t" l="l"/>
              <a:pathLst>
                <a:path h="1153086" w="580902">
                  <a:moveTo>
                    <a:pt x="61943" y="0"/>
                  </a:moveTo>
                  <a:lnTo>
                    <a:pt x="518959" y="0"/>
                  </a:lnTo>
                  <a:cubicBezTo>
                    <a:pt x="553169" y="0"/>
                    <a:pt x="580902" y="27733"/>
                    <a:pt x="580902" y="61943"/>
                  </a:cubicBezTo>
                  <a:lnTo>
                    <a:pt x="580902" y="1091143"/>
                  </a:lnTo>
                  <a:cubicBezTo>
                    <a:pt x="580902" y="1107571"/>
                    <a:pt x="574376" y="1123326"/>
                    <a:pt x="562759" y="1134943"/>
                  </a:cubicBezTo>
                  <a:cubicBezTo>
                    <a:pt x="551143" y="1146559"/>
                    <a:pt x="535387" y="1153086"/>
                    <a:pt x="518959" y="1153086"/>
                  </a:cubicBezTo>
                  <a:lnTo>
                    <a:pt x="61943" y="1153086"/>
                  </a:lnTo>
                  <a:cubicBezTo>
                    <a:pt x="27733" y="1153086"/>
                    <a:pt x="0" y="1125353"/>
                    <a:pt x="0" y="1091143"/>
                  </a:cubicBezTo>
                  <a:lnTo>
                    <a:pt x="0" y="61943"/>
                  </a:lnTo>
                  <a:cubicBezTo>
                    <a:pt x="0" y="45515"/>
                    <a:pt x="6526" y="29759"/>
                    <a:pt x="18143" y="18143"/>
                  </a:cubicBezTo>
                  <a:cubicBezTo>
                    <a:pt x="29759" y="6526"/>
                    <a:pt x="45515" y="0"/>
                    <a:pt x="61943" y="0"/>
                  </a:cubicBezTo>
                  <a:close/>
                </a:path>
              </a:pathLst>
            </a:custGeom>
            <a:blipFill>
              <a:blip r:embed="rId6"/>
              <a:stretch>
                <a:fillRect l="-98739" t="0" r="-98739" b="0"/>
              </a:stretch>
            </a:blip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grpSp>
      <p:grpSp>
        <p:nvGrpSpPr>
          <p:cNvPr name="Group 11" id="11"/>
          <p:cNvGrpSpPr/>
          <p:nvPr/>
        </p:nvGrpSpPr>
        <p:grpSpPr>
          <a:xfrm rot="0">
            <a:off x="10771394" y="6187091"/>
            <a:ext cx="3733860" cy="3403037"/>
            <a:chOff x="0" y="0"/>
            <a:chExt cx="983404" cy="896273"/>
          </a:xfrm>
        </p:grpSpPr>
        <p:sp>
          <p:nvSpPr>
            <p:cNvPr name="Freeform 12" id="12"/>
            <p:cNvSpPr/>
            <p:nvPr/>
          </p:nvSpPr>
          <p:spPr>
            <a:xfrm flipH="false" flipV="false" rot="0">
              <a:off x="0" y="0"/>
              <a:ext cx="983404" cy="896273"/>
            </a:xfrm>
            <a:custGeom>
              <a:avLst/>
              <a:gdLst/>
              <a:ahLst/>
              <a:cxnLst/>
              <a:rect r="r" b="b" t="t" l="l"/>
              <a:pathLst>
                <a:path h="896273" w="983404">
                  <a:moveTo>
                    <a:pt x="62203" y="0"/>
                  </a:moveTo>
                  <a:lnTo>
                    <a:pt x="921200" y="0"/>
                  </a:lnTo>
                  <a:cubicBezTo>
                    <a:pt x="955554" y="0"/>
                    <a:pt x="983404" y="27849"/>
                    <a:pt x="983404" y="62203"/>
                  </a:cubicBezTo>
                  <a:lnTo>
                    <a:pt x="983404" y="834070"/>
                  </a:lnTo>
                  <a:cubicBezTo>
                    <a:pt x="983404" y="868424"/>
                    <a:pt x="955554" y="896273"/>
                    <a:pt x="921200" y="896273"/>
                  </a:cubicBezTo>
                  <a:lnTo>
                    <a:pt x="62203" y="896273"/>
                  </a:lnTo>
                  <a:cubicBezTo>
                    <a:pt x="27849" y="896273"/>
                    <a:pt x="0" y="868424"/>
                    <a:pt x="0" y="834070"/>
                  </a:cubicBezTo>
                  <a:lnTo>
                    <a:pt x="0" y="62203"/>
                  </a:lnTo>
                  <a:cubicBezTo>
                    <a:pt x="0" y="27849"/>
                    <a:pt x="27849" y="0"/>
                    <a:pt x="62203" y="0"/>
                  </a:cubicBezTo>
                  <a:close/>
                </a:path>
              </a:pathLst>
            </a:custGeom>
            <a:solidFill>
              <a:srgbClr val="163B42"/>
            </a:solid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sp>
          <p:nvSpPr>
            <p:cNvPr name="TextBox 13" id="13"/>
            <p:cNvSpPr txBox="true"/>
            <p:nvPr/>
          </p:nvSpPr>
          <p:spPr>
            <a:xfrm>
              <a:off x="0" y="-47625"/>
              <a:ext cx="983404" cy="943898"/>
            </a:xfrm>
            <a:prstGeom prst="rect">
              <a:avLst/>
            </a:prstGeom>
          </p:spPr>
          <p:txBody>
            <a:bodyPr anchor="ctr" rtlCol="false" tIns="50800" lIns="50800" bIns="50800" rIns="50800"/>
            <a:lstStyle/>
            <a:p>
              <a:pPr algn="ctr">
                <a:lnSpc>
                  <a:spcPts val="3077"/>
                </a:lnSpc>
              </a:pPr>
            </a:p>
          </p:txBody>
        </p:sp>
      </p:grpSp>
      <p:grpSp>
        <p:nvGrpSpPr>
          <p:cNvPr name="Group 14" id="14"/>
          <p:cNvGrpSpPr/>
          <p:nvPr/>
        </p:nvGrpSpPr>
        <p:grpSpPr>
          <a:xfrm rot="0">
            <a:off x="14856742" y="6165421"/>
            <a:ext cx="3733860" cy="3403037"/>
            <a:chOff x="0" y="0"/>
            <a:chExt cx="983404" cy="896273"/>
          </a:xfrm>
        </p:grpSpPr>
        <p:sp>
          <p:nvSpPr>
            <p:cNvPr name="Freeform 15" id="15"/>
            <p:cNvSpPr/>
            <p:nvPr/>
          </p:nvSpPr>
          <p:spPr>
            <a:xfrm flipH="false" flipV="false" rot="0">
              <a:off x="0" y="0"/>
              <a:ext cx="983404" cy="896273"/>
            </a:xfrm>
            <a:custGeom>
              <a:avLst/>
              <a:gdLst/>
              <a:ahLst/>
              <a:cxnLst/>
              <a:rect r="r" b="b" t="t" l="l"/>
              <a:pathLst>
                <a:path h="896273" w="983404">
                  <a:moveTo>
                    <a:pt x="62203" y="0"/>
                  </a:moveTo>
                  <a:lnTo>
                    <a:pt x="921200" y="0"/>
                  </a:lnTo>
                  <a:cubicBezTo>
                    <a:pt x="955554" y="0"/>
                    <a:pt x="983404" y="27849"/>
                    <a:pt x="983404" y="62203"/>
                  </a:cubicBezTo>
                  <a:lnTo>
                    <a:pt x="983404" y="834070"/>
                  </a:lnTo>
                  <a:cubicBezTo>
                    <a:pt x="983404" y="868424"/>
                    <a:pt x="955554" y="896273"/>
                    <a:pt x="921200" y="896273"/>
                  </a:cubicBezTo>
                  <a:lnTo>
                    <a:pt x="62203" y="896273"/>
                  </a:lnTo>
                  <a:cubicBezTo>
                    <a:pt x="27849" y="896273"/>
                    <a:pt x="0" y="868424"/>
                    <a:pt x="0" y="834070"/>
                  </a:cubicBezTo>
                  <a:lnTo>
                    <a:pt x="0" y="62203"/>
                  </a:lnTo>
                  <a:cubicBezTo>
                    <a:pt x="0" y="27849"/>
                    <a:pt x="27849" y="0"/>
                    <a:pt x="62203" y="0"/>
                  </a:cubicBezTo>
                  <a:close/>
                </a:path>
              </a:pathLst>
            </a:custGeom>
            <a:solidFill>
              <a:srgbClr val="163B42"/>
            </a:solid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sp>
          <p:nvSpPr>
            <p:cNvPr name="TextBox 16" id="16"/>
            <p:cNvSpPr txBox="true"/>
            <p:nvPr/>
          </p:nvSpPr>
          <p:spPr>
            <a:xfrm>
              <a:off x="0" y="-47625"/>
              <a:ext cx="983404" cy="943898"/>
            </a:xfrm>
            <a:prstGeom prst="rect">
              <a:avLst/>
            </a:prstGeom>
          </p:spPr>
          <p:txBody>
            <a:bodyPr anchor="ctr" rtlCol="false" tIns="50800" lIns="50800" bIns="50800" rIns="50800"/>
            <a:lstStyle/>
            <a:p>
              <a:pPr algn="ctr">
                <a:lnSpc>
                  <a:spcPts val="3077"/>
                </a:lnSpc>
              </a:pPr>
            </a:p>
          </p:txBody>
        </p:sp>
      </p:grpSp>
      <p:grpSp>
        <p:nvGrpSpPr>
          <p:cNvPr name="Group 17" id="17"/>
          <p:cNvGrpSpPr/>
          <p:nvPr/>
        </p:nvGrpSpPr>
        <p:grpSpPr>
          <a:xfrm rot="0">
            <a:off x="6688480" y="6165421"/>
            <a:ext cx="3733860" cy="3403037"/>
            <a:chOff x="0" y="0"/>
            <a:chExt cx="983404" cy="896273"/>
          </a:xfrm>
        </p:grpSpPr>
        <p:sp>
          <p:nvSpPr>
            <p:cNvPr name="Freeform 18" id="18"/>
            <p:cNvSpPr/>
            <p:nvPr/>
          </p:nvSpPr>
          <p:spPr>
            <a:xfrm flipH="false" flipV="false" rot="0">
              <a:off x="0" y="0"/>
              <a:ext cx="983404" cy="896273"/>
            </a:xfrm>
            <a:custGeom>
              <a:avLst/>
              <a:gdLst/>
              <a:ahLst/>
              <a:cxnLst/>
              <a:rect r="r" b="b" t="t" l="l"/>
              <a:pathLst>
                <a:path h="896273" w="983404">
                  <a:moveTo>
                    <a:pt x="62203" y="0"/>
                  </a:moveTo>
                  <a:lnTo>
                    <a:pt x="921200" y="0"/>
                  </a:lnTo>
                  <a:cubicBezTo>
                    <a:pt x="955554" y="0"/>
                    <a:pt x="983404" y="27849"/>
                    <a:pt x="983404" y="62203"/>
                  </a:cubicBezTo>
                  <a:lnTo>
                    <a:pt x="983404" y="834070"/>
                  </a:lnTo>
                  <a:cubicBezTo>
                    <a:pt x="983404" y="868424"/>
                    <a:pt x="955554" y="896273"/>
                    <a:pt x="921200" y="896273"/>
                  </a:cubicBezTo>
                  <a:lnTo>
                    <a:pt x="62203" y="896273"/>
                  </a:lnTo>
                  <a:cubicBezTo>
                    <a:pt x="27849" y="896273"/>
                    <a:pt x="0" y="868424"/>
                    <a:pt x="0" y="834070"/>
                  </a:cubicBezTo>
                  <a:lnTo>
                    <a:pt x="0" y="62203"/>
                  </a:lnTo>
                  <a:cubicBezTo>
                    <a:pt x="0" y="27849"/>
                    <a:pt x="27849" y="0"/>
                    <a:pt x="62203" y="0"/>
                  </a:cubicBezTo>
                  <a:close/>
                </a:path>
              </a:pathLst>
            </a:custGeom>
            <a:solidFill>
              <a:srgbClr val="163B42"/>
            </a:solidFill>
            <a:ln w="9525"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sp>
          <p:nvSpPr>
            <p:cNvPr name="TextBox 19" id="19"/>
            <p:cNvSpPr txBox="true"/>
            <p:nvPr/>
          </p:nvSpPr>
          <p:spPr>
            <a:xfrm>
              <a:off x="0" y="-47625"/>
              <a:ext cx="983404" cy="943898"/>
            </a:xfrm>
            <a:prstGeom prst="rect">
              <a:avLst/>
            </a:prstGeom>
          </p:spPr>
          <p:txBody>
            <a:bodyPr anchor="ctr" rtlCol="false" tIns="50800" lIns="50800" bIns="50800" rIns="50800"/>
            <a:lstStyle/>
            <a:p>
              <a:pPr algn="ctr">
                <a:lnSpc>
                  <a:spcPts val="3077"/>
                </a:lnSpc>
              </a:pPr>
            </a:p>
          </p:txBody>
        </p:sp>
      </p:grpSp>
      <p:sp>
        <p:nvSpPr>
          <p:cNvPr name="TextBox 20" id="20"/>
          <p:cNvSpPr txBox="true"/>
          <p:nvPr/>
        </p:nvSpPr>
        <p:spPr>
          <a:xfrm rot="0">
            <a:off x="11119282" y="6609835"/>
            <a:ext cx="3038084" cy="1752599"/>
          </a:xfrm>
          <a:prstGeom prst="rect">
            <a:avLst/>
          </a:prstGeom>
        </p:spPr>
        <p:txBody>
          <a:bodyPr anchor="t" rtlCol="false" tIns="0" lIns="0" bIns="0" rIns="0">
            <a:spAutoFit/>
          </a:bodyPr>
          <a:lstStyle/>
          <a:p>
            <a:pPr algn="l" marL="0" indent="0" lvl="0">
              <a:lnSpc>
                <a:spcPts val="6824"/>
              </a:lnSpc>
            </a:pPr>
            <a:r>
              <a:rPr lang="en-US" b="true" sz="6499" spc="-84">
                <a:solidFill>
                  <a:srgbClr val="EFF0EA"/>
                </a:solidFill>
                <a:latin typeface="Bricolage Grotesque Bold"/>
                <a:ea typeface="Bricolage Grotesque Bold"/>
                <a:cs typeface="Bricolage Grotesque Bold"/>
                <a:sym typeface="Bricolage Grotesque Bold"/>
              </a:rPr>
              <a:t>Kunal Desai</a:t>
            </a:r>
          </a:p>
        </p:txBody>
      </p:sp>
      <p:sp>
        <p:nvSpPr>
          <p:cNvPr name="TextBox 21" id="21"/>
          <p:cNvSpPr txBox="true"/>
          <p:nvPr/>
        </p:nvSpPr>
        <p:spPr>
          <a:xfrm rot="0">
            <a:off x="15204630" y="6588165"/>
            <a:ext cx="3038084" cy="1752599"/>
          </a:xfrm>
          <a:prstGeom prst="rect">
            <a:avLst/>
          </a:prstGeom>
        </p:spPr>
        <p:txBody>
          <a:bodyPr anchor="t" rtlCol="false" tIns="0" lIns="0" bIns="0" rIns="0">
            <a:spAutoFit/>
          </a:bodyPr>
          <a:lstStyle/>
          <a:p>
            <a:pPr algn="l" marL="0" indent="0" lvl="0">
              <a:lnSpc>
                <a:spcPts val="6824"/>
              </a:lnSpc>
            </a:pPr>
            <a:r>
              <a:rPr lang="en-US" b="true" sz="6499" spc="-84">
                <a:solidFill>
                  <a:srgbClr val="EFF0EA"/>
                </a:solidFill>
                <a:latin typeface="Bricolage Grotesque Bold"/>
                <a:ea typeface="Bricolage Grotesque Bold"/>
                <a:cs typeface="Bricolage Grotesque Bold"/>
                <a:sym typeface="Bricolage Grotesque Bold"/>
              </a:rPr>
              <a:t>Daniel Okoye</a:t>
            </a:r>
          </a:p>
        </p:txBody>
      </p:sp>
      <p:sp>
        <p:nvSpPr>
          <p:cNvPr name="TextBox 22" id="22"/>
          <p:cNvSpPr txBox="true"/>
          <p:nvPr/>
        </p:nvSpPr>
        <p:spPr>
          <a:xfrm rot="0">
            <a:off x="7036368" y="6588165"/>
            <a:ext cx="3038084" cy="1752599"/>
          </a:xfrm>
          <a:prstGeom prst="rect">
            <a:avLst/>
          </a:prstGeom>
        </p:spPr>
        <p:txBody>
          <a:bodyPr anchor="t" rtlCol="false" tIns="0" lIns="0" bIns="0" rIns="0">
            <a:spAutoFit/>
          </a:bodyPr>
          <a:lstStyle/>
          <a:p>
            <a:pPr algn="l" marL="0" indent="0" lvl="0">
              <a:lnSpc>
                <a:spcPts val="6824"/>
              </a:lnSpc>
            </a:pPr>
            <a:r>
              <a:rPr lang="en-US" b="true" sz="6499" spc="-84">
                <a:solidFill>
                  <a:srgbClr val="EFF0EA"/>
                </a:solidFill>
                <a:latin typeface="Bricolage Grotesque Bold"/>
                <a:ea typeface="Bricolage Grotesque Bold"/>
                <a:cs typeface="Bricolage Grotesque Bold"/>
                <a:sym typeface="Bricolage Grotesque Bold"/>
              </a:rPr>
              <a:t>James Porter</a:t>
            </a:r>
          </a:p>
        </p:txBody>
      </p:sp>
      <p:sp>
        <p:nvSpPr>
          <p:cNvPr name="TextBox 23" id="23"/>
          <p:cNvSpPr txBox="true"/>
          <p:nvPr/>
        </p:nvSpPr>
        <p:spPr>
          <a:xfrm rot="0">
            <a:off x="11119282" y="8849601"/>
            <a:ext cx="3038084" cy="353060"/>
          </a:xfrm>
          <a:prstGeom prst="rect">
            <a:avLst/>
          </a:prstGeom>
        </p:spPr>
        <p:txBody>
          <a:bodyPr anchor="t" rtlCol="false" tIns="0" lIns="0" bIns="0" rIns="0">
            <a:spAutoFit/>
          </a:bodyPr>
          <a:lstStyle/>
          <a:p>
            <a:pPr algn="l">
              <a:lnSpc>
                <a:spcPts val="2859"/>
              </a:lnSpc>
            </a:pPr>
            <a:r>
              <a:rPr lang="en-US" sz="2199" spc="-15">
                <a:solidFill>
                  <a:srgbClr val="EFF0EA"/>
                </a:solidFill>
                <a:latin typeface="Aileron"/>
                <a:ea typeface="Aileron"/>
                <a:cs typeface="Aileron"/>
                <a:sym typeface="Aileron"/>
              </a:rPr>
              <a:t>Co - Founder</a:t>
            </a:r>
          </a:p>
        </p:txBody>
      </p:sp>
      <p:sp>
        <p:nvSpPr>
          <p:cNvPr name="TextBox 24" id="24"/>
          <p:cNvSpPr txBox="true"/>
          <p:nvPr/>
        </p:nvSpPr>
        <p:spPr>
          <a:xfrm rot="0">
            <a:off x="15204630" y="8827931"/>
            <a:ext cx="3038084" cy="353060"/>
          </a:xfrm>
          <a:prstGeom prst="rect">
            <a:avLst/>
          </a:prstGeom>
        </p:spPr>
        <p:txBody>
          <a:bodyPr anchor="t" rtlCol="false" tIns="0" lIns="0" bIns="0" rIns="0">
            <a:spAutoFit/>
          </a:bodyPr>
          <a:lstStyle/>
          <a:p>
            <a:pPr algn="l">
              <a:lnSpc>
                <a:spcPts val="2859"/>
              </a:lnSpc>
            </a:pPr>
            <a:r>
              <a:rPr lang="en-US" sz="2199" spc="-15">
                <a:solidFill>
                  <a:srgbClr val="EFF0EA"/>
                </a:solidFill>
                <a:latin typeface="Aileron"/>
                <a:ea typeface="Aileron"/>
                <a:cs typeface="Aileron"/>
                <a:sym typeface="Aileron"/>
              </a:rPr>
              <a:t>Marketing</a:t>
            </a:r>
            <a:r>
              <a:rPr lang="en-US" sz="2199" spc="-15">
                <a:solidFill>
                  <a:srgbClr val="EFF0EA"/>
                </a:solidFill>
                <a:latin typeface="Aileron"/>
                <a:ea typeface="Aileron"/>
                <a:cs typeface="Aileron"/>
                <a:sym typeface="Aileron"/>
              </a:rPr>
              <a:t> Manager</a:t>
            </a:r>
          </a:p>
        </p:txBody>
      </p:sp>
      <p:sp>
        <p:nvSpPr>
          <p:cNvPr name="TextBox 25" id="25"/>
          <p:cNvSpPr txBox="true"/>
          <p:nvPr/>
        </p:nvSpPr>
        <p:spPr>
          <a:xfrm rot="0">
            <a:off x="7036368" y="8827931"/>
            <a:ext cx="3038084" cy="353060"/>
          </a:xfrm>
          <a:prstGeom prst="rect">
            <a:avLst/>
          </a:prstGeom>
        </p:spPr>
        <p:txBody>
          <a:bodyPr anchor="t" rtlCol="false" tIns="0" lIns="0" bIns="0" rIns="0">
            <a:spAutoFit/>
          </a:bodyPr>
          <a:lstStyle/>
          <a:p>
            <a:pPr algn="l">
              <a:lnSpc>
                <a:spcPts val="2859"/>
              </a:lnSpc>
            </a:pPr>
            <a:r>
              <a:rPr lang="en-US" sz="2199" spc="-15">
                <a:solidFill>
                  <a:srgbClr val="EFF0EA"/>
                </a:solidFill>
                <a:latin typeface="Aileron"/>
                <a:ea typeface="Aileron"/>
                <a:cs typeface="Aileron"/>
                <a:sym typeface="Aileron"/>
              </a:rPr>
              <a:t>CEO &amp; Founder</a:t>
            </a:r>
          </a:p>
        </p:txBody>
      </p:sp>
      <p:sp>
        <p:nvSpPr>
          <p:cNvPr name="TextBox 26" id="26"/>
          <p:cNvSpPr txBox="true"/>
          <p:nvPr/>
        </p:nvSpPr>
        <p:spPr>
          <a:xfrm rot="0">
            <a:off x="1028700" y="2497761"/>
            <a:ext cx="4188891" cy="243206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Our Team</a:t>
            </a:r>
          </a:p>
        </p:txBody>
      </p:sp>
      <p:sp>
        <p:nvSpPr>
          <p:cNvPr name="TextBox 27" id="27"/>
          <p:cNvSpPr txBox="true"/>
          <p:nvPr/>
        </p:nvSpPr>
        <p:spPr>
          <a:xfrm rot="0">
            <a:off x="1028700" y="5512128"/>
            <a:ext cx="4379102" cy="2524760"/>
          </a:xfrm>
          <a:prstGeom prst="rect">
            <a:avLst/>
          </a:prstGeom>
        </p:spPr>
        <p:txBody>
          <a:bodyPr anchor="t" rtlCol="false" tIns="0" lIns="0" bIns="0" rIns="0">
            <a:spAutoFit/>
          </a:bodyPr>
          <a:lstStyle/>
          <a:p>
            <a:pPr algn="l">
              <a:lnSpc>
                <a:spcPts val="2859"/>
              </a:lnSpc>
            </a:pPr>
            <a:r>
              <a:rPr lang="en-US" sz="2199">
                <a:solidFill>
                  <a:srgbClr val="2E6D6D"/>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a:t>
            </a:r>
          </a:p>
        </p:txBody>
      </p:sp>
      <p:sp>
        <p:nvSpPr>
          <p:cNvPr name="Freeform 28" id="28"/>
          <p:cNvSpPr/>
          <p:nvPr/>
        </p:nvSpPr>
        <p:spPr>
          <a:xfrm flipH="false" flipV="false" rot="-1891703">
            <a:off x="-37173" y="7687835"/>
            <a:ext cx="5084419" cy="5765836"/>
          </a:xfrm>
          <a:custGeom>
            <a:avLst/>
            <a:gdLst/>
            <a:ahLst/>
            <a:cxnLst/>
            <a:rect r="r" b="b" t="t" l="l"/>
            <a:pathLst>
              <a:path h="5765836" w="5084419">
                <a:moveTo>
                  <a:pt x="0" y="0"/>
                </a:moveTo>
                <a:lnTo>
                  <a:pt x="5084419" y="0"/>
                </a:lnTo>
                <a:lnTo>
                  <a:pt x="5084419" y="5765836"/>
                </a:lnTo>
                <a:lnTo>
                  <a:pt x="0" y="57658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7314118">
            <a:off x="-2046524" y="3776605"/>
            <a:ext cx="7730547" cy="8766599"/>
          </a:xfrm>
          <a:custGeom>
            <a:avLst/>
            <a:gdLst/>
            <a:ahLst/>
            <a:cxnLst/>
            <a:rect r="r" b="b" t="t" l="l"/>
            <a:pathLst>
              <a:path h="8766599" w="7730547">
                <a:moveTo>
                  <a:pt x="0" y="0"/>
                </a:moveTo>
                <a:lnTo>
                  <a:pt x="7730547" y="0"/>
                </a:lnTo>
                <a:lnTo>
                  <a:pt x="7730547" y="8766600"/>
                </a:lnTo>
                <a:lnTo>
                  <a:pt x="0" y="876660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62638">
            <a:off x="-2056903" y="5761004"/>
            <a:ext cx="7431557" cy="7772988"/>
          </a:xfrm>
          <a:custGeom>
            <a:avLst/>
            <a:gdLst/>
            <a:ahLst/>
            <a:cxnLst/>
            <a:rect r="r" b="b" t="t" l="l"/>
            <a:pathLst>
              <a:path h="7772988" w="7431557">
                <a:moveTo>
                  <a:pt x="0" y="0"/>
                </a:moveTo>
                <a:lnTo>
                  <a:pt x="7431557" y="0"/>
                </a:lnTo>
                <a:lnTo>
                  <a:pt x="7431557" y="7772988"/>
                </a:lnTo>
                <a:lnTo>
                  <a:pt x="0" y="7772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1028700"/>
            <a:ext cx="385450" cy="478549"/>
          </a:xfrm>
          <a:custGeom>
            <a:avLst/>
            <a:gdLst/>
            <a:ahLst/>
            <a:cxnLst/>
            <a:rect r="r" b="b" t="t" l="l"/>
            <a:pathLst>
              <a:path h="478549" w="385450">
                <a:moveTo>
                  <a:pt x="0" y="0"/>
                </a:moveTo>
                <a:lnTo>
                  <a:pt x="385450" y="0"/>
                </a:lnTo>
                <a:lnTo>
                  <a:pt x="385450" y="478549"/>
                </a:lnTo>
                <a:lnTo>
                  <a:pt x="0" y="4785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291582">
            <a:off x="13155984" y="-1306306"/>
            <a:ext cx="5476897" cy="6210915"/>
          </a:xfrm>
          <a:custGeom>
            <a:avLst/>
            <a:gdLst/>
            <a:ahLst/>
            <a:cxnLst/>
            <a:rect r="r" b="b" t="t" l="l"/>
            <a:pathLst>
              <a:path h="6210915" w="5476897">
                <a:moveTo>
                  <a:pt x="0" y="0"/>
                </a:moveTo>
                <a:lnTo>
                  <a:pt x="5476898" y="0"/>
                </a:lnTo>
                <a:lnTo>
                  <a:pt x="5476898" y="6210915"/>
                </a:lnTo>
                <a:lnTo>
                  <a:pt x="0" y="6210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2477954"/>
            <a:ext cx="11975624" cy="6054991"/>
          </a:xfrm>
          <a:prstGeom prst="rect">
            <a:avLst/>
          </a:prstGeom>
        </p:spPr>
        <p:txBody>
          <a:bodyPr anchor="t" rtlCol="false" tIns="0" lIns="0" bIns="0" rIns="0">
            <a:spAutoFit/>
          </a:bodyPr>
          <a:lstStyle/>
          <a:p>
            <a:pPr algn="l" marL="0" indent="0" lvl="0">
              <a:lnSpc>
                <a:spcPts val="22881"/>
              </a:lnSpc>
            </a:pPr>
            <a:r>
              <a:rPr lang="en-US" b="true" sz="25423" spc="-330">
                <a:solidFill>
                  <a:srgbClr val="2E6D6D"/>
                </a:solidFill>
                <a:latin typeface="Bricolage Grotesque Bold"/>
                <a:ea typeface="Bricolage Grotesque Bold"/>
                <a:cs typeface="Bricolage Grotesque Bold"/>
                <a:sym typeface="Bricolage Grotesque Bold"/>
              </a:rPr>
              <a:t>Thank You</a:t>
            </a:r>
          </a:p>
        </p:txBody>
      </p:sp>
      <p:sp>
        <p:nvSpPr>
          <p:cNvPr name="TextBox 7" id="7"/>
          <p:cNvSpPr txBox="true"/>
          <p:nvPr/>
        </p:nvSpPr>
        <p:spPr>
          <a:xfrm rot="0">
            <a:off x="7364643" y="8942089"/>
            <a:ext cx="3558715" cy="264794"/>
          </a:xfrm>
          <a:prstGeom prst="rect">
            <a:avLst/>
          </a:prstGeom>
        </p:spPr>
        <p:txBody>
          <a:bodyPr anchor="t" rtlCol="false" tIns="0" lIns="0" bIns="0" rIns="0">
            <a:spAutoFit/>
          </a:bodyPr>
          <a:lstStyle/>
          <a:p>
            <a:pPr algn="ctr" marL="0" indent="0" lvl="0">
              <a:lnSpc>
                <a:spcPts val="1979"/>
              </a:lnSpc>
              <a:spcBef>
                <a:spcPct val="0"/>
              </a:spcBef>
            </a:pPr>
            <a:r>
              <a:rPr lang="en-US" sz="2199">
                <a:solidFill>
                  <a:srgbClr val="377272"/>
                </a:solidFill>
                <a:latin typeface="Aileron"/>
                <a:ea typeface="Aileron"/>
                <a:cs typeface="Aileron"/>
                <a:sym typeface="Aileron"/>
              </a:rPr>
              <a:t>July 29, 2025</a:t>
            </a:r>
          </a:p>
        </p:txBody>
      </p:sp>
      <p:sp>
        <p:nvSpPr>
          <p:cNvPr name="TextBox 8" id="8"/>
          <p:cNvSpPr txBox="true"/>
          <p:nvPr/>
        </p:nvSpPr>
        <p:spPr>
          <a:xfrm rot="0">
            <a:off x="1658876" y="1168915"/>
            <a:ext cx="3558715"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Borcelle Company</a:t>
            </a:r>
          </a:p>
        </p:txBody>
      </p:sp>
      <p:sp>
        <p:nvSpPr>
          <p:cNvPr name="TextBox 9" id="9"/>
          <p:cNvSpPr txBox="true"/>
          <p:nvPr/>
        </p:nvSpPr>
        <p:spPr>
          <a:xfrm rot="0">
            <a:off x="13700585" y="8993506"/>
            <a:ext cx="3558715" cy="264794"/>
          </a:xfrm>
          <a:prstGeom prst="rect">
            <a:avLst/>
          </a:prstGeom>
        </p:spPr>
        <p:txBody>
          <a:bodyPr anchor="t" rtlCol="false" tIns="0" lIns="0" bIns="0" rIns="0">
            <a:spAutoFit/>
          </a:bodyPr>
          <a:lstStyle/>
          <a:p>
            <a:pPr algn="ctr" marL="0" indent="0" lvl="0">
              <a:lnSpc>
                <a:spcPts val="1979"/>
              </a:lnSpc>
              <a:spcBef>
                <a:spcPct val="0"/>
              </a:spcBef>
            </a:pPr>
            <a:r>
              <a:rPr lang="en-US" b="true" sz="2199">
                <a:solidFill>
                  <a:srgbClr val="377272"/>
                </a:solidFill>
                <a:latin typeface="Aileron Bold"/>
                <a:ea typeface="Aileron Bold"/>
                <a:cs typeface="Aileron Bold"/>
                <a:sym typeface="Aileron Bold"/>
              </a:rPr>
              <a:t>www.reallygreatsite.com</a:t>
            </a:r>
            <a:r>
              <a:rPr lang="en-US" b="true" sz="2199">
                <a:solidFill>
                  <a:srgbClr val="377272"/>
                </a:solidFill>
                <a:latin typeface="Aileron Bold"/>
                <a:ea typeface="Aileron Bold"/>
                <a:cs typeface="Aileron Bold"/>
                <a:sym typeface="Aileron Bold"/>
              </a:rPr>
              <a:t> </a:t>
            </a:r>
          </a:p>
        </p:txBody>
      </p:sp>
      <p:sp>
        <p:nvSpPr>
          <p:cNvPr name="TextBox 10" id="10"/>
          <p:cNvSpPr txBox="true"/>
          <p:nvPr/>
        </p:nvSpPr>
        <p:spPr>
          <a:xfrm rot="0">
            <a:off x="1028700" y="8958281"/>
            <a:ext cx="1885310" cy="203835"/>
          </a:xfrm>
          <a:prstGeom prst="rect">
            <a:avLst/>
          </a:prstGeom>
        </p:spPr>
        <p:txBody>
          <a:bodyPr anchor="t" rtlCol="false" tIns="0" lIns="0" bIns="0" rIns="0">
            <a:spAutoFit/>
          </a:bodyPr>
          <a:lstStyle/>
          <a:p>
            <a:pPr algn="just" marL="0" indent="0" lvl="0">
              <a:lnSpc>
                <a:spcPts val="1439"/>
              </a:lnSpc>
              <a:spcBef>
                <a:spcPct val="0"/>
              </a:spcBef>
            </a:pPr>
            <a:r>
              <a:rPr lang="en-US" sz="1599">
                <a:solidFill>
                  <a:srgbClr val="377272"/>
                </a:solidFill>
                <a:latin typeface="Aileron"/>
                <a:ea typeface="Aileron"/>
                <a:cs typeface="Aileron"/>
                <a:sym typeface="Aileron"/>
              </a:rPr>
              <a:t>Presented by :</a:t>
            </a:r>
          </a:p>
        </p:txBody>
      </p:sp>
      <p:grpSp>
        <p:nvGrpSpPr>
          <p:cNvPr name="Group 11" id="11"/>
          <p:cNvGrpSpPr/>
          <p:nvPr/>
        </p:nvGrpSpPr>
        <p:grpSpPr>
          <a:xfrm rot="0">
            <a:off x="7582639" y="5892653"/>
            <a:ext cx="4585291" cy="1860479"/>
            <a:chOff x="0" y="0"/>
            <a:chExt cx="1207649" cy="490003"/>
          </a:xfrm>
        </p:grpSpPr>
        <p:sp>
          <p:nvSpPr>
            <p:cNvPr name="Freeform 12" id="12"/>
            <p:cNvSpPr/>
            <p:nvPr/>
          </p:nvSpPr>
          <p:spPr>
            <a:xfrm flipH="false" flipV="false" rot="0">
              <a:off x="0" y="0"/>
              <a:ext cx="1207649" cy="490003"/>
            </a:xfrm>
            <a:custGeom>
              <a:avLst/>
              <a:gdLst/>
              <a:ahLst/>
              <a:cxnLst/>
              <a:rect r="r" b="b" t="t" l="l"/>
              <a:pathLst>
                <a:path h="490003" w="1207649">
                  <a:moveTo>
                    <a:pt x="50653" y="0"/>
                  </a:moveTo>
                  <a:lnTo>
                    <a:pt x="1156996" y="0"/>
                  </a:lnTo>
                  <a:cubicBezTo>
                    <a:pt x="1184971" y="0"/>
                    <a:pt x="1207649" y="22678"/>
                    <a:pt x="1207649" y="50653"/>
                  </a:cubicBezTo>
                  <a:lnTo>
                    <a:pt x="1207649" y="439350"/>
                  </a:lnTo>
                  <a:cubicBezTo>
                    <a:pt x="1207649" y="452784"/>
                    <a:pt x="1202312" y="465668"/>
                    <a:pt x="1192813" y="475167"/>
                  </a:cubicBezTo>
                  <a:cubicBezTo>
                    <a:pt x="1183314" y="484666"/>
                    <a:pt x="1170430" y="490003"/>
                    <a:pt x="1156996" y="490003"/>
                  </a:cubicBezTo>
                  <a:lnTo>
                    <a:pt x="50653" y="490003"/>
                  </a:lnTo>
                  <a:cubicBezTo>
                    <a:pt x="22678" y="490003"/>
                    <a:pt x="0" y="467325"/>
                    <a:pt x="0" y="439350"/>
                  </a:cubicBezTo>
                  <a:lnTo>
                    <a:pt x="0" y="50653"/>
                  </a:lnTo>
                  <a:cubicBezTo>
                    <a:pt x="0" y="22678"/>
                    <a:pt x="22678" y="0"/>
                    <a:pt x="50653"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3" id="13"/>
            <p:cNvSpPr txBox="true"/>
            <p:nvPr/>
          </p:nvSpPr>
          <p:spPr>
            <a:xfrm>
              <a:off x="0" y="-38100"/>
              <a:ext cx="1207649" cy="528103"/>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8629285" y="6973643"/>
            <a:ext cx="2400761" cy="372789"/>
          </a:xfrm>
          <a:prstGeom prst="rect">
            <a:avLst/>
          </a:prstGeom>
        </p:spPr>
        <p:txBody>
          <a:bodyPr anchor="t" rtlCol="false" tIns="0" lIns="0" bIns="0" rIns="0">
            <a:spAutoFit/>
          </a:bodyPr>
          <a:lstStyle/>
          <a:p>
            <a:pPr algn="l">
              <a:lnSpc>
                <a:spcPts val="3077"/>
              </a:lnSpc>
            </a:pPr>
            <a:r>
              <a:rPr lang="en-US" sz="2198" spc="-79">
                <a:solidFill>
                  <a:srgbClr val="163B42"/>
                </a:solidFill>
                <a:latin typeface="Proxima Nova"/>
                <a:ea typeface="Proxima Nova"/>
                <a:cs typeface="Proxima Nova"/>
                <a:sym typeface="Proxima Nova"/>
              </a:rPr>
              <a:t>+123-456-7890</a:t>
            </a:r>
          </a:p>
        </p:txBody>
      </p:sp>
      <p:sp>
        <p:nvSpPr>
          <p:cNvPr name="TextBox 15" id="15"/>
          <p:cNvSpPr txBox="true"/>
          <p:nvPr/>
        </p:nvSpPr>
        <p:spPr>
          <a:xfrm rot="0">
            <a:off x="8629285" y="6263627"/>
            <a:ext cx="3285630" cy="372789"/>
          </a:xfrm>
          <a:prstGeom prst="rect">
            <a:avLst/>
          </a:prstGeom>
        </p:spPr>
        <p:txBody>
          <a:bodyPr anchor="t" rtlCol="false" tIns="0" lIns="0" bIns="0" rIns="0">
            <a:spAutoFit/>
          </a:bodyPr>
          <a:lstStyle/>
          <a:p>
            <a:pPr algn="l">
              <a:lnSpc>
                <a:spcPts val="3077"/>
              </a:lnSpc>
            </a:pPr>
            <a:r>
              <a:rPr lang="en-US" sz="2198" spc="-79">
                <a:solidFill>
                  <a:srgbClr val="163B42"/>
                </a:solidFill>
                <a:latin typeface="Proxima Nova"/>
                <a:ea typeface="Proxima Nova"/>
                <a:cs typeface="Proxima Nova"/>
                <a:sym typeface="Proxima Nova"/>
              </a:rPr>
              <a:t>hello@reallygreatsite.com</a:t>
            </a:r>
          </a:p>
        </p:txBody>
      </p:sp>
      <p:sp>
        <p:nvSpPr>
          <p:cNvPr name="Freeform 16" id="16"/>
          <p:cNvSpPr/>
          <p:nvPr/>
        </p:nvSpPr>
        <p:spPr>
          <a:xfrm flipH="false" flipV="false" rot="0">
            <a:off x="7991784" y="6966620"/>
            <a:ext cx="424936" cy="424936"/>
          </a:xfrm>
          <a:custGeom>
            <a:avLst/>
            <a:gdLst/>
            <a:ahLst/>
            <a:cxnLst/>
            <a:rect r="r" b="b" t="t" l="l"/>
            <a:pathLst>
              <a:path h="424936" w="424936">
                <a:moveTo>
                  <a:pt x="0" y="0"/>
                </a:moveTo>
                <a:lnTo>
                  <a:pt x="424936" y="0"/>
                </a:lnTo>
                <a:lnTo>
                  <a:pt x="424936" y="424936"/>
                </a:lnTo>
                <a:lnTo>
                  <a:pt x="0" y="4249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7987032" y="6254228"/>
            <a:ext cx="429688" cy="429688"/>
          </a:xfrm>
          <a:custGeom>
            <a:avLst/>
            <a:gdLst/>
            <a:ahLst/>
            <a:cxnLst/>
            <a:rect r="r" b="b" t="t" l="l"/>
            <a:pathLst>
              <a:path h="429688" w="429688">
                <a:moveTo>
                  <a:pt x="0" y="0"/>
                </a:moveTo>
                <a:lnTo>
                  <a:pt x="429688" y="0"/>
                </a:lnTo>
                <a:lnTo>
                  <a:pt x="429688" y="429688"/>
                </a:lnTo>
                <a:lnTo>
                  <a:pt x="0" y="429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8" id="18"/>
          <p:cNvSpPr txBox="true"/>
          <p:nvPr/>
        </p:nvSpPr>
        <p:spPr>
          <a:xfrm rot="0">
            <a:off x="2406567" y="8942089"/>
            <a:ext cx="2425086" cy="264794"/>
          </a:xfrm>
          <a:prstGeom prst="rect">
            <a:avLst/>
          </a:prstGeom>
        </p:spPr>
        <p:txBody>
          <a:bodyPr anchor="t" rtlCol="false" tIns="0" lIns="0" bIns="0" rIns="0">
            <a:spAutoFit/>
          </a:bodyPr>
          <a:lstStyle/>
          <a:p>
            <a:pPr algn="just" marL="0" indent="0" lvl="0">
              <a:lnSpc>
                <a:spcPts val="1979"/>
              </a:lnSpc>
              <a:spcBef>
                <a:spcPct val="0"/>
              </a:spcBef>
            </a:pPr>
            <a:r>
              <a:rPr lang="en-US" b="true" sz="2199">
                <a:solidFill>
                  <a:srgbClr val="377272"/>
                </a:solidFill>
                <a:latin typeface="Aileron Bold"/>
                <a:ea typeface="Aileron Bold"/>
                <a:cs typeface="Aileron Bold"/>
                <a:sym typeface="Aileron Bold"/>
              </a:rPr>
              <a:t>James Porter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DAHWxkTsVOo</dc:identifier>
  <dcterms:modified xsi:type="dcterms:W3CDTF">2011-08-01T06:04:30Z</dcterms:modified>
  <cp:revision>1</cp:revision>
  <dc:title>Green and White Modern Simple Startup Pitch Deck Business Presentation</dc:title>
</cp:coreProperties>
</file>